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4.svg" ContentType="image/svg+xml"/>
  <Override PartName="/ppt/media/image57.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147483647" r:id="rId2"/>
    <p:sldId id="257" r:id="rId3"/>
    <p:sldId id="256" r:id="rId4"/>
    <p:sldId id="258" r:id="rId5"/>
    <p:sldId id="259" r:id="rId6"/>
    <p:sldId id="267" r:id="rId7"/>
    <p:sldId id="260" r:id="rId8"/>
    <p:sldId id="262" r:id="rId9"/>
    <p:sldId id="270" r:id="rId10"/>
    <p:sldId id="2147481414" r:id="rId11"/>
    <p:sldId id="214748312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1A7AC6-C26C-4F7B-AB66-E08AA4C753EB}" type="datetimeFigureOut">
              <a:rPr lang="en-IN" smtClean="0"/>
              <a:t>23-06-2026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D1AF01-AB5F-49D3-8023-FEEDD057C9A5}" type="slidenum">
              <a:rPr lang="en-IN" smtClean="0"/>
              <a:t>‹#›</a:t>
            </a:fld>
            <a:endParaRPr lang="en-IN"/>
          </a:p>
        </p:txBody>
      </p:sp>
    </p:spTree>
    <p:extLst>
      <p:ext uri="{BB962C8B-B14F-4D97-AF65-F5344CB8AC3E}">
        <p14:creationId xmlns:p14="http://schemas.microsoft.com/office/powerpoint/2010/main" val="238969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8AF7C-8ECF-AB0E-B548-FF2617584B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F4C87-7DB7-D091-61F0-63C7A1CA62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6E09F4-0450-60D6-DB41-97F3ED6397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E53409-996E-5CBA-F5F1-572D4C141B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7D41E2-1C4B-6542-BF62-847D0C2563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5037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698157-5A99-4BA6-96A2-53ADC687546B}"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01860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A019FC-8516-482C-85F8-B9C4F6A282E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8588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E698157-5A99-4BA6-96A2-53ADC687546B}" type="slidenum">
              <a:rPr lang="en-IN" smtClean="0"/>
              <a:t>12</a:t>
            </a:fld>
            <a:endParaRPr lang="en-IN"/>
          </a:p>
        </p:txBody>
      </p:sp>
    </p:spTree>
    <p:extLst>
      <p:ext uri="{BB962C8B-B14F-4D97-AF65-F5344CB8AC3E}">
        <p14:creationId xmlns:p14="http://schemas.microsoft.com/office/powerpoint/2010/main" val="3001860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png"/><Relationship Id="rId5"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26F36-408C-4F2F-8201-8D2962E82C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AFB5912-61A3-BE49-4847-1E9E83EF0C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6B3987-BB94-C034-2ECE-AFD464DDF7E8}"/>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5" name="Footer Placeholder 4">
            <a:extLst>
              <a:ext uri="{FF2B5EF4-FFF2-40B4-BE49-F238E27FC236}">
                <a16:creationId xmlns:a16="http://schemas.microsoft.com/office/drawing/2014/main" id="{D414B00C-EF73-AE2F-7E35-E444EAC7B1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F42C2A-8752-A457-9347-51A9AFBB6C93}"/>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3888197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03863-04C1-1EF5-09D2-CA2478560E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51B855-50F1-C053-DA82-66C571CDC3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FFB8CA-05FE-3A72-ABF1-713060EF2519}"/>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5" name="Footer Placeholder 4">
            <a:extLst>
              <a:ext uri="{FF2B5EF4-FFF2-40B4-BE49-F238E27FC236}">
                <a16:creationId xmlns:a16="http://schemas.microsoft.com/office/drawing/2014/main" id="{D33E757B-A203-059C-715B-D689702D45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466C41-69AD-E389-231D-23935AD7BBE2}"/>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8989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B86C-F082-F78E-D27F-D341F42F3B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745A689-5EBC-6C06-E2E8-BB0C53EFBB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414F8B-78A5-A6B2-BCA4-96B056FEAD5C}"/>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5" name="Footer Placeholder 4">
            <a:extLst>
              <a:ext uri="{FF2B5EF4-FFF2-40B4-BE49-F238E27FC236}">
                <a16:creationId xmlns:a16="http://schemas.microsoft.com/office/drawing/2014/main" id="{2A8D2593-6280-6F5A-5AD3-7E8B95A7FB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BCB729-B4DF-3378-D8A4-D377543F87C1}"/>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374828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576B6-BA03-B668-FF7A-DA4875D0E1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049B24-C05C-BF40-F1ED-459CB4941F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A7EC74-423A-F41E-4F43-6F1DDCFA93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C5FFC1-7C03-6491-B5E5-3107E118B50A}"/>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6" name="Footer Placeholder 5">
            <a:extLst>
              <a:ext uri="{FF2B5EF4-FFF2-40B4-BE49-F238E27FC236}">
                <a16:creationId xmlns:a16="http://schemas.microsoft.com/office/drawing/2014/main" id="{72DD5805-943D-1366-4B2D-CAEC157157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AA5CA6-C95D-078D-B773-0C5D2B2692BE}"/>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1355633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AD97C-ECF9-129E-348E-EB902A678D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918545-55C4-C030-A1B6-CF6BFDAD0E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FAA69A-7BE8-705F-8E41-74CCDA99B5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C3AB954-F479-94B5-793A-1D4B5A5486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B8F1D8-A561-31F7-7F93-B2E284A85D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844315-FF17-9345-99C2-A7943D6FA9B1}"/>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8" name="Footer Placeholder 7">
            <a:extLst>
              <a:ext uri="{FF2B5EF4-FFF2-40B4-BE49-F238E27FC236}">
                <a16:creationId xmlns:a16="http://schemas.microsoft.com/office/drawing/2014/main" id="{4AD45C0D-55E0-1920-65C2-41133EAE735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70F52F-6740-7FD5-865A-4FCF62B83A54}"/>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1806360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0FE2A-75BB-14D0-B747-6E8019C977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EC8069-B978-FEAE-6E26-15E270AAB26C}"/>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4" name="Footer Placeholder 3">
            <a:extLst>
              <a:ext uri="{FF2B5EF4-FFF2-40B4-BE49-F238E27FC236}">
                <a16:creationId xmlns:a16="http://schemas.microsoft.com/office/drawing/2014/main" id="{EEECADB1-BD1E-5EB8-DBA9-BC8B3D97C9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9C7DA4-54F4-5831-2B72-B0C3C370AFC2}"/>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1945756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E24634-94A6-BDC9-E7C6-46410F85800E}"/>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3" name="Footer Placeholder 2">
            <a:extLst>
              <a:ext uri="{FF2B5EF4-FFF2-40B4-BE49-F238E27FC236}">
                <a16:creationId xmlns:a16="http://schemas.microsoft.com/office/drawing/2014/main" id="{728D98EA-3450-A431-CE05-327495B1C5F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36B6AD-2577-8DBF-0183-4991897FA5EE}"/>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2086097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E28D9-28EA-03CF-B29D-53C7F4EC96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8AA12B-2E3F-2BF9-FC76-9B9D76CFA1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578ACC1-0350-CC05-F3FE-5C7742033E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6B307D-2522-852A-9047-E2BF912ACDC4}"/>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6" name="Footer Placeholder 5">
            <a:extLst>
              <a:ext uri="{FF2B5EF4-FFF2-40B4-BE49-F238E27FC236}">
                <a16:creationId xmlns:a16="http://schemas.microsoft.com/office/drawing/2014/main" id="{20270751-2D13-1E47-57E7-C08747F609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F91A3D-B662-60C7-29E3-F3A3082E2043}"/>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1163585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02C0E-C998-37C5-1DD4-0828814636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2D7B63-9822-3F6A-BD96-93C357C5E9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8DA4361-770A-8550-7FF4-EEEC851BE2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E89EBC-9535-AB8E-04D2-61C659252D2F}"/>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6" name="Footer Placeholder 5">
            <a:extLst>
              <a:ext uri="{FF2B5EF4-FFF2-40B4-BE49-F238E27FC236}">
                <a16:creationId xmlns:a16="http://schemas.microsoft.com/office/drawing/2014/main" id="{643640B4-7BFB-B991-6955-DA501B280B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538014-5A14-730E-7F33-76F03EBBE145}"/>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2319675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557BD-A767-9B2D-DB1C-1DF769CDFA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72971B-4278-C753-CA59-556A31B963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584488-9F74-8F4B-CFD3-3A0D097D8B8C}"/>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5" name="Footer Placeholder 4">
            <a:extLst>
              <a:ext uri="{FF2B5EF4-FFF2-40B4-BE49-F238E27FC236}">
                <a16:creationId xmlns:a16="http://schemas.microsoft.com/office/drawing/2014/main" id="{2D042BE6-55E2-019A-815B-F824B1FE3C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14C93E-2E55-BE90-117C-B77B8DA745CF}"/>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1295678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72E692-602E-F407-F6CF-1443C68E6B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5A4D4C-D934-A9ED-1B11-5E65E4316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E065CC-1637-4D69-581B-8B0482AE6942}"/>
              </a:ext>
            </a:extLst>
          </p:cNvPr>
          <p:cNvSpPr>
            <a:spLocks noGrp="1"/>
          </p:cNvSpPr>
          <p:nvPr>
            <p:ph type="dt" sz="half" idx="10"/>
          </p:nvPr>
        </p:nvSpPr>
        <p:spPr/>
        <p:txBody>
          <a:bodyPr/>
          <a:lstStyle/>
          <a:p>
            <a:fld id="{59D7C706-0E45-47AC-BF41-1CE4F466FB56}" type="datetimeFigureOut">
              <a:rPr lang="en-IN" smtClean="0"/>
              <a:t>23-06-2026</a:t>
            </a:fld>
            <a:endParaRPr lang="en-IN"/>
          </a:p>
        </p:txBody>
      </p:sp>
      <p:sp>
        <p:nvSpPr>
          <p:cNvPr id="5" name="Footer Placeholder 4">
            <a:extLst>
              <a:ext uri="{FF2B5EF4-FFF2-40B4-BE49-F238E27FC236}">
                <a16:creationId xmlns:a16="http://schemas.microsoft.com/office/drawing/2014/main" id="{164320EA-E4D4-C8A3-E7F0-1F6C22A1E8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51AE84-A281-0F5D-D921-B5C733F6016B}"/>
              </a:ext>
            </a:extLst>
          </p:cNvPr>
          <p:cNvSpPr>
            <a:spLocks noGrp="1"/>
          </p:cNvSpPr>
          <p:nvPr>
            <p:ph type="sldNum" sz="quarter" idx="12"/>
          </p:nvPr>
        </p:nvSpPr>
        <p:spPr/>
        <p:txBody>
          <a:bodyPr/>
          <a:lstStyle/>
          <a:p>
            <a:fld id="{529CA43D-F9B2-433C-9827-A7A6CE379E77}" type="slidenum">
              <a:rPr lang="en-IN" smtClean="0"/>
              <a:t>‹#›</a:t>
            </a:fld>
            <a:endParaRPr lang="en-IN"/>
          </a:p>
        </p:txBody>
      </p:sp>
    </p:spTree>
    <p:extLst>
      <p:ext uri="{BB962C8B-B14F-4D97-AF65-F5344CB8AC3E}">
        <p14:creationId xmlns:p14="http://schemas.microsoft.com/office/powerpoint/2010/main" val="17993102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over">
    <p:bg>
      <p:bgPr>
        <a:solidFill>
          <a:schemeClr val="accent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352A36-D3F9-6035-5320-78FEFFC2B598}"/>
              </a:ext>
            </a:extLst>
          </p:cNvPr>
          <p:cNvPicPr>
            <a:picLocks noChangeAspect="1"/>
          </p:cNvPicPr>
          <p:nvPr userDrawn="1"/>
        </p:nvPicPr>
        <p:blipFill>
          <a:blip r:embed="rId2">
            <a:alphaModFix amt="92000"/>
            <a:extLst>
              <a:ext uri="{BEBA8EAE-BF5A-486C-A8C5-ECC9F3942E4B}">
                <a14:imgProps xmlns:a14="http://schemas.microsoft.com/office/drawing/2010/main">
                  <a14:imgLayer r:embed="rId3">
                    <a14:imgEffect>
                      <a14:saturation sat="72000"/>
                    </a14:imgEffect>
                    <a14:imgEffect>
                      <a14:brightnessContrast bright="-2000" contrast="-3000"/>
                    </a14:imgEffect>
                  </a14:imgLayer>
                </a14:imgProps>
              </a:ext>
              <a:ext uri="{28A0092B-C50C-407E-A947-70E740481C1C}">
                <a14:useLocalDpi xmlns:a14="http://schemas.microsoft.com/office/drawing/2010/main" val="0"/>
              </a:ext>
            </a:extLst>
          </a:blip>
          <a:srcRect l="7726" t="1575" r="17232"/>
          <a:stretch>
            <a:fillRect/>
          </a:stretch>
        </p:blipFill>
        <p:spPr>
          <a:xfrm>
            <a:off x="0" y="0"/>
            <a:ext cx="12191851" cy="6858001"/>
          </a:xfrm>
          <a:prstGeom prst="rect">
            <a:avLst/>
          </a:prstGeom>
          <a:solidFill>
            <a:schemeClr val="tx1"/>
          </a:solidFill>
        </p:spPr>
      </p:pic>
      <p:sp>
        <p:nvSpPr>
          <p:cNvPr id="7" name="Rectangle 6">
            <a:extLst>
              <a:ext uri="{FF2B5EF4-FFF2-40B4-BE49-F238E27FC236}">
                <a16:creationId xmlns:a16="http://schemas.microsoft.com/office/drawing/2014/main" id="{9732B418-EDEE-8DD7-1302-CF7085AA71F6}"/>
              </a:ext>
            </a:extLst>
          </p:cNvPr>
          <p:cNvSpPr/>
          <p:nvPr userDrawn="1"/>
        </p:nvSpPr>
        <p:spPr bwMode="gray">
          <a:xfrm rot="16200000">
            <a:off x="2528924" y="-2528919"/>
            <a:ext cx="6844552" cy="11902382"/>
          </a:xfrm>
          <a:prstGeom prst="rect">
            <a:avLst/>
          </a:prstGeom>
          <a:gradFill>
            <a:gsLst>
              <a:gs pos="1000">
                <a:schemeClr val="tx1"/>
              </a:gs>
              <a:gs pos="100000">
                <a:schemeClr val="tx1">
                  <a:alpha val="0"/>
                </a:schemeClr>
              </a:gs>
            </a:gsLst>
            <a:lin ang="5400000" scaled="1"/>
          </a:gra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9" name="Text Placeholder 6">
            <a:extLst>
              <a:ext uri="{FF2B5EF4-FFF2-40B4-BE49-F238E27FC236}">
                <a16:creationId xmlns:a16="http://schemas.microsoft.com/office/drawing/2014/main" id="{76E68383-C5C9-0C41-8944-BDC21381448A}"/>
              </a:ext>
            </a:extLst>
          </p:cNvPr>
          <p:cNvSpPr>
            <a:spLocks noGrp="1"/>
          </p:cNvSpPr>
          <p:nvPr>
            <p:ph type="body" sz="quarter" idx="11" hasCustomPrompt="1"/>
          </p:nvPr>
        </p:nvSpPr>
        <p:spPr>
          <a:xfrm>
            <a:off x="609600" y="3988853"/>
            <a:ext cx="5181600" cy="1628558"/>
          </a:xfrm>
          <a:prstGeom prst="rect">
            <a:avLst/>
          </a:prstGeom>
        </p:spPr>
        <p:txBody>
          <a:bodyPr lIns="0" anchor="b" anchorCtr="0">
            <a:noAutofit/>
          </a:bodyPr>
          <a:lstStyle>
            <a:lvl1pPr marL="0" indent="0">
              <a:lnSpc>
                <a:spcPts val="4340"/>
              </a:lnSpc>
              <a:buFontTx/>
              <a:buNone/>
              <a:defRPr sz="32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Here, it’s just a headline that goes here as usual</a:t>
            </a:r>
          </a:p>
        </p:txBody>
      </p:sp>
      <p:sp>
        <p:nvSpPr>
          <p:cNvPr id="11" name="Text Placeholder 2">
            <a:extLst>
              <a:ext uri="{FF2B5EF4-FFF2-40B4-BE49-F238E27FC236}">
                <a16:creationId xmlns:a16="http://schemas.microsoft.com/office/drawing/2014/main" id="{A3A75483-02C0-EA47-8719-DFFC81B8B444}"/>
              </a:ext>
            </a:extLst>
          </p:cNvPr>
          <p:cNvSpPr>
            <a:spLocks noGrp="1"/>
          </p:cNvSpPr>
          <p:nvPr>
            <p:ph type="body" sz="quarter" idx="12" hasCustomPrompt="1"/>
          </p:nvPr>
        </p:nvSpPr>
        <p:spPr>
          <a:xfrm>
            <a:off x="598170" y="3275651"/>
            <a:ext cx="1892300" cy="37465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lIns="0">
            <a:noAutofit/>
          </a:bodyPr>
          <a:lstStyle>
            <a:lvl1pPr marL="0" indent="0">
              <a:buFontTx/>
              <a:buNone/>
              <a:defRPr sz="1400" b="0" i="0" spc="50" baseline="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FontTx/>
              <a:buNone/>
              <a:defRPr sz="1000" b="1" i="0">
                <a:latin typeface="Open Sans" panose="020B0606030504020204" pitchFamily="34" charset="0"/>
                <a:ea typeface="Open Sans" panose="020B0606030504020204" pitchFamily="34" charset="0"/>
                <a:cs typeface="Open Sans" panose="020B0606030504020204" pitchFamily="34" charset="0"/>
              </a:defRPr>
            </a:lvl2pPr>
            <a:lvl3pPr marL="914400" indent="0">
              <a:buFontTx/>
              <a:buNone/>
              <a:defRPr sz="1000" b="1" i="0">
                <a:latin typeface="Open Sans" panose="020B0606030504020204" pitchFamily="34" charset="0"/>
                <a:ea typeface="Open Sans" panose="020B0606030504020204" pitchFamily="34" charset="0"/>
                <a:cs typeface="Open Sans" panose="020B0606030504020204" pitchFamily="34" charset="0"/>
              </a:defRPr>
            </a:lvl3pPr>
            <a:lvl4pPr marL="1371600" indent="0">
              <a:buFontTx/>
              <a:buNone/>
              <a:defRPr sz="1000" b="1" i="0">
                <a:latin typeface="Open Sans" panose="020B0606030504020204" pitchFamily="34" charset="0"/>
                <a:ea typeface="Open Sans" panose="020B0606030504020204" pitchFamily="34" charset="0"/>
                <a:cs typeface="Open Sans" panose="020B0606030504020204" pitchFamily="34" charset="0"/>
              </a:defRPr>
            </a:lvl4pPr>
            <a:lvl5pPr marL="1828800" indent="0">
              <a:buFontTx/>
              <a:buNone/>
              <a:defRPr sz="1000" b="1"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Date</a:t>
            </a:r>
          </a:p>
        </p:txBody>
      </p:sp>
      <p:sp>
        <p:nvSpPr>
          <p:cNvPr id="12" name="Text Placeholder 10">
            <a:extLst>
              <a:ext uri="{FF2B5EF4-FFF2-40B4-BE49-F238E27FC236}">
                <a16:creationId xmlns:a16="http://schemas.microsoft.com/office/drawing/2014/main" id="{70F42A91-1B0E-FA49-9161-0DAE0A8020D5}"/>
              </a:ext>
            </a:extLst>
          </p:cNvPr>
          <p:cNvSpPr>
            <a:spLocks noGrp="1"/>
          </p:cNvSpPr>
          <p:nvPr>
            <p:ph type="body" sz="quarter" idx="13" hasCustomPrompt="1"/>
          </p:nvPr>
        </p:nvSpPr>
        <p:spPr>
          <a:xfrm>
            <a:off x="609600" y="5880152"/>
            <a:ext cx="5181600" cy="275539"/>
          </a:xfrm>
          <a:prstGeom prst="rect">
            <a:avLst/>
          </a:prstGeom>
        </p:spPr>
        <p:txBody>
          <a:bodyPr lIns="0">
            <a:noAutofit/>
          </a:bodyPr>
          <a:lstStyle>
            <a:lvl1pPr marL="0" indent="0">
              <a:buFontTx/>
              <a:buNone/>
              <a:defRPr sz="16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Short subhead can live here if needed but one line</a:t>
            </a:r>
          </a:p>
        </p:txBody>
      </p:sp>
      <p:pic>
        <p:nvPicPr>
          <p:cNvPr id="6" name="Picture 5">
            <a:extLst>
              <a:ext uri="{FF2B5EF4-FFF2-40B4-BE49-F238E27FC236}">
                <a16:creationId xmlns:a16="http://schemas.microsoft.com/office/drawing/2014/main" id="{5547EC61-854F-3B56-F243-670FEE340B3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9609" y="405114"/>
            <a:ext cx="2426585" cy="984429"/>
          </a:xfrm>
          <a:prstGeom prst="rect">
            <a:avLst/>
          </a:prstGeom>
        </p:spPr>
      </p:pic>
      <p:pic>
        <p:nvPicPr>
          <p:cNvPr id="10" name="Picture 9">
            <a:extLst>
              <a:ext uri="{FF2B5EF4-FFF2-40B4-BE49-F238E27FC236}">
                <a16:creationId xmlns:a16="http://schemas.microsoft.com/office/drawing/2014/main" id="{FF899EE2-2B60-6A63-F29B-0392292E02D9}"/>
              </a:ext>
            </a:extLst>
          </p:cNvPr>
          <p:cNvPicPr>
            <a:picLocks noChangeAspect="1"/>
          </p:cNvPicPr>
          <p:nvPr userDrawn="1"/>
        </p:nvPicPr>
        <p:blipFill>
          <a:blip r:embed="rId5">
            <a:alphaModFix amt="50000"/>
            <a:extLst>
              <a:ext uri="{28A0092B-C50C-407E-A947-70E740481C1C}">
                <a14:useLocalDpi xmlns:a14="http://schemas.microsoft.com/office/drawing/2010/main" val="0"/>
              </a:ext>
            </a:extLst>
          </a:blip>
          <a:srcRect l="5567" t="52097" b="9362"/>
          <a:stretch/>
        </p:blipFill>
        <p:spPr>
          <a:xfrm flipH="1">
            <a:off x="3200250" y="4480"/>
            <a:ext cx="8991601" cy="2066234"/>
          </a:xfrm>
          <a:prstGeom prst="rect">
            <a:avLst/>
          </a:prstGeom>
          <a:effectLst>
            <a:outerShdw blurRad="63500" sx="102000" sy="102000" algn="ctr" rotWithShape="0">
              <a:prstClr val="black">
                <a:alpha val="18000"/>
              </a:prstClr>
            </a:outerShdw>
          </a:effectLst>
        </p:spPr>
      </p:pic>
    </p:spTree>
    <p:extLst>
      <p:ext uri="{BB962C8B-B14F-4D97-AF65-F5344CB8AC3E}">
        <p14:creationId xmlns:p14="http://schemas.microsoft.com/office/powerpoint/2010/main" val="4293969884"/>
      </p:ext>
    </p:extLst>
  </p:cSld>
  <p:clrMapOvr>
    <a:masterClrMapping/>
  </p:clrMapOvr>
  <p:transition/>
  <p:extLst>
    <p:ext uri="{DCECCB84-F9BA-43D5-87BE-67443E8EF086}">
      <p15:sldGuideLst xmlns:p15="http://schemas.microsoft.com/office/powerpoint/2012/main">
        <p15:guide id="1" pos="3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03. W - Content">
    <p:bg>
      <p:bgPr>
        <a:solidFill>
          <a:schemeClr val="bg1"/>
        </a:solidFill>
        <a:effectLst/>
      </p:bgPr>
    </p:bg>
    <p:spTree>
      <p:nvGrpSpPr>
        <p:cNvPr id="1" name=""/>
        <p:cNvGrpSpPr/>
        <p:nvPr/>
      </p:nvGrpSpPr>
      <p:grpSpPr>
        <a:xfrm>
          <a:off x="0" y="0"/>
          <a:ext cx="0" cy="0"/>
          <a:chOff x="0" y="0"/>
          <a:chExt cx="0" cy="0"/>
        </a:xfrm>
      </p:grpSpPr>
      <p:sp>
        <p:nvSpPr>
          <p:cNvPr id="9" name="Freeform 2">
            <a:extLst>
              <a:ext uri="{FF2B5EF4-FFF2-40B4-BE49-F238E27FC236}">
                <a16:creationId xmlns:a16="http://schemas.microsoft.com/office/drawing/2014/main" id="{26D4A5C2-910F-73C0-1882-82D6E836E9C4}"/>
              </a:ext>
            </a:extLst>
          </p:cNvPr>
          <p:cNvSpPr/>
          <p:nvPr userDrawn="1"/>
        </p:nvSpPr>
        <p:spPr>
          <a:xfrm>
            <a:off x="10369074" y="3429000"/>
            <a:ext cx="1822925" cy="3477764"/>
          </a:xfrm>
          <a:custGeom>
            <a:avLst/>
            <a:gdLst/>
            <a:ahLst/>
            <a:cxnLst/>
            <a:rect l="l" t="t" r="r" b="b"/>
            <a:pathLst>
              <a:path w="4490914" h="4114800">
                <a:moveTo>
                  <a:pt x="0" y="0"/>
                </a:moveTo>
                <a:lnTo>
                  <a:pt x="4490915" y="0"/>
                </a:lnTo>
                <a:lnTo>
                  <a:pt x="4490915" y="4114800"/>
                </a:lnTo>
                <a:lnTo>
                  <a:pt x="0" y="4114800"/>
                </a:lnTo>
                <a:lnTo>
                  <a:pt x="0" y="0"/>
                </a:lnTo>
                <a:close/>
              </a:path>
            </a:pathLst>
          </a:custGeom>
          <a:blipFill>
            <a:blip>
              <a:alphaModFix amt="5000"/>
              <a:extLst>
                <a:ext uri="{96DAC541-7B7A-43D3-8B79-37D633B846F1}">
                  <asvg:svgBlip xmlns:asvg="http://schemas.microsoft.com/office/drawing/2016/SVG/main" r:embed="rId2"/>
                </a:ext>
              </a:extLst>
            </a:blip>
            <a:stretch>
              <a:fillRect l="1" r="-108218"/>
            </a:stretch>
          </a:blipFill>
        </p:spPr>
        <p:txBody>
          <a:bodyPr/>
          <a:lstStyle/>
          <a:p>
            <a:endParaRPr lang="en-SG"/>
          </a:p>
        </p:txBody>
      </p:sp>
      <p:sp>
        <p:nvSpPr>
          <p:cNvPr id="8" name="Rectangle 7">
            <a:extLst>
              <a:ext uri="{FF2B5EF4-FFF2-40B4-BE49-F238E27FC236}">
                <a16:creationId xmlns:a16="http://schemas.microsoft.com/office/drawing/2014/main" id="{F8DE024A-5D7B-EF19-D4D5-47CE2A1412FF}"/>
              </a:ext>
            </a:extLst>
          </p:cNvPr>
          <p:cNvSpPr/>
          <p:nvPr userDrawn="1"/>
        </p:nvSpPr>
        <p:spPr>
          <a:xfrm>
            <a:off x="0" y="246761"/>
            <a:ext cx="360000" cy="5539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2" name="Title 1">
            <a:extLst>
              <a:ext uri="{FF2B5EF4-FFF2-40B4-BE49-F238E27FC236}">
                <a16:creationId xmlns:a16="http://schemas.microsoft.com/office/drawing/2014/main" id="{2C1D3757-20DA-CEF7-DA2E-56C152E46EF6}"/>
              </a:ext>
            </a:extLst>
          </p:cNvPr>
          <p:cNvSpPr>
            <a:spLocks noGrp="1"/>
          </p:cNvSpPr>
          <p:nvPr>
            <p:ph type="title"/>
          </p:nvPr>
        </p:nvSpPr>
        <p:spPr>
          <a:xfrm>
            <a:off x="370840" y="339094"/>
            <a:ext cx="11649960" cy="369332"/>
          </a:xfrm>
        </p:spPr>
        <p:txBody>
          <a:bodyPr wrap="square">
            <a:spAutoFit/>
          </a:bodyPr>
          <a:lstStyle>
            <a:lvl1pPr>
              <a:lnSpc>
                <a:spcPct val="100000"/>
              </a:lnSpc>
              <a:defRPr sz="1800" b="1">
                <a:solidFill>
                  <a:schemeClr val="accent3"/>
                </a:solidFill>
              </a:defRPr>
            </a:lvl1pPr>
          </a:lstStyle>
          <a:p>
            <a:r>
              <a:rPr lang="en-US"/>
              <a:t>Click to edit Master title style</a:t>
            </a:r>
          </a:p>
        </p:txBody>
      </p:sp>
      <p:sp>
        <p:nvSpPr>
          <p:cNvPr id="7" name="Content Placeholder 2">
            <a:extLst>
              <a:ext uri="{FF2B5EF4-FFF2-40B4-BE49-F238E27FC236}">
                <a16:creationId xmlns:a16="http://schemas.microsoft.com/office/drawing/2014/main" id="{07419CFB-6443-53CD-1D2D-022E46E65970}"/>
              </a:ext>
            </a:extLst>
          </p:cNvPr>
          <p:cNvSpPr>
            <a:spLocks noGrp="1"/>
          </p:cNvSpPr>
          <p:nvPr>
            <p:ph idx="13" hasCustomPrompt="1"/>
          </p:nvPr>
        </p:nvSpPr>
        <p:spPr>
          <a:xfrm>
            <a:off x="370840" y="846203"/>
            <a:ext cx="11649960" cy="307777"/>
          </a:xfrm>
        </p:spPr>
        <p:txBody>
          <a:bodyPr wrap="square">
            <a:spAutoFit/>
          </a:bodyPr>
          <a:lstStyle>
            <a:lvl1pPr marL="0" indent="0">
              <a:lnSpc>
                <a:spcPct val="100000"/>
              </a:lnSpc>
              <a:buNone/>
              <a:defRPr sz="1400">
                <a:solidFill>
                  <a:schemeClr val="accent3"/>
                </a:solidFill>
              </a:defRPr>
            </a:lvl1pPr>
          </a:lstStyle>
          <a:p>
            <a:pPr lvl="0"/>
            <a:r>
              <a:rPr lang="en-US"/>
              <a:t>Click to add Subtitle</a:t>
            </a:r>
          </a:p>
        </p:txBody>
      </p:sp>
      <p:sp>
        <p:nvSpPr>
          <p:cNvPr id="5" name="Rectangle 4">
            <a:extLst>
              <a:ext uri="{FF2B5EF4-FFF2-40B4-BE49-F238E27FC236}">
                <a16:creationId xmlns:a16="http://schemas.microsoft.com/office/drawing/2014/main" id="{6D5AB799-0711-8EF4-6FE8-CB14031A9D4C}"/>
              </a:ext>
            </a:extLst>
          </p:cNvPr>
          <p:cNvSpPr/>
          <p:nvPr userDrawn="1"/>
        </p:nvSpPr>
        <p:spPr>
          <a:xfrm>
            <a:off x="0" y="246761"/>
            <a:ext cx="180000" cy="55399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6" name="Slide Number Placeholder 5">
            <a:extLst>
              <a:ext uri="{FF2B5EF4-FFF2-40B4-BE49-F238E27FC236}">
                <a16:creationId xmlns:a16="http://schemas.microsoft.com/office/drawing/2014/main" id="{9E40DD33-7725-7286-153D-92790EA7319D}"/>
              </a:ext>
            </a:extLst>
          </p:cNvPr>
          <p:cNvSpPr txBox="1">
            <a:spLocks/>
          </p:cNvSpPr>
          <p:nvPr userDrawn="1"/>
        </p:nvSpPr>
        <p:spPr>
          <a:xfrm>
            <a:off x="11480800" y="6356350"/>
            <a:ext cx="540000" cy="360000"/>
          </a:xfrm>
          <a:prstGeom prst="rect">
            <a:avLst/>
          </a:prstGeom>
        </p:spPr>
        <p:txBody>
          <a:bodyPr vert="horz" lIns="91440" tIns="45720" rIns="91440" bIns="45720" rtlCol="0" anchor="ctr"/>
          <a:lstStyle>
            <a:defPPr>
              <a:defRPr lang="en-US"/>
            </a:defPPr>
            <a:lvl1pPr marL="0" algn="r" defTabSz="914400" rtl="0" eaLnBrk="1" latinLnBrk="0" hangingPunct="1">
              <a:defRPr sz="1000" b="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F7907F5-38C3-4464-825F-5C1C4068FAA7}" type="slidenum">
              <a:rPr lang="en-US" sz="800" smtClean="0">
                <a:solidFill>
                  <a:schemeClr val="tx1"/>
                </a:solidFill>
              </a:rPr>
              <a:pPr/>
              <a:t>‹#›</a:t>
            </a:fld>
            <a:endParaRPr lang="en-US" sz="800">
              <a:solidFill>
                <a:schemeClr val="tx1"/>
              </a:solidFill>
            </a:endParaRPr>
          </a:p>
        </p:txBody>
      </p:sp>
    </p:spTree>
    <p:extLst>
      <p:ext uri="{BB962C8B-B14F-4D97-AF65-F5344CB8AC3E}">
        <p14:creationId xmlns:p14="http://schemas.microsoft.com/office/powerpoint/2010/main" val="36079775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Ops-New">
    <p:bg>
      <p:bgPr>
        <a:solidFill>
          <a:schemeClr val="bg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4D462D05-9134-52B5-6971-F192E0F26BF6}"/>
              </a:ext>
            </a:extLst>
          </p:cNvPr>
          <p:cNvSpPr>
            <a:spLocks noGrp="1"/>
          </p:cNvSpPr>
          <p:nvPr>
            <p:ph type="title" hasCustomPrompt="1"/>
          </p:nvPr>
        </p:nvSpPr>
        <p:spPr>
          <a:xfrm>
            <a:off x="615763" y="359700"/>
            <a:ext cx="10986738" cy="384371"/>
          </a:xfrm>
        </p:spPr>
        <p:txBody>
          <a:bodyPr lIns="0" anchor="t" anchorCtr="0">
            <a:noAutofit/>
          </a:bodyPr>
          <a:lstStyle>
            <a:lvl1pPr>
              <a:defRPr sz="2400" b="1"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edit title</a:t>
            </a:r>
          </a:p>
        </p:txBody>
      </p:sp>
      <p:sp>
        <p:nvSpPr>
          <p:cNvPr id="2" name="TextBox 1">
            <a:extLst>
              <a:ext uri="{FF2B5EF4-FFF2-40B4-BE49-F238E27FC236}">
                <a16:creationId xmlns:a16="http://schemas.microsoft.com/office/drawing/2014/main" id="{02A28C2C-5367-EBAA-7965-797380061179}"/>
              </a:ext>
            </a:extLst>
          </p:cNvPr>
          <p:cNvSpPr txBox="1"/>
          <p:nvPr userDrawn="1"/>
        </p:nvSpPr>
        <p:spPr>
          <a:xfrm>
            <a:off x="609600" y="6461624"/>
            <a:ext cx="3836276" cy="338554"/>
          </a:xfrm>
          <a:prstGeom prst="rect">
            <a:avLst/>
          </a:prstGeom>
          <a:solidFill>
            <a:schemeClr val="bg1"/>
          </a:solid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Copyright © 2026 Deloitte Development LLC. All rights reserved</a:t>
            </a:r>
          </a:p>
          <a:p>
            <a:endParaRPr lang="en-US" sz="8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FFAA33B4-6F5E-9FCC-E56F-C6D527ED721F}"/>
              </a:ext>
            </a:extLst>
          </p:cNvPr>
          <p:cNvSpPr txBox="1"/>
          <p:nvPr userDrawn="1"/>
        </p:nvSpPr>
        <p:spPr>
          <a:xfrm>
            <a:off x="6601968" y="6461624"/>
            <a:ext cx="4994370" cy="215444"/>
          </a:xfrm>
          <a:prstGeom prst="rect">
            <a:avLst/>
          </a:prstGeom>
          <a:solidFill>
            <a:schemeClr val="bg1"/>
          </a:solidFill>
        </p:spPr>
        <p:txBody>
          <a:bodyPr wrap="square" lIns="0"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0ED674-4211-8F48-BBC8-103A7F89ACA6}" type="slidenum">
              <a:rPr lang="en-US" sz="80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t>
            </a:fld>
            <a:endParaRPr lang="en-US" sz="8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Placeholder 5">
            <a:extLst>
              <a:ext uri="{FF2B5EF4-FFF2-40B4-BE49-F238E27FC236}">
                <a16:creationId xmlns:a16="http://schemas.microsoft.com/office/drawing/2014/main" id="{495650E7-2502-F8FC-651C-3BC792B69B2A}"/>
              </a:ext>
            </a:extLst>
          </p:cNvPr>
          <p:cNvSpPr>
            <a:spLocks noGrp="1"/>
          </p:cNvSpPr>
          <p:nvPr>
            <p:ph type="body" sz="quarter" idx="10" hasCustomPrompt="1"/>
          </p:nvPr>
        </p:nvSpPr>
        <p:spPr>
          <a:xfrm>
            <a:off x="615763" y="744071"/>
            <a:ext cx="10987088" cy="384371"/>
          </a:xfrm>
        </p:spPr>
        <p:txBody>
          <a:bodyPr lIns="0">
            <a:noAutofit/>
          </a:bodyPr>
          <a:lstStyle>
            <a:lvl1pPr marL="0" indent="0">
              <a:lnSpc>
                <a:spcPct val="100000"/>
              </a:lnSpc>
              <a:buNone/>
              <a:defRPr sz="1400" b="0" i="0">
                <a:solidFill>
                  <a:schemeClr val="bg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edit subtitle</a:t>
            </a:r>
          </a:p>
        </p:txBody>
      </p:sp>
    </p:spTree>
    <p:extLst>
      <p:ext uri="{BB962C8B-B14F-4D97-AF65-F5344CB8AC3E}">
        <p14:creationId xmlns:p14="http://schemas.microsoft.com/office/powerpoint/2010/main" val="14611867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84">
          <p15:clr>
            <a:srgbClr val="FBAE40"/>
          </p15:clr>
        </p15:guide>
        <p15:guide id="4" orient="horz" pos="3960">
          <p15:clr>
            <a:srgbClr val="FBAE40"/>
          </p15:clr>
        </p15:guide>
        <p15:guide id="5" orient="horz" pos="360">
          <p15:clr>
            <a:srgbClr val="FBAE40"/>
          </p15:clr>
        </p15:guide>
        <p15:guide id="6" pos="7296">
          <p15:clr>
            <a:srgbClr val="FBAE40"/>
          </p15:clr>
        </p15:guide>
        <p15:guide id="7" orient="horz" pos="552">
          <p15:clr>
            <a:srgbClr val="FBAE40"/>
          </p15:clr>
        </p15:guide>
        <p15:guide id="8" orient="horz" pos="6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001976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C5F208-0647-3A69-2B72-EFD153B80D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449350-2F17-C44C-764F-A2B4C478EA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9B45B2-D1A9-BE79-46AA-96EF82A291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D7C706-0E45-47AC-BF41-1CE4F466FB56}" type="datetimeFigureOut">
              <a:rPr lang="en-IN" smtClean="0"/>
              <a:t>23-06-2026</a:t>
            </a:fld>
            <a:endParaRPr lang="en-IN"/>
          </a:p>
        </p:txBody>
      </p:sp>
      <p:sp>
        <p:nvSpPr>
          <p:cNvPr id="5" name="Footer Placeholder 4">
            <a:extLst>
              <a:ext uri="{FF2B5EF4-FFF2-40B4-BE49-F238E27FC236}">
                <a16:creationId xmlns:a16="http://schemas.microsoft.com/office/drawing/2014/main" id="{F0E5E2CE-6CC7-693B-CB8A-746703F215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4CD037F-D7A5-831E-4704-4D5041F15A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9CA43D-F9B2-433C-9827-A7A6CE379E77}" type="slidenum">
              <a:rPr lang="en-IN" smtClean="0"/>
              <a:t>‹#›</a:t>
            </a:fld>
            <a:endParaRPr lang="en-IN"/>
          </a:p>
        </p:txBody>
      </p:sp>
    </p:spTree>
    <p:extLst>
      <p:ext uri="{BB962C8B-B14F-4D97-AF65-F5344CB8AC3E}">
        <p14:creationId xmlns:p14="http://schemas.microsoft.com/office/powerpoint/2010/main" val="147863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3.xml"/><Relationship Id="rId3" Type="http://schemas.openxmlformats.org/officeDocument/2006/relationships/notesSlide" Target="../notesSlides/notesSlide2.xml"/><Relationship Id="rId4" Type="http://schemas.openxmlformats.org/officeDocument/2006/relationships/oleObject" Target="../embeddings/oleObject1.bin"/><Relationship Id="rId5" Type="http://schemas.openxmlformats.org/officeDocument/2006/relationships/image" Target="../media/image5.emf"/><Relationship Id="rId6" Type="http://schemas.openxmlformats.org/officeDocument/2006/relationships/image" Target="../media/image6.png"/><Relationship Id="rId7" Type="http://schemas.openxmlformats.org/officeDocument/2006/relationships/hyperlink" Target="https://inteliops-frontend.delightfulglacier-3c824027.australiaeast.azurecontainerapps.io/" TargetMode="External"/><Relationship Id="rId8" Type="http://schemas.openxmlformats.org/officeDocument/2006/relationships/hyperlink" Target="https://www.deloitte.com/us/en/services/consulting/services/cloud-enabled-smart-manufacturing.html" TargetMode="External"/><Relationship Id="rId9" Type="http://schemas.openxmlformats.org/officeDocument/2006/relationships/image" Target="../media/image7.svg"/><Relationship Id="rId10" Type="http://schemas.openxmlformats.org/officeDocument/2006/relationships/image" Target="../media/image8.svg"/><Relationship Id="rId11" Type="http://schemas.openxmlformats.org/officeDocument/2006/relationships/image" Target="../media/image9.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24.png"/><Relationship Id="rId16"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emf"/><Relationship Id="rId3" Type="http://schemas.openxmlformats.org/officeDocument/2006/relationships/image" Target="../media/image6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6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10.png"/><Relationship Id="rId5" Type="http://schemas.openxmlformats.org/officeDocument/2006/relationships/image" Target="../media/image6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2.png"/><Relationship Id="rId3" Type="http://schemas.openxmlformats.org/officeDocument/2006/relationships/image" Target="../media/image6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svg"/><Relationship Id="rId3" Type="http://schemas.openxmlformats.org/officeDocument/2006/relationships/image" Target="../media/image34.svg"/><Relationship Id="rId4" Type="http://schemas.openxmlformats.org/officeDocument/2006/relationships/image" Target="../media/image35.svg"/><Relationship Id="rId5" Type="http://schemas.openxmlformats.org/officeDocument/2006/relationships/image" Target="../media/image36.svg"/><Relationship Id="rId6" Type="http://schemas.openxmlformats.org/officeDocument/2006/relationships/image" Target="../media/image37.svg"/><Relationship Id="rId7" Type="http://schemas.openxmlformats.org/officeDocument/2006/relationships/image" Target="../media/image38.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39.png"/><Relationship Id="rId4" Type="http://schemas.openxmlformats.org/officeDocument/2006/relationships/image" Target="../media/image40.jpe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49.png"/><Relationship Id="rId14" Type="http://schemas.openxmlformats.org/officeDocument/2006/relationships/image" Target="../media/image50.png"/><Relationship Id="rId15" Type="http://schemas.openxmlformats.org/officeDocument/2006/relationships/image" Target="../media/image51.png"/><Relationship Id="rId16" Type="http://schemas.openxmlformats.org/officeDocument/2006/relationships/image" Target="../media/image52.png"/><Relationship Id="rId17" Type="http://schemas.openxmlformats.org/officeDocument/2006/relationships/image" Target="../media/image6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68.jpg"/><Relationship Id="rId7" Type="http://schemas.openxmlformats.org/officeDocument/2006/relationships/image" Target="../media/image67.jpg"/><Relationship Id="rId8" Type="http://schemas.openxmlformats.org/officeDocument/2006/relationships/image" Target="../media/image69.jpg"/><Relationship Id="rId9" Type="http://schemas.openxmlformats.org/officeDocument/2006/relationships/image" Target="../media/image66.jpg"/></Relationships>
</file>

<file path=ppt/slides/_rels/slide1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3.xml"/><Relationship Id="rId3" Type="http://schemas.openxmlformats.org/officeDocument/2006/relationships/notesSlide" Target="../notesSlides/notesSlide4.xml"/><Relationship Id="rId4" Type="http://schemas.openxmlformats.org/officeDocument/2006/relationships/oleObject" Target="../embeddings/oleObject1.bin"/><Relationship Id="rId5" Type="http://schemas.openxmlformats.org/officeDocument/2006/relationships/image" Target="../media/image5.emf"/><Relationship Id="rId6" Type="http://schemas.openxmlformats.org/officeDocument/2006/relationships/image" Target="../media/image57.svg"/><Relationship Id="rId7" Type="http://schemas.openxmlformats.org/officeDocument/2006/relationships/image" Target="../media/image6.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60.png"/><Relationship Id="rId11" Type="http://schemas.openxmlformats.org/officeDocument/2006/relationships/image" Target="../media/image61.svg"/><Relationship Id="rId12" Type="http://schemas.openxmlformats.org/officeDocument/2006/relationships/image" Target="../media/image62.svg"/><Relationship Id="rId13" Type="http://schemas.openxmlformats.org/officeDocument/2006/relationships/image" Target="../media/image63.svg"/><Relationship Id="rId14" Type="http://schemas.openxmlformats.org/officeDocument/2006/relationships/image" Target="../media/image64.svg"/><Relationship Id="rId15" Type="http://schemas.openxmlformats.org/officeDocument/2006/relationships/hyperlink" Target="https://inteliops-frontend.delightfulglacier-3c824027.australiaeast.azurecontainerapps.io/" TargetMode="External"/><Relationship Id="rId16" Type="http://schemas.openxmlformats.org/officeDocument/2006/relationships/hyperlink" Target="https://www.deloitte.com/us/en/services/consulting/services/cloud-enabled-smart-manufacturing.html" TargetMode="External"/><Relationship Id="rId17" Type="http://schemas.openxmlformats.org/officeDocument/2006/relationships/image" Target="../media/image6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F4D5A-D416-D3CB-9103-AE114BF2C7D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8D79023-F705-EFD0-2EAC-4DBCBD6C3F6C}"/>
              </a:ext>
            </a:extLst>
          </p:cNvPr>
          <p:cNvSpPr>
            <a:spLocks noGrp="1"/>
          </p:cNvSpPr>
          <p:nvPr>
            <p:ph type="body" sz="quarter" idx="11"/>
          </p:nvPr>
        </p:nvSpPr>
        <p:spPr>
          <a:xfrm>
            <a:off x="609600" y="3989388"/>
            <a:ext cx="6175514" cy="1628775"/>
          </a:xfrm>
        </p:spPr>
        <p:txBody>
          <a:bodyPr anchor="b" anchorCtr="0"/>
          <a:lstStyle/>
          <a:p>
            <a:r>
              <a:rPr lang="en-AU" sz="4000" noProof="0"/>
              <a:t>AetherMind Document Ingestion</a:t>
            </a:r>
          </a:p>
        </p:txBody>
      </p:sp>
      <p:sp>
        <p:nvSpPr>
          <p:cNvPr id="7" name="Text Placeholder 6">
            <a:extLst>
              <a:ext uri="{FF2B5EF4-FFF2-40B4-BE49-F238E27FC236}">
                <a16:creationId xmlns:a16="http://schemas.microsoft.com/office/drawing/2014/main" id="{137BF922-FED1-EAE6-3262-E7A458DD2486}"/>
              </a:ext>
            </a:extLst>
          </p:cNvPr>
          <p:cNvSpPr>
            <a:spLocks noGrp="1"/>
          </p:cNvSpPr>
          <p:nvPr>
            <p:ph type="body" sz="quarter" idx="12"/>
          </p:nvPr>
        </p:nvSpPr>
        <p:spPr>
          <a:xfrm>
            <a:off x="598170" y="3275651"/>
            <a:ext cx="1892300" cy="374650"/>
          </a:xfrm>
        </p:spPr>
        <p:txBody>
          <a:bodyPr/>
          <a:lstStyle/>
          <a:p>
            <a:r>
              <a:rPr lang="en-AU" noProof="0"/>
              <a:t>June 2026</a:t>
            </a:r>
          </a:p>
        </p:txBody>
      </p:sp>
      <p:sp>
        <p:nvSpPr>
          <p:cNvPr id="4" name="Text Placeholder 3">
            <a:extLst>
              <a:ext uri="{FF2B5EF4-FFF2-40B4-BE49-F238E27FC236}">
                <a16:creationId xmlns:a16="http://schemas.microsoft.com/office/drawing/2014/main" id="{71DFFA50-25FC-4FDE-F55B-3D0102F31A10}"/>
              </a:ext>
            </a:extLst>
          </p:cNvPr>
          <p:cNvSpPr>
            <a:spLocks noGrp="1"/>
          </p:cNvSpPr>
          <p:nvPr>
            <p:ph type="body" sz="quarter" idx="13"/>
          </p:nvPr>
        </p:nvSpPr>
        <p:spPr/>
        <p:txBody>
          <a:bodyPr/>
          <a:lstStyle/>
          <a:p>
            <a:r>
              <a:rPr lang="en-AU" noProof="0"/>
              <a:t>Intelligent Document Extraction, Understanding, and Reconstruction Platform</a:t>
            </a:r>
          </a:p>
        </p:txBody>
      </p:sp>
    </p:spTree>
    <p:extLst>
      <p:ext uri="{BB962C8B-B14F-4D97-AF65-F5344CB8AC3E}">
        <p14:creationId xmlns:p14="http://schemas.microsoft.com/office/powerpoint/2010/main" val="364373047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6E3588E-B826-F89E-ABD9-523A192DEB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6" name="think-cell data - do not delete" hidden="1">
                        <a:extLst>
                          <a:ext uri="{FF2B5EF4-FFF2-40B4-BE49-F238E27FC236}">
                            <a16:creationId xmlns:a16="http://schemas.microsoft.com/office/drawing/2014/main" id="{D6E3588E-B826-F89E-ABD9-523A192DEB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6" name="Rectangle 55">
            <a:extLst>
              <a:ext uri="{FF2B5EF4-FFF2-40B4-BE49-F238E27FC236}">
                <a16:creationId xmlns:a16="http://schemas.microsoft.com/office/drawing/2014/main" id="{18D2E070-B911-823F-FE13-A6ED38A0E9B3}"/>
              </a:ext>
            </a:extLst>
          </p:cNvPr>
          <p:cNvSpPr/>
          <p:nvPr/>
        </p:nvSpPr>
        <p:spPr>
          <a:xfrm>
            <a:off x="6279182" y="5042122"/>
            <a:ext cx="1606986" cy="203133"/>
          </a:xfrm>
          <a:prstGeom prst="rect">
            <a:avLst/>
          </a:prstGeom>
          <a:no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800" b="1" i="0" u="none" strike="noStrike" kern="0" cap="none" spc="0" normalizeH="0" baseline="0" noProof="0">
                <a:ln>
                  <a:noFill/>
                </a:ln>
                <a:solidFill>
                  <a:srgbClr val="046A38"/>
                </a:solidFill>
                <a:effectLst/>
                <a:uLnTx/>
                <a:uFillTx/>
                <a:latin typeface="Verdana" panose="020B0604030504040204" pitchFamily="34" charset="0"/>
                <a:ea typeface="Verdana" panose="020B0604030504040204" pitchFamily="34" charset="0"/>
                <a:cs typeface="Open Sans" panose="020B0606030504020204" pitchFamily="34" charset="0"/>
                <a:sym typeface="Arial"/>
              </a:rPr>
              <a:t>OCR Post-Processor</a:t>
            </a:r>
          </a:p>
        </p:txBody>
      </p:sp>
      <p:sp>
        <p:nvSpPr>
          <p:cNvPr id="57" name="AutoShape 34">
            <a:extLst>
              <a:ext uri="{FF2B5EF4-FFF2-40B4-BE49-F238E27FC236}">
                <a16:creationId xmlns:a16="http://schemas.microsoft.com/office/drawing/2014/main" id="{074E5AF0-024E-A93C-7CBC-F547CCE4817E}"/>
              </a:ext>
            </a:extLst>
          </p:cNvPr>
          <p:cNvSpPr>
            <a:spLocks noChangeArrowheads="1"/>
          </p:cNvSpPr>
          <p:nvPr/>
        </p:nvSpPr>
        <p:spPr bwMode="gray">
          <a:xfrm>
            <a:off x="243118" y="1233071"/>
            <a:ext cx="2395952" cy="515252"/>
          </a:xfrm>
          <a:prstGeom prst="chevron">
            <a:avLst>
              <a:gd name="adj" fmla="val 34968"/>
            </a:avLst>
          </a:prstGeom>
          <a:solidFill>
            <a:srgbClr val="333333"/>
          </a:solidFill>
          <a:ln w="25400" cap="flat" cmpd="sng" algn="ctr">
            <a:no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Open Sans" panose="020B0606030504020204" pitchFamily="34" charset="0"/>
              </a:rPr>
              <a:t>Ingestion &amp; UI Region Cropping </a:t>
            </a:r>
          </a:p>
        </p:txBody>
      </p:sp>
      <p:sp>
        <p:nvSpPr>
          <p:cNvPr id="58" name="AutoShape 32">
            <a:extLst>
              <a:ext uri="{FF2B5EF4-FFF2-40B4-BE49-F238E27FC236}">
                <a16:creationId xmlns:a16="http://schemas.microsoft.com/office/drawing/2014/main" id="{221DD265-D2BC-D59B-62E0-AC26FDF65C14}"/>
              </a:ext>
            </a:extLst>
          </p:cNvPr>
          <p:cNvSpPr>
            <a:spLocks noChangeArrowheads="1"/>
          </p:cNvSpPr>
          <p:nvPr/>
        </p:nvSpPr>
        <p:spPr bwMode="gray">
          <a:xfrm>
            <a:off x="2511475" y="1233071"/>
            <a:ext cx="2395952" cy="515252"/>
          </a:xfrm>
          <a:prstGeom prst="chevron">
            <a:avLst>
              <a:gd name="adj" fmla="val 34952"/>
            </a:avLst>
          </a:prstGeom>
          <a:solidFill>
            <a:srgbClr val="009A44"/>
          </a:solidFill>
          <a:ln w="25400" cap="flat" cmpd="sng" algn="ctr">
            <a:no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Open Sans" panose="020B0606030504020204" pitchFamily="34" charset="0"/>
              </a:rPr>
              <a:t>Format-Specific Extractor Layer</a:t>
            </a:r>
          </a:p>
        </p:txBody>
      </p:sp>
      <p:sp>
        <p:nvSpPr>
          <p:cNvPr id="59" name="AutoShape 34">
            <a:extLst>
              <a:ext uri="{FF2B5EF4-FFF2-40B4-BE49-F238E27FC236}">
                <a16:creationId xmlns:a16="http://schemas.microsoft.com/office/drawing/2014/main" id="{7DC66611-0F9F-F301-CAAC-C2249F9CB0D8}"/>
              </a:ext>
            </a:extLst>
          </p:cNvPr>
          <p:cNvSpPr>
            <a:spLocks noChangeArrowheads="1"/>
          </p:cNvSpPr>
          <p:nvPr/>
        </p:nvSpPr>
        <p:spPr bwMode="gray">
          <a:xfrm>
            <a:off x="7044346" y="1233071"/>
            <a:ext cx="2395952" cy="515252"/>
          </a:xfrm>
          <a:prstGeom prst="chevron">
            <a:avLst>
              <a:gd name="adj" fmla="val 34968"/>
            </a:avLst>
          </a:prstGeom>
          <a:solidFill>
            <a:srgbClr val="046A38"/>
          </a:solidFill>
          <a:ln w="25400" cap="flat" cmpd="sng" algn="ctr">
            <a:no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Open Sans" panose="020B0606030504020204" pitchFamily="34" charset="0"/>
              </a:rPr>
              <a:t>Multi-Agent Relational Analysis </a:t>
            </a:r>
          </a:p>
        </p:txBody>
      </p:sp>
      <p:sp>
        <p:nvSpPr>
          <p:cNvPr id="60" name="AutoShape 32">
            <a:extLst>
              <a:ext uri="{FF2B5EF4-FFF2-40B4-BE49-F238E27FC236}">
                <a16:creationId xmlns:a16="http://schemas.microsoft.com/office/drawing/2014/main" id="{9B25D2F4-3C12-BC67-5EC1-657F4F171C1A}"/>
              </a:ext>
            </a:extLst>
          </p:cNvPr>
          <p:cNvSpPr>
            <a:spLocks noChangeArrowheads="1"/>
          </p:cNvSpPr>
          <p:nvPr/>
        </p:nvSpPr>
        <p:spPr bwMode="gray">
          <a:xfrm>
            <a:off x="4779832" y="1233071"/>
            <a:ext cx="2392109" cy="515252"/>
          </a:xfrm>
          <a:prstGeom prst="chevron">
            <a:avLst>
              <a:gd name="adj" fmla="val 34952"/>
            </a:avLst>
          </a:prstGeom>
          <a:solidFill>
            <a:srgbClr val="00ABAB"/>
          </a:solidFill>
          <a:ln w="25400" cap="flat" cmpd="sng" algn="ctr">
            <a:no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Open Sans" panose="020B0606030504020204" pitchFamily="34" charset="0"/>
              </a:rPr>
              <a:t>Multi-Stage OCR Processing</a:t>
            </a:r>
          </a:p>
        </p:txBody>
      </p:sp>
      <p:pic>
        <p:nvPicPr>
          <p:cNvPr id="74" name="Picture 73">
            <a:extLst>
              <a:ext uri="{FF2B5EF4-FFF2-40B4-BE49-F238E27FC236}">
                <a16:creationId xmlns:a16="http://schemas.microsoft.com/office/drawing/2014/main" id="{02E02E46-246D-5353-5D85-FC2345AD6941}"/>
              </a:ext>
            </a:extLst>
          </p:cNvPr>
          <p:cNvPicPr>
            <a:picLocks/>
          </p:cNvPicPr>
          <p:nvPr/>
        </p:nvPicPr>
        <p:blipFill>
          <a:blip r:embed="rId6"/>
          <a:stretch>
            <a:fillRect/>
          </a:stretch>
        </p:blipFill>
        <p:spPr>
          <a:xfrm>
            <a:off x="11376470" y="1140766"/>
            <a:ext cx="0" cy="301752"/>
          </a:xfrm>
          <a:prstGeom prst="rect">
            <a:avLst/>
          </a:prstGeom>
        </p:spPr>
      </p:pic>
      <p:sp>
        <p:nvSpPr>
          <p:cNvPr id="85" name="TextBox 84">
            <a:extLst>
              <a:ext uri="{FF2B5EF4-FFF2-40B4-BE49-F238E27FC236}">
                <a16:creationId xmlns:a16="http://schemas.microsoft.com/office/drawing/2014/main" id="{3A62CD55-0E55-6FB7-79BB-AD708A7DFF74}"/>
              </a:ext>
            </a:extLst>
          </p:cNvPr>
          <p:cNvSpPr txBox="1"/>
          <p:nvPr/>
        </p:nvSpPr>
        <p:spPr>
          <a:xfrm>
            <a:off x="2427900" y="5034511"/>
            <a:ext cx="1369408" cy="203133"/>
          </a:xfrm>
          <a:prstGeom prst="rect">
            <a:avLst/>
          </a:prstGeom>
          <a:no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800" b="1" i="0" u="none" strike="noStrike" kern="0" cap="none" spc="0" normalizeH="0" baseline="0" noProof="0">
                <a:ln>
                  <a:noFill/>
                </a:ln>
                <a:solidFill>
                  <a:srgbClr val="009A44"/>
                </a:solidFill>
                <a:effectLst/>
                <a:uLnTx/>
                <a:uFillTx/>
                <a:latin typeface="Verdana" panose="020B0604030504040204" pitchFamily="34" charset="0"/>
                <a:ea typeface="Verdana" panose="020B0604030504040204" pitchFamily="34" charset="0"/>
                <a:cs typeface="Open Sans" panose="020B0606030504020204" pitchFamily="34" charset="0"/>
              </a:rPr>
              <a:t>Format Extractor</a:t>
            </a:r>
          </a:p>
        </p:txBody>
      </p:sp>
      <p:sp>
        <p:nvSpPr>
          <p:cNvPr id="108" name="Rectangle 107">
            <a:extLst>
              <a:ext uri="{FF2B5EF4-FFF2-40B4-BE49-F238E27FC236}">
                <a16:creationId xmlns:a16="http://schemas.microsoft.com/office/drawing/2014/main" id="{86811B34-4BE2-66D2-F7AC-315C98A47E8B}"/>
              </a:ext>
            </a:extLst>
          </p:cNvPr>
          <p:cNvSpPr/>
          <p:nvPr/>
        </p:nvSpPr>
        <p:spPr>
          <a:xfrm>
            <a:off x="10038559" y="5034510"/>
            <a:ext cx="2153441" cy="203133"/>
          </a:xfrm>
          <a:prstGeom prst="rect">
            <a:avLst/>
          </a:prstGeom>
          <a:no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800" b="1" i="0" u="none" strike="noStrike" kern="0" cap="none" spc="0" normalizeH="0" baseline="0" noProof="0">
                <a:ln>
                  <a:noFill/>
                </a:ln>
                <a:solidFill>
                  <a:srgbClr val="C4D600"/>
                </a:solidFill>
                <a:effectLst/>
                <a:uLnTx/>
                <a:uFillTx/>
                <a:latin typeface="Verdana" panose="020B0604030504040204" pitchFamily="34" charset="0"/>
                <a:ea typeface="Verdana" panose="020B0604030504040204" pitchFamily="34" charset="0"/>
                <a:cs typeface="Open Sans" panose="020B0606030504020204" pitchFamily="34" charset="0"/>
              </a:rPr>
              <a:t>Downstream LLM</a:t>
            </a:r>
            <a:endParaRPr kumimoji="0" lang="en-US" sz="800" b="1" i="0" u="none" strike="noStrike" kern="0" cap="none" spc="0" normalizeH="0" baseline="0" noProof="0">
              <a:ln>
                <a:noFill/>
              </a:ln>
              <a:solidFill>
                <a:srgbClr val="C4D600"/>
              </a:solidFill>
              <a:effectLst/>
              <a:uLnTx/>
              <a:uFillTx/>
              <a:latin typeface="Verdana" panose="020B0604030504040204" pitchFamily="34" charset="0"/>
              <a:ea typeface="Verdana" panose="020B0604030504040204" pitchFamily="34" charset="0"/>
              <a:cs typeface="Open Sans" panose="020B0606030504020204" pitchFamily="34" charset="0"/>
              <a:sym typeface="Arial"/>
            </a:endParaRPr>
          </a:p>
        </p:txBody>
      </p:sp>
      <p:sp>
        <p:nvSpPr>
          <p:cNvPr id="191" name="AutoShape 34">
            <a:extLst>
              <a:ext uri="{FF2B5EF4-FFF2-40B4-BE49-F238E27FC236}">
                <a16:creationId xmlns:a16="http://schemas.microsoft.com/office/drawing/2014/main" id="{598176B8-F160-3DE2-6755-46877710BEF0}"/>
              </a:ext>
            </a:extLst>
          </p:cNvPr>
          <p:cNvSpPr>
            <a:spLocks noChangeArrowheads="1"/>
          </p:cNvSpPr>
          <p:nvPr/>
        </p:nvSpPr>
        <p:spPr bwMode="gray">
          <a:xfrm>
            <a:off x="9312703" y="1233071"/>
            <a:ext cx="2395952" cy="515252"/>
          </a:xfrm>
          <a:prstGeom prst="chevron">
            <a:avLst>
              <a:gd name="adj" fmla="val 34968"/>
            </a:avLst>
          </a:prstGeom>
          <a:solidFill>
            <a:srgbClr val="C4D600"/>
          </a:solidFill>
          <a:ln w="25400" cap="flat" cmpd="sng" algn="ctr">
            <a:no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rPr>
              <a:t>Visual Rendering &amp; Validation</a:t>
            </a:r>
          </a:p>
        </p:txBody>
      </p:sp>
      <p:sp>
        <p:nvSpPr>
          <p:cNvPr id="192" name="TextBox 191">
            <a:extLst>
              <a:ext uri="{FF2B5EF4-FFF2-40B4-BE49-F238E27FC236}">
                <a16:creationId xmlns:a16="http://schemas.microsoft.com/office/drawing/2014/main" id="{68839BDA-0899-7638-E72B-5E197B732554}"/>
              </a:ext>
            </a:extLst>
          </p:cNvPr>
          <p:cNvSpPr txBox="1"/>
          <p:nvPr/>
        </p:nvSpPr>
        <p:spPr>
          <a:xfrm>
            <a:off x="3824761" y="5034512"/>
            <a:ext cx="2505575" cy="203133"/>
          </a:xfrm>
          <a:prstGeom prst="rect">
            <a:avLst/>
          </a:prstGeom>
          <a:no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800" b="1" i="0" u="none" strike="noStrike" kern="0" cap="none" spc="0" normalizeH="0" baseline="0" noProof="0">
                <a:ln>
                  <a:noFill/>
                </a:ln>
                <a:solidFill>
                  <a:srgbClr val="00ABAB"/>
                </a:solidFill>
                <a:effectLst/>
                <a:uLnTx/>
                <a:uFillTx/>
                <a:latin typeface="Verdana" panose="020B0604030504040204" pitchFamily="34" charset="0"/>
                <a:ea typeface="Verdana" panose="020B0604030504040204" pitchFamily="34" charset="0"/>
                <a:cs typeface="Open Sans" panose="020B0606030504020204" pitchFamily="34" charset="0"/>
              </a:rPr>
              <a:t>Orchestration Agent</a:t>
            </a:r>
          </a:p>
        </p:txBody>
      </p:sp>
      <p:sp>
        <p:nvSpPr>
          <p:cNvPr id="232" name="TextBox 231">
            <a:extLst>
              <a:ext uri="{FF2B5EF4-FFF2-40B4-BE49-F238E27FC236}">
                <a16:creationId xmlns:a16="http://schemas.microsoft.com/office/drawing/2014/main" id="{01D82329-0C4D-BCDA-A779-0BF44C5DBBF8}"/>
              </a:ext>
            </a:extLst>
          </p:cNvPr>
          <p:cNvSpPr txBox="1"/>
          <p:nvPr/>
        </p:nvSpPr>
        <p:spPr>
          <a:xfrm>
            <a:off x="371625" y="1791331"/>
            <a:ext cx="2139849"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Cropping screenshots heuristically removes UI chrome to isolate slide bounds</a:t>
            </a:r>
          </a:p>
        </p:txBody>
      </p:sp>
      <p:sp>
        <p:nvSpPr>
          <p:cNvPr id="246" name="TextBox 245">
            <a:extLst>
              <a:ext uri="{FF2B5EF4-FFF2-40B4-BE49-F238E27FC236}">
                <a16:creationId xmlns:a16="http://schemas.microsoft.com/office/drawing/2014/main" id="{313FB7C8-300E-87E2-10A6-5165C152DE74}"/>
              </a:ext>
            </a:extLst>
          </p:cNvPr>
          <p:cNvSpPr txBox="1"/>
          <p:nvPr/>
        </p:nvSpPr>
        <p:spPr>
          <a:xfrm>
            <a:off x="2511474" y="1774944"/>
            <a:ext cx="2139849" cy="553998"/>
          </a:xfrm>
          <a:prstGeom prst="rect">
            <a:avLst/>
          </a:prstGeom>
          <a:noFill/>
        </p:spPr>
        <p:txBody>
          <a:bodyPr wrap="square">
            <a:spAutoFit/>
          </a:bodyPr>
          <a:lstStyle>
            <a:defPPr>
              <a:defRPr lang="en-US"/>
            </a:defPPr>
            <a:lvl1pPr algn="ctr">
              <a:buSzPct val="100000"/>
              <a:defRPr sz="700" kern="0">
                <a:solidFill>
                  <a:srgbClr val="313131"/>
                </a:solidFill>
                <a:latin typeface="Calibri"/>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altLang="en-US"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Native PPTX and PyMuPDF extractors map raw coordinate structures</a:t>
            </a:r>
          </a:p>
        </p:txBody>
      </p:sp>
      <p:sp>
        <p:nvSpPr>
          <p:cNvPr id="269" name="TextBox 268">
            <a:extLst>
              <a:ext uri="{FF2B5EF4-FFF2-40B4-BE49-F238E27FC236}">
                <a16:creationId xmlns:a16="http://schemas.microsoft.com/office/drawing/2014/main" id="{A2DD2C44-74C8-D16D-E193-6FF89077E355}"/>
              </a:ext>
            </a:extLst>
          </p:cNvPr>
          <p:cNvSpPr txBox="1"/>
          <p:nvPr/>
        </p:nvSpPr>
        <p:spPr>
          <a:xfrm>
            <a:off x="4758583" y="1781226"/>
            <a:ext cx="2223127" cy="553998"/>
          </a:xfrm>
          <a:prstGeom prst="rect">
            <a:avLst/>
          </a:prstGeom>
          <a:noFill/>
        </p:spPr>
        <p:txBody>
          <a:bodyPr wrap="square">
            <a:spAutoFit/>
          </a:bodyPr>
          <a:lstStyle>
            <a:defPPr>
              <a:defRPr lang="en-US"/>
            </a:defPPr>
            <a:lvl1pPr algn="ctr">
              <a:buSzPct val="100000"/>
              <a:defRPr sz="700" kern="0">
                <a:solidFill>
                  <a:srgbClr val="313131"/>
                </a:solidFill>
                <a:latin typeface="Calibri"/>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GB" altLang="en-US"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OCRPostProcessor deduplicates coordinates, merges fragments, and cleans numerical values</a:t>
            </a:r>
            <a:r>
              <a:rPr kumimoji="0" lang="en-GB" altLang="en-US" sz="1000" b="0" i="0" u="none" strike="noStrike" kern="0" cap="none" spc="0" normalizeH="0" baseline="0" noProof="0" err="1">
                <a:ln>
                  <a:noFill/>
                </a:ln>
                <a:solidFill>
                  <a:srgbClr val="313131"/>
                </a:solidFill>
                <a:effectLst/>
                <a:uLnTx/>
                <a:uFillTx/>
                <a:latin typeface="Verdana" panose="020B0604030504040204" pitchFamily="34" charset="0"/>
                <a:ea typeface="Verdana" panose="020B0604030504040204" pitchFamily="34" charset="0"/>
                <a:cs typeface="+mn-cs"/>
              </a:rPr>
              <a:t/>
            </a:r>
            <a:r>
              <a:rPr kumimoji="0" lang="en-GB" altLang="en-US"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
            </a:r>
          </a:p>
        </p:txBody>
      </p:sp>
      <p:sp>
        <p:nvSpPr>
          <p:cNvPr id="285" name="TextBox 284">
            <a:extLst>
              <a:ext uri="{FF2B5EF4-FFF2-40B4-BE49-F238E27FC236}">
                <a16:creationId xmlns:a16="http://schemas.microsoft.com/office/drawing/2014/main" id="{3CF5CC5E-3B65-DDCB-B69E-F86352F958C5}"/>
              </a:ext>
            </a:extLst>
          </p:cNvPr>
          <p:cNvSpPr txBox="1"/>
          <p:nvPr/>
        </p:nvSpPr>
        <p:spPr>
          <a:xfrm>
            <a:off x="7082675" y="1772641"/>
            <a:ext cx="2240765" cy="400110"/>
          </a:xfrm>
          <a:prstGeom prst="rect">
            <a:avLst/>
          </a:prstGeom>
          <a:noFill/>
        </p:spPr>
        <p:txBody>
          <a:bodyPr wrap="square">
            <a:spAutoFit/>
          </a:bodyPr>
          <a:lstStyle>
            <a:defPPr>
              <a:defRPr lang="en-US"/>
            </a:defPPr>
            <a:lvl1pPr algn="ctr">
              <a:buSzPct val="100000"/>
              <a:defRPr sz="700" kern="0">
                <a:solidFill>
                  <a:srgbClr val="313131"/>
                </a:solidFill>
                <a:latin typeface="Calibri"/>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12+ parallel sub-agents map spatial links, reading orders, and diagram trees</a:t>
            </a:r>
            <a:endParaRPr kumimoji="0" lang="en-IN"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357" name="TextBox 356">
            <a:extLst>
              <a:ext uri="{FF2B5EF4-FFF2-40B4-BE49-F238E27FC236}">
                <a16:creationId xmlns:a16="http://schemas.microsoft.com/office/drawing/2014/main" id="{5572EB26-FCC7-3B6B-B015-4D91B06161E5}"/>
              </a:ext>
            </a:extLst>
          </p:cNvPr>
          <p:cNvSpPr txBox="1"/>
          <p:nvPr/>
        </p:nvSpPr>
        <p:spPr>
          <a:xfrm>
            <a:off x="9440299" y="1764417"/>
            <a:ext cx="2153441" cy="553998"/>
          </a:xfrm>
          <a:prstGeom prst="rect">
            <a:avLst/>
          </a:prstGeom>
          <a:noFill/>
        </p:spPr>
        <p:txBody>
          <a:bodyPr wrap="square">
            <a:spAutoFit/>
          </a:bodyPr>
          <a:lstStyle>
            <a:defPPr>
              <a:defRPr lang="en-US"/>
            </a:defPPr>
            <a:lvl1pPr algn="ctr">
              <a:buSzPct val="100000"/>
              <a:defRPr sz="700" kern="0">
                <a:solidFill>
                  <a:srgbClr val="313131"/>
                </a:solidFill>
                <a:latin typeface="Calibri"/>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FormRenderer renders PDF/PNG pages to calculate SSIM validation scores</a:t>
            </a:r>
            <a:endParaRPr kumimoji="0" lang="en-IN"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450" name="Text Placeholder 2">
            <a:extLst>
              <a:ext uri="{FF2B5EF4-FFF2-40B4-BE49-F238E27FC236}">
                <a16:creationId xmlns:a16="http://schemas.microsoft.com/office/drawing/2014/main" id="{7E974960-6920-2122-7903-809759079A00}"/>
              </a:ext>
            </a:extLst>
          </p:cNvPr>
          <p:cNvSpPr txBox="1">
            <a:spLocks/>
          </p:cNvSpPr>
          <p:nvPr/>
        </p:nvSpPr>
        <p:spPr>
          <a:xfrm>
            <a:off x="141838" y="650925"/>
            <a:ext cx="11848588" cy="553998"/>
          </a:xfrm>
          <a:prstGeom prst="rect">
            <a:avLst/>
          </a:prstGeom>
        </p:spPr>
        <p:txBody>
          <a:bodyPr vert="horz" wrap="squar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Open Sans" panose="020B0606030504020204" pitchFamily="34" charset="0"/>
              </a:rPr>
              <a:t>Enterprise document extraction systems struggle to reconstruct high-fidelity layouts because spatial geometry and structural semantics are discarded by flat-text engines.</a:t>
            </a:r>
            <a:r>
              <a:rPr kumimoji="0" lang="en-US" sz="1000" b="1" i="0" u="none" strike="noStrike" kern="1200" cap="none" spc="0" normalizeH="0" baseline="0" noProof="0">
                <a:ln>
                  <a:noFill/>
                </a:ln>
                <a:solidFill>
                  <a:srgbClr val="34A853"/>
                </a:solidFill>
                <a:effectLst/>
                <a:uLnTx/>
                <a:uFillTx/>
                <a:latin typeface="Verdana" panose="020B0604030504040204" pitchFamily="34" charset="0"/>
                <a:ea typeface="Verdana" panose="020B0604030504040204" pitchFamily="34" charset="0"/>
                <a:cs typeface="Open Sans" panose="020B0606030504020204" pitchFamily="34" charset="0"/>
              </a:rPr>
              <a:t/>
            </a:r>
            <a:r>
              <a:rPr kumimoji="0" lang="en-US" sz="10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Open Sans" panose="020B0606030504020204" pitchFamily="34" charset="0"/>
              </a:rPr>
              <a:t>in raw layout streams and is hard to extract. The goal of the solution is to </a:t>
            </a:r>
            <a:r>
              <a:rPr kumimoji="0" lang="en-US" sz="1000" b="1" i="0" u="none" strike="noStrike" kern="1200" cap="none" spc="0" normalizeH="0" baseline="0" noProof="0">
                <a:ln>
                  <a:noFill/>
                </a:ln>
                <a:solidFill>
                  <a:srgbClr val="34A853"/>
                </a:solidFill>
                <a:effectLst/>
                <a:uLnTx/>
                <a:uFillTx/>
                <a:latin typeface="Verdana" panose="020B0604030504040204" pitchFamily="34" charset="0"/>
                <a:ea typeface="Verdana" panose="020B0604030504040204" pitchFamily="34" charset="0"/>
                <a:cs typeface="Open Sans" panose="020B0606030504020204" pitchFamily="34" charset="0"/>
              </a:rPr>
              <a:t>clean this data in Native XML/PDF using Gen AI</a:t>
            </a:r>
            <a:r>
              <a:rPr kumimoji="0" lang="en-US" sz="10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Open Sans" panose="020B0606030504020204" pitchFamily="34" charset="0"/>
              </a:rPr>
              <a:t>, create a single source of truth for layout distortion of components and then use it to improve layout extraction planning, cost estimation and layout reconstruction.</a:t>
            </a:r>
            <a:endParaRPr kumimoji="0" lang="en-US" sz="1000" b="0" i="0" u="none" strike="noStrike" kern="1200" cap="none" spc="0" normalizeH="0" baseline="0" noProof="0">
              <a:ln>
                <a:noFill/>
              </a:ln>
              <a:solidFill>
                <a:srgbClr val="196B24"/>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326" name="Straight Connector 325">
            <a:extLst>
              <a:ext uri="{FF2B5EF4-FFF2-40B4-BE49-F238E27FC236}">
                <a16:creationId xmlns:a16="http://schemas.microsoft.com/office/drawing/2014/main" id="{8BD3374D-4993-385A-D738-5665C5428B69}"/>
              </a:ext>
            </a:extLst>
          </p:cNvPr>
          <p:cNvCxnSpPr>
            <a:cxnSpLocks/>
          </p:cNvCxnSpPr>
          <p:nvPr/>
        </p:nvCxnSpPr>
        <p:spPr>
          <a:xfrm>
            <a:off x="637451" y="2857884"/>
            <a:ext cx="3832" cy="2007273"/>
          </a:xfrm>
          <a:prstGeom prst="line">
            <a:avLst/>
          </a:prstGeom>
          <a:noFill/>
          <a:ln w="101600" cap="flat" cmpd="sng" algn="ctr">
            <a:solidFill>
              <a:sysClr val="window" lastClr="FFFFFF">
                <a:lumMod val="85000"/>
              </a:sysClr>
            </a:solidFill>
            <a:prstDash val="solid"/>
          </a:ln>
          <a:effectLst/>
        </p:spPr>
      </p:cxnSp>
      <p:cxnSp>
        <p:nvCxnSpPr>
          <p:cNvPr id="270" name="Straight Connector 269">
            <a:extLst>
              <a:ext uri="{FF2B5EF4-FFF2-40B4-BE49-F238E27FC236}">
                <a16:creationId xmlns:a16="http://schemas.microsoft.com/office/drawing/2014/main" id="{455C13BD-D9E3-972B-ED29-4A1C728D359A}"/>
              </a:ext>
            </a:extLst>
          </p:cNvPr>
          <p:cNvCxnSpPr>
            <a:cxnSpLocks/>
          </p:cNvCxnSpPr>
          <p:nvPr/>
        </p:nvCxnSpPr>
        <p:spPr>
          <a:xfrm flipV="1">
            <a:off x="5454180" y="2578138"/>
            <a:ext cx="1946819" cy="0"/>
          </a:xfrm>
          <a:prstGeom prst="line">
            <a:avLst/>
          </a:prstGeom>
          <a:noFill/>
          <a:ln w="101600" cap="flat" cmpd="sng" algn="ctr">
            <a:solidFill>
              <a:sysClr val="window" lastClr="FFFFFF">
                <a:lumMod val="85000"/>
              </a:sysClr>
            </a:solidFill>
            <a:prstDash val="solid"/>
          </a:ln>
          <a:effectLst/>
        </p:spPr>
      </p:cxnSp>
      <p:cxnSp>
        <p:nvCxnSpPr>
          <p:cNvPr id="233" name="Straight Connector 232">
            <a:extLst>
              <a:ext uri="{FF2B5EF4-FFF2-40B4-BE49-F238E27FC236}">
                <a16:creationId xmlns:a16="http://schemas.microsoft.com/office/drawing/2014/main" id="{2D2726B4-EC8C-1FE3-1D5E-4241E8CE17CE}"/>
              </a:ext>
            </a:extLst>
          </p:cNvPr>
          <p:cNvCxnSpPr>
            <a:cxnSpLocks/>
          </p:cNvCxnSpPr>
          <p:nvPr/>
        </p:nvCxnSpPr>
        <p:spPr>
          <a:xfrm flipV="1">
            <a:off x="675426" y="2582376"/>
            <a:ext cx="2437178" cy="0"/>
          </a:xfrm>
          <a:prstGeom prst="line">
            <a:avLst/>
          </a:prstGeom>
          <a:noFill/>
          <a:ln w="101600" cap="flat" cmpd="sng" algn="ctr">
            <a:solidFill>
              <a:sysClr val="window" lastClr="FFFFFF">
                <a:lumMod val="85000"/>
              </a:sysClr>
            </a:solidFill>
            <a:prstDash val="solid"/>
          </a:ln>
          <a:effectLst/>
        </p:spPr>
      </p:cxnSp>
      <p:cxnSp>
        <p:nvCxnSpPr>
          <p:cNvPr id="247" name="Straight Connector 246">
            <a:extLst>
              <a:ext uri="{FF2B5EF4-FFF2-40B4-BE49-F238E27FC236}">
                <a16:creationId xmlns:a16="http://schemas.microsoft.com/office/drawing/2014/main" id="{A8F00FBA-14F5-17A4-CC15-EB3CAA172330}"/>
              </a:ext>
            </a:extLst>
          </p:cNvPr>
          <p:cNvCxnSpPr>
            <a:cxnSpLocks/>
          </p:cNvCxnSpPr>
          <p:nvPr/>
        </p:nvCxnSpPr>
        <p:spPr>
          <a:xfrm>
            <a:off x="2814913" y="2576911"/>
            <a:ext cx="2499964" cy="19173"/>
          </a:xfrm>
          <a:prstGeom prst="line">
            <a:avLst/>
          </a:prstGeom>
          <a:noFill/>
          <a:ln w="101600" cap="flat" cmpd="sng" algn="ctr">
            <a:solidFill>
              <a:sysClr val="window" lastClr="FFFFFF">
                <a:lumMod val="85000"/>
              </a:sysClr>
            </a:solidFill>
            <a:prstDash val="solid"/>
          </a:ln>
          <a:effectLst/>
        </p:spPr>
      </p:cxnSp>
      <p:cxnSp>
        <p:nvCxnSpPr>
          <p:cNvPr id="292" name="Straight Connector 291">
            <a:extLst>
              <a:ext uri="{FF2B5EF4-FFF2-40B4-BE49-F238E27FC236}">
                <a16:creationId xmlns:a16="http://schemas.microsoft.com/office/drawing/2014/main" id="{97D6780B-0D39-6CF8-98C0-AD05989340B4}"/>
              </a:ext>
            </a:extLst>
          </p:cNvPr>
          <p:cNvCxnSpPr>
            <a:cxnSpLocks/>
          </p:cNvCxnSpPr>
          <p:nvPr/>
        </p:nvCxnSpPr>
        <p:spPr>
          <a:xfrm flipV="1">
            <a:off x="7703504" y="2579929"/>
            <a:ext cx="2868497" cy="40897"/>
          </a:xfrm>
          <a:prstGeom prst="line">
            <a:avLst/>
          </a:prstGeom>
          <a:noFill/>
          <a:ln w="101600" cap="flat" cmpd="sng" algn="ctr">
            <a:solidFill>
              <a:sysClr val="window" lastClr="FFFFFF">
                <a:lumMod val="85000"/>
              </a:sysClr>
            </a:solidFill>
            <a:prstDash val="solid"/>
          </a:ln>
          <a:effectLst/>
        </p:spPr>
      </p:cxnSp>
      <p:grpSp>
        <p:nvGrpSpPr>
          <p:cNvPr id="293" name="Group 292">
            <a:extLst>
              <a:ext uri="{FF2B5EF4-FFF2-40B4-BE49-F238E27FC236}">
                <a16:creationId xmlns:a16="http://schemas.microsoft.com/office/drawing/2014/main" id="{964DBC27-104F-3310-FDE3-08CA68540D43}"/>
              </a:ext>
            </a:extLst>
          </p:cNvPr>
          <p:cNvGrpSpPr/>
          <p:nvPr/>
        </p:nvGrpSpPr>
        <p:grpSpPr>
          <a:xfrm rot="5400000">
            <a:off x="9013888" y="2532289"/>
            <a:ext cx="88021" cy="101862"/>
            <a:chOff x="7331884" y="3522364"/>
            <a:chExt cx="99999" cy="108632"/>
          </a:xfrm>
        </p:grpSpPr>
        <p:sp>
          <p:nvSpPr>
            <p:cNvPr id="294" name="Chevron 479">
              <a:extLst>
                <a:ext uri="{FF2B5EF4-FFF2-40B4-BE49-F238E27FC236}">
                  <a16:creationId xmlns:a16="http://schemas.microsoft.com/office/drawing/2014/main" id="{9226678C-85A3-3178-B8C2-5771C69834A7}"/>
                </a:ext>
              </a:extLst>
            </p:cNvPr>
            <p:cNvSpPr/>
            <p:nvPr/>
          </p:nvSpPr>
          <p:spPr>
            <a:xfrm rot="16200000">
              <a:off x="7357511" y="355664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95" name="Chevron 480">
              <a:extLst>
                <a:ext uri="{FF2B5EF4-FFF2-40B4-BE49-F238E27FC236}">
                  <a16:creationId xmlns:a16="http://schemas.microsoft.com/office/drawing/2014/main" id="{A1DF4603-425C-EE11-E71C-A779AC4BC9C7}"/>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205" name="Oval 204">
            <a:extLst>
              <a:ext uri="{FF2B5EF4-FFF2-40B4-BE49-F238E27FC236}">
                <a16:creationId xmlns:a16="http://schemas.microsoft.com/office/drawing/2014/main" id="{2BBBE0A3-D474-7EB8-C40D-B8D6A697353C}"/>
              </a:ext>
            </a:extLst>
          </p:cNvPr>
          <p:cNvSpPr>
            <a:spLocks noChangeAspect="1"/>
          </p:cNvSpPr>
          <p:nvPr/>
        </p:nvSpPr>
        <p:spPr>
          <a:xfrm>
            <a:off x="395091" y="2430488"/>
            <a:ext cx="461560" cy="423960"/>
          </a:xfrm>
          <a:prstGeom prst="ellipse">
            <a:avLst/>
          </a:prstGeom>
          <a:solidFill>
            <a:sysClr val="window" lastClr="FFFFFF"/>
          </a:solidFill>
          <a:ln w="38100" cap="flat" cmpd="sng" algn="ctr">
            <a:solidFill>
              <a:srgbClr val="333333"/>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207" name="Group 206">
            <a:extLst>
              <a:ext uri="{FF2B5EF4-FFF2-40B4-BE49-F238E27FC236}">
                <a16:creationId xmlns:a16="http://schemas.microsoft.com/office/drawing/2014/main" id="{6EA7A067-FDE7-0875-59BA-7EB05530BE09}"/>
              </a:ext>
            </a:extLst>
          </p:cNvPr>
          <p:cNvGrpSpPr>
            <a:grpSpLocks noChangeAspect="1"/>
          </p:cNvGrpSpPr>
          <p:nvPr/>
        </p:nvGrpSpPr>
        <p:grpSpPr>
          <a:xfrm>
            <a:off x="526724" y="2541880"/>
            <a:ext cx="203572" cy="201215"/>
            <a:chOff x="1311275" y="6561138"/>
            <a:chExt cx="539750" cy="568325"/>
          </a:xfrm>
        </p:grpSpPr>
        <p:sp>
          <p:nvSpPr>
            <p:cNvPr id="208" name="Freeform 58">
              <a:extLst>
                <a:ext uri="{FF2B5EF4-FFF2-40B4-BE49-F238E27FC236}">
                  <a16:creationId xmlns:a16="http://schemas.microsoft.com/office/drawing/2014/main" id="{D79E419A-580C-98B5-BCBC-56326E755E6E}"/>
                </a:ext>
              </a:extLst>
            </p:cNvPr>
            <p:cNvSpPr>
              <a:spLocks/>
            </p:cNvSpPr>
            <p:nvPr/>
          </p:nvSpPr>
          <p:spPr bwMode="auto">
            <a:xfrm>
              <a:off x="1524000" y="7043738"/>
              <a:ext cx="327025" cy="23813"/>
            </a:xfrm>
            <a:custGeom>
              <a:avLst/>
              <a:gdLst>
                <a:gd name="T0" fmla="*/ 128 w 133"/>
                <a:gd name="T1" fmla="*/ 0 h 10"/>
                <a:gd name="T2" fmla="*/ 5 w 133"/>
                <a:gd name="T3" fmla="*/ 0 h 10"/>
                <a:gd name="T4" fmla="*/ 0 w 133"/>
                <a:gd name="T5" fmla="*/ 5 h 10"/>
                <a:gd name="T6" fmla="*/ 5 w 133"/>
                <a:gd name="T7" fmla="*/ 10 h 10"/>
                <a:gd name="T8" fmla="*/ 128 w 133"/>
                <a:gd name="T9" fmla="*/ 10 h 10"/>
                <a:gd name="T10" fmla="*/ 133 w 133"/>
                <a:gd name="T11" fmla="*/ 5 h 10"/>
                <a:gd name="T12" fmla="*/ 128 w 133"/>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33" h="10">
                  <a:moveTo>
                    <a:pt x="128" y="0"/>
                  </a:moveTo>
                  <a:cubicBezTo>
                    <a:pt x="5" y="0"/>
                    <a:pt x="5" y="0"/>
                    <a:pt x="5" y="0"/>
                  </a:cubicBezTo>
                  <a:cubicBezTo>
                    <a:pt x="3" y="0"/>
                    <a:pt x="0" y="2"/>
                    <a:pt x="0" y="5"/>
                  </a:cubicBezTo>
                  <a:cubicBezTo>
                    <a:pt x="0" y="8"/>
                    <a:pt x="3" y="10"/>
                    <a:pt x="5" y="10"/>
                  </a:cubicBezTo>
                  <a:cubicBezTo>
                    <a:pt x="128" y="10"/>
                    <a:pt x="128" y="10"/>
                    <a:pt x="128" y="10"/>
                  </a:cubicBezTo>
                  <a:cubicBezTo>
                    <a:pt x="131" y="10"/>
                    <a:pt x="133" y="8"/>
                    <a:pt x="133" y="5"/>
                  </a:cubicBezTo>
                  <a:cubicBezTo>
                    <a:pt x="133" y="2"/>
                    <a:pt x="131" y="0"/>
                    <a:pt x="128" y="0"/>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09" name="Freeform 59">
              <a:extLst>
                <a:ext uri="{FF2B5EF4-FFF2-40B4-BE49-F238E27FC236}">
                  <a16:creationId xmlns:a16="http://schemas.microsoft.com/office/drawing/2014/main" id="{71E12085-0096-5941-01CD-06AFAFFD9B36}"/>
                </a:ext>
              </a:extLst>
            </p:cNvPr>
            <p:cNvSpPr>
              <a:spLocks/>
            </p:cNvSpPr>
            <p:nvPr/>
          </p:nvSpPr>
          <p:spPr bwMode="auto">
            <a:xfrm>
              <a:off x="1524000" y="6840538"/>
              <a:ext cx="327025" cy="22225"/>
            </a:xfrm>
            <a:custGeom>
              <a:avLst/>
              <a:gdLst>
                <a:gd name="T0" fmla="*/ 128 w 133"/>
                <a:gd name="T1" fmla="*/ 0 h 9"/>
                <a:gd name="T2" fmla="*/ 5 w 133"/>
                <a:gd name="T3" fmla="*/ 0 h 9"/>
                <a:gd name="T4" fmla="*/ 0 w 133"/>
                <a:gd name="T5" fmla="*/ 5 h 9"/>
                <a:gd name="T6" fmla="*/ 5 w 133"/>
                <a:gd name="T7" fmla="*/ 9 h 9"/>
                <a:gd name="T8" fmla="*/ 128 w 133"/>
                <a:gd name="T9" fmla="*/ 9 h 9"/>
                <a:gd name="T10" fmla="*/ 133 w 133"/>
                <a:gd name="T11" fmla="*/ 5 h 9"/>
                <a:gd name="T12" fmla="*/ 128 w 133"/>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33" h="9">
                  <a:moveTo>
                    <a:pt x="128" y="0"/>
                  </a:moveTo>
                  <a:cubicBezTo>
                    <a:pt x="5" y="0"/>
                    <a:pt x="5" y="0"/>
                    <a:pt x="5" y="0"/>
                  </a:cubicBezTo>
                  <a:cubicBezTo>
                    <a:pt x="3" y="0"/>
                    <a:pt x="0" y="2"/>
                    <a:pt x="0" y="5"/>
                  </a:cubicBezTo>
                  <a:cubicBezTo>
                    <a:pt x="0" y="7"/>
                    <a:pt x="3" y="9"/>
                    <a:pt x="5" y="9"/>
                  </a:cubicBezTo>
                  <a:cubicBezTo>
                    <a:pt x="128" y="9"/>
                    <a:pt x="128" y="9"/>
                    <a:pt x="128" y="9"/>
                  </a:cubicBezTo>
                  <a:cubicBezTo>
                    <a:pt x="131" y="9"/>
                    <a:pt x="133" y="7"/>
                    <a:pt x="133" y="5"/>
                  </a:cubicBezTo>
                  <a:cubicBezTo>
                    <a:pt x="133" y="2"/>
                    <a:pt x="131" y="0"/>
                    <a:pt x="128" y="0"/>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10" name="Freeform 60">
              <a:extLst>
                <a:ext uri="{FF2B5EF4-FFF2-40B4-BE49-F238E27FC236}">
                  <a16:creationId xmlns:a16="http://schemas.microsoft.com/office/drawing/2014/main" id="{02A0F6E6-27A3-4BE1-2986-4C3F9D0B2819}"/>
                </a:ext>
              </a:extLst>
            </p:cNvPr>
            <p:cNvSpPr>
              <a:spLocks/>
            </p:cNvSpPr>
            <p:nvPr/>
          </p:nvSpPr>
          <p:spPr bwMode="auto">
            <a:xfrm>
              <a:off x="1524000" y="6638925"/>
              <a:ext cx="327025" cy="22225"/>
            </a:xfrm>
            <a:custGeom>
              <a:avLst/>
              <a:gdLst>
                <a:gd name="T0" fmla="*/ 5 w 133"/>
                <a:gd name="T1" fmla="*/ 9 h 9"/>
                <a:gd name="T2" fmla="*/ 128 w 133"/>
                <a:gd name="T3" fmla="*/ 9 h 9"/>
                <a:gd name="T4" fmla="*/ 133 w 133"/>
                <a:gd name="T5" fmla="*/ 5 h 9"/>
                <a:gd name="T6" fmla="*/ 128 w 133"/>
                <a:gd name="T7" fmla="*/ 0 h 9"/>
                <a:gd name="T8" fmla="*/ 5 w 133"/>
                <a:gd name="T9" fmla="*/ 0 h 9"/>
                <a:gd name="T10" fmla="*/ 0 w 133"/>
                <a:gd name="T11" fmla="*/ 5 h 9"/>
                <a:gd name="T12" fmla="*/ 5 w 133"/>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33" h="9">
                  <a:moveTo>
                    <a:pt x="5" y="9"/>
                  </a:moveTo>
                  <a:cubicBezTo>
                    <a:pt x="128" y="9"/>
                    <a:pt x="128" y="9"/>
                    <a:pt x="128" y="9"/>
                  </a:cubicBezTo>
                  <a:cubicBezTo>
                    <a:pt x="131" y="9"/>
                    <a:pt x="133" y="7"/>
                    <a:pt x="133" y="5"/>
                  </a:cubicBezTo>
                  <a:cubicBezTo>
                    <a:pt x="133" y="2"/>
                    <a:pt x="131" y="0"/>
                    <a:pt x="128" y="0"/>
                  </a:cubicBezTo>
                  <a:cubicBezTo>
                    <a:pt x="5" y="0"/>
                    <a:pt x="5" y="0"/>
                    <a:pt x="5" y="0"/>
                  </a:cubicBezTo>
                  <a:cubicBezTo>
                    <a:pt x="3" y="0"/>
                    <a:pt x="0" y="2"/>
                    <a:pt x="0" y="5"/>
                  </a:cubicBezTo>
                  <a:cubicBezTo>
                    <a:pt x="0" y="7"/>
                    <a:pt x="3" y="9"/>
                    <a:pt x="5" y="9"/>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11" name="Freeform 61">
              <a:extLst>
                <a:ext uri="{FF2B5EF4-FFF2-40B4-BE49-F238E27FC236}">
                  <a16:creationId xmlns:a16="http://schemas.microsoft.com/office/drawing/2014/main" id="{14CFF1BC-355C-00ED-530D-0C94AFDEE6DD}"/>
                </a:ext>
              </a:extLst>
            </p:cNvPr>
            <p:cNvSpPr>
              <a:spLocks noEditPoints="1"/>
            </p:cNvSpPr>
            <p:nvPr/>
          </p:nvSpPr>
          <p:spPr bwMode="auto">
            <a:xfrm>
              <a:off x="1314450" y="6780213"/>
              <a:ext cx="147637" cy="147638"/>
            </a:xfrm>
            <a:custGeom>
              <a:avLst/>
              <a:gdLst>
                <a:gd name="T0" fmla="*/ 55 w 60"/>
                <a:gd name="T1" fmla="*/ 0 h 60"/>
                <a:gd name="T2" fmla="*/ 4 w 60"/>
                <a:gd name="T3" fmla="*/ 0 h 60"/>
                <a:gd name="T4" fmla="*/ 0 w 60"/>
                <a:gd name="T5" fmla="*/ 4 h 60"/>
                <a:gd name="T6" fmla="*/ 0 w 60"/>
                <a:gd name="T7" fmla="*/ 55 h 60"/>
                <a:gd name="T8" fmla="*/ 4 w 60"/>
                <a:gd name="T9" fmla="*/ 60 h 60"/>
                <a:gd name="T10" fmla="*/ 55 w 60"/>
                <a:gd name="T11" fmla="*/ 60 h 60"/>
                <a:gd name="T12" fmla="*/ 60 w 60"/>
                <a:gd name="T13" fmla="*/ 55 h 60"/>
                <a:gd name="T14" fmla="*/ 60 w 60"/>
                <a:gd name="T15" fmla="*/ 4 h 60"/>
                <a:gd name="T16" fmla="*/ 55 w 60"/>
                <a:gd name="T17" fmla="*/ 0 h 60"/>
                <a:gd name="T18" fmla="*/ 50 w 60"/>
                <a:gd name="T19" fmla="*/ 50 h 60"/>
                <a:gd name="T20" fmla="*/ 9 w 60"/>
                <a:gd name="T21" fmla="*/ 50 h 60"/>
                <a:gd name="T22" fmla="*/ 9 w 60"/>
                <a:gd name="T23" fmla="*/ 9 h 60"/>
                <a:gd name="T24" fmla="*/ 50 w 60"/>
                <a:gd name="T25" fmla="*/ 9 h 60"/>
                <a:gd name="T26" fmla="*/ 50 w 60"/>
                <a:gd name="T27" fmla="*/ 5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60">
                  <a:moveTo>
                    <a:pt x="55" y="0"/>
                  </a:moveTo>
                  <a:cubicBezTo>
                    <a:pt x="4" y="0"/>
                    <a:pt x="4" y="0"/>
                    <a:pt x="4" y="0"/>
                  </a:cubicBezTo>
                  <a:cubicBezTo>
                    <a:pt x="2" y="0"/>
                    <a:pt x="0" y="2"/>
                    <a:pt x="0" y="4"/>
                  </a:cubicBezTo>
                  <a:cubicBezTo>
                    <a:pt x="0" y="55"/>
                    <a:pt x="0" y="55"/>
                    <a:pt x="0" y="55"/>
                  </a:cubicBezTo>
                  <a:cubicBezTo>
                    <a:pt x="0" y="58"/>
                    <a:pt x="2" y="60"/>
                    <a:pt x="4" y="60"/>
                  </a:cubicBezTo>
                  <a:cubicBezTo>
                    <a:pt x="55" y="60"/>
                    <a:pt x="55" y="60"/>
                    <a:pt x="55" y="60"/>
                  </a:cubicBezTo>
                  <a:cubicBezTo>
                    <a:pt x="58" y="60"/>
                    <a:pt x="60" y="58"/>
                    <a:pt x="60" y="55"/>
                  </a:cubicBezTo>
                  <a:cubicBezTo>
                    <a:pt x="60" y="4"/>
                    <a:pt x="60" y="4"/>
                    <a:pt x="60" y="4"/>
                  </a:cubicBezTo>
                  <a:cubicBezTo>
                    <a:pt x="60" y="2"/>
                    <a:pt x="58" y="0"/>
                    <a:pt x="55" y="0"/>
                  </a:cubicBezTo>
                  <a:close/>
                  <a:moveTo>
                    <a:pt x="50" y="50"/>
                  </a:moveTo>
                  <a:cubicBezTo>
                    <a:pt x="9" y="50"/>
                    <a:pt x="9" y="50"/>
                    <a:pt x="9" y="50"/>
                  </a:cubicBezTo>
                  <a:cubicBezTo>
                    <a:pt x="9" y="9"/>
                    <a:pt x="9" y="9"/>
                    <a:pt x="9" y="9"/>
                  </a:cubicBezTo>
                  <a:cubicBezTo>
                    <a:pt x="50" y="9"/>
                    <a:pt x="50" y="9"/>
                    <a:pt x="50" y="9"/>
                  </a:cubicBezTo>
                  <a:lnTo>
                    <a:pt x="50" y="50"/>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12" name="Freeform 62">
              <a:extLst>
                <a:ext uri="{FF2B5EF4-FFF2-40B4-BE49-F238E27FC236}">
                  <a16:creationId xmlns:a16="http://schemas.microsoft.com/office/drawing/2014/main" id="{29574A64-1A12-DC4F-16F1-75D68467CAF8}"/>
                </a:ext>
              </a:extLst>
            </p:cNvPr>
            <p:cNvSpPr>
              <a:spLocks noEditPoints="1"/>
            </p:cNvSpPr>
            <p:nvPr/>
          </p:nvSpPr>
          <p:spPr bwMode="auto">
            <a:xfrm>
              <a:off x="1314450" y="6981825"/>
              <a:ext cx="147637" cy="147638"/>
            </a:xfrm>
            <a:custGeom>
              <a:avLst/>
              <a:gdLst>
                <a:gd name="T0" fmla="*/ 55 w 60"/>
                <a:gd name="T1" fmla="*/ 0 h 60"/>
                <a:gd name="T2" fmla="*/ 4 w 60"/>
                <a:gd name="T3" fmla="*/ 0 h 60"/>
                <a:gd name="T4" fmla="*/ 0 w 60"/>
                <a:gd name="T5" fmla="*/ 5 h 60"/>
                <a:gd name="T6" fmla="*/ 0 w 60"/>
                <a:gd name="T7" fmla="*/ 55 h 60"/>
                <a:gd name="T8" fmla="*/ 4 w 60"/>
                <a:gd name="T9" fmla="*/ 60 h 60"/>
                <a:gd name="T10" fmla="*/ 55 w 60"/>
                <a:gd name="T11" fmla="*/ 60 h 60"/>
                <a:gd name="T12" fmla="*/ 60 w 60"/>
                <a:gd name="T13" fmla="*/ 55 h 60"/>
                <a:gd name="T14" fmla="*/ 60 w 60"/>
                <a:gd name="T15" fmla="*/ 5 h 60"/>
                <a:gd name="T16" fmla="*/ 55 w 60"/>
                <a:gd name="T17" fmla="*/ 0 h 60"/>
                <a:gd name="T18" fmla="*/ 50 w 60"/>
                <a:gd name="T19" fmla="*/ 50 h 60"/>
                <a:gd name="T20" fmla="*/ 9 w 60"/>
                <a:gd name="T21" fmla="*/ 50 h 60"/>
                <a:gd name="T22" fmla="*/ 9 w 60"/>
                <a:gd name="T23" fmla="*/ 9 h 60"/>
                <a:gd name="T24" fmla="*/ 50 w 60"/>
                <a:gd name="T25" fmla="*/ 9 h 60"/>
                <a:gd name="T26" fmla="*/ 50 w 60"/>
                <a:gd name="T27" fmla="*/ 5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60">
                  <a:moveTo>
                    <a:pt x="55" y="0"/>
                  </a:moveTo>
                  <a:cubicBezTo>
                    <a:pt x="4" y="0"/>
                    <a:pt x="4" y="0"/>
                    <a:pt x="4" y="0"/>
                  </a:cubicBezTo>
                  <a:cubicBezTo>
                    <a:pt x="2" y="0"/>
                    <a:pt x="0" y="2"/>
                    <a:pt x="0" y="5"/>
                  </a:cubicBezTo>
                  <a:cubicBezTo>
                    <a:pt x="0" y="55"/>
                    <a:pt x="0" y="55"/>
                    <a:pt x="0" y="55"/>
                  </a:cubicBezTo>
                  <a:cubicBezTo>
                    <a:pt x="0" y="58"/>
                    <a:pt x="2" y="60"/>
                    <a:pt x="4" y="60"/>
                  </a:cubicBezTo>
                  <a:cubicBezTo>
                    <a:pt x="55" y="60"/>
                    <a:pt x="55" y="60"/>
                    <a:pt x="55" y="60"/>
                  </a:cubicBezTo>
                  <a:cubicBezTo>
                    <a:pt x="58" y="60"/>
                    <a:pt x="60" y="58"/>
                    <a:pt x="60" y="55"/>
                  </a:cubicBezTo>
                  <a:cubicBezTo>
                    <a:pt x="60" y="5"/>
                    <a:pt x="60" y="5"/>
                    <a:pt x="60" y="5"/>
                  </a:cubicBezTo>
                  <a:cubicBezTo>
                    <a:pt x="60" y="2"/>
                    <a:pt x="58" y="0"/>
                    <a:pt x="55" y="0"/>
                  </a:cubicBezTo>
                  <a:close/>
                  <a:moveTo>
                    <a:pt x="50" y="50"/>
                  </a:moveTo>
                  <a:cubicBezTo>
                    <a:pt x="9" y="50"/>
                    <a:pt x="9" y="50"/>
                    <a:pt x="9" y="50"/>
                  </a:cubicBezTo>
                  <a:cubicBezTo>
                    <a:pt x="9" y="9"/>
                    <a:pt x="9" y="9"/>
                    <a:pt x="9" y="9"/>
                  </a:cubicBezTo>
                  <a:cubicBezTo>
                    <a:pt x="50" y="9"/>
                    <a:pt x="50" y="9"/>
                    <a:pt x="50" y="9"/>
                  </a:cubicBezTo>
                  <a:lnTo>
                    <a:pt x="50" y="50"/>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13" name="Freeform 63">
              <a:extLst>
                <a:ext uri="{FF2B5EF4-FFF2-40B4-BE49-F238E27FC236}">
                  <a16:creationId xmlns:a16="http://schemas.microsoft.com/office/drawing/2014/main" id="{F1AF7A13-D706-3963-B502-D2DBEB7E1B68}"/>
                </a:ext>
              </a:extLst>
            </p:cNvPr>
            <p:cNvSpPr>
              <a:spLocks/>
            </p:cNvSpPr>
            <p:nvPr/>
          </p:nvSpPr>
          <p:spPr bwMode="auto">
            <a:xfrm>
              <a:off x="1311275" y="6561138"/>
              <a:ext cx="182562" cy="158750"/>
            </a:xfrm>
            <a:custGeom>
              <a:avLst/>
              <a:gdLst>
                <a:gd name="T0" fmla="*/ 65 w 74"/>
                <a:gd name="T1" fmla="*/ 2 h 65"/>
                <a:gd name="T2" fmla="*/ 23 w 74"/>
                <a:gd name="T3" fmla="*/ 53 h 65"/>
                <a:gd name="T4" fmla="*/ 9 w 74"/>
                <a:gd name="T5" fmla="*/ 38 h 65"/>
                <a:gd name="T6" fmla="*/ 2 w 74"/>
                <a:gd name="T7" fmla="*/ 37 h 65"/>
                <a:gd name="T8" fmla="*/ 2 w 74"/>
                <a:gd name="T9" fmla="*/ 44 h 65"/>
                <a:gd name="T10" fmla="*/ 19 w 74"/>
                <a:gd name="T11" fmla="*/ 64 h 65"/>
                <a:gd name="T12" fmla="*/ 23 w 74"/>
                <a:gd name="T13" fmla="*/ 65 h 65"/>
                <a:gd name="T14" fmla="*/ 23 w 74"/>
                <a:gd name="T15" fmla="*/ 65 h 65"/>
                <a:gd name="T16" fmla="*/ 27 w 74"/>
                <a:gd name="T17" fmla="*/ 64 h 65"/>
                <a:gd name="T18" fmla="*/ 72 w 74"/>
                <a:gd name="T19" fmla="*/ 8 h 65"/>
                <a:gd name="T20" fmla="*/ 72 w 74"/>
                <a:gd name="T21" fmla="*/ 1 h 65"/>
                <a:gd name="T22" fmla="*/ 65 w 74"/>
                <a:gd name="T23" fmla="*/ 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65">
                  <a:moveTo>
                    <a:pt x="65" y="2"/>
                  </a:moveTo>
                  <a:cubicBezTo>
                    <a:pt x="23" y="53"/>
                    <a:pt x="23" y="53"/>
                    <a:pt x="23" y="53"/>
                  </a:cubicBezTo>
                  <a:cubicBezTo>
                    <a:pt x="9" y="38"/>
                    <a:pt x="9" y="38"/>
                    <a:pt x="9" y="38"/>
                  </a:cubicBezTo>
                  <a:cubicBezTo>
                    <a:pt x="7" y="36"/>
                    <a:pt x="4" y="36"/>
                    <a:pt x="2" y="37"/>
                  </a:cubicBezTo>
                  <a:cubicBezTo>
                    <a:pt x="0" y="39"/>
                    <a:pt x="0" y="42"/>
                    <a:pt x="2" y="44"/>
                  </a:cubicBezTo>
                  <a:cubicBezTo>
                    <a:pt x="19" y="64"/>
                    <a:pt x="19" y="64"/>
                    <a:pt x="19" y="64"/>
                  </a:cubicBezTo>
                  <a:cubicBezTo>
                    <a:pt x="20" y="65"/>
                    <a:pt x="22" y="65"/>
                    <a:pt x="23" y="65"/>
                  </a:cubicBezTo>
                  <a:cubicBezTo>
                    <a:pt x="23" y="65"/>
                    <a:pt x="23" y="65"/>
                    <a:pt x="23" y="65"/>
                  </a:cubicBezTo>
                  <a:cubicBezTo>
                    <a:pt x="25" y="65"/>
                    <a:pt x="26" y="65"/>
                    <a:pt x="27" y="64"/>
                  </a:cubicBezTo>
                  <a:cubicBezTo>
                    <a:pt x="72" y="8"/>
                    <a:pt x="72" y="8"/>
                    <a:pt x="72" y="8"/>
                  </a:cubicBezTo>
                  <a:cubicBezTo>
                    <a:pt x="74" y="6"/>
                    <a:pt x="74" y="3"/>
                    <a:pt x="72" y="1"/>
                  </a:cubicBezTo>
                  <a:cubicBezTo>
                    <a:pt x="70" y="0"/>
                    <a:pt x="67" y="0"/>
                    <a:pt x="65" y="2"/>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nvGrpSpPr>
          <p:cNvPr id="234" name="Group 233">
            <a:extLst>
              <a:ext uri="{FF2B5EF4-FFF2-40B4-BE49-F238E27FC236}">
                <a16:creationId xmlns:a16="http://schemas.microsoft.com/office/drawing/2014/main" id="{F6CBF767-CF65-1091-A2F8-1FEF0C87231D}"/>
              </a:ext>
            </a:extLst>
          </p:cNvPr>
          <p:cNvGrpSpPr/>
          <p:nvPr/>
        </p:nvGrpSpPr>
        <p:grpSpPr>
          <a:xfrm rot="5400000">
            <a:off x="2113188" y="2527698"/>
            <a:ext cx="87999" cy="101858"/>
            <a:chOff x="7331909" y="3522364"/>
            <a:chExt cx="99974" cy="108628"/>
          </a:xfrm>
        </p:grpSpPr>
        <p:sp>
          <p:nvSpPr>
            <p:cNvPr id="235" name="Chevron 479">
              <a:extLst>
                <a:ext uri="{FF2B5EF4-FFF2-40B4-BE49-F238E27FC236}">
                  <a16:creationId xmlns:a16="http://schemas.microsoft.com/office/drawing/2014/main" id="{21A96ABB-2AAF-7299-3911-7EB6B89383C9}"/>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36" name="Chevron 480">
              <a:extLst>
                <a:ext uri="{FF2B5EF4-FFF2-40B4-BE49-F238E27FC236}">
                  <a16:creationId xmlns:a16="http://schemas.microsoft.com/office/drawing/2014/main" id="{4CE555CD-EA01-BF98-1581-5F07ECB5EC1B}"/>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nvGrpSpPr>
          <p:cNvPr id="237" name="Group 236">
            <a:extLst>
              <a:ext uri="{FF2B5EF4-FFF2-40B4-BE49-F238E27FC236}">
                <a16:creationId xmlns:a16="http://schemas.microsoft.com/office/drawing/2014/main" id="{609D911F-DD0A-6AAB-7EFD-F8B7ED3C8E22}"/>
              </a:ext>
            </a:extLst>
          </p:cNvPr>
          <p:cNvGrpSpPr/>
          <p:nvPr/>
        </p:nvGrpSpPr>
        <p:grpSpPr>
          <a:xfrm>
            <a:off x="2534578" y="2407463"/>
            <a:ext cx="461560" cy="423960"/>
            <a:chOff x="4304439" y="2898965"/>
            <a:chExt cx="433284" cy="423960"/>
          </a:xfrm>
        </p:grpSpPr>
        <p:sp>
          <p:nvSpPr>
            <p:cNvPr id="238" name="Oval 237">
              <a:extLst>
                <a:ext uri="{FF2B5EF4-FFF2-40B4-BE49-F238E27FC236}">
                  <a16:creationId xmlns:a16="http://schemas.microsoft.com/office/drawing/2014/main" id="{25DA14EC-DFFD-4D66-D3E0-E99E105BEE9C}"/>
                </a:ext>
              </a:extLst>
            </p:cNvPr>
            <p:cNvSpPr>
              <a:spLocks noChangeAspect="1"/>
            </p:cNvSpPr>
            <p:nvPr/>
          </p:nvSpPr>
          <p:spPr>
            <a:xfrm>
              <a:off x="4304439" y="2898965"/>
              <a:ext cx="433284" cy="423960"/>
            </a:xfrm>
            <a:prstGeom prst="ellipse">
              <a:avLst/>
            </a:prstGeom>
            <a:solidFill>
              <a:sysClr val="window" lastClr="FFFFFF"/>
            </a:solidFill>
            <a:ln w="38100" cap="flat" cmpd="sng" algn="ctr">
              <a:solidFill>
                <a:srgbClr val="009A44"/>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239" name="Group 238">
              <a:extLst>
                <a:ext uri="{FF2B5EF4-FFF2-40B4-BE49-F238E27FC236}">
                  <a16:creationId xmlns:a16="http://schemas.microsoft.com/office/drawing/2014/main" id="{24DE5BB5-55FA-5D7D-2CF0-D551E7467E3B}"/>
                </a:ext>
              </a:extLst>
            </p:cNvPr>
            <p:cNvGrpSpPr>
              <a:grpSpLocks noChangeAspect="1"/>
            </p:cNvGrpSpPr>
            <p:nvPr/>
          </p:nvGrpSpPr>
          <p:grpSpPr>
            <a:xfrm>
              <a:off x="4385705" y="2996633"/>
              <a:ext cx="270753" cy="228624"/>
              <a:chOff x="3657600" y="4200526"/>
              <a:chExt cx="776288" cy="661988"/>
            </a:xfrm>
          </p:grpSpPr>
          <p:sp>
            <p:nvSpPr>
              <p:cNvPr id="240" name="Freeform 62">
                <a:extLst>
                  <a:ext uri="{FF2B5EF4-FFF2-40B4-BE49-F238E27FC236}">
                    <a16:creationId xmlns:a16="http://schemas.microsoft.com/office/drawing/2014/main" id="{6BB40A8F-D571-7840-A798-13F864764B35}"/>
                  </a:ext>
                </a:extLst>
              </p:cNvPr>
              <p:cNvSpPr>
                <a:spLocks noEditPoints="1"/>
              </p:cNvSpPr>
              <p:nvPr/>
            </p:nvSpPr>
            <p:spPr bwMode="auto">
              <a:xfrm>
                <a:off x="3657600" y="4200526"/>
                <a:ext cx="776288" cy="661988"/>
              </a:xfrm>
              <a:custGeom>
                <a:avLst/>
                <a:gdLst>
                  <a:gd name="T0" fmla="*/ 186 w 187"/>
                  <a:gd name="T1" fmla="*/ 5 h 160"/>
                  <a:gd name="T2" fmla="*/ 183 w 187"/>
                  <a:gd name="T3" fmla="*/ 4 h 160"/>
                  <a:gd name="T4" fmla="*/ 66 w 187"/>
                  <a:gd name="T5" fmla="*/ 1 h 160"/>
                  <a:gd name="T6" fmla="*/ 62 w 187"/>
                  <a:gd name="T7" fmla="*/ 4 h 160"/>
                  <a:gd name="T8" fmla="*/ 42 w 187"/>
                  <a:gd name="T9" fmla="*/ 103 h 160"/>
                  <a:gd name="T10" fmla="*/ 44 w 187"/>
                  <a:gd name="T11" fmla="*/ 108 h 160"/>
                  <a:gd name="T12" fmla="*/ 49 w 187"/>
                  <a:gd name="T13" fmla="*/ 106 h 160"/>
                  <a:gd name="T14" fmla="*/ 69 w 187"/>
                  <a:gd name="T15" fmla="*/ 8 h 160"/>
                  <a:gd name="T16" fmla="*/ 179 w 187"/>
                  <a:gd name="T17" fmla="*/ 11 h 160"/>
                  <a:gd name="T18" fmla="*/ 139 w 187"/>
                  <a:gd name="T19" fmla="*/ 152 h 160"/>
                  <a:gd name="T20" fmla="*/ 110 w 187"/>
                  <a:gd name="T21" fmla="*/ 120 h 160"/>
                  <a:gd name="T22" fmla="*/ 107 w 187"/>
                  <a:gd name="T23" fmla="*/ 118 h 160"/>
                  <a:gd name="T24" fmla="*/ 4 w 187"/>
                  <a:gd name="T25" fmla="*/ 116 h 160"/>
                  <a:gd name="T26" fmla="*/ 1 w 187"/>
                  <a:gd name="T27" fmla="*/ 117 h 160"/>
                  <a:gd name="T28" fmla="*/ 0 w 187"/>
                  <a:gd name="T29" fmla="*/ 121 h 160"/>
                  <a:gd name="T30" fmla="*/ 37 w 187"/>
                  <a:gd name="T31" fmla="*/ 159 h 160"/>
                  <a:gd name="T32" fmla="*/ 137 w 187"/>
                  <a:gd name="T33" fmla="*/ 160 h 160"/>
                  <a:gd name="T34" fmla="*/ 137 w 187"/>
                  <a:gd name="T35" fmla="*/ 160 h 160"/>
                  <a:gd name="T36" fmla="*/ 139 w 187"/>
                  <a:gd name="T37" fmla="*/ 160 h 160"/>
                  <a:gd name="T38" fmla="*/ 140 w 187"/>
                  <a:gd name="T39" fmla="*/ 159 h 160"/>
                  <a:gd name="T40" fmla="*/ 187 w 187"/>
                  <a:gd name="T41" fmla="*/ 8 h 160"/>
                  <a:gd name="T42" fmla="*/ 186 w 187"/>
                  <a:gd name="T43" fmla="*/ 5 h 160"/>
                  <a:gd name="T44" fmla="*/ 37 w 187"/>
                  <a:gd name="T45" fmla="*/ 151 h 160"/>
                  <a:gd name="T46" fmla="*/ 9 w 187"/>
                  <a:gd name="T47" fmla="*/ 124 h 160"/>
                  <a:gd name="T48" fmla="*/ 105 w 187"/>
                  <a:gd name="T49" fmla="*/ 126 h 160"/>
                  <a:gd name="T50" fmla="*/ 122 w 187"/>
                  <a:gd name="T51" fmla="*/ 152 h 160"/>
                  <a:gd name="T52" fmla="*/ 37 w 187"/>
                  <a:gd name="T53" fmla="*/ 15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7" h="160">
                    <a:moveTo>
                      <a:pt x="186" y="5"/>
                    </a:moveTo>
                    <a:cubicBezTo>
                      <a:pt x="185" y="4"/>
                      <a:pt x="184" y="4"/>
                      <a:pt x="183" y="4"/>
                    </a:cubicBezTo>
                    <a:cubicBezTo>
                      <a:pt x="66" y="1"/>
                      <a:pt x="66" y="1"/>
                      <a:pt x="66" y="1"/>
                    </a:cubicBezTo>
                    <a:cubicBezTo>
                      <a:pt x="64" y="0"/>
                      <a:pt x="62" y="2"/>
                      <a:pt x="62" y="4"/>
                    </a:cubicBezTo>
                    <a:cubicBezTo>
                      <a:pt x="62" y="5"/>
                      <a:pt x="58" y="68"/>
                      <a:pt x="42" y="103"/>
                    </a:cubicBezTo>
                    <a:cubicBezTo>
                      <a:pt x="41" y="105"/>
                      <a:pt x="42" y="107"/>
                      <a:pt x="44" y="108"/>
                    </a:cubicBezTo>
                    <a:cubicBezTo>
                      <a:pt x="45" y="109"/>
                      <a:pt x="48" y="108"/>
                      <a:pt x="49" y="106"/>
                    </a:cubicBezTo>
                    <a:cubicBezTo>
                      <a:pt x="63" y="75"/>
                      <a:pt x="68" y="23"/>
                      <a:pt x="69" y="8"/>
                    </a:cubicBezTo>
                    <a:cubicBezTo>
                      <a:pt x="179" y="11"/>
                      <a:pt x="179" y="11"/>
                      <a:pt x="179" y="11"/>
                    </a:cubicBezTo>
                    <a:cubicBezTo>
                      <a:pt x="173" y="77"/>
                      <a:pt x="158" y="149"/>
                      <a:pt x="139" y="152"/>
                    </a:cubicBezTo>
                    <a:cubicBezTo>
                      <a:pt x="131" y="153"/>
                      <a:pt x="121" y="142"/>
                      <a:pt x="110" y="120"/>
                    </a:cubicBezTo>
                    <a:cubicBezTo>
                      <a:pt x="110" y="119"/>
                      <a:pt x="108" y="118"/>
                      <a:pt x="107" y="118"/>
                    </a:cubicBezTo>
                    <a:cubicBezTo>
                      <a:pt x="4" y="116"/>
                      <a:pt x="4" y="116"/>
                      <a:pt x="4" y="116"/>
                    </a:cubicBezTo>
                    <a:cubicBezTo>
                      <a:pt x="3" y="116"/>
                      <a:pt x="1" y="116"/>
                      <a:pt x="1" y="117"/>
                    </a:cubicBezTo>
                    <a:cubicBezTo>
                      <a:pt x="0" y="118"/>
                      <a:pt x="0" y="119"/>
                      <a:pt x="0" y="121"/>
                    </a:cubicBezTo>
                    <a:cubicBezTo>
                      <a:pt x="0" y="122"/>
                      <a:pt x="8" y="158"/>
                      <a:pt x="37" y="159"/>
                    </a:cubicBezTo>
                    <a:cubicBezTo>
                      <a:pt x="71" y="159"/>
                      <a:pt x="136" y="160"/>
                      <a:pt x="137" y="160"/>
                    </a:cubicBezTo>
                    <a:cubicBezTo>
                      <a:pt x="137" y="160"/>
                      <a:pt x="137" y="160"/>
                      <a:pt x="137" y="160"/>
                    </a:cubicBezTo>
                    <a:cubicBezTo>
                      <a:pt x="138" y="160"/>
                      <a:pt x="138" y="160"/>
                      <a:pt x="139" y="160"/>
                    </a:cubicBezTo>
                    <a:cubicBezTo>
                      <a:pt x="139" y="160"/>
                      <a:pt x="139" y="160"/>
                      <a:pt x="140" y="159"/>
                    </a:cubicBezTo>
                    <a:cubicBezTo>
                      <a:pt x="172" y="154"/>
                      <a:pt x="184" y="42"/>
                      <a:pt x="187" y="8"/>
                    </a:cubicBezTo>
                    <a:cubicBezTo>
                      <a:pt x="187" y="7"/>
                      <a:pt x="186" y="6"/>
                      <a:pt x="186" y="5"/>
                    </a:cubicBezTo>
                    <a:close/>
                    <a:moveTo>
                      <a:pt x="37" y="151"/>
                    </a:moveTo>
                    <a:cubicBezTo>
                      <a:pt x="20" y="151"/>
                      <a:pt x="12" y="132"/>
                      <a:pt x="9" y="124"/>
                    </a:cubicBezTo>
                    <a:cubicBezTo>
                      <a:pt x="105" y="126"/>
                      <a:pt x="105" y="126"/>
                      <a:pt x="105" y="126"/>
                    </a:cubicBezTo>
                    <a:cubicBezTo>
                      <a:pt x="110" y="138"/>
                      <a:pt x="116" y="147"/>
                      <a:pt x="122" y="152"/>
                    </a:cubicBezTo>
                    <a:cubicBezTo>
                      <a:pt x="100" y="152"/>
                      <a:pt x="61" y="152"/>
                      <a:pt x="37" y="151"/>
                    </a:cubicBezTo>
                    <a:close/>
                  </a:path>
                </a:pathLst>
              </a:custGeom>
              <a:solidFill>
                <a:srgbClr val="231F20"/>
              </a:solidFill>
              <a:ln>
                <a:solidFill>
                  <a:srgbClr val="009A44"/>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41" name="Freeform 63">
                <a:extLst>
                  <a:ext uri="{FF2B5EF4-FFF2-40B4-BE49-F238E27FC236}">
                    <a16:creationId xmlns:a16="http://schemas.microsoft.com/office/drawing/2014/main" id="{7B0CF3F8-07BD-A26A-9801-DF03C3BF35A1}"/>
                  </a:ext>
                </a:extLst>
              </p:cNvPr>
              <p:cNvSpPr>
                <a:spLocks/>
              </p:cNvSpPr>
              <p:nvPr/>
            </p:nvSpPr>
            <p:spPr bwMode="auto">
              <a:xfrm>
                <a:off x="4014788" y="4344988"/>
                <a:ext cx="277813" cy="41275"/>
              </a:xfrm>
              <a:custGeom>
                <a:avLst/>
                <a:gdLst>
                  <a:gd name="T0" fmla="*/ 63 w 67"/>
                  <a:gd name="T1" fmla="*/ 10 h 10"/>
                  <a:gd name="T2" fmla="*/ 64 w 67"/>
                  <a:gd name="T3" fmla="*/ 10 h 10"/>
                  <a:gd name="T4" fmla="*/ 67 w 67"/>
                  <a:gd name="T5" fmla="*/ 6 h 10"/>
                  <a:gd name="T6" fmla="*/ 64 w 67"/>
                  <a:gd name="T7" fmla="*/ 2 h 10"/>
                  <a:gd name="T8" fmla="*/ 4 w 67"/>
                  <a:gd name="T9" fmla="*/ 0 h 10"/>
                  <a:gd name="T10" fmla="*/ 0 w 67"/>
                  <a:gd name="T11" fmla="*/ 4 h 10"/>
                  <a:gd name="T12" fmla="*/ 4 w 67"/>
                  <a:gd name="T13" fmla="*/ 8 h 10"/>
                  <a:gd name="T14" fmla="*/ 63 w 67"/>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10">
                    <a:moveTo>
                      <a:pt x="63" y="10"/>
                    </a:moveTo>
                    <a:cubicBezTo>
                      <a:pt x="63" y="10"/>
                      <a:pt x="63" y="10"/>
                      <a:pt x="64" y="10"/>
                    </a:cubicBezTo>
                    <a:cubicBezTo>
                      <a:pt x="66" y="10"/>
                      <a:pt x="67" y="8"/>
                      <a:pt x="67" y="6"/>
                    </a:cubicBezTo>
                    <a:cubicBezTo>
                      <a:pt x="67" y="4"/>
                      <a:pt x="66" y="3"/>
                      <a:pt x="64" y="2"/>
                    </a:cubicBezTo>
                    <a:cubicBezTo>
                      <a:pt x="4" y="0"/>
                      <a:pt x="4" y="0"/>
                      <a:pt x="4" y="0"/>
                    </a:cubicBezTo>
                    <a:cubicBezTo>
                      <a:pt x="2" y="0"/>
                      <a:pt x="0" y="2"/>
                      <a:pt x="0" y="4"/>
                    </a:cubicBezTo>
                    <a:cubicBezTo>
                      <a:pt x="0" y="6"/>
                      <a:pt x="2" y="8"/>
                      <a:pt x="4" y="8"/>
                    </a:cubicBezTo>
                    <a:lnTo>
                      <a:pt x="63" y="10"/>
                    </a:lnTo>
                    <a:close/>
                  </a:path>
                </a:pathLst>
              </a:custGeom>
              <a:solidFill>
                <a:srgbClr val="231F20"/>
              </a:solidFill>
              <a:ln>
                <a:solidFill>
                  <a:srgbClr val="009A44"/>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42" name="Freeform 64">
                <a:extLst>
                  <a:ext uri="{FF2B5EF4-FFF2-40B4-BE49-F238E27FC236}">
                    <a16:creationId xmlns:a16="http://schemas.microsoft.com/office/drawing/2014/main" id="{7744F8D6-2816-8D0B-1A4F-7BE9B3309349}"/>
                  </a:ext>
                </a:extLst>
              </p:cNvPr>
              <p:cNvSpPr>
                <a:spLocks/>
              </p:cNvSpPr>
              <p:nvPr/>
            </p:nvSpPr>
            <p:spPr bwMode="auto">
              <a:xfrm>
                <a:off x="3997325" y="4457701"/>
                <a:ext cx="261938" cy="41275"/>
              </a:xfrm>
              <a:custGeom>
                <a:avLst/>
                <a:gdLst>
                  <a:gd name="T0" fmla="*/ 0 w 63"/>
                  <a:gd name="T1" fmla="*/ 4 h 10"/>
                  <a:gd name="T2" fmla="*/ 3 w 63"/>
                  <a:gd name="T3" fmla="*/ 8 h 10"/>
                  <a:gd name="T4" fmla="*/ 59 w 63"/>
                  <a:gd name="T5" fmla="*/ 10 h 10"/>
                  <a:gd name="T6" fmla="*/ 59 w 63"/>
                  <a:gd name="T7" fmla="*/ 10 h 10"/>
                  <a:gd name="T8" fmla="*/ 63 w 63"/>
                  <a:gd name="T9" fmla="*/ 6 h 10"/>
                  <a:gd name="T10" fmla="*/ 59 w 63"/>
                  <a:gd name="T11" fmla="*/ 2 h 10"/>
                  <a:gd name="T12" fmla="*/ 4 w 63"/>
                  <a:gd name="T13" fmla="*/ 0 h 10"/>
                  <a:gd name="T14" fmla="*/ 0 w 63"/>
                  <a:gd name="T15" fmla="*/ 4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10">
                    <a:moveTo>
                      <a:pt x="0" y="4"/>
                    </a:moveTo>
                    <a:cubicBezTo>
                      <a:pt x="0" y="6"/>
                      <a:pt x="1" y="8"/>
                      <a:pt x="3" y="8"/>
                    </a:cubicBezTo>
                    <a:cubicBezTo>
                      <a:pt x="59" y="10"/>
                      <a:pt x="59" y="10"/>
                      <a:pt x="59" y="10"/>
                    </a:cubicBezTo>
                    <a:cubicBezTo>
                      <a:pt x="59" y="10"/>
                      <a:pt x="59" y="10"/>
                      <a:pt x="59" y="10"/>
                    </a:cubicBezTo>
                    <a:cubicBezTo>
                      <a:pt x="61" y="10"/>
                      <a:pt x="63" y="8"/>
                      <a:pt x="63" y="6"/>
                    </a:cubicBezTo>
                    <a:cubicBezTo>
                      <a:pt x="63" y="4"/>
                      <a:pt x="61" y="2"/>
                      <a:pt x="59" y="2"/>
                    </a:cubicBezTo>
                    <a:cubicBezTo>
                      <a:pt x="4" y="0"/>
                      <a:pt x="4" y="0"/>
                      <a:pt x="4" y="0"/>
                    </a:cubicBezTo>
                    <a:cubicBezTo>
                      <a:pt x="1" y="0"/>
                      <a:pt x="0" y="2"/>
                      <a:pt x="0" y="4"/>
                    </a:cubicBezTo>
                    <a:close/>
                  </a:path>
                </a:pathLst>
              </a:custGeom>
              <a:solidFill>
                <a:srgbClr val="231F20"/>
              </a:solidFill>
              <a:ln>
                <a:solidFill>
                  <a:srgbClr val="009A44"/>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43" name="Freeform 65">
                <a:extLst>
                  <a:ext uri="{FF2B5EF4-FFF2-40B4-BE49-F238E27FC236}">
                    <a16:creationId xmlns:a16="http://schemas.microsoft.com/office/drawing/2014/main" id="{780C7D72-23E6-DA42-9EF8-CF86E484E0DA}"/>
                  </a:ext>
                </a:extLst>
              </p:cNvPr>
              <p:cNvSpPr>
                <a:spLocks/>
              </p:cNvSpPr>
              <p:nvPr/>
            </p:nvSpPr>
            <p:spPr bwMode="auto">
              <a:xfrm>
                <a:off x="3968750" y="4568826"/>
                <a:ext cx="161925" cy="36513"/>
              </a:xfrm>
              <a:custGeom>
                <a:avLst/>
                <a:gdLst>
                  <a:gd name="T0" fmla="*/ 0 w 39"/>
                  <a:gd name="T1" fmla="*/ 4 h 9"/>
                  <a:gd name="T2" fmla="*/ 3 w 39"/>
                  <a:gd name="T3" fmla="*/ 8 h 9"/>
                  <a:gd name="T4" fmla="*/ 35 w 39"/>
                  <a:gd name="T5" fmla="*/ 9 h 9"/>
                  <a:gd name="T6" fmla="*/ 35 w 39"/>
                  <a:gd name="T7" fmla="*/ 9 h 9"/>
                  <a:gd name="T8" fmla="*/ 39 w 39"/>
                  <a:gd name="T9" fmla="*/ 5 h 9"/>
                  <a:gd name="T10" fmla="*/ 35 w 39"/>
                  <a:gd name="T11" fmla="*/ 2 h 9"/>
                  <a:gd name="T12" fmla="*/ 4 w 39"/>
                  <a:gd name="T13" fmla="*/ 0 h 9"/>
                  <a:gd name="T14" fmla="*/ 0 w 39"/>
                  <a:gd name="T15" fmla="*/ 4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
                    <a:moveTo>
                      <a:pt x="0" y="4"/>
                    </a:moveTo>
                    <a:cubicBezTo>
                      <a:pt x="0" y="6"/>
                      <a:pt x="1" y="8"/>
                      <a:pt x="3" y="8"/>
                    </a:cubicBezTo>
                    <a:cubicBezTo>
                      <a:pt x="35" y="9"/>
                      <a:pt x="35" y="9"/>
                      <a:pt x="35" y="9"/>
                    </a:cubicBezTo>
                    <a:cubicBezTo>
                      <a:pt x="35" y="9"/>
                      <a:pt x="35" y="9"/>
                      <a:pt x="35" y="9"/>
                    </a:cubicBezTo>
                    <a:cubicBezTo>
                      <a:pt x="37" y="9"/>
                      <a:pt x="39" y="7"/>
                      <a:pt x="39" y="5"/>
                    </a:cubicBezTo>
                    <a:cubicBezTo>
                      <a:pt x="39" y="3"/>
                      <a:pt x="37" y="2"/>
                      <a:pt x="35" y="2"/>
                    </a:cubicBezTo>
                    <a:cubicBezTo>
                      <a:pt x="4" y="0"/>
                      <a:pt x="4" y="0"/>
                      <a:pt x="4" y="0"/>
                    </a:cubicBezTo>
                    <a:cubicBezTo>
                      <a:pt x="1" y="0"/>
                      <a:pt x="0" y="2"/>
                      <a:pt x="0" y="4"/>
                    </a:cubicBezTo>
                    <a:close/>
                  </a:path>
                </a:pathLst>
              </a:custGeom>
              <a:solidFill>
                <a:srgbClr val="231F20"/>
              </a:solidFill>
              <a:ln>
                <a:solidFill>
                  <a:srgbClr val="009A44"/>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grpSp>
        <p:nvGrpSpPr>
          <p:cNvPr id="248" name="Group 247">
            <a:extLst>
              <a:ext uri="{FF2B5EF4-FFF2-40B4-BE49-F238E27FC236}">
                <a16:creationId xmlns:a16="http://schemas.microsoft.com/office/drawing/2014/main" id="{EC45E401-043B-B1B2-7409-991E6B959EF0}"/>
              </a:ext>
            </a:extLst>
          </p:cNvPr>
          <p:cNvGrpSpPr/>
          <p:nvPr/>
        </p:nvGrpSpPr>
        <p:grpSpPr>
          <a:xfrm rot="5400000">
            <a:off x="4847752" y="2530020"/>
            <a:ext cx="87999" cy="101858"/>
            <a:chOff x="7331909" y="3522364"/>
            <a:chExt cx="99974" cy="108628"/>
          </a:xfrm>
        </p:grpSpPr>
        <p:sp>
          <p:nvSpPr>
            <p:cNvPr id="249" name="Chevron 479">
              <a:extLst>
                <a:ext uri="{FF2B5EF4-FFF2-40B4-BE49-F238E27FC236}">
                  <a16:creationId xmlns:a16="http://schemas.microsoft.com/office/drawing/2014/main" id="{7F4D10AE-D603-B1AB-2BBE-69D97AF22022}"/>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50" name="Chevron 480">
              <a:extLst>
                <a:ext uri="{FF2B5EF4-FFF2-40B4-BE49-F238E27FC236}">
                  <a16:creationId xmlns:a16="http://schemas.microsoft.com/office/drawing/2014/main" id="{C1D52975-B54F-297C-A1C0-896E7E575819}"/>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nvGrpSpPr>
          <p:cNvPr id="258" name="Group 257">
            <a:extLst>
              <a:ext uri="{FF2B5EF4-FFF2-40B4-BE49-F238E27FC236}">
                <a16:creationId xmlns:a16="http://schemas.microsoft.com/office/drawing/2014/main" id="{F666B68E-D455-F91B-C2A3-F94B3AF95A89}"/>
              </a:ext>
            </a:extLst>
          </p:cNvPr>
          <p:cNvGrpSpPr/>
          <p:nvPr/>
        </p:nvGrpSpPr>
        <p:grpSpPr>
          <a:xfrm>
            <a:off x="5009064" y="2430488"/>
            <a:ext cx="453172" cy="416255"/>
            <a:chOff x="7277990" y="2911033"/>
            <a:chExt cx="425410" cy="416255"/>
          </a:xfrm>
        </p:grpSpPr>
        <p:sp>
          <p:nvSpPr>
            <p:cNvPr id="259" name="Oval 258">
              <a:extLst>
                <a:ext uri="{FF2B5EF4-FFF2-40B4-BE49-F238E27FC236}">
                  <a16:creationId xmlns:a16="http://schemas.microsoft.com/office/drawing/2014/main" id="{7BD159A8-B1BF-1136-6679-CCC269B83587}"/>
                </a:ext>
              </a:extLst>
            </p:cNvPr>
            <p:cNvSpPr>
              <a:spLocks noChangeAspect="1"/>
            </p:cNvSpPr>
            <p:nvPr/>
          </p:nvSpPr>
          <p:spPr>
            <a:xfrm>
              <a:off x="7277990" y="2911033"/>
              <a:ext cx="425410" cy="416255"/>
            </a:xfrm>
            <a:prstGeom prst="ellipse">
              <a:avLst/>
            </a:prstGeom>
            <a:solidFill>
              <a:sysClr val="window" lastClr="FFFFFF"/>
            </a:solidFill>
            <a:ln w="38100" cap="flat" cmpd="sng" algn="ctr">
              <a:solidFill>
                <a:srgbClr val="0097A9"/>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260" name="Group 259">
              <a:extLst>
                <a:ext uri="{FF2B5EF4-FFF2-40B4-BE49-F238E27FC236}">
                  <a16:creationId xmlns:a16="http://schemas.microsoft.com/office/drawing/2014/main" id="{80B9319A-3661-2B97-3C21-04E3E5058076}"/>
                </a:ext>
              </a:extLst>
            </p:cNvPr>
            <p:cNvGrpSpPr>
              <a:grpSpLocks noChangeAspect="1"/>
            </p:cNvGrpSpPr>
            <p:nvPr/>
          </p:nvGrpSpPr>
          <p:grpSpPr>
            <a:xfrm>
              <a:off x="7372592" y="2957081"/>
              <a:ext cx="221619" cy="280102"/>
              <a:chOff x="8191500" y="149226"/>
              <a:chExt cx="379895" cy="480142"/>
            </a:xfrm>
          </p:grpSpPr>
          <p:sp>
            <p:nvSpPr>
              <p:cNvPr id="261" name="Freeform 361">
                <a:extLst>
                  <a:ext uri="{FF2B5EF4-FFF2-40B4-BE49-F238E27FC236}">
                    <a16:creationId xmlns:a16="http://schemas.microsoft.com/office/drawing/2014/main" id="{67FEB2C9-C7A7-0CB7-3E1A-CB8F288B074D}"/>
                  </a:ext>
                </a:extLst>
              </p:cNvPr>
              <p:cNvSpPr>
                <a:spLocks noEditPoints="1"/>
              </p:cNvSpPr>
              <p:nvPr/>
            </p:nvSpPr>
            <p:spPr bwMode="auto">
              <a:xfrm>
                <a:off x="8274050" y="149226"/>
                <a:ext cx="222250" cy="136525"/>
              </a:xfrm>
              <a:custGeom>
                <a:avLst/>
                <a:gdLst>
                  <a:gd name="T0" fmla="*/ 18 w 97"/>
                  <a:gd name="T1" fmla="*/ 59 h 59"/>
                  <a:gd name="T2" fmla="*/ 79 w 97"/>
                  <a:gd name="T3" fmla="*/ 59 h 59"/>
                  <a:gd name="T4" fmla="*/ 97 w 97"/>
                  <a:gd name="T5" fmla="*/ 40 h 59"/>
                  <a:gd name="T6" fmla="*/ 97 w 97"/>
                  <a:gd name="T7" fmla="*/ 39 h 59"/>
                  <a:gd name="T8" fmla="*/ 79 w 97"/>
                  <a:gd name="T9" fmla="*/ 21 h 59"/>
                  <a:gd name="T10" fmla="*/ 71 w 97"/>
                  <a:gd name="T11" fmla="*/ 21 h 59"/>
                  <a:gd name="T12" fmla="*/ 71 w 97"/>
                  <a:gd name="T13" fmla="*/ 19 h 59"/>
                  <a:gd name="T14" fmla="*/ 52 w 97"/>
                  <a:gd name="T15" fmla="*/ 0 h 59"/>
                  <a:gd name="T16" fmla="*/ 45 w 97"/>
                  <a:gd name="T17" fmla="*/ 0 h 59"/>
                  <a:gd name="T18" fmla="*/ 27 w 97"/>
                  <a:gd name="T19" fmla="*/ 19 h 59"/>
                  <a:gd name="T20" fmla="*/ 27 w 97"/>
                  <a:gd name="T21" fmla="*/ 21 h 59"/>
                  <a:gd name="T22" fmla="*/ 18 w 97"/>
                  <a:gd name="T23" fmla="*/ 21 h 59"/>
                  <a:gd name="T24" fmla="*/ 0 w 97"/>
                  <a:gd name="T25" fmla="*/ 39 h 59"/>
                  <a:gd name="T26" fmla="*/ 0 w 97"/>
                  <a:gd name="T27" fmla="*/ 40 h 59"/>
                  <a:gd name="T28" fmla="*/ 18 w 97"/>
                  <a:gd name="T29" fmla="*/ 59 h 59"/>
                  <a:gd name="T30" fmla="*/ 9 w 97"/>
                  <a:gd name="T31" fmla="*/ 39 h 59"/>
                  <a:gd name="T32" fmla="*/ 18 w 97"/>
                  <a:gd name="T33" fmla="*/ 30 h 59"/>
                  <a:gd name="T34" fmla="*/ 32 w 97"/>
                  <a:gd name="T35" fmla="*/ 30 h 59"/>
                  <a:gd name="T36" fmla="*/ 36 w 97"/>
                  <a:gd name="T37" fmla="*/ 25 h 59"/>
                  <a:gd name="T38" fmla="*/ 36 w 97"/>
                  <a:gd name="T39" fmla="*/ 19 h 59"/>
                  <a:gd name="T40" fmla="*/ 45 w 97"/>
                  <a:gd name="T41" fmla="*/ 10 h 59"/>
                  <a:gd name="T42" fmla="*/ 52 w 97"/>
                  <a:gd name="T43" fmla="*/ 10 h 59"/>
                  <a:gd name="T44" fmla="*/ 61 w 97"/>
                  <a:gd name="T45" fmla="*/ 19 h 59"/>
                  <a:gd name="T46" fmla="*/ 61 w 97"/>
                  <a:gd name="T47" fmla="*/ 25 h 59"/>
                  <a:gd name="T48" fmla="*/ 66 w 97"/>
                  <a:gd name="T49" fmla="*/ 30 h 59"/>
                  <a:gd name="T50" fmla="*/ 79 w 97"/>
                  <a:gd name="T51" fmla="*/ 30 h 59"/>
                  <a:gd name="T52" fmla="*/ 88 w 97"/>
                  <a:gd name="T53" fmla="*/ 39 h 59"/>
                  <a:gd name="T54" fmla="*/ 88 w 97"/>
                  <a:gd name="T55" fmla="*/ 40 h 59"/>
                  <a:gd name="T56" fmla="*/ 79 w 97"/>
                  <a:gd name="T57" fmla="*/ 49 h 59"/>
                  <a:gd name="T58" fmla="*/ 18 w 97"/>
                  <a:gd name="T59" fmla="*/ 49 h 59"/>
                  <a:gd name="T60" fmla="*/ 9 w 97"/>
                  <a:gd name="T61" fmla="*/ 40 h 59"/>
                  <a:gd name="T62" fmla="*/ 9 w 97"/>
                  <a:gd name="T63" fmla="*/ 3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 h="59">
                    <a:moveTo>
                      <a:pt x="18" y="59"/>
                    </a:moveTo>
                    <a:cubicBezTo>
                      <a:pt x="79" y="59"/>
                      <a:pt x="79" y="59"/>
                      <a:pt x="79" y="59"/>
                    </a:cubicBezTo>
                    <a:cubicBezTo>
                      <a:pt x="89" y="59"/>
                      <a:pt x="97" y="50"/>
                      <a:pt x="97" y="40"/>
                    </a:cubicBezTo>
                    <a:cubicBezTo>
                      <a:pt x="97" y="39"/>
                      <a:pt x="97" y="39"/>
                      <a:pt x="97" y="39"/>
                    </a:cubicBezTo>
                    <a:cubicBezTo>
                      <a:pt x="97" y="29"/>
                      <a:pt x="89" y="21"/>
                      <a:pt x="79" y="21"/>
                    </a:cubicBezTo>
                    <a:cubicBezTo>
                      <a:pt x="71" y="21"/>
                      <a:pt x="71" y="21"/>
                      <a:pt x="71" y="21"/>
                    </a:cubicBezTo>
                    <a:cubicBezTo>
                      <a:pt x="71" y="19"/>
                      <a:pt x="71" y="19"/>
                      <a:pt x="71" y="19"/>
                    </a:cubicBezTo>
                    <a:cubicBezTo>
                      <a:pt x="71" y="9"/>
                      <a:pt x="62" y="0"/>
                      <a:pt x="52" y="0"/>
                    </a:cubicBezTo>
                    <a:cubicBezTo>
                      <a:pt x="45" y="0"/>
                      <a:pt x="45" y="0"/>
                      <a:pt x="45" y="0"/>
                    </a:cubicBezTo>
                    <a:cubicBezTo>
                      <a:pt x="35" y="0"/>
                      <a:pt x="27" y="9"/>
                      <a:pt x="27" y="19"/>
                    </a:cubicBezTo>
                    <a:cubicBezTo>
                      <a:pt x="27" y="21"/>
                      <a:pt x="27" y="21"/>
                      <a:pt x="27" y="21"/>
                    </a:cubicBezTo>
                    <a:cubicBezTo>
                      <a:pt x="18" y="21"/>
                      <a:pt x="18" y="21"/>
                      <a:pt x="18" y="21"/>
                    </a:cubicBezTo>
                    <a:cubicBezTo>
                      <a:pt x="8" y="21"/>
                      <a:pt x="0" y="29"/>
                      <a:pt x="0" y="39"/>
                    </a:cubicBezTo>
                    <a:cubicBezTo>
                      <a:pt x="0" y="40"/>
                      <a:pt x="0" y="40"/>
                      <a:pt x="0" y="40"/>
                    </a:cubicBezTo>
                    <a:cubicBezTo>
                      <a:pt x="0" y="50"/>
                      <a:pt x="8" y="59"/>
                      <a:pt x="18" y="59"/>
                    </a:cubicBezTo>
                    <a:close/>
                    <a:moveTo>
                      <a:pt x="9" y="39"/>
                    </a:moveTo>
                    <a:cubicBezTo>
                      <a:pt x="9" y="34"/>
                      <a:pt x="13" y="30"/>
                      <a:pt x="18" y="30"/>
                    </a:cubicBezTo>
                    <a:cubicBezTo>
                      <a:pt x="32" y="30"/>
                      <a:pt x="32" y="30"/>
                      <a:pt x="32" y="30"/>
                    </a:cubicBezTo>
                    <a:cubicBezTo>
                      <a:pt x="34" y="30"/>
                      <a:pt x="36" y="28"/>
                      <a:pt x="36" y="25"/>
                    </a:cubicBezTo>
                    <a:cubicBezTo>
                      <a:pt x="36" y="19"/>
                      <a:pt x="36" y="19"/>
                      <a:pt x="36" y="19"/>
                    </a:cubicBezTo>
                    <a:cubicBezTo>
                      <a:pt x="36" y="14"/>
                      <a:pt x="40" y="10"/>
                      <a:pt x="45" y="10"/>
                    </a:cubicBezTo>
                    <a:cubicBezTo>
                      <a:pt x="52" y="10"/>
                      <a:pt x="52" y="10"/>
                      <a:pt x="52" y="10"/>
                    </a:cubicBezTo>
                    <a:cubicBezTo>
                      <a:pt x="57" y="10"/>
                      <a:pt x="61" y="14"/>
                      <a:pt x="61" y="19"/>
                    </a:cubicBezTo>
                    <a:cubicBezTo>
                      <a:pt x="61" y="25"/>
                      <a:pt x="61" y="25"/>
                      <a:pt x="61" y="25"/>
                    </a:cubicBezTo>
                    <a:cubicBezTo>
                      <a:pt x="61" y="28"/>
                      <a:pt x="63" y="30"/>
                      <a:pt x="66" y="30"/>
                    </a:cubicBezTo>
                    <a:cubicBezTo>
                      <a:pt x="79" y="30"/>
                      <a:pt x="79" y="30"/>
                      <a:pt x="79" y="30"/>
                    </a:cubicBezTo>
                    <a:cubicBezTo>
                      <a:pt x="84" y="30"/>
                      <a:pt x="88" y="34"/>
                      <a:pt x="88" y="39"/>
                    </a:cubicBezTo>
                    <a:cubicBezTo>
                      <a:pt x="88" y="40"/>
                      <a:pt x="88" y="40"/>
                      <a:pt x="88" y="40"/>
                    </a:cubicBezTo>
                    <a:cubicBezTo>
                      <a:pt x="88" y="45"/>
                      <a:pt x="84" y="49"/>
                      <a:pt x="79" y="49"/>
                    </a:cubicBezTo>
                    <a:cubicBezTo>
                      <a:pt x="18" y="49"/>
                      <a:pt x="18" y="49"/>
                      <a:pt x="18" y="49"/>
                    </a:cubicBezTo>
                    <a:cubicBezTo>
                      <a:pt x="13" y="49"/>
                      <a:pt x="9" y="45"/>
                      <a:pt x="9" y="40"/>
                    </a:cubicBezTo>
                    <a:lnTo>
                      <a:pt x="9" y="39"/>
                    </a:lnTo>
                    <a:close/>
                  </a:path>
                </a:pathLst>
              </a:custGeom>
              <a:solidFill>
                <a:srgbClr val="231F20"/>
              </a:solidFill>
              <a:ln>
                <a:solidFill>
                  <a:srgbClr val="0097A9"/>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62" name="Oval 362">
                <a:extLst>
                  <a:ext uri="{FF2B5EF4-FFF2-40B4-BE49-F238E27FC236}">
                    <a16:creationId xmlns:a16="http://schemas.microsoft.com/office/drawing/2014/main" id="{1833B47B-8996-2B8C-397C-A87485D02D0B}"/>
                  </a:ext>
                </a:extLst>
              </p:cNvPr>
              <p:cNvSpPr>
                <a:spLocks noChangeArrowheads="1"/>
              </p:cNvSpPr>
              <p:nvPr/>
            </p:nvSpPr>
            <p:spPr bwMode="auto">
              <a:xfrm>
                <a:off x="8377238" y="190501"/>
                <a:ext cx="17463" cy="19050"/>
              </a:xfrm>
              <a:prstGeom prst="ellipse">
                <a:avLst/>
              </a:prstGeom>
              <a:solidFill>
                <a:srgbClr val="231F20"/>
              </a:solidFill>
              <a:ln>
                <a:solidFill>
                  <a:srgbClr val="0097A9"/>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63" name="Freeform 363">
                <a:extLst>
                  <a:ext uri="{FF2B5EF4-FFF2-40B4-BE49-F238E27FC236}">
                    <a16:creationId xmlns:a16="http://schemas.microsoft.com/office/drawing/2014/main" id="{5B979367-5DCE-3449-5AEA-A704CDC3125D}"/>
                  </a:ext>
                </a:extLst>
              </p:cNvPr>
              <p:cNvSpPr>
                <a:spLocks/>
              </p:cNvSpPr>
              <p:nvPr/>
            </p:nvSpPr>
            <p:spPr bwMode="auto">
              <a:xfrm>
                <a:off x="8191500" y="209551"/>
                <a:ext cx="379895" cy="419817"/>
              </a:xfrm>
              <a:custGeom>
                <a:avLst/>
                <a:gdLst>
                  <a:gd name="T0" fmla="*/ 165 w 169"/>
                  <a:gd name="T1" fmla="*/ 0 h 209"/>
                  <a:gd name="T2" fmla="*/ 143 w 169"/>
                  <a:gd name="T3" fmla="*/ 0 h 209"/>
                  <a:gd name="T4" fmla="*/ 138 w 169"/>
                  <a:gd name="T5" fmla="*/ 5 h 209"/>
                  <a:gd name="T6" fmla="*/ 143 w 169"/>
                  <a:gd name="T7" fmla="*/ 9 h 209"/>
                  <a:gd name="T8" fmla="*/ 160 w 169"/>
                  <a:gd name="T9" fmla="*/ 9 h 209"/>
                  <a:gd name="T10" fmla="*/ 160 w 169"/>
                  <a:gd name="T11" fmla="*/ 200 h 209"/>
                  <a:gd name="T12" fmla="*/ 10 w 169"/>
                  <a:gd name="T13" fmla="*/ 200 h 209"/>
                  <a:gd name="T14" fmla="*/ 10 w 169"/>
                  <a:gd name="T15" fmla="*/ 9 h 209"/>
                  <a:gd name="T16" fmla="*/ 27 w 169"/>
                  <a:gd name="T17" fmla="*/ 9 h 209"/>
                  <a:gd name="T18" fmla="*/ 31 w 169"/>
                  <a:gd name="T19" fmla="*/ 5 h 209"/>
                  <a:gd name="T20" fmla="*/ 27 w 169"/>
                  <a:gd name="T21" fmla="*/ 0 h 209"/>
                  <a:gd name="T22" fmla="*/ 5 w 169"/>
                  <a:gd name="T23" fmla="*/ 0 h 209"/>
                  <a:gd name="T24" fmla="*/ 0 w 169"/>
                  <a:gd name="T25" fmla="*/ 5 h 209"/>
                  <a:gd name="T26" fmla="*/ 0 w 169"/>
                  <a:gd name="T27" fmla="*/ 205 h 209"/>
                  <a:gd name="T28" fmla="*/ 5 w 169"/>
                  <a:gd name="T29" fmla="*/ 209 h 209"/>
                  <a:gd name="T30" fmla="*/ 165 w 169"/>
                  <a:gd name="T31" fmla="*/ 209 h 209"/>
                  <a:gd name="T32" fmla="*/ 169 w 169"/>
                  <a:gd name="T33" fmla="*/ 205 h 209"/>
                  <a:gd name="T34" fmla="*/ 169 w 169"/>
                  <a:gd name="T35" fmla="*/ 5 h 209"/>
                  <a:gd name="T36" fmla="*/ 165 w 169"/>
                  <a:gd name="T37" fmla="*/ 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9" h="209">
                    <a:moveTo>
                      <a:pt x="165" y="0"/>
                    </a:moveTo>
                    <a:cubicBezTo>
                      <a:pt x="143" y="0"/>
                      <a:pt x="143" y="0"/>
                      <a:pt x="143" y="0"/>
                    </a:cubicBezTo>
                    <a:cubicBezTo>
                      <a:pt x="140" y="0"/>
                      <a:pt x="138" y="2"/>
                      <a:pt x="138" y="5"/>
                    </a:cubicBezTo>
                    <a:cubicBezTo>
                      <a:pt x="138" y="7"/>
                      <a:pt x="140" y="9"/>
                      <a:pt x="143" y="9"/>
                    </a:cubicBezTo>
                    <a:cubicBezTo>
                      <a:pt x="160" y="9"/>
                      <a:pt x="160" y="9"/>
                      <a:pt x="160" y="9"/>
                    </a:cubicBezTo>
                    <a:cubicBezTo>
                      <a:pt x="160" y="200"/>
                      <a:pt x="160" y="200"/>
                      <a:pt x="160" y="200"/>
                    </a:cubicBezTo>
                    <a:cubicBezTo>
                      <a:pt x="10" y="200"/>
                      <a:pt x="10" y="200"/>
                      <a:pt x="10" y="200"/>
                    </a:cubicBezTo>
                    <a:cubicBezTo>
                      <a:pt x="10" y="9"/>
                      <a:pt x="10" y="9"/>
                      <a:pt x="10" y="9"/>
                    </a:cubicBezTo>
                    <a:cubicBezTo>
                      <a:pt x="27" y="9"/>
                      <a:pt x="27" y="9"/>
                      <a:pt x="27" y="9"/>
                    </a:cubicBezTo>
                    <a:cubicBezTo>
                      <a:pt x="29" y="9"/>
                      <a:pt x="31" y="7"/>
                      <a:pt x="31" y="5"/>
                    </a:cubicBezTo>
                    <a:cubicBezTo>
                      <a:pt x="31" y="2"/>
                      <a:pt x="29" y="0"/>
                      <a:pt x="27" y="0"/>
                    </a:cubicBezTo>
                    <a:cubicBezTo>
                      <a:pt x="5" y="0"/>
                      <a:pt x="5" y="0"/>
                      <a:pt x="5" y="0"/>
                    </a:cubicBezTo>
                    <a:cubicBezTo>
                      <a:pt x="2" y="0"/>
                      <a:pt x="0" y="2"/>
                      <a:pt x="0" y="5"/>
                    </a:cubicBezTo>
                    <a:cubicBezTo>
                      <a:pt x="0" y="205"/>
                      <a:pt x="0" y="205"/>
                      <a:pt x="0" y="205"/>
                    </a:cubicBezTo>
                    <a:cubicBezTo>
                      <a:pt x="0" y="207"/>
                      <a:pt x="2" y="209"/>
                      <a:pt x="5" y="209"/>
                    </a:cubicBezTo>
                    <a:cubicBezTo>
                      <a:pt x="165" y="209"/>
                      <a:pt x="165" y="209"/>
                      <a:pt x="165" y="209"/>
                    </a:cubicBezTo>
                    <a:cubicBezTo>
                      <a:pt x="167" y="209"/>
                      <a:pt x="169" y="207"/>
                      <a:pt x="169" y="205"/>
                    </a:cubicBezTo>
                    <a:cubicBezTo>
                      <a:pt x="169" y="5"/>
                      <a:pt x="169" y="5"/>
                      <a:pt x="169" y="5"/>
                    </a:cubicBezTo>
                    <a:cubicBezTo>
                      <a:pt x="169" y="2"/>
                      <a:pt x="167" y="0"/>
                      <a:pt x="165" y="0"/>
                    </a:cubicBezTo>
                    <a:close/>
                  </a:path>
                </a:pathLst>
              </a:custGeom>
              <a:solidFill>
                <a:srgbClr val="231F20"/>
              </a:solidFill>
              <a:ln>
                <a:solidFill>
                  <a:srgbClr val="0097A9"/>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64" name="Freeform 364">
                <a:extLst>
                  <a:ext uri="{FF2B5EF4-FFF2-40B4-BE49-F238E27FC236}">
                    <a16:creationId xmlns:a16="http://schemas.microsoft.com/office/drawing/2014/main" id="{45E27C15-A934-264C-ABFF-457A57004833}"/>
                  </a:ext>
                </a:extLst>
              </p:cNvPr>
              <p:cNvSpPr>
                <a:spLocks/>
              </p:cNvSpPr>
              <p:nvPr/>
            </p:nvSpPr>
            <p:spPr bwMode="auto">
              <a:xfrm>
                <a:off x="8278813" y="374651"/>
                <a:ext cx="219075" cy="192088"/>
              </a:xfrm>
              <a:custGeom>
                <a:avLst/>
                <a:gdLst>
                  <a:gd name="T0" fmla="*/ 87 w 96"/>
                  <a:gd name="T1" fmla="*/ 2 h 84"/>
                  <a:gd name="T2" fmla="*/ 29 w 96"/>
                  <a:gd name="T3" fmla="*/ 73 h 84"/>
                  <a:gd name="T4" fmla="*/ 9 w 96"/>
                  <a:gd name="T5" fmla="*/ 50 h 84"/>
                  <a:gd name="T6" fmla="*/ 2 w 96"/>
                  <a:gd name="T7" fmla="*/ 50 h 84"/>
                  <a:gd name="T8" fmla="*/ 2 w 96"/>
                  <a:gd name="T9" fmla="*/ 56 h 84"/>
                  <a:gd name="T10" fmla="*/ 26 w 96"/>
                  <a:gd name="T11" fmla="*/ 83 h 84"/>
                  <a:gd name="T12" fmla="*/ 29 w 96"/>
                  <a:gd name="T13" fmla="*/ 84 h 84"/>
                  <a:gd name="T14" fmla="*/ 29 w 96"/>
                  <a:gd name="T15" fmla="*/ 84 h 84"/>
                  <a:gd name="T16" fmla="*/ 33 w 96"/>
                  <a:gd name="T17" fmla="*/ 83 h 84"/>
                  <a:gd name="T18" fmla="*/ 94 w 96"/>
                  <a:gd name="T19" fmla="*/ 8 h 84"/>
                  <a:gd name="T20" fmla="*/ 94 w 96"/>
                  <a:gd name="T21" fmla="*/ 1 h 84"/>
                  <a:gd name="T22" fmla="*/ 87 w 96"/>
                  <a:gd name="T23" fmla="*/ 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6" h="84">
                    <a:moveTo>
                      <a:pt x="87" y="2"/>
                    </a:moveTo>
                    <a:cubicBezTo>
                      <a:pt x="29" y="73"/>
                      <a:pt x="29" y="73"/>
                      <a:pt x="29" y="73"/>
                    </a:cubicBezTo>
                    <a:cubicBezTo>
                      <a:pt x="9" y="50"/>
                      <a:pt x="9" y="50"/>
                      <a:pt x="9" y="50"/>
                    </a:cubicBezTo>
                    <a:cubicBezTo>
                      <a:pt x="7" y="48"/>
                      <a:pt x="4" y="48"/>
                      <a:pt x="2" y="50"/>
                    </a:cubicBezTo>
                    <a:cubicBezTo>
                      <a:pt x="1" y="52"/>
                      <a:pt x="0" y="55"/>
                      <a:pt x="2" y="56"/>
                    </a:cubicBezTo>
                    <a:cubicBezTo>
                      <a:pt x="26" y="83"/>
                      <a:pt x="26" y="83"/>
                      <a:pt x="26" y="83"/>
                    </a:cubicBezTo>
                    <a:cubicBezTo>
                      <a:pt x="27" y="84"/>
                      <a:pt x="28" y="84"/>
                      <a:pt x="29" y="84"/>
                    </a:cubicBezTo>
                    <a:cubicBezTo>
                      <a:pt x="29" y="84"/>
                      <a:pt x="29" y="84"/>
                      <a:pt x="29" y="84"/>
                    </a:cubicBezTo>
                    <a:cubicBezTo>
                      <a:pt x="31" y="84"/>
                      <a:pt x="32" y="84"/>
                      <a:pt x="33" y="83"/>
                    </a:cubicBezTo>
                    <a:cubicBezTo>
                      <a:pt x="94" y="8"/>
                      <a:pt x="94" y="8"/>
                      <a:pt x="94" y="8"/>
                    </a:cubicBezTo>
                    <a:cubicBezTo>
                      <a:pt x="96" y="6"/>
                      <a:pt x="96" y="3"/>
                      <a:pt x="94" y="1"/>
                    </a:cubicBezTo>
                    <a:cubicBezTo>
                      <a:pt x="92" y="0"/>
                      <a:pt x="89" y="0"/>
                      <a:pt x="87" y="2"/>
                    </a:cubicBezTo>
                    <a:close/>
                  </a:path>
                </a:pathLst>
              </a:custGeom>
              <a:solidFill>
                <a:srgbClr val="231F20"/>
              </a:solidFill>
              <a:ln>
                <a:solidFill>
                  <a:srgbClr val="0097A9"/>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grpSp>
        <p:nvGrpSpPr>
          <p:cNvPr id="271" name="Group 270">
            <a:extLst>
              <a:ext uri="{FF2B5EF4-FFF2-40B4-BE49-F238E27FC236}">
                <a16:creationId xmlns:a16="http://schemas.microsoft.com/office/drawing/2014/main" id="{164F7663-A869-A706-1438-5408E3DBAFC7}"/>
              </a:ext>
            </a:extLst>
          </p:cNvPr>
          <p:cNvGrpSpPr/>
          <p:nvPr/>
        </p:nvGrpSpPr>
        <p:grpSpPr>
          <a:xfrm rot="5400000">
            <a:off x="6991477" y="2527333"/>
            <a:ext cx="87999" cy="101858"/>
            <a:chOff x="7331909" y="3522364"/>
            <a:chExt cx="99974" cy="108628"/>
          </a:xfrm>
        </p:grpSpPr>
        <p:sp>
          <p:nvSpPr>
            <p:cNvPr id="272" name="Chevron 479">
              <a:extLst>
                <a:ext uri="{FF2B5EF4-FFF2-40B4-BE49-F238E27FC236}">
                  <a16:creationId xmlns:a16="http://schemas.microsoft.com/office/drawing/2014/main" id="{68B7B3A3-175B-D0CB-4DF9-154C7E69673E}"/>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73" name="Chevron 480">
              <a:extLst>
                <a:ext uri="{FF2B5EF4-FFF2-40B4-BE49-F238E27FC236}">
                  <a16:creationId xmlns:a16="http://schemas.microsoft.com/office/drawing/2014/main" id="{315EF98C-060E-50E2-E0D2-FC0F3B2D8778}"/>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nvGrpSpPr>
          <p:cNvPr id="275" name="Group 274">
            <a:extLst>
              <a:ext uri="{FF2B5EF4-FFF2-40B4-BE49-F238E27FC236}">
                <a16:creationId xmlns:a16="http://schemas.microsoft.com/office/drawing/2014/main" id="{F5EEB768-F61B-889E-EBDC-BB81F04F41F6}"/>
              </a:ext>
            </a:extLst>
          </p:cNvPr>
          <p:cNvGrpSpPr/>
          <p:nvPr/>
        </p:nvGrpSpPr>
        <p:grpSpPr>
          <a:xfrm>
            <a:off x="7238932" y="2407463"/>
            <a:ext cx="464572" cy="426726"/>
            <a:chOff x="6502083" y="4554947"/>
            <a:chExt cx="436111" cy="426726"/>
          </a:xfrm>
        </p:grpSpPr>
        <p:sp>
          <p:nvSpPr>
            <p:cNvPr id="276" name="Oval 275">
              <a:extLst>
                <a:ext uri="{FF2B5EF4-FFF2-40B4-BE49-F238E27FC236}">
                  <a16:creationId xmlns:a16="http://schemas.microsoft.com/office/drawing/2014/main" id="{1EB134C0-4E15-04BA-C62F-12915EB0F8A4}"/>
                </a:ext>
              </a:extLst>
            </p:cNvPr>
            <p:cNvSpPr>
              <a:spLocks noChangeAspect="1"/>
            </p:cNvSpPr>
            <p:nvPr/>
          </p:nvSpPr>
          <p:spPr>
            <a:xfrm>
              <a:off x="6502083" y="4554947"/>
              <a:ext cx="436111" cy="426726"/>
            </a:xfrm>
            <a:prstGeom prst="ellipse">
              <a:avLst/>
            </a:prstGeom>
            <a:solidFill>
              <a:sysClr val="window" lastClr="FFFFFF"/>
            </a:solidFill>
            <a:ln w="38100" cap="flat" cmpd="sng" algn="ctr">
              <a:solidFill>
                <a:srgbClr val="046A38"/>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277" name="Group 276">
              <a:extLst>
                <a:ext uri="{FF2B5EF4-FFF2-40B4-BE49-F238E27FC236}">
                  <a16:creationId xmlns:a16="http://schemas.microsoft.com/office/drawing/2014/main" id="{8D71B0F0-8DF7-EE6A-DBED-4227925CE9FE}"/>
                </a:ext>
              </a:extLst>
            </p:cNvPr>
            <p:cNvGrpSpPr/>
            <p:nvPr/>
          </p:nvGrpSpPr>
          <p:grpSpPr>
            <a:xfrm>
              <a:off x="6559652" y="4657013"/>
              <a:ext cx="307774" cy="222594"/>
              <a:chOff x="4672727" y="2820836"/>
              <a:chExt cx="399315" cy="273330"/>
            </a:xfrm>
          </p:grpSpPr>
          <p:grpSp>
            <p:nvGrpSpPr>
              <p:cNvPr id="278" name="Group 277">
                <a:extLst>
                  <a:ext uri="{FF2B5EF4-FFF2-40B4-BE49-F238E27FC236}">
                    <a16:creationId xmlns:a16="http://schemas.microsoft.com/office/drawing/2014/main" id="{B0F906CE-54F0-400A-124A-54A52739CD86}"/>
                  </a:ext>
                </a:extLst>
              </p:cNvPr>
              <p:cNvGrpSpPr>
                <a:grpSpLocks noChangeAspect="1"/>
              </p:cNvGrpSpPr>
              <p:nvPr/>
            </p:nvGrpSpPr>
            <p:grpSpPr>
              <a:xfrm>
                <a:off x="4672727" y="2820836"/>
                <a:ext cx="289547" cy="244494"/>
                <a:chOff x="3657600" y="4200526"/>
                <a:chExt cx="776288" cy="661988"/>
              </a:xfrm>
            </p:grpSpPr>
            <p:sp>
              <p:nvSpPr>
                <p:cNvPr id="280" name="Freeform 62">
                  <a:extLst>
                    <a:ext uri="{FF2B5EF4-FFF2-40B4-BE49-F238E27FC236}">
                      <a16:creationId xmlns:a16="http://schemas.microsoft.com/office/drawing/2014/main" id="{15CD6245-9B38-D422-DBE7-F48BB2FF1686}"/>
                    </a:ext>
                  </a:extLst>
                </p:cNvPr>
                <p:cNvSpPr>
                  <a:spLocks noEditPoints="1"/>
                </p:cNvSpPr>
                <p:nvPr/>
              </p:nvSpPr>
              <p:spPr bwMode="auto">
                <a:xfrm>
                  <a:off x="3657600" y="4200526"/>
                  <a:ext cx="776288" cy="661988"/>
                </a:xfrm>
                <a:custGeom>
                  <a:avLst/>
                  <a:gdLst>
                    <a:gd name="T0" fmla="*/ 186 w 187"/>
                    <a:gd name="T1" fmla="*/ 5 h 160"/>
                    <a:gd name="T2" fmla="*/ 183 w 187"/>
                    <a:gd name="T3" fmla="*/ 4 h 160"/>
                    <a:gd name="T4" fmla="*/ 66 w 187"/>
                    <a:gd name="T5" fmla="*/ 1 h 160"/>
                    <a:gd name="T6" fmla="*/ 62 w 187"/>
                    <a:gd name="T7" fmla="*/ 4 h 160"/>
                    <a:gd name="T8" fmla="*/ 42 w 187"/>
                    <a:gd name="T9" fmla="*/ 103 h 160"/>
                    <a:gd name="T10" fmla="*/ 44 w 187"/>
                    <a:gd name="T11" fmla="*/ 108 h 160"/>
                    <a:gd name="T12" fmla="*/ 49 w 187"/>
                    <a:gd name="T13" fmla="*/ 106 h 160"/>
                    <a:gd name="T14" fmla="*/ 69 w 187"/>
                    <a:gd name="T15" fmla="*/ 8 h 160"/>
                    <a:gd name="T16" fmla="*/ 179 w 187"/>
                    <a:gd name="T17" fmla="*/ 11 h 160"/>
                    <a:gd name="T18" fmla="*/ 139 w 187"/>
                    <a:gd name="T19" fmla="*/ 152 h 160"/>
                    <a:gd name="T20" fmla="*/ 110 w 187"/>
                    <a:gd name="T21" fmla="*/ 120 h 160"/>
                    <a:gd name="T22" fmla="*/ 107 w 187"/>
                    <a:gd name="T23" fmla="*/ 118 h 160"/>
                    <a:gd name="T24" fmla="*/ 4 w 187"/>
                    <a:gd name="T25" fmla="*/ 116 h 160"/>
                    <a:gd name="T26" fmla="*/ 1 w 187"/>
                    <a:gd name="T27" fmla="*/ 117 h 160"/>
                    <a:gd name="T28" fmla="*/ 0 w 187"/>
                    <a:gd name="T29" fmla="*/ 121 h 160"/>
                    <a:gd name="T30" fmla="*/ 37 w 187"/>
                    <a:gd name="T31" fmla="*/ 159 h 160"/>
                    <a:gd name="T32" fmla="*/ 137 w 187"/>
                    <a:gd name="T33" fmla="*/ 160 h 160"/>
                    <a:gd name="T34" fmla="*/ 137 w 187"/>
                    <a:gd name="T35" fmla="*/ 160 h 160"/>
                    <a:gd name="T36" fmla="*/ 139 w 187"/>
                    <a:gd name="T37" fmla="*/ 160 h 160"/>
                    <a:gd name="T38" fmla="*/ 140 w 187"/>
                    <a:gd name="T39" fmla="*/ 159 h 160"/>
                    <a:gd name="T40" fmla="*/ 187 w 187"/>
                    <a:gd name="T41" fmla="*/ 8 h 160"/>
                    <a:gd name="T42" fmla="*/ 186 w 187"/>
                    <a:gd name="T43" fmla="*/ 5 h 160"/>
                    <a:gd name="T44" fmla="*/ 37 w 187"/>
                    <a:gd name="T45" fmla="*/ 151 h 160"/>
                    <a:gd name="T46" fmla="*/ 9 w 187"/>
                    <a:gd name="T47" fmla="*/ 124 h 160"/>
                    <a:gd name="T48" fmla="*/ 105 w 187"/>
                    <a:gd name="T49" fmla="*/ 126 h 160"/>
                    <a:gd name="T50" fmla="*/ 122 w 187"/>
                    <a:gd name="T51" fmla="*/ 152 h 160"/>
                    <a:gd name="T52" fmla="*/ 37 w 187"/>
                    <a:gd name="T53" fmla="*/ 15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7" h="160">
                      <a:moveTo>
                        <a:pt x="186" y="5"/>
                      </a:moveTo>
                      <a:cubicBezTo>
                        <a:pt x="185" y="4"/>
                        <a:pt x="184" y="4"/>
                        <a:pt x="183" y="4"/>
                      </a:cubicBezTo>
                      <a:cubicBezTo>
                        <a:pt x="66" y="1"/>
                        <a:pt x="66" y="1"/>
                        <a:pt x="66" y="1"/>
                      </a:cubicBezTo>
                      <a:cubicBezTo>
                        <a:pt x="64" y="0"/>
                        <a:pt x="62" y="2"/>
                        <a:pt x="62" y="4"/>
                      </a:cubicBezTo>
                      <a:cubicBezTo>
                        <a:pt x="62" y="5"/>
                        <a:pt x="58" y="68"/>
                        <a:pt x="42" y="103"/>
                      </a:cubicBezTo>
                      <a:cubicBezTo>
                        <a:pt x="41" y="105"/>
                        <a:pt x="42" y="107"/>
                        <a:pt x="44" y="108"/>
                      </a:cubicBezTo>
                      <a:cubicBezTo>
                        <a:pt x="45" y="109"/>
                        <a:pt x="48" y="108"/>
                        <a:pt x="49" y="106"/>
                      </a:cubicBezTo>
                      <a:cubicBezTo>
                        <a:pt x="63" y="75"/>
                        <a:pt x="68" y="23"/>
                        <a:pt x="69" y="8"/>
                      </a:cubicBezTo>
                      <a:cubicBezTo>
                        <a:pt x="179" y="11"/>
                        <a:pt x="179" y="11"/>
                        <a:pt x="179" y="11"/>
                      </a:cubicBezTo>
                      <a:cubicBezTo>
                        <a:pt x="173" y="77"/>
                        <a:pt x="158" y="149"/>
                        <a:pt x="139" y="152"/>
                      </a:cubicBezTo>
                      <a:cubicBezTo>
                        <a:pt x="131" y="153"/>
                        <a:pt x="121" y="142"/>
                        <a:pt x="110" y="120"/>
                      </a:cubicBezTo>
                      <a:cubicBezTo>
                        <a:pt x="110" y="119"/>
                        <a:pt x="108" y="118"/>
                        <a:pt x="107" y="118"/>
                      </a:cubicBezTo>
                      <a:cubicBezTo>
                        <a:pt x="4" y="116"/>
                        <a:pt x="4" y="116"/>
                        <a:pt x="4" y="116"/>
                      </a:cubicBezTo>
                      <a:cubicBezTo>
                        <a:pt x="3" y="116"/>
                        <a:pt x="1" y="116"/>
                        <a:pt x="1" y="117"/>
                      </a:cubicBezTo>
                      <a:cubicBezTo>
                        <a:pt x="0" y="118"/>
                        <a:pt x="0" y="119"/>
                        <a:pt x="0" y="121"/>
                      </a:cubicBezTo>
                      <a:cubicBezTo>
                        <a:pt x="0" y="122"/>
                        <a:pt x="8" y="158"/>
                        <a:pt x="37" y="159"/>
                      </a:cubicBezTo>
                      <a:cubicBezTo>
                        <a:pt x="71" y="159"/>
                        <a:pt x="136" y="160"/>
                        <a:pt x="137" y="160"/>
                      </a:cubicBezTo>
                      <a:cubicBezTo>
                        <a:pt x="137" y="160"/>
                        <a:pt x="137" y="160"/>
                        <a:pt x="137" y="160"/>
                      </a:cubicBezTo>
                      <a:cubicBezTo>
                        <a:pt x="138" y="160"/>
                        <a:pt x="138" y="160"/>
                        <a:pt x="139" y="160"/>
                      </a:cubicBezTo>
                      <a:cubicBezTo>
                        <a:pt x="139" y="160"/>
                        <a:pt x="139" y="160"/>
                        <a:pt x="140" y="159"/>
                      </a:cubicBezTo>
                      <a:cubicBezTo>
                        <a:pt x="172" y="154"/>
                        <a:pt x="184" y="42"/>
                        <a:pt x="187" y="8"/>
                      </a:cubicBezTo>
                      <a:cubicBezTo>
                        <a:pt x="187" y="7"/>
                        <a:pt x="186" y="6"/>
                        <a:pt x="186" y="5"/>
                      </a:cubicBezTo>
                      <a:close/>
                      <a:moveTo>
                        <a:pt x="37" y="151"/>
                      </a:moveTo>
                      <a:cubicBezTo>
                        <a:pt x="20" y="151"/>
                        <a:pt x="12" y="132"/>
                        <a:pt x="9" y="124"/>
                      </a:cubicBezTo>
                      <a:cubicBezTo>
                        <a:pt x="105" y="126"/>
                        <a:pt x="105" y="126"/>
                        <a:pt x="105" y="126"/>
                      </a:cubicBezTo>
                      <a:cubicBezTo>
                        <a:pt x="110" y="138"/>
                        <a:pt x="116" y="147"/>
                        <a:pt x="122" y="152"/>
                      </a:cubicBezTo>
                      <a:cubicBezTo>
                        <a:pt x="100" y="152"/>
                        <a:pt x="61" y="152"/>
                        <a:pt x="37" y="151"/>
                      </a:cubicBezTo>
                      <a:close/>
                    </a:path>
                  </a:pathLst>
                </a:custGeom>
                <a:solidFill>
                  <a:srgbClr val="231F20"/>
                </a:solidFill>
                <a:ln>
                  <a:solidFill>
                    <a:srgbClr val="046A38"/>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81" name="Freeform 63">
                  <a:extLst>
                    <a:ext uri="{FF2B5EF4-FFF2-40B4-BE49-F238E27FC236}">
                      <a16:creationId xmlns:a16="http://schemas.microsoft.com/office/drawing/2014/main" id="{98641F79-FE8B-C358-93BD-5F83FCFF5E5F}"/>
                    </a:ext>
                  </a:extLst>
                </p:cNvPr>
                <p:cNvSpPr>
                  <a:spLocks/>
                </p:cNvSpPr>
                <p:nvPr/>
              </p:nvSpPr>
              <p:spPr bwMode="auto">
                <a:xfrm>
                  <a:off x="4014788" y="4344988"/>
                  <a:ext cx="277813" cy="41275"/>
                </a:xfrm>
                <a:custGeom>
                  <a:avLst/>
                  <a:gdLst>
                    <a:gd name="T0" fmla="*/ 63 w 67"/>
                    <a:gd name="T1" fmla="*/ 10 h 10"/>
                    <a:gd name="T2" fmla="*/ 64 w 67"/>
                    <a:gd name="T3" fmla="*/ 10 h 10"/>
                    <a:gd name="T4" fmla="*/ 67 w 67"/>
                    <a:gd name="T5" fmla="*/ 6 h 10"/>
                    <a:gd name="T6" fmla="*/ 64 w 67"/>
                    <a:gd name="T7" fmla="*/ 2 h 10"/>
                    <a:gd name="T8" fmla="*/ 4 w 67"/>
                    <a:gd name="T9" fmla="*/ 0 h 10"/>
                    <a:gd name="T10" fmla="*/ 0 w 67"/>
                    <a:gd name="T11" fmla="*/ 4 h 10"/>
                    <a:gd name="T12" fmla="*/ 4 w 67"/>
                    <a:gd name="T13" fmla="*/ 8 h 10"/>
                    <a:gd name="T14" fmla="*/ 63 w 67"/>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10">
                      <a:moveTo>
                        <a:pt x="63" y="10"/>
                      </a:moveTo>
                      <a:cubicBezTo>
                        <a:pt x="63" y="10"/>
                        <a:pt x="63" y="10"/>
                        <a:pt x="64" y="10"/>
                      </a:cubicBezTo>
                      <a:cubicBezTo>
                        <a:pt x="66" y="10"/>
                        <a:pt x="67" y="8"/>
                        <a:pt x="67" y="6"/>
                      </a:cubicBezTo>
                      <a:cubicBezTo>
                        <a:pt x="67" y="4"/>
                        <a:pt x="66" y="3"/>
                        <a:pt x="64" y="2"/>
                      </a:cubicBezTo>
                      <a:cubicBezTo>
                        <a:pt x="4" y="0"/>
                        <a:pt x="4" y="0"/>
                        <a:pt x="4" y="0"/>
                      </a:cubicBezTo>
                      <a:cubicBezTo>
                        <a:pt x="2" y="0"/>
                        <a:pt x="0" y="2"/>
                        <a:pt x="0" y="4"/>
                      </a:cubicBezTo>
                      <a:cubicBezTo>
                        <a:pt x="0" y="6"/>
                        <a:pt x="2" y="8"/>
                        <a:pt x="4" y="8"/>
                      </a:cubicBezTo>
                      <a:lnTo>
                        <a:pt x="63" y="10"/>
                      </a:lnTo>
                      <a:close/>
                    </a:path>
                  </a:pathLst>
                </a:custGeom>
                <a:solidFill>
                  <a:srgbClr val="231F20"/>
                </a:solidFill>
                <a:ln>
                  <a:solidFill>
                    <a:srgbClr val="046A38"/>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82" name="Freeform 64">
                  <a:extLst>
                    <a:ext uri="{FF2B5EF4-FFF2-40B4-BE49-F238E27FC236}">
                      <a16:creationId xmlns:a16="http://schemas.microsoft.com/office/drawing/2014/main" id="{A7299868-AF6D-9F9E-319C-CB15C649F5FA}"/>
                    </a:ext>
                  </a:extLst>
                </p:cNvPr>
                <p:cNvSpPr>
                  <a:spLocks/>
                </p:cNvSpPr>
                <p:nvPr/>
              </p:nvSpPr>
              <p:spPr bwMode="auto">
                <a:xfrm>
                  <a:off x="3997325" y="4457701"/>
                  <a:ext cx="261938" cy="41275"/>
                </a:xfrm>
                <a:custGeom>
                  <a:avLst/>
                  <a:gdLst>
                    <a:gd name="T0" fmla="*/ 0 w 63"/>
                    <a:gd name="T1" fmla="*/ 4 h 10"/>
                    <a:gd name="T2" fmla="*/ 3 w 63"/>
                    <a:gd name="T3" fmla="*/ 8 h 10"/>
                    <a:gd name="T4" fmla="*/ 59 w 63"/>
                    <a:gd name="T5" fmla="*/ 10 h 10"/>
                    <a:gd name="T6" fmla="*/ 59 w 63"/>
                    <a:gd name="T7" fmla="*/ 10 h 10"/>
                    <a:gd name="T8" fmla="*/ 63 w 63"/>
                    <a:gd name="T9" fmla="*/ 6 h 10"/>
                    <a:gd name="T10" fmla="*/ 59 w 63"/>
                    <a:gd name="T11" fmla="*/ 2 h 10"/>
                    <a:gd name="T12" fmla="*/ 4 w 63"/>
                    <a:gd name="T13" fmla="*/ 0 h 10"/>
                    <a:gd name="T14" fmla="*/ 0 w 63"/>
                    <a:gd name="T15" fmla="*/ 4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10">
                      <a:moveTo>
                        <a:pt x="0" y="4"/>
                      </a:moveTo>
                      <a:cubicBezTo>
                        <a:pt x="0" y="6"/>
                        <a:pt x="1" y="8"/>
                        <a:pt x="3" y="8"/>
                      </a:cubicBezTo>
                      <a:cubicBezTo>
                        <a:pt x="59" y="10"/>
                        <a:pt x="59" y="10"/>
                        <a:pt x="59" y="10"/>
                      </a:cubicBezTo>
                      <a:cubicBezTo>
                        <a:pt x="59" y="10"/>
                        <a:pt x="59" y="10"/>
                        <a:pt x="59" y="10"/>
                      </a:cubicBezTo>
                      <a:cubicBezTo>
                        <a:pt x="61" y="10"/>
                        <a:pt x="63" y="8"/>
                        <a:pt x="63" y="6"/>
                      </a:cubicBezTo>
                      <a:cubicBezTo>
                        <a:pt x="63" y="4"/>
                        <a:pt x="61" y="2"/>
                        <a:pt x="59" y="2"/>
                      </a:cubicBezTo>
                      <a:cubicBezTo>
                        <a:pt x="4" y="0"/>
                        <a:pt x="4" y="0"/>
                        <a:pt x="4" y="0"/>
                      </a:cubicBezTo>
                      <a:cubicBezTo>
                        <a:pt x="1" y="0"/>
                        <a:pt x="0" y="2"/>
                        <a:pt x="0" y="4"/>
                      </a:cubicBezTo>
                      <a:close/>
                    </a:path>
                  </a:pathLst>
                </a:custGeom>
                <a:solidFill>
                  <a:srgbClr val="231F20"/>
                </a:solidFill>
                <a:ln>
                  <a:solidFill>
                    <a:srgbClr val="046A38"/>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83" name="Freeform 65">
                  <a:extLst>
                    <a:ext uri="{FF2B5EF4-FFF2-40B4-BE49-F238E27FC236}">
                      <a16:creationId xmlns:a16="http://schemas.microsoft.com/office/drawing/2014/main" id="{45948A1A-504C-7606-A23D-F1771D9492F0}"/>
                    </a:ext>
                  </a:extLst>
                </p:cNvPr>
                <p:cNvSpPr>
                  <a:spLocks/>
                </p:cNvSpPr>
                <p:nvPr/>
              </p:nvSpPr>
              <p:spPr bwMode="auto">
                <a:xfrm>
                  <a:off x="3968750" y="4568826"/>
                  <a:ext cx="161925" cy="36513"/>
                </a:xfrm>
                <a:custGeom>
                  <a:avLst/>
                  <a:gdLst>
                    <a:gd name="T0" fmla="*/ 0 w 39"/>
                    <a:gd name="T1" fmla="*/ 4 h 9"/>
                    <a:gd name="T2" fmla="*/ 3 w 39"/>
                    <a:gd name="T3" fmla="*/ 8 h 9"/>
                    <a:gd name="T4" fmla="*/ 35 w 39"/>
                    <a:gd name="T5" fmla="*/ 9 h 9"/>
                    <a:gd name="T6" fmla="*/ 35 w 39"/>
                    <a:gd name="T7" fmla="*/ 9 h 9"/>
                    <a:gd name="T8" fmla="*/ 39 w 39"/>
                    <a:gd name="T9" fmla="*/ 5 h 9"/>
                    <a:gd name="T10" fmla="*/ 35 w 39"/>
                    <a:gd name="T11" fmla="*/ 2 h 9"/>
                    <a:gd name="T12" fmla="*/ 4 w 39"/>
                    <a:gd name="T13" fmla="*/ 0 h 9"/>
                    <a:gd name="T14" fmla="*/ 0 w 39"/>
                    <a:gd name="T15" fmla="*/ 4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
                      <a:moveTo>
                        <a:pt x="0" y="4"/>
                      </a:moveTo>
                      <a:cubicBezTo>
                        <a:pt x="0" y="6"/>
                        <a:pt x="1" y="8"/>
                        <a:pt x="3" y="8"/>
                      </a:cubicBezTo>
                      <a:cubicBezTo>
                        <a:pt x="35" y="9"/>
                        <a:pt x="35" y="9"/>
                        <a:pt x="35" y="9"/>
                      </a:cubicBezTo>
                      <a:cubicBezTo>
                        <a:pt x="35" y="9"/>
                        <a:pt x="35" y="9"/>
                        <a:pt x="35" y="9"/>
                      </a:cubicBezTo>
                      <a:cubicBezTo>
                        <a:pt x="37" y="9"/>
                        <a:pt x="39" y="7"/>
                        <a:pt x="39" y="5"/>
                      </a:cubicBezTo>
                      <a:cubicBezTo>
                        <a:pt x="39" y="3"/>
                        <a:pt x="37" y="2"/>
                        <a:pt x="35" y="2"/>
                      </a:cubicBezTo>
                      <a:cubicBezTo>
                        <a:pt x="4" y="0"/>
                        <a:pt x="4" y="0"/>
                        <a:pt x="4" y="0"/>
                      </a:cubicBezTo>
                      <a:cubicBezTo>
                        <a:pt x="1" y="0"/>
                        <a:pt x="0" y="2"/>
                        <a:pt x="0" y="4"/>
                      </a:cubicBezTo>
                      <a:close/>
                    </a:path>
                  </a:pathLst>
                </a:custGeom>
                <a:solidFill>
                  <a:srgbClr val="231F20"/>
                </a:solidFill>
                <a:ln>
                  <a:solidFill>
                    <a:srgbClr val="046A38"/>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279" name="Freeform 23">
                <a:extLst>
                  <a:ext uri="{FF2B5EF4-FFF2-40B4-BE49-F238E27FC236}">
                    <a16:creationId xmlns:a16="http://schemas.microsoft.com/office/drawing/2014/main" id="{E04E08C2-7F6A-19AA-83A6-384F2EC3A61B}"/>
                  </a:ext>
                </a:extLst>
              </p:cNvPr>
              <p:cNvSpPr>
                <a:spLocks noChangeAspect="1"/>
              </p:cNvSpPr>
              <p:nvPr/>
            </p:nvSpPr>
            <p:spPr bwMode="auto">
              <a:xfrm>
                <a:off x="4862842" y="2904727"/>
                <a:ext cx="209200" cy="189439"/>
              </a:xfrm>
              <a:custGeom>
                <a:avLst/>
                <a:gdLst>
                  <a:gd name="T0" fmla="*/ 110 w 351"/>
                  <a:gd name="T1" fmla="*/ 192 h 339"/>
                  <a:gd name="T2" fmla="*/ 0 w 351"/>
                  <a:gd name="T3" fmla="*/ 192 h 339"/>
                  <a:gd name="T4" fmla="*/ 0 w 351"/>
                  <a:gd name="T5" fmla="*/ 339 h 339"/>
                  <a:gd name="T6" fmla="*/ 299 w 351"/>
                  <a:gd name="T7" fmla="*/ 339 h 339"/>
                  <a:gd name="T8" fmla="*/ 319 w 351"/>
                  <a:gd name="T9" fmla="*/ 296 h 339"/>
                  <a:gd name="T10" fmla="*/ 339 w 351"/>
                  <a:gd name="T11" fmla="*/ 254 h 339"/>
                  <a:gd name="T12" fmla="*/ 331 w 351"/>
                  <a:gd name="T13" fmla="*/ 242 h 339"/>
                  <a:gd name="T14" fmla="*/ 340 w 351"/>
                  <a:gd name="T15" fmla="*/ 198 h 339"/>
                  <a:gd name="T16" fmla="*/ 329 w 351"/>
                  <a:gd name="T17" fmla="*/ 188 h 339"/>
                  <a:gd name="T18" fmla="*/ 337 w 351"/>
                  <a:gd name="T19" fmla="*/ 178 h 339"/>
                  <a:gd name="T20" fmla="*/ 314 w 351"/>
                  <a:gd name="T21" fmla="*/ 138 h 339"/>
                  <a:gd name="T22" fmla="*/ 224 w 351"/>
                  <a:gd name="T23" fmla="*/ 138 h 339"/>
                  <a:gd name="T24" fmla="*/ 219 w 351"/>
                  <a:gd name="T25" fmla="*/ 112 h 339"/>
                  <a:gd name="T26" fmla="*/ 229 w 351"/>
                  <a:gd name="T27" fmla="*/ 47 h 339"/>
                  <a:gd name="T28" fmla="*/ 205 w 351"/>
                  <a:gd name="T29" fmla="*/ 6 h 339"/>
                  <a:gd name="T30" fmla="*/ 187 w 351"/>
                  <a:gd name="T31" fmla="*/ 3 h 339"/>
                  <a:gd name="T32" fmla="*/ 186 w 351"/>
                  <a:gd name="T33" fmla="*/ 29 h 339"/>
                  <a:gd name="T34" fmla="*/ 176 w 351"/>
                  <a:gd name="T35" fmla="*/ 62 h 339"/>
                  <a:gd name="T36" fmla="*/ 110 w 351"/>
                  <a:gd name="T37" fmla="*/ 19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1" h="339">
                    <a:moveTo>
                      <a:pt x="110" y="192"/>
                    </a:moveTo>
                    <a:cubicBezTo>
                      <a:pt x="0" y="192"/>
                      <a:pt x="0" y="192"/>
                      <a:pt x="0" y="192"/>
                    </a:cubicBezTo>
                    <a:cubicBezTo>
                      <a:pt x="0" y="339"/>
                      <a:pt x="0" y="339"/>
                      <a:pt x="0" y="339"/>
                    </a:cubicBezTo>
                    <a:cubicBezTo>
                      <a:pt x="299" y="339"/>
                      <a:pt x="299" y="339"/>
                      <a:pt x="299" y="339"/>
                    </a:cubicBezTo>
                    <a:cubicBezTo>
                      <a:pt x="309" y="334"/>
                      <a:pt x="333" y="325"/>
                      <a:pt x="319" y="296"/>
                    </a:cubicBezTo>
                    <a:cubicBezTo>
                      <a:pt x="334" y="290"/>
                      <a:pt x="347" y="274"/>
                      <a:pt x="339" y="254"/>
                    </a:cubicBezTo>
                    <a:cubicBezTo>
                      <a:pt x="337" y="250"/>
                      <a:pt x="333" y="247"/>
                      <a:pt x="331" y="242"/>
                    </a:cubicBezTo>
                    <a:cubicBezTo>
                      <a:pt x="344" y="235"/>
                      <a:pt x="351" y="213"/>
                      <a:pt x="340" y="198"/>
                    </a:cubicBezTo>
                    <a:cubicBezTo>
                      <a:pt x="337" y="193"/>
                      <a:pt x="332" y="192"/>
                      <a:pt x="329" y="188"/>
                    </a:cubicBezTo>
                    <a:cubicBezTo>
                      <a:pt x="333" y="184"/>
                      <a:pt x="335" y="182"/>
                      <a:pt x="337" y="178"/>
                    </a:cubicBezTo>
                    <a:cubicBezTo>
                      <a:pt x="347" y="157"/>
                      <a:pt x="333" y="140"/>
                      <a:pt x="314" y="138"/>
                    </a:cubicBezTo>
                    <a:cubicBezTo>
                      <a:pt x="224" y="138"/>
                      <a:pt x="224" y="138"/>
                      <a:pt x="224" y="138"/>
                    </a:cubicBezTo>
                    <a:cubicBezTo>
                      <a:pt x="222" y="135"/>
                      <a:pt x="220" y="120"/>
                      <a:pt x="219" y="112"/>
                    </a:cubicBezTo>
                    <a:cubicBezTo>
                      <a:pt x="217" y="81"/>
                      <a:pt x="230" y="82"/>
                      <a:pt x="229" y="47"/>
                    </a:cubicBezTo>
                    <a:cubicBezTo>
                      <a:pt x="228" y="25"/>
                      <a:pt x="218" y="12"/>
                      <a:pt x="205" y="6"/>
                    </a:cubicBezTo>
                    <a:cubicBezTo>
                      <a:pt x="202" y="4"/>
                      <a:pt x="194" y="0"/>
                      <a:pt x="187" y="3"/>
                    </a:cubicBezTo>
                    <a:cubicBezTo>
                      <a:pt x="176" y="8"/>
                      <a:pt x="184" y="20"/>
                      <a:pt x="186" y="29"/>
                    </a:cubicBezTo>
                    <a:cubicBezTo>
                      <a:pt x="189" y="41"/>
                      <a:pt x="180" y="52"/>
                      <a:pt x="176" y="62"/>
                    </a:cubicBezTo>
                    <a:lnTo>
                      <a:pt x="110" y="192"/>
                    </a:lnTo>
                    <a:close/>
                  </a:path>
                </a:pathLst>
              </a:custGeom>
              <a:solidFill>
                <a:sysClr val="window" lastClr="FFFFFF"/>
              </a:solidFill>
              <a:ln w="12700">
                <a:solidFill>
                  <a:srgbClr val="046A38"/>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cxnSp>
        <p:nvCxnSpPr>
          <p:cNvPr id="302" name="Straight Connector 301">
            <a:extLst>
              <a:ext uri="{FF2B5EF4-FFF2-40B4-BE49-F238E27FC236}">
                <a16:creationId xmlns:a16="http://schemas.microsoft.com/office/drawing/2014/main" id="{5846A790-7ECD-BCE7-CD87-8673987300FD}"/>
              </a:ext>
            </a:extLst>
          </p:cNvPr>
          <p:cNvCxnSpPr>
            <a:cxnSpLocks/>
          </p:cNvCxnSpPr>
          <p:nvPr/>
        </p:nvCxnSpPr>
        <p:spPr>
          <a:xfrm>
            <a:off x="766529" y="4934211"/>
            <a:ext cx="1073899" cy="1765"/>
          </a:xfrm>
          <a:prstGeom prst="line">
            <a:avLst/>
          </a:prstGeom>
          <a:noFill/>
          <a:ln w="101600" cap="flat" cmpd="sng" algn="ctr">
            <a:solidFill>
              <a:sysClr val="window" lastClr="FFFFFF">
                <a:lumMod val="85000"/>
              </a:sysClr>
            </a:solidFill>
            <a:prstDash val="solid"/>
          </a:ln>
          <a:effectLst/>
        </p:spPr>
      </p:cxnSp>
      <p:sp>
        <p:nvSpPr>
          <p:cNvPr id="303" name="Arc 302">
            <a:extLst>
              <a:ext uri="{FF2B5EF4-FFF2-40B4-BE49-F238E27FC236}">
                <a16:creationId xmlns:a16="http://schemas.microsoft.com/office/drawing/2014/main" id="{7E79273C-15AC-E065-AA69-8DB7470AA54F}"/>
              </a:ext>
            </a:extLst>
          </p:cNvPr>
          <p:cNvSpPr/>
          <p:nvPr/>
        </p:nvSpPr>
        <p:spPr>
          <a:xfrm rot="5400000">
            <a:off x="1654515" y="4544488"/>
            <a:ext cx="371824" cy="404801"/>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304" name="Straight Connector 303">
            <a:extLst>
              <a:ext uri="{FF2B5EF4-FFF2-40B4-BE49-F238E27FC236}">
                <a16:creationId xmlns:a16="http://schemas.microsoft.com/office/drawing/2014/main" id="{233B2E3E-6331-CB75-5542-D92010040449}"/>
              </a:ext>
            </a:extLst>
          </p:cNvPr>
          <p:cNvCxnSpPr>
            <a:cxnSpLocks/>
          </p:cNvCxnSpPr>
          <p:nvPr/>
        </p:nvCxnSpPr>
        <p:spPr>
          <a:xfrm>
            <a:off x="2029327" y="2770836"/>
            <a:ext cx="12439" cy="2007273"/>
          </a:xfrm>
          <a:prstGeom prst="line">
            <a:avLst/>
          </a:prstGeom>
          <a:noFill/>
          <a:ln w="101600" cap="flat" cmpd="sng" algn="ctr">
            <a:solidFill>
              <a:sysClr val="window" lastClr="FFFFFF">
                <a:lumMod val="85000"/>
              </a:sysClr>
            </a:solidFill>
            <a:prstDash val="solid"/>
          </a:ln>
          <a:effectLst/>
        </p:spPr>
      </p:cxnSp>
      <p:sp>
        <p:nvSpPr>
          <p:cNvPr id="305" name="Arc 304">
            <a:extLst>
              <a:ext uri="{FF2B5EF4-FFF2-40B4-BE49-F238E27FC236}">
                <a16:creationId xmlns:a16="http://schemas.microsoft.com/office/drawing/2014/main" id="{7CFB3F05-9A92-FEA3-C978-57023A5B3B3B}"/>
              </a:ext>
            </a:extLst>
          </p:cNvPr>
          <p:cNvSpPr/>
          <p:nvPr/>
        </p:nvSpPr>
        <p:spPr>
          <a:xfrm rot="10800000">
            <a:off x="622272" y="4567048"/>
            <a:ext cx="404801"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306" name="Group 305">
            <a:extLst>
              <a:ext uri="{FF2B5EF4-FFF2-40B4-BE49-F238E27FC236}">
                <a16:creationId xmlns:a16="http://schemas.microsoft.com/office/drawing/2014/main" id="{B3E0A553-6935-D567-3C4E-9AE8FDE0F628}"/>
              </a:ext>
            </a:extLst>
          </p:cNvPr>
          <p:cNvGrpSpPr/>
          <p:nvPr/>
        </p:nvGrpSpPr>
        <p:grpSpPr>
          <a:xfrm>
            <a:off x="1989968" y="4167580"/>
            <a:ext cx="93742" cy="95618"/>
            <a:chOff x="7331909" y="3522364"/>
            <a:chExt cx="99974" cy="108628"/>
          </a:xfrm>
        </p:grpSpPr>
        <p:sp>
          <p:nvSpPr>
            <p:cNvPr id="307" name="Chevron 479">
              <a:extLst>
                <a:ext uri="{FF2B5EF4-FFF2-40B4-BE49-F238E27FC236}">
                  <a16:creationId xmlns:a16="http://schemas.microsoft.com/office/drawing/2014/main" id="{46124F5A-4838-3D68-D220-6284BB3D1430}"/>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08" name="Chevron 480">
              <a:extLst>
                <a:ext uri="{FF2B5EF4-FFF2-40B4-BE49-F238E27FC236}">
                  <a16:creationId xmlns:a16="http://schemas.microsoft.com/office/drawing/2014/main" id="{DC16FCC2-25AE-0330-55FD-F509F0ED82AB}"/>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319" name="TextBox 318">
            <a:extLst>
              <a:ext uri="{FF2B5EF4-FFF2-40B4-BE49-F238E27FC236}">
                <a16:creationId xmlns:a16="http://schemas.microsoft.com/office/drawing/2014/main" id="{4C05EA62-711A-A70F-7617-C4D9275CDB79}"/>
              </a:ext>
            </a:extLst>
          </p:cNvPr>
          <p:cNvSpPr txBox="1"/>
          <p:nvPr/>
        </p:nvSpPr>
        <p:spPr>
          <a:xfrm>
            <a:off x="755668" y="3165960"/>
            <a:ext cx="1246405" cy="553998"/>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SlideRegionDetector trims application boundaries and crops visual canvases</a:t>
            </a:r>
          </a:p>
        </p:txBody>
      </p:sp>
      <p:sp>
        <p:nvSpPr>
          <p:cNvPr id="325" name="Rectangle 324">
            <a:extLst>
              <a:ext uri="{FF2B5EF4-FFF2-40B4-BE49-F238E27FC236}">
                <a16:creationId xmlns:a16="http://schemas.microsoft.com/office/drawing/2014/main" id="{88C784A9-7BDE-53AF-FE45-4B65B33AFF71}"/>
              </a:ext>
            </a:extLst>
          </p:cNvPr>
          <p:cNvSpPr/>
          <p:nvPr/>
        </p:nvSpPr>
        <p:spPr>
          <a:xfrm>
            <a:off x="768501" y="2890799"/>
            <a:ext cx="1146440"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cs typeface="+mn-cs"/>
              </a:rPr>
              <a:t>Chrome Crop</a:t>
            </a:r>
          </a:p>
        </p:txBody>
      </p:sp>
      <p:grpSp>
        <p:nvGrpSpPr>
          <p:cNvPr id="327" name="Group 326">
            <a:extLst>
              <a:ext uri="{FF2B5EF4-FFF2-40B4-BE49-F238E27FC236}">
                <a16:creationId xmlns:a16="http://schemas.microsoft.com/office/drawing/2014/main" id="{CC62D43E-60DE-829B-6F12-0B93D18CD3E0}"/>
              </a:ext>
            </a:extLst>
          </p:cNvPr>
          <p:cNvGrpSpPr/>
          <p:nvPr/>
        </p:nvGrpSpPr>
        <p:grpSpPr>
          <a:xfrm>
            <a:off x="588019" y="3648298"/>
            <a:ext cx="93742" cy="95618"/>
            <a:chOff x="9181659" y="3419406"/>
            <a:chExt cx="99974" cy="108628"/>
          </a:xfrm>
        </p:grpSpPr>
        <p:sp>
          <p:nvSpPr>
            <p:cNvPr id="328" name="Chevron 476">
              <a:extLst>
                <a:ext uri="{FF2B5EF4-FFF2-40B4-BE49-F238E27FC236}">
                  <a16:creationId xmlns:a16="http://schemas.microsoft.com/office/drawing/2014/main" id="{29EE69D2-5024-FB0C-358B-E304DAAC95B7}"/>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29" name="Chevron 477">
              <a:extLst>
                <a:ext uri="{FF2B5EF4-FFF2-40B4-BE49-F238E27FC236}">
                  <a16:creationId xmlns:a16="http://schemas.microsoft.com/office/drawing/2014/main" id="{6D1F74AE-D2C3-3643-27B4-DB3B11850A41}"/>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330" name="Arc 329">
            <a:extLst>
              <a:ext uri="{FF2B5EF4-FFF2-40B4-BE49-F238E27FC236}">
                <a16:creationId xmlns:a16="http://schemas.microsoft.com/office/drawing/2014/main" id="{8CEE5301-9537-05B9-1A02-D2E6EC132BE9}"/>
              </a:ext>
            </a:extLst>
          </p:cNvPr>
          <p:cNvSpPr/>
          <p:nvPr/>
        </p:nvSpPr>
        <p:spPr>
          <a:xfrm rot="16200000">
            <a:off x="2046219" y="2581111"/>
            <a:ext cx="371824" cy="404801"/>
          </a:xfrm>
          <a:prstGeom prst="arc">
            <a:avLst>
              <a:gd name="adj1" fmla="val 16200000"/>
              <a:gd name="adj2" fmla="val 19669931"/>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435" name="Straight Connector 434">
            <a:extLst>
              <a:ext uri="{FF2B5EF4-FFF2-40B4-BE49-F238E27FC236}">
                <a16:creationId xmlns:a16="http://schemas.microsoft.com/office/drawing/2014/main" id="{F0FF9BB0-C5E5-40C4-A833-D755B28D2F1D}"/>
              </a:ext>
            </a:extLst>
          </p:cNvPr>
          <p:cNvCxnSpPr>
            <a:cxnSpLocks/>
          </p:cNvCxnSpPr>
          <p:nvPr/>
        </p:nvCxnSpPr>
        <p:spPr>
          <a:xfrm flipV="1">
            <a:off x="10572001" y="2566025"/>
            <a:ext cx="1279227" cy="9586"/>
          </a:xfrm>
          <a:prstGeom prst="line">
            <a:avLst/>
          </a:prstGeom>
          <a:noFill/>
          <a:ln w="101600" cap="flat" cmpd="sng" algn="ctr">
            <a:solidFill>
              <a:sysClr val="window" lastClr="FFFFFF">
                <a:lumMod val="85000"/>
              </a:sysClr>
            </a:solidFill>
            <a:prstDash val="solid"/>
          </a:ln>
          <a:effectLst/>
        </p:spPr>
      </p:cxnSp>
      <p:grpSp>
        <p:nvGrpSpPr>
          <p:cNvPr id="438" name="Group 437">
            <a:extLst>
              <a:ext uri="{FF2B5EF4-FFF2-40B4-BE49-F238E27FC236}">
                <a16:creationId xmlns:a16="http://schemas.microsoft.com/office/drawing/2014/main" id="{BE8D5EB6-10F0-629E-956B-B521EC630502}"/>
              </a:ext>
            </a:extLst>
          </p:cNvPr>
          <p:cNvGrpSpPr/>
          <p:nvPr/>
        </p:nvGrpSpPr>
        <p:grpSpPr>
          <a:xfrm rot="5400000">
            <a:off x="11654159" y="2521024"/>
            <a:ext cx="88021" cy="101862"/>
            <a:chOff x="7331884" y="3522364"/>
            <a:chExt cx="99999" cy="108632"/>
          </a:xfrm>
        </p:grpSpPr>
        <p:sp>
          <p:nvSpPr>
            <p:cNvPr id="439" name="Chevron 479">
              <a:extLst>
                <a:ext uri="{FF2B5EF4-FFF2-40B4-BE49-F238E27FC236}">
                  <a16:creationId xmlns:a16="http://schemas.microsoft.com/office/drawing/2014/main" id="{12BA602D-794F-7B24-0BBD-30CBDBFABB61}"/>
                </a:ext>
              </a:extLst>
            </p:cNvPr>
            <p:cNvSpPr/>
            <p:nvPr/>
          </p:nvSpPr>
          <p:spPr>
            <a:xfrm rot="16200000">
              <a:off x="7357511" y="355664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40" name="Chevron 480">
              <a:extLst>
                <a:ext uri="{FF2B5EF4-FFF2-40B4-BE49-F238E27FC236}">
                  <a16:creationId xmlns:a16="http://schemas.microsoft.com/office/drawing/2014/main" id="{C271B62D-02E6-4EE8-6E00-32F59BFBF97C}"/>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5" name="TextBox 4">
            <a:extLst>
              <a:ext uri="{FF2B5EF4-FFF2-40B4-BE49-F238E27FC236}">
                <a16:creationId xmlns:a16="http://schemas.microsoft.com/office/drawing/2014/main" id="{CCD3B7B4-0EF2-5997-8F16-304E506E1A00}"/>
              </a:ext>
            </a:extLst>
          </p:cNvPr>
          <p:cNvSpPr txBox="1"/>
          <p:nvPr/>
        </p:nvSpPr>
        <p:spPr>
          <a:xfrm>
            <a:off x="751195" y="4050758"/>
            <a:ext cx="1162710" cy="69249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Maps coordinate scales safely to maintain visual proportions</a:t>
            </a:r>
          </a:p>
        </p:txBody>
      </p:sp>
      <p:sp>
        <p:nvSpPr>
          <p:cNvPr id="7" name="Rectangle 6">
            <a:extLst>
              <a:ext uri="{FF2B5EF4-FFF2-40B4-BE49-F238E27FC236}">
                <a16:creationId xmlns:a16="http://schemas.microsoft.com/office/drawing/2014/main" id="{6281FA31-4CAF-2482-DC76-A146CDF3CA89}"/>
              </a:ext>
            </a:extLst>
          </p:cNvPr>
          <p:cNvSpPr/>
          <p:nvPr/>
        </p:nvSpPr>
        <p:spPr>
          <a:xfrm>
            <a:off x="768501" y="3830415"/>
            <a:ext cx="1146440"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cs typeface="+mn-cs"/>
              </a:rPr>
              <a:t>Scale Mapping</a:t>
            </a:r>
          </a:p>
        </p:txBody>
      </p:sp>
      <p:sp>
        <p:nvSpPr>
          <p:cNvPr id="2" name="Title 2">
            <a:extLst>
              <a:ext uri="{FF2B5EF4-FFF2-40B4-BE49-F238E27FC236}">
                <a16:creationId xmlns:a16="http://schemas.microsoft.com/office/drawing/2014/main" id="{43290413-C3AA-6DEC-9A46-6A5BC4AFC350}"/>
              </a:ext>
            </a:extLst>
          </p:cNvPr>
          <p:cNvSpPr txBox="1">
            <a:spLocks/>
          </p:cNvSpPr>
          <p:nvPr/>
        </p:nvSpPr>
        <p:spPr bwMode="gray">
          <a:xfrm>
            <a:off x="500000" y="1095340"/>
            <a:ext cx="116000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b="1" kern="1200">
                <a:solidFill>
                  <a:schemeClr val="tx1"/>
                </a:solidFill>
                <a:latin typeface="+mj-lt"/>
                <a:ea typeface="+mj-ea"/>
                <a:cs typeface="+mj-cs"/>
              </a:defRPr>
            </a:lvl1pPr>
          </a:lstStyle>
          <a:p>
            <a:pPr marL="0" marR="0" lvl="0" indent="72000" algn="l" defTabSz="1219170" rtl="0" eaLnBrk="1" fontAlgn="auto" latinLnBrk="0" hangingPunct="1">
              <a:lnSpc>
                <a:spcPct val="100000"/>
              </a:lnSpc>
              <a:spcBef>
                <a:spcPct val="0"/>
              </a:spcBef>
              <a:spcAft>
                <a:spcPts val="0"/>
              </a:spcAft>
              <a:buClrTx/>
              <a:buSzTx/>
              <a:buFontTx/>
              <a:buNone/>
              <a:tabLst/>
              <a:defRPr/>
            </a:pPr>
            <a:endParaRPr kumimoji="0" lang="en-US" sz="2000" b="1" i="0" u="none" strike="noStrike" kern="1200" cap="none" spc="0" normalizeH="0" baseline="0" noProof="0">
              <a:ln>
                <a:noFill/>
              </a:ln>
              <a:solidFill>
                <a:sysClr val="windowText" lastClr="000000"/>
              </a:solidFill>
              <a:effectLst/>
              <a:uLnTx/>
              <a:uFillTx/>
              <a:latin typeface="Verdana" panose="020B0604030504040204" pitchFamily="34" charset="0"/>
              <a:ea typeface="Verdana" panose="020B0604030504040204" pitchFamily="34" charset="0"/>
              <a:cs typeface="+mj-cs"/>
            </a:endParaRPr>
          </a:p>
        </p:txBody>
      </p:sp>
      <p:sp>
        <p:nvSpPr>
          <p:cNvPr id="4" name="TextBox 3">
            <a:extLst>
              <a:ext uri="{FF2B5EF4-FFF2-40B4-BE49-F238E27FC236}">
                <a16:creationId xmlns:a16="http://schemas.microsoft.com/office/drawing/2014/main" id="{245B0CAF-B780-9760-F27B-D517E4C82CB0}"/>
              </a:ext>
            </a:extLst>
          </p:cNvPr>
          <p:cNvSpPr txBox="1"/>
          <p:nvPr/>
        </p:nvSpPr>
        <p:spPr>
          <a:xfrm>
            <a:off x="11064515" y="6428483"/>
            <a:ext cx="952547"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hlinkClick r:id="rId7"/>
              </a:rPr>
              <a:t>Link to repository</a:t>
            </a:r>
            <a:endParaRPr kumimoji="0" lang="en-IN"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8" name="TextBox 17">
            <a:extLst>
              <a:ext uri="{FF2B5EF4-FFF2-40B4-BE49-F238E27FC236}">
                <a16:creationId xmlns:a16="http://schemas.microsoft.com/office/drawing/2014/main" id="{520E8D1C-3DE1-78E0-DA4F-EBD8BD8D3F7A}"/>
              </a:ext>
            </a:extLst>
          </p:cNvPr>
          <p:cNvSpPr txBox="1"/>
          <p:nvPr/>
        </p:nvSpPr>
        <p:spPr>
          <a:xfrm>
            <a:off x="10426636" y="6454635"/>
            <a:ext cx="78727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hlinkClick r:id="rId8"/>
              </a:rPr>
              <a:t>View Code</a:t>
            </a:r>
            <a:endParaRPr kumimoji="0" lang="en-IN"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0" name="Rectangle 29">
            <a:extLst>
              <a:ext uri="{FF2B5EF4-FFF2-40B4-BE49-F238E27FC236}">
                <a16:creationId xmlns:a16="http://schemas.microsoft.com/office/drawing/2014/main" id="{B3B34CDE-2FAE-24D1-1BC4-0B7958200B16}"/>
              </a:ext>
            </a:extLst>
          </p:cNvPr>
          <p:cNvSpPr/>
          <p:nvPr/>
        </p:nvSpPr>
        <p:spPr bwMode="gray">
          <a:xfrm>
            <a:off x="238090" y="167625"/>
            <a:ext cx="11247120" cy="289134"/>
          </a:xfrm>
          <a:prstGeom prst="rect">
            <a:avLst/>
          </a:prstGeom>
          <a:noFill/>
          <a:ln w="19050" algn="ctr">
            <a:noFill/>
            <a:miter lim="800000"/>
            <a:headEnd/>
            <a:tailEnd/>
          </a:ln>
        </p:spPr>
        <p:txBody>
          <a:bodyPr wrap="square" lIns="0" tIns="88900" rIns="88900" bIns="88900" rtlCol="0" anchor="ctr"/>
          <a:lstStyle/>
          <a:p>
            <a:pPr marL="0" marR="0" lvl="0" indent="0" algn="l" defTabSz="1219170" rtl="0" eaLnBrk="1" fontAlgn="auto" latinLnBrk="0" hangingPunct="1">
              <a:lnSpc>
                <a:spcPct val="106000"/>
              </a:lnSpc>
              <a:spcBef>
                <a:spcPts val="0"/>
              </a:spcBef>
              <a:spcAft>
                <a:spcPts val="0"/>
              </a:spcAft>
              <a:buClrTx/>
              <a:buSzTx/>
              <a:buFontTx/>
              <a:buNone/>
              <a:tabLst/>
              <a:defRPr/>
            </a:pPr>
            <a:r>
              <a:rPr kumimoji="0" lang="fr-FR" sz="2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Lossless Geometry Extraction &amp; Multi-Agent Document Reconstruction</a:t>
            </a:r>
            <a:r>
              <a:rPr kumimoji="0" lang="fr-FR" sz="20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
            </a:r>
            <a:r>
              <a:rPr kumimoji="0" lang="fr-FR" sz="2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r>
            <a:r>
              <a:rPr kumimoji="0" lang="fr-FR" sz="20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
            </a:r>
            <a:r>
              <a:rPr kumimoji="0" lang="fr-FR" sz="20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r>
          </a:p>
        </p:txBody>
      </p:sp>
      <p:cxnSp>
        <p:nvCxnSpPr>
          <p:cNvPr id="31" name="Straight Connector 30">
            <a:extLst>
              <a:ext uri="{FF2B5EF4-FFF2-40B4-BE49-F238E27FC236}">
                <a16:creationId xmlns:a16="http://schemas.microsoft.com/office/drawing/2014/main" id="{5D4C567F-EFC7-F05F-CB89-C9B24513BCF0}"/>
              </a:ext>
            </a:extLst>
          </p:cNvPr>
          <p:cNvCxnSpPr>
            <a:cxnSpLocks/>
          </p:cNvCxnSpPr>
          <p:nvPr/>
        </p:nvCxnSpPr>
        <p:spPr>
          <a:xfrm>
            <a:off x="222183" y="605844"/>
            <a:ext cx="11249742" cy="0"/>
          </a:xfrm>
          <a:prstGeom prst="line">
            <a:avLst/>
          </a:prstGeom>
          <a:ln>
            <a:solidFill>
              <a:srgbClr val="86BC25"/>
            </a:solidFill>
          </a:ln>
        </p:spPr>
        <p:style>
          <a:lnRef idx="2">
            <a:schemeClr val="accent1"/>
          </a:lnRef>
          <a:fillRef idx="0">
            <a:schemeClr val="accent1"/>
          </a:fillRef>
          <a:effectRef idx="1">
            <a:schemeClr val="accent1"/>
          </a:effectRef>
          <a:fontRef idx="minor">
            <a:schemeClr val="tx1"/>
          </a:fontRef>
        </p:style>
      </p:cxnSp>
      <p:grpSp>
        <p:nvGrpSpPr>
          <p:cNvPr id="470" name="Group 469">
            <a:extLst>
              <a:ext uri="{FF2B5EF4-FFF2-40B4-BE49-F238E27FC236}">
                <a16:creationId xmlns:a16="http://schemas.microsoft.com/office/drawing/2014/main" id="{ADD17DE5-ADBF-6C82-9555-3ED9A87CEC83}"/>
              </a:ext>
            </a:extLst>
          </p:cNvPr>
          <p:cNvGrpSpPr/>
          <p:nvPr/>
        </p:nvGrpSpPr>
        <p:grpSpPr>
          <a:xfrm>
            <a:off x="2411307" y="2633042"/>
            <a:ext cx="1495691" cy="2312496"/>
            <a:chOff x="2411307" y="2633042"/>
            <a:chExt cx="1495691" cy="2312496"/>
          </a:xfrm>
        </p:grpSpPr>
        <p:cxnSp>
          <p:nvCxnSpPr>
            <p:cNvPr id="52" name="Straight Connector 51">
              <a:extLst>
                <a:ext uri="{FF2B5EF4-FFF2-40B4-BE49-F238E27FC236}">
                  <a16:creationId xmlns:a16="http://schemas.microsoft.com/office/drawing/2014/main" id="{265CDDCD-B7B4-43C3-3A0F-90FD9E20BB7B}"/>
                </a:ext>
              </a:extLst>
            </p:cNvPr>
            <p:cNvCxnSpPr>
              <a:cxnSpLocks/>
            </p:cNvCxnSpPr>
            <p:nvPr/>
          </p:nvCxnSpPr>
          <p:spPr>
            <a:xfrm>
              <a:off x="2462852" y="2633042"/>
              <a:ext cx="0" cy="2232000"/>
            </a:xfrm>
            <a:prstGeom prst="line">
              <a:avLst/>
            </a:prstGeom>
            <a:noFill/>
            <a:ln w="101600" cap="flat" cmpd="sng" algn="ctr">
              <a:solidFill>
                <a:sysClr val="window" lastClr="FFFFFF">
                  <a:lumMod val="85000"/>
                </a:sysClr>
              </a:solidFill>
              <a:prstDash val="solid"/>
            </a:ln>
            <a:effectLst/>
          </p:spPr>
        </p:cxnSp>
        <p:grpSp>
          <p:nvGrpSpPr>
            <p:cNvPr id="50" name="Group 49">
              <a:extLst>
                <a:ext uri="{FF2B5EF4-FFF2-40B4-BE49-F238E27FC236}">
                  <a16:creationId xmlns:a16="http://schemas.microsoft.com/office/drawing/2014/main" id="{36AFA205-9D25-DB6D-7F69-9E0E5D417A93}"/>
                </a:ext>
              </a:extLst>
            </p:cNvPr>
            <p:cNvGrpSpPr/>
            <p:nvPr/>
          </p:nvGrpSpPr>
          <p:grpSpPr>
            <a:xfrm>
              <a:off x="2411307" y="2634309"/>
              <a:ext cx="1495691" cy="2311229"/>
              <a:chOff x="740419" y="2780043"/>
              <a:chExt cx="1495691" cy="2311229"/>
            </a:xfrm>
          </p:grpSpPr>
          <p:cxnSp>
            <p:nvCxnSpPr>
              <p:cNvPr id="36" name="Straight Connector 35">
                <a:extLst>
                  <a:ext uri="{FF2B5EF4-FFF2-40B4-BE49-F238E27FC236}">
                    <a16:creationId xmlns:a16="http://schemas.microsoft.com/office/drawing/2014/main" id="{4DCCB5D5-8C9D-4725-00C8-FEA4FC4945E1}"/>
                  </a:ext>
                </a:extLst>
              </p:cNvPr>
              <p:cNvCxnSpPr>
                <a:cxnSpLocks/>
              </p:cNvCxnSpPr>
              <p:nvPr/>
            </p:nvCxnSpPr>
            <p:spPr>
              <a:xfrm>
                <a:off x="918929" y="5086611"/>
                <a:ext cx="1073899" cy="1765"/>
              </a:xfrm>
              <a:prstGeom prst="line">
                <a:avLst/>
              </a:prstGeom>
              <a:noFill/>
              <a:ln w="101600" cap="flat" cmpd="sng" algn="ctr">
                <a:solidFill>
                  <a:sysClr val="window" lastClr="FFFFFF">
                    <a:lumMod val="85000"/>
                  </a:sysClr>
                </a:solidFill>
                <a:prstDash val="solid"/>
              </a:ln>
              <a:effectLst/>
            </p:spPr>
          </p:cxnSp>
          <p:sp>
            <p:nvSpPr>
              <p:cNvPr id="37" name="Arc 36">
                <a:extLst>
                  <a:ext uri="{FF2B5EF4-FFF2-40B4-BE49-F238E27FC236}">
                    <a16:creationId xmlns:a16="http://schemas.microsoft.com/office/drawing/2014/main" id="{F148BE2A-FB19-2C3C-7C2F-2141932DF5E4}"/>
                  </a:ext>
                </a:extLst>
              </p:cNvPr>
              <p:cNvSpPr/>
              <p:nvPr/>
            </p:nvSpPr>
            <p:spPr>
              <a:xfrm rot="5400000">
                <a:off x="1806915" y="4696888"/>
                <a:ext cx="371824" cy="404801"/>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38" name="Straight Connector 37">
                <a:extLst>
                  <a:ext uri="{FF2B5EF4-FFF2-40B4-BE49-F238E27FC236}">
                    <a16:creationId xmlns:a16="http://schemas.microsoft.com/office/drawing/2014/main" id="{348C16CA-241A-E188-0434-20F2F2ED997B}"/>
                  </a:ext>
                </a:extLst>
              </p:cNvPr>
              <p:cNvCxnSpPr>
                <a:cxnSpLocks/>
              </p:cNvCxnSpPr>
              <p:nvPr/>
            </p:nvCxnSpPr>
            <p:spPr>
              <a:xfrm>
                <a:off x="2191695" y="2780043"/>
                <a:ext cx="6220" cy="2112579"/>
              </a:xfrm>
              <a:prstGeom prst="line">
                <a:avLst/>
              </a:prstGeom>
              <a:noFill/>
              <a:ln w="101600" cap="flat" cmpd="sng" algn="ctr">
                <a:solidFill>
                  <a:sysClr val="window" lastClr="FFFFFF">
                    <a:lumMod val="85000"/>
                  </a:sysClr>
                </a:solidFill>
                <a:prstDash val="solid"/>
              </a:ln>
              <a:effectLst/>
            </p:spPr>
          </p:cxnSp>
          <p:sp>
            <p:nvSpPr>
              <p:cNvPr id="39" name="Arc 38">
                <a:extLst>
                  <a:ext uri="{FF2B5EF4-FFF2-40B4-BE49-F238E27FC236}">
                    <a16:creationId xmlns:a16="http://schemas.microsoft.com/office/drawing/2014/main" id="{09A0C994-2C08-34B2-DD17-92376522DB1B}"/>
                  </a:ext>
                </a:extLst>
              </p:cNvPr>
              <p:cNvSpPr/>
              <p:nvPr/>
            </p:nvSpPr>
            <p:spPr>
              <a:xfrm rot="10800000">
                <a:off x="774672" y="4719448"/>
                <a:ext cx="404801"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40" name="Group 39">
                <a:extLst>
                  <a:ext uri="{FF2B5EF4-FFF2-40B4-BE49-F238E27FC236}">
                    <a16:creationId xmlns:a16="http://schemas.microsoft.com/office/drawing/2014/main" id="{D1E6133C-8190-8C09-3937-985FCC94668E}"/>
                  </a:ext>
                </a:extLst>
              </p:cNvPr>
              <p:cNvGrpSpPr/>
              <p:nvPr/>
            </p:nvGrpSpPr>
            <p:grpSpPr>
              <a:xfrm>
                <a:off x="2142368" y="4319980"/>
                <a:ext cx="93742" cy="95618"/>
                <a:chOff x="7331909" y="3522364"/>
                <a:chExt cx="99974" cy="108628"/>
              </a:xfrm>
            </p:grpSpPr>
            <p:sp>
              <p:nvSpPr>
                <p:cNvPr id="41" name="Chevron 479">
                  <a:extLst>
                    <a:ext uri="{FF2B5EF4-FFF2-40B4-BE49-F238E27FC236}">
                      <a16:creationId xmlns:a16="http://schemas.microsoft.com/office/drawing/2014/main" id="{194B8B12-7B19-4B94-1437-8DC60C6C4EA2}"/>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2" name="Chevron 480">
                  <a:extLst>
                    <a:ext uri="{FF2B5EF4-FFF2-40B4-BE49-F238E27FC236}">
                      <a16:creationId xmlns:a16="http://schemas.microsoft.com/office/drawing/2014/main" id="{B9F1685A-DA9C-7CA6-98CE-84E0A51353C4}"/>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43" name="TextBox 42">
                <a:extLst>
                  <a:ext uri="{FF2B5EF4-FFF2-40B4-BE49-F238E27FC236}">
                    <a16:creationId xmlns:a16="http://schemas.microsoft.com/office/drawing/2014/main" id="{AABE9B99-6E80-50D4-7312-079948BCF7C0}"/>
                  </a:ext>
                </a:extLst>
              </p:cNvPr>
              <p:cNvSpPr txBox="1"/>
              <p:nvPr/>
            </p:nvSpPr>
            <p:spPr>
              <a:xfrm>
                <a:off x="878490" y="3425082"/>
                <a:ext cx="1220410" cy="553998"/>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a:rPr>
                  <a:t>Extracts shapes, native tables, and connector lines from XML files</a:t>
                </a:r>
              </a:p>
            </p:txBody>
          </p:sp>
          <p:sp>
            <p:nvSpPr>
              <p:cNvPr id="44" name="Rectangle 43">
                <a:extLst>
                  <a:ext uri="{FF2B5EF4-FFF2-40B4-BE49-F238E27FC236}">
                    <a16:creationId xmlns:a16="http://schemas.microsoft.com/office/drawing/2014/main" id="{8168753D-948D-9DB8-9A01-3667D7E865BA}"/>
                  </a:ext>
                </a:extLst>
              </p:cNvPr>
              <p:cNvSpPr/>
              <p:nvPr/>
            </p:nvSpPr>
            <p:spPr>
              <a:xfrm>
                <a:off x="856584" y="3062445"/>
                <a:ext cx="1320093"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cs typeface="+mn-cs"/>
                  </a:rPr>
                  <a:t>XML Shape Parse</a:t>
                </a:r>
              </a:p>
            </p:txBody>
          </p:sp>
          <p:grpSp>
            <p:nvGrpSpPr>
              <p:cNvPr id="45" name="Group 44">
                <a:extLst>
                  <a:ext uri="{FF2B5EF4-FFF2-40B4-BE49-F238E27FC236}">
                    <a16:creationId xmlns:a16="http://schemas.microsoft.com/office/drawing/2014/main" id="{9C1C6FF2-6A7C-452D-1F0C-160AB05C0016}"/>
                  </a:ext>
                </a:extLst>
              </p:cNvPr>
              <p:cNvGrpSpPr/>
              <p:nvPr/>
            </p:nvGrpSpPr>
            <p:grpSpPr>
              <a:xfrm>
                <a:off x="740419" y="3800698"/>
                <a:ext cx="93742" cy="95618"/>
                <a:chOff x="9181659" y="3419406"/>
                <a:chExt cx="99974" cy="108628"/>
              </a:xfrm>
            </p:grpSpPr>
            <p:sp>
              <p:nvSpPr>
                <p:cNvPr id="46" name="Chevron 476">
                  <a:extLst>
                    <a:ext uri="{FF2B5EF4-FFF2-40B4-BE49-F238E27FC236}">
                      <a16:creationId xmlns:a16="http://schemas.microsoft.com/office/drawing/2014/main" id="{E2680ECC-C17D-3CC0-3EE1-4D740066D104}"/>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7" name="Chevron 477">
                  <a:extLst>
                    <a:ext uri="{FF2B5EF4-FFF2-40B4-BE49-F238E27FC236}">
                      <a16:creationId xmlns:a16="http://schemas.microsoft.com/office/drawing/2014/main" id="{19CF391D-3CC2-3962-0B53-E67F13E572F8}"/>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48" name="TextBox 47">
                <a:extLst>
                  <a:ext uri="{FF2B5EF4-FFF2-40B4-BE49-F238E27FC236}">
                    <a16:creationId xmlns:a16="http://schemas.microsoft.com/office/drawing/2014/main" id="{697FFF8B-CA66-54B7-43A8-397A77495E9F}"/>
                  </a:ext>
                </a:extLst>
              </p:cNvPr>
              <p:cNvSpPr txBox="1"/>
              <p:nvPr/>
            </p:nvSpPr>
            <p:spPr>
              <a:xfrm>
                <a:off x="886172" y="4506384"/>
                <a:ext cx="1317691" cy="415498"/>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a:rPr>
                  <a:t>Tracks bounding boxes and styles using PyMuPDF drawings</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Segoe UI"/>
                  </a:rPr>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Segoe UI"/>
                  </a:rPr>
                  <a:t/>
                </a:r>
              </a:p>
            </p:txBody>
          </p:sp>
          <p:sp>
            <p:nvSpPr>
              <p:cNvPr id="49" name="Rectangle 48">
                <a:extLst>
                  <a:ext uri="{FF2B5EF4-FFF2-40B4-BE49-F238E27FC236}">
                    <a16:creationId xmlns:a16="http://schemas.microsoft.com/office/drawing/2014/main" id="{D822F61F-9669-F119-4107-0ADE2BB75F51}"/>
                  </a:ext>
                </a:extLst>
              </p:cNvPr>
              <p:cNvSpPr/>
              <p:nvPr/>
            </p:nvSpPr>
            <p:spPr>
              <a:xfrm>
                <a:off x="891547" y="4140744"/>
                <a:ext cx="1306942"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cs typeface="+mn-cs"/>
                  </a:rPr>
                  <a:t>Vector PDFs Parse</a:t>
                </a:r>
              </a:p>
            </p:txBody>
          </p:sp>
        </p:grpSp>
      </p:grpSp>
      <p:grpSp>
        <p:nvGrpSpPr>
          <p:cNvPr id="471" name="Group 470">
            <a:extLst>
              <a:ext uri="{FF2B5EF4-FFF2-40B4-BE49-F238E27FC236}">
                <a16:creationId xmlns:a16="http://schemas.microsoft.com/office/drawing/2014/main" id="{D4E469F7-8A8B-A229-F7B3-E4C40546B18E}"/>
              </a:ext>
            </a:extLst>
          </p:cNvPr>
          <p:cNvGrpSpPr/>
          <p:nvPr/>
        </p:nvGrpSpPr>
        <p:grpSpPr>
          <a:xfrm>
            <a:off x="4299596" y="2623872"/>
            <a:ext cx="1495691" cy="2312496"/>
            <a:chOff x="2411307" y="2633042"/>
            <a:chExt cx="1495691" cy="2312496"/>
          </a:xfrm>
        </p:grpSpPr>
        <p:cxnSp>
          <p:nvCxnSpPr>
            <p:cNvPr id="472" name="Straight Connector 471">
              <a:extLst>
                <a:ext uri="{FF2B5EF4-FFF2-40B4-BE49-F238E27FC236}">
                  <a16:creationId xmlns:a16="http://schemas.microsoft.com/office/drawing/2014/main" id="{67820E1A-8B18-DC46-CB3A-A9CEEF124EA7}"/>
                </a:ext>
              </a:extLst>
            </p:cNvPr>
            <p:cNvCxnSpPr>
              <a:cxnSpLocks/>
            </p:cNvCxnSpPr>
            <p:nvPr/>
          </p:nvCxnSpPr>
          <p:spPr>
            <a:xfrm>
              <a:off x="2462852" y="2633042"/>
              <a:ext cx="0" cy="2232000"/>
            </a:xfrm>
            <a:prstGeom prst="line">
              <a:avLst/>
            </a:prstGeom>
            <a:noFill/>
            <a:ln w="101600" cap="flat" cmpd="sng" algn="ctr">
              <a:solidFill>
                <a:sysClr val="window" lastClr="FFFFFF">
                  <a:lumMod val="85000"/>
                </a:sysClr>
              </a:solidFill>
              <a:prstDash val="solid"/>
            </a:ln>
            <a:effectLst/>
          </p:spPr>
        </p:cxnSp>
        <p:grpSp>
          <p:nvGrpSpPr>
            <p:cNvPr id="473" name="Group 472">
              <a:extLst>
                <a:ext uri="{FF2B5EF4-FFF2-40B4-BE49-F238E27FC236}">
                  <a16:creationId xmlns:a16="http://schemas.microsoft.com/office/drawing/2014/main" id="{22C9A462-5E3C-4F75-6513-3FED15632240}"/>
                </a:ext>
              </a:extLst>
            </p:cNvPr>
            <p:cNvGrpSpPr/>
            <p:nvPr/>
          </p:nvGrpSpPr>
          <p:grpSpPr>
            <a:xfrm>
              <a:off x="2411307" y="2634309"/>
              <a:ext cx="1495691" cy="2311229"/>
              <a:chOff x="740419" y="2780043"/>
              <a:chExt cx="1495691" cy="2311229"/>
            </a:xfrm>
          </p:grpSpPr>
          <p:cxnSp>
            <p:nvCxnSpPr>
              <p:cNvPr id="474" name="Straight Connector 473">
                <a:extLst>
                  <a:ext uri="{FF2B5EF4-FFF2-40B4-BE49-F238E27FC236}">
                    <a16:creationId xmlns:a16="http://schemas.microsoft.com/office/drawing/2014/main" id="{1312B52B-3AA1-21F5-556E-246DB47A699F}"/>
                  </a:ext>
                </a:extLst>
              </p:cNvPr>
              <p:cNvCxnSpPr>
                <a:cxnSpLocks/>
              </p:cNvCxnSpPr>
              <p:nvPr/>
            </p:nvCxnSpPr>
            <p:spPr>
              <a:xfrm>
                <a:off x="918929" y="5086611"/>
                <a:ext cx="1073899" cy="1765"/>
              </a:xfrm>
              <a:prstGeom prst="line">
                <a:avLst/>
              </a:prstGeom>
              <a:noFill/>
              <a:ln w="101600" cap="flat" cmpd="sng" algn="ctr">
                <a:solidFill>
                  <a:sysClr val="window" lastClr="FFFFFF">
                    <a:lumMod val="85000"/>
                  </a:sysClr>
                </a:solidFill>
                <a:prstDash val="solid"/>
              </a:ln>
              <a:effectLst/>
            </p:spPr>
          </p:cxnSp>
          <p:sp>
            <p:nvSpPr>
              <p:cNvPr id="475" name="Arc 474">
                <a:extLst>
                  <a:ext uri="{FF2B5EF4-FFF2-40B4-BE49-F238E27FC236}">
                    <a16:creationId xmlns:a16="http://schemas.microsoft.com/office/drawing/2014/main" id="{0C23EDCB-D9BC-6250-050D-5866E02253D1}"/>
                  </a:ext>
                </a:extLst>
              </p:cNvPr>
              <p:cNvSpPr/>
              <p:nvPr/>
            </p:nvSpPr>
            <p:spPr>
              <a:xfrm rot="5400000">
                <a:off x="1806915" y="4696888"/>
                <a:ext cx="371824" cy="404801"/>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476" name="Straight Connector 475">
                <a:extLst>
                  <a:ext uri="{FF2B5EF4-FFF2-40B4-BE49-F238E27FC236}">
                    <a16:creationId xmlns:a16="http://schemas.microsoft.com/office/drawing/2014/main" id="{073942C5-0166-997D-44C9-1D93B25B71A7}"/>
                  </a:ext>
                </a:extLst>
              </p:cNvPr>
              <p:cNvCxnSpPr>
                <a:cxnSpLocks/>
              </p:cNvCxnSpPr>
              <p:nvPr/>
            </p:nvCxnSpPr>
            <p:spPr>
              <a:xfrm>
                <a:off x="2191695" y="2780043"/>
                <a:ext cx="6220" cy="2112579"/>
              </a:xfrm>
              <a:prstGeom prst="line">
                <a:avLst/>
              </a:prstGeom>
              <a:noFill/>
              <a:ln w="101600" cap="flat" cmpd="sng" algn="ctr">
                <a:solidFill>
                  <a:sysClr val="window" lastClr="FFFFFF">
                    <a:lumMod val="85000"/>
                  </a:sysClr>
                </a:solidFill>
                <a:prstDash val="solid"/>
              </a:ln>
              <a:effectLst/>
            </p:spPr>
          </p:cxnSp>
          <p:sp>
            <p:nvSpPr>
              <p:cNvPr id="477" name="Arc 476">
                <a:extLst>
                  <a:ext uri="{FF2B5EF4-FFF2-40B4-BE49-F238E27FC236}">
                    <a16:creationId xmlns:a16="http://schemas.microsoft.com/office/drawing/2014/main" id="{45CA0F2D-0E0B-73FE-158E-F991291CC54F}"/>
                  </a:ext>
                </a:extLst>
              </p:cNvPr>
              <p:cNvSpPr/>
              <p:nvPr/>
            </p:nvSpPr>
            <p:spPr>
              <a:xfrm rot="10800000">
                <a:off x="774672" y="4719448"/>
                <a:ext cx="404801"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478" name="Group 477">
                <a:extLst>
                  <a:ext uri="{FF2B5EF4-FFF2-40B4-BE49-F238E27FC236}">
                    <a16:creationId xmlns:a16="http://schemas.microsoft.com/office/drawing/2014/main" id="{10973C93-7D51-BFC9-A9F8-5E975AB5F779}"/>
                  </a:ext>
                </a:extLst>
              </p:cNvPr>
              <p:cNvGrpSpPr/>
              <p:nvPr/>
            </p:nvGrpSpPr>
            <p:grpSpPr>
              <a:xfrm>
                <a:off x="2142368" y="4319980"/>
                <a:ext cx="93742" cy="95618"/>
                <a:chOff x="7331909" y="3522364"/>
                <a:chExt cx="99974" cy="108628"/>
              </a:xfrm>
            </p:grpSpPr>
            <p:sp>
              <p:nvSpPr>
                <p:cNvPr id="486" name="Chevron 479">
                  <a:extLst>
                    <a:ext uri="{FF2B5EF4-FFF2-40B4-BE49-F238E27FC236}">
                      <a16:creationId xmlns:a16="http://schemas.microsoft.com/office/drawing/2014/main" id="{45880417-2040-065E-EA4C-7E678DC01775}"/>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87" name="Chevron 480">
                  <a:extLst>
                    <a:ext uri="{FF2B5EF4-FFF2-40B4-BE49-F238E27FC236}">
                      <a16:creationId xmlns:a16="http://schemas.microsoft.com/office/drawing/2014/main" id="{1F8AA2C4-FCBF-1D75-24F6-412E121E21A5}"/>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479" name="TextBox 478">
                <a:extLst>
                  <a:ext uri="{FF2B5EF4-FFF2-40B4-BE49-F238E27FC236}">
                    <a16:creationId xmlns:a16="http://schemas.microsoft.com/office/drawing/2014/main" id="{23C31D07-1FB4-D305-8FBD-DAEE49FF7782}"/>
                  </a:ext>
                </a:extLst>
              </p:cNvPr>
              <p:cNvSpPr txBox="1"/>
              <p:nvPr/>
            </p:nvSpPr>
            <p:spPr>
              <a:xfrm>
                <a:off x="915334" y="3437221"/>
                <a:ext cx="1220410" cy="553998"/>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Extracts raw EasyOCR blocks with coordinate polygons</a:t>
                </a:r>
                <a:endParaRPr kumimoji="0" lang="en-US"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480" name="Rectangle 479">
                <a:extLst>
                  <a:ext uri="{FF2B5EF4-FFF2-40B4-BE49-F238E27FC236}">
                    <a16:creationId xmlns:a16="http://schemas.microsoft.com/office/drawing/2014/main" id="{CF9C3B4C-611E-70AC-B2A6-1427C3D06096}"/>
                  </a:ext>
                </a:extLst>
              </p:cNvPr>
              <p:cNvSpPr/>
              <p:nvPr/>
            </p:nvSpPr>
            <p:spPr>
              <a:xfrm>
                <a:off x="922444" y="3083559"/>
                <a:ext cx="1146440"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cs typeface="+mn-cs"/>
                  </a:rPr>
                  <a:t>OCR Bounding Box</a:t>
                </a:r>
              </a:p>
            </p:txBody>
          </p:sp>
          <p:grpSp>
            <p:nvGrpSpPr>
              <p:cNvPr id="481" name="Group 480">
                <a:extLst>
                  <a:ext uri="{FF2B5EF4-FFF2-40B4-BE49-F238E27FC236}">
                    <a16:creationId xmlns:a16="http://schemas.microsoft.com/office/drawing/2014/main" id="{8751FE64-DE94-056E-3D54-BCF951538609}"/>
                  </a:ext>
                </a:extLst>
              </p:cNvPr>
              <p:cNvGrpSpPr/>
              <p:nvPr/>
            </p:nvGrpSpPr>
            <p:grpSpPr>
              <a:xfrm>
                <a:off x="740419" y="3800698"/>
                <a:ext cx="93742" cy="95618"/>
                <a:chOff x="9181659" y="3419406"/>
                <a:chExt cx="99974" cy="108628"/>
              </a:xfrm>
            </p:grpSpPr>
            <p:sp>
              <p:nvSpPr>
                <p:cNvPr id="484" name="Chevron 476">
                  <a:extLst>
                    <a:ext uri="{FF2B5EF4-FFF2-40B4-BE49-F238E27FC236}">
                      <a16:creationId xmlns:a16="http://schemas.microsoft.com/office/drawing/2014/main" id="{50110F90-E249-E217-4E4E-2F7832363152}"/>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85" name="Chevron 477">
                  <a:extLst>
                    <a:ext uri="{FF2B5EF4-FFF2-40B4-BE49-F238E27FC236}">
                      <a16:creationId xmlns:a16="http://schemas.microsoft.com/office/drawing/2014/main" id="{66C0636C-7528-193F-94BC-0727F48A0B51}"/>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482" name="TextBox 481">
                <a:extLst>
                  <a:ext uri="{FF2B5EF4-FFF2-40B4-BE49-F238E27FC236}">
                    <a16:creationId xmlns:a16="http://schemas.microsoft.com/office/drawing/2014/main" id="{0E95B726-FBBB-A494-960C-2226C8D338E4}"/>
                  </a:ext>
                </a:extLst>
              </p:cNvPr>
              <p:cNvSpPr txBox="1"/>
              <p:nvPr/>
            </p:nvSpPr>
            <p:spPr>
              <a:xfrm>
                <a:off x="913859" y="4380737"/>
                <a:ext cx="1221885" cy="276999"/>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Runs correct_ocr_numeric_substitutions to fix OCR typos</a:t>
                </a:r>
                <a:endParaRPr kumimoji="0" lang="en-US"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483" name="Rectangle 482">
                <a:extLst>
                  <a:ext uri="{FF2B5EF4-FFF2-40B4-BE49-F238E27FC236}">
                    <a16:creationId xmlns:a16="http://schemas.microsoft.com/office/drawing/2014/main" id="{D9211AAE-801A-4457-79F8-6EE1E89F2BDC}"/>
                  </a:ext>
                </a:extLst>
              </p:cNvPr>
              <p:cNvSpPr/>
              <p:nvPr/>
            </p:nvSpPr>
            <p:spPr>
              <a:xfrm>
                <a:off x="922444" y="4078413"/>
                <a:ext cx="1146440"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cs typeface="+mn-cs"/>
                  </a:rPr>
                  <a:t>Numeric Correction</a:t>
                </a:r>
              </a:p>
            </p:txBody>
          </p:sp>
        </p:grpSp>
      </p:grpSp>
      <p:grpSp>
        <p:nvGrpSpPr>
          <p:cNvPr id="505" name="Group 504">
            <a:extLst>
              <a:ext uri="{FF2B5EF4-FFF2-40B4-BE49-F238E27FC236}">
                <a16:creationId xmlns:a16="http://schemas.microsoft.com/office/drawing/2014/main" id="{0BCC530B-C40F-74B4-678E-3DE1B53A436D}"/>
              </a:ext>
            </a:extLst>
          </p:cNvPr>
          <p:cNvGrpSpPr/>
          <p:nvPr/>
        </p:nvGrpSpPr>
        <p:grpSpPr>
          <a:xfrm>
            <a:off x="6315772" y="2632037"/>
            <a:ext cx="1495691" cy="2312496"/>
            <a:chOff x="2411307" y="2633042"/>
            <a:chExt cx="1495691" cy="2312496"/>
          </a:xfrm>
        </p:grpSpPr>
        <p:cxnSp>
          <p:nvCxnSpPr>
            <p:cNvPr id="506" name="Straight Connector 505">
              <a:extLst>
                <a:ext uri="{FF2B5EF4-FFF2-40B4-BE49-F238E27FC236}">
                  <a16:creationId xmlns:a16="http://schemas.microsoft.com/office/drawing/2014/main" id="{6FF189CD-F430-FC8C-758A-684611A84E81}"/>
                </a:ext>
              </a:extLst>
            </p:cNvPr>
            <p:cNvCxnSpPr>
              <a:cxnSpLocks/>
            </p:cNvCxnSpPr>
            <p:nvPr/>
          </p:nvCxnSpPr>
          <p:spPr>
            <a:xfrm>
              <a:off x="2462852" y="2633042"/>
              <a:ext cx="0" cy="2232000"/>
            </a:xfrm>
            <a:prstGeom prst="line">
              <a:avLst/>
            </a:prstGeom>
            <a:noFill/>
            <a:ln w="101600" cap="flat" cmpd="sng" algn="ctr">
              <a:solidFill>
                <a:sysClr val="window" lastClr="FFFFFF">
                  <a:lumMod val="85000"/>
                </a:sysClr>
              </a:solidFill>
              <a:prstDash val="solid"/>
            </a:ln>
            <a:effectLst/>
          </p:spPr>
        </p:cxnSp>
        <p:grpSp>
          <p:nvGrpSpPr>
            <p:cNvPr id="507" name="Group 506">
              <a:extLst>
                <a:ext uri="{FF2B5EF4-FFF2-40B4-BE49-F238E27FC236}">
                  <a16:creationId xmlns:a16="http://schemas.microsoft.com/office/drawing/2014/main" id="{E7785615-A7EC-118B-E0D5-DC29DE4B350E}"/>
                </a:ext>
              </a:extLst>
            </p:cNvPr>
            <p:cNvGrpSpPr/>
            <p:nvPr/>
          </p:nvGrpSpPr>
          <p:grpSpPr>
            <a:xfrm>
              <a:off x="2411307" y="2634309"/>
              <a:ext cx="1495691" cy="2311229"/>
              <a:chOff x="740419" y="2780043"/>
              <a:chExt cx="1495691" cy="2311229"/>
            </a:xfrm>
          </p:grpSpPr>
          <p:cxnSp>
            <p:nvCxnSpPr>
              <p:cNvPr id="508" name="Straight Connector 507">
                <a:extLst>
                  <a:ext uri="{FF2B5EF4-FFF2-40B4-BE49-F238E27FC236}">
                    <a16:creationId xmlns:a16="http://schemas.microsoft.com/office/drawing/2014/main" id="{C43A7907-B944-6B18-3564-EE8FF876A477}"/>
                  </a:ext>
                </a:extLst>
              </p:cNvPr>
              <p:cNvCxnSpPr>
                <a:cxnSpLocks/>
              </p:cNvCxnSpPr>
              <p:nvPr/>
            </p:nvCxnSpPr>
            <p:spPr>
              <a:xfrm>
                <a:off x="918929" y="5086611"/>
                <a:ext cx="1073899" cy="1765"/>
              </a:xfrm>
              <a:prstGeom prst="line">
                <a:avLst/>
              </a:prstGeom>
              <a:noFill/>
              <a:ln w="101600" cap="flat" cmpd="sng" algn="ctr">
                <a:solidFill>
                  <a:sysClr val="window" lastClr="FFFFFF">
                    <a:lumMod val="85000"/>
                  </a:sysClr>
                </a:solidFill>
                <a:prstDash val="solid"/>
              </a:ln>
              <a:effectLst/>
            </p:spPr>
          </p:cxnSp>
          <p:sp>
            <p:nvSpPr>
              <p:cNvPr id="509" name="Arc 508">
                <a:extLst>
                  <a:ext uri="{FF2B5EF4-FFF2-40B4-BE49-F238E27FC236}">
                    <a16:creationId xmlns:a16="http://schemas.microsoft.com/office/drawing/2014/main" id="{5BAF9B97-8D06-BC0D-3DEB-2243ED844BF6}"/>
                  </a:ext>
                </a:extLst>
              </p:cNvPr>
              <p:cNvSpPr/>
              <p:nvPr/>
            </p:nvSpPr>
            <p:spPr>
              <a:xfrm rot="5400000">
                <a:off x="1806915" y="4696888"/>
                <a:ext cx="371824" cy="404801"/>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510" name="Straight Connector 509">
                <a:extLst>
                  <a:ext uri="{FF2B5EF4-FFF2-40B4-BE49-F238E27FC236}">
                    <a16:creationId xmlns:a16="http://schemas.microsoft.com/office/drawing/2014/main" id="{0D301281-C970-1D8D-3E7E-F6E60F7BF860}"/>
                  </a:ext>
                </a:extLst>
              </p:cNvPr>
              <p:cNvCxnSpPr>
                <a:cxnSpLocks/>
              </p:cNvCxnSpPr>
              <p:nvPr/>
            </p:nvCxnSpPr>
            <p:spPr>
              <a:xfrm>
                <a:off x="2191695" y="2780043"/>
                <a:ext cx="6220" cy="2112579"/>
              </a:xfrm>
              <a:prstGeom prst="line">
                <a:avLst/>
              </a:prstGeom>
              <a:noFill/>
              <a:ln w="101600" cap="flat" cmpd="sng" algn="ctr">
                <a:solidFill>
                  <a:sysClr val="window" lastClr="FFFFFF">
                    <a:lumMod val="85000"/>
                  </a:sysClr>
                </a:solidFill>
                <a:prstDash val="solid"/>
              </a:ln>
              <a:effectLst/>
            </p:spPr>
          </p:cxnSp>
          <p:sp>
            <p:nvSpPr>
              <p:cNvPr id="511" name="Arc 510">
                <a:extLst>
                  <a:ext uri="{FF2B5EF4-FFF2-40B4-BE49-F238E27FC236}">
                    <a16:creationId xmlns:a16="http://schemas.microsoft.com/office/drawing/2014/main" id="{DBDBB1BE-E0CB-7913-02CF-788C66BF152B}"/>
                  </a:ext>
                </a:extLst>
              </p:cNvPr>
              <p:cNvSpPr/>
              <p:nvPr/>
            </p:nvSpPr>
            <p:spPr>
              <a:xfrm rot="10800000">
                <a:off x="774672" y="4719448"/>
                <a:ext cx="404801"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64" name="Group 63">
                <a:extLst>
                  <a:ext uri="{FF2B5EF4-FFF2-40B4-BE49-F238E27FC236}">
                    <a16:creationId xmlns:a16="http://schemas.microsoft.com/office/drawing/2014/main" id="{31A715B0-726E-A929-3225-A4ED754D01A4}"/>
                  </a:ext>
                </a:extLst>
              </p:cNvPr>
              <p:cNvGrpSpPr/>
              <p:nvPr/>
            </p:nvGrpSpPr>
            <p:grpSpPr>
              <a:xfrm>
                <a:off x="2142368" y="4319980"/>
                <a:ext cx="93742" cy="95618"/>
                <a:chOff x="7331909" y="3522364"/>
                <a:chExt cx="99974" cy="108628"/>
              </a:xfrm>
            </p:grpSpPr>
            <p:sp>
              <p:nvSpPr>
                <p:cNvPr id="78" name="Chevron 479">
                  <a:extLst>
                    <a:ext uri="{FF2B5EF4-FFF2-40B4-BE49-F238E27FC236}">
                      <a16:creationId xmlns:a16="http://schemas.microsoft.com/office/drawing/2014/main" id="{43FBFBC7-CDF5-EFC0-0281-4A25506299E2}"/>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79" name="Chevron 480">
                  <a:extLst>
                    <a:ext uri="{FF2B5EF4-FFF2-40B4-BE49-F238E27FC236}">
                      <a16:creationId xmlns:a16="http://schemas.microsoft.com/office/drawing/2014/main" id="{911FC435-ECFB-E110-B666-370CAB685732}"/>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65" name="TextBox 64">
                <a:extLst>
                  <a:ext uri="{FF2B5EF4-FFF2-40B4-BE49-F238E27FC236}">
                    <a16:creationId xmlns:a16="http://schemas.microsoft.com/office/drawing/2014/main" id="{40C3CCA6-B5C0-4C50-07CC-315A0FAF7240}"/>
                  </a:ext>
                </a:extLst>
              </p:cNvPr>
              <p:cNvSpPr txBox="1"/>
              <p:nvPr/>
            </p:nvSpPr>
            <p:spPr>
              <a:xfrm>
                <a:off x="907741" y="3432036"/>
                <a:ext cx="1220410" cy="1523494"/>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RelationshipService logs containment, visual grouping, parent-child hierarchies, and proximity grids</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r>
              </a:p>
              <a:p>
                <a:pPr marL="0" marR="0" lvl="0" indent="0" algn="l" defTabSz="914400" rtl="0" eaLnBrk="1" fontAlgn="auto" latinLnBrk="0" hangingPunct="1">
                  <a:lnSpc>
                    <a:spcPct val="100000"/>
                  </a:lnSpc>
                  <a:spcBef>
                    <a:spcPts val="0"/>
                  </a:spcBef>
                  <a:spcAft>
                    <a:spcPts val="0"/>
                  </a:spcAft>
                  <a:buClrTx/>
                  <a:buSzPct val="100000"/>
                  <a:buFontTx/>
                  <a:buNone/>
                  <a:tabLst/>
                  <a:defRPr/>
                </a:pPr>
                <a:endParaRPr kumimoji="0" lang="en-IN"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71" name="Rectangle 70">
                <a:extLst>
                  <a:ext uri="{FF2B5EF4-FFF2-40B4-BE49-F238E27FC236}">
                    <a16:creationId xmlns:a16="http://schemas.microsoft.com/office/drawing/2014/main" id="{25CBED4C-B2B7-6F36-C74B-BBF70BB01F76}"/>
                  </a:ext>
                </a:extLst>
              </p:cNvPr>
              <p:cNvSpPr/>
              <p:nvPr/>
            </p:nvSpPr>
            <p:spPr>
              <a:xfrm>
                <a:off x="895773" y="3055766"/>
                <a:ext cx="1146440"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cs typeface="+mn-cs"/>
                  </a:rPr>
                  <a:t>Spatial Graphs</a:t>
                </a:r>
              </a:p>
            </p:txBody>
          </p:sp>
          <p:grpSp>
            <p:nvGrpSpPr>
              <p:cNvPr id="72" name="Group 71">
                <a:extLst>
                  <a:ext uri="{FF2B5EF4-FFF2-40B4-BE49-F238E27FC236}">
                    <a16:creationId xmlns:a16="http://schemas.microsoft.com/office/drawing/2014/main" id="{8607AFB9-080B-20AF-8A02-E759E833B717}"/>
                  </a:ext>
                </a:extLst>
              </p:cNvPr>
              <p:cNvGrpSpPr/>
              <p:nvPr/>
            </p:nvGrpSpPr>
            <p:grpSpPr>
              <a:xfrm>
                <a:off x="740419" y="3800698"/>
                <a:ext cx="93742" cy="95618"/>
                <a:chOff x="9181659" y="3419406"/>
                <a:chExt cx="99974" cy="108628"/>
              </a:xfrm>
            </p:grpSpPr>
            <p:sp>
              <p:nvSpPr>
                <p:cNvPr id="76" name="Chevron 476">
                  <a:extLst>
                    <a:ext uri="{FF2B5EF4-FFF2-40B4-BE49-F238E27FC236}">
                      <a16:creationId xmlns:a16="http://schemas.microsoft.com/office/drawing/2014/main" id="{C968F406-57BA-58AA-3C28-F288C11A7F34}"/>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77" name="Chevron 477">
                  <a:extLst>
                    <a:ext uri="{FF2B5EF4-FFF2-40B4-BE49-F238E27FC236}">
                      <a16:creationId xmlns:a16="http://schemas.microsoft.com/office/drawing/2014/main" id="{6B661B1A-2C10-C206-E55F-E34CE029B6A0}"/>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grpSp>
      <p:grpSp>
        <p:nvGrpSpPr>
          <p:cNvPr id="80" name="Group 79">
            <a:extLst>
              <a:ext uri="{FF2B5EF4-FFF2-40B4-BE49-F238E27FC236}">
                <a16:creationId xmlns:a16="http://schemas.microsoft.com/office/drawing/2014/main" id="{64433253-D834-2982-0963-9DF59F500EE4}"/>
              </a:ext>
            </a:extLst>
          </p:cNvPr>
          <p:cNvGrpSpPr/>
          <p:nvPr/>
        </p:nvGrpSpPr>
        <p:grpSpPr>
          <a:xfrm>
            <a:off x="8381792" y="2642468"/>
            <a:ext cx="1495691" cy="2312496"/>
            <a:chOff x="2411307" y="2633042"/>
            <a:chExt cx="1495691" cy="2312496"/>
          </a:xfrm>
        </p:grpSpPr>
        <p:cxnSp>
          <p:nvCxnSpPr>
            <p:cNvPr id="81" name="Straight Connector 80">
              <a:extLst>
                <a:ext uri="{FF2B5EF4-FFF2-40B4-BE49-F238E27FC236}">
                  <a16:creationId xmlns:a16="http://schemas.microsoft.com/office/drawing/2014/main" id="{ECF3F119-67B6-88E9-BC28-3B8E90B6F37E}"/>
                </a:ext>
              </a:extLst>
            </p:cNvPr>
            <p:cNvCxnSpPr>
              <a:cxnSpLocks/>
            </p:cNvCxnSpPr>
            <p:nvPr/>
          </p:nvCxnSpPr>
          <p:spPr>
            <a:xfrm>
              <a:off x="2462852" y="2633042"/>
              <a:ext cx="0" cy="2232000"/>
            </a:xfrm>
            <a:prstGeom prst="line">
              <a:avLst/>
            </a:prstGeom>
            <a:noFill/>
            <a:ln w="101600" cap="flat" cmpd="sng" algn="ctr">
              <a:solidFill>
                <a:sysClr val="window" lastClr="FFFFFF">
                  <a:lumMod val="85000"/>
                </a:sysClr>
              </a:solidFill>
              <a:prstDash val="solid"/>
            </a:ln>
            <a:effectLst/>
          </p:spPr>
        </p:cxnSp>
        <p:grpSp>
          <p:nvGrpSpPr>
            <p:cNvPr id="82" name="Group 81">
              <a:extLst>
                <a:ext uri="{FF2B5EF4-FFF2-40B4-BE49-F238E27FC236}">
                  <a16:creationId xmlns:a16="http://schemas.microsoft.com/office/drawing/2014/main" id="{711A0319-0D5B-427E-303A-F9BB13EC8807}"/>
                </a:ext>
              </a:extLst>
            </p:cNvPr>
            <p:cNvGrpSpPr/>
            <p:nvPr/>
          </p:nvGrpSpPr>
          <p:grpSpPr>
            <a:xfrm>
              <a:off x="2411307" y="2634309"/>
              <a:ext cx="1495691" cy="2311229"/>
              <a:chOff x="740419" y="2780043"/>
              <a:chExt cx="1495691" cy="2311229"/>
            </a:xfrm>
          </p:grpSpPr>
          <p:cxnSp>
            <p:nvCxnSpPr>
              <p:cNvPr id="83" name="Straight Connector 82">
                <a:extLst>
                  <a:ext uri="{FF2B5EF4-FFF2-40B4-BE49-F238E27FC236}">
                    <a16:creationId xmlns:a16="http://schemas.microsoft.com/office/drawing/2014/main" id="{C5D9C458-3B7F-74ED-E8DC-AB54E0092A02}"/>
                  </a:ext>
                </a:extLst>
              </p:cNvPr>
              <p:cNvCxnSpPr>
                <a:cxnSpLocks/>
              </p:cNvCxnSpPr>
              <p:nvPr/>
            </p:nvCxnSpPr>
            <p:spPr>
              <a:xfrm>
                <a:off x="918929" y="5086611"/>
                <a:ext cx="1073899" cy="1765"/>
              </a:xfrm>
              <a:prstGeom prst="line">
                <a:avLst/>
              </a:prstGeom>
              <a:noFill/>
              <a:ln w="101600" cap="flat" cmpd="sng" algn="ctr">
                <a:solidFill>
                  <a:sysClr val="window" lastClr="FFFFFF">
                    <a:lumMod val="85000"/>
                  </a:sysClr>
                </a:solidFill>
                <a:prstDash val="solid"/>
              </a:ln>
              <a:effectLst/>
            </p:spPr>
          </p:cxnSp>
          <p:sp>
            <p:nvSpPr>
              <p:cNvPr id="84" name="Arc 83">
                <a:extLst>
                  <a:ext uri="{FF2B5EF4-FFF2-40B4-BE49-F238E27FC236}">
                    <a16:creationId xmlns:a16="http://schemas.microsoft.com/office/drawing/2014/main" id="{1769C229-7B26-140B-4A3E-EF031803551F}"/>
                  </a:ext>
                </a:extLst>
              </p:cNvPr>
              <p:cNvSpPr/>
              <p:nvPr/>
            </p:nvSpPr>
            <p:spPr>
              <a:xfrm rot="5400000">
                <a:off x="1806915" y="4696888"/>
                <a:ext cx="371824" cy="404801"/>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89" name="Straight Connector 88">
                <a:extLst>
                  <a:ext uri="{FF2B5EF4-FFF2-40B4-BE49-F238E27FC236}">
                    <a16:creationId xmlns:a16="http://schemas.microsoft.com/office/drawing/2014/main" id="{A89ED92D-F574-7A3F-1E9E-11CC5702AA93}"/>
                  </a:ext>
                </a:extLst>
              </p:cNvPr>
              <p:cNvCxnSpPr>
                <a:cxnSpLocks/>
              </p:cNvCxnSpPr>
              <p:nvPr/>
            </p:nvCxnSpPr>
            <p:spPr>
              <a:xfrm>
                <a:off x="2191695" y="2780043"/>
                <a:ext cx="6220" cy="2112579"/>
              </a:xfrm>
              <a:prstGeom prst="line">
                <a:avLst/>
              </a:prstGeom>
              <a:noFill/>
              <a:ln w="101600" cap="flat" cmpd="sng" algn="ctr">
                <a:solidFill>
                  <a:sysClr val="window" lastClr="FFFFFF">
                    <a:lumMod val="85000"/>
                  </a:sysClr>
                </a:solidFill>
                <a:prstDash val="solid"/>
              </a:ln>
              <a:effectLst/>
            </p:spPr>
          </p:cxnSp>
          <p:sp>
            <p:nvSpPr>
              <p:cNvPr id="90" name="Arc 89">
                <a:extLst>
                  <a:ext uri="{FF2B5EF4-FFF2-40B4-BE49-F238E27FC236}">
                    <a16:creationId xmlns:a16="http://schemas.microsoft.com/office/drawing/2014/main" id="{8B264D98-6B4F-C780-8B4E-D5F2ECA17C57}"/>
                  </a:ext>
                </a:extLst>
              </p:cNvPr>
              <p:cNvSpPr/>
              <p:nvPr/>
            </p:nvSpPr>
            <p:spPr>
              <a:xfrm rot="10800000">
                <a:off x="774672" y="4719448"/>
                <a:ext cx="404801"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91" name="Group 90">
                <a:extLst>
                  <a:ext uri="{FF2B5EF4-FFF2-40B4-BE49-F238E27FC236}">
                    <a16:creationId xmlns:a16="http://schemas.microsoft.com/office/drawing/2014/main" id="{F9F01C41-C791-4073-A647-93C658920D41}"/>
                  </a:ext>
                </a:extLst>
              </p:cNvPr>
              <p:cNvGrpSpPr/>
              <p:nvPr/>
            </p:nvGrpSpPr>
            <p:grpSpPr>
              <a:xfrm>
                <a:off x="2142368" y="4319980"/>
                <a:ext cx="93742" cy="95618"/>
                <a:chOff x="7331909" y="3522364"/>
                <a:chExt cx="99974" cy="108628"/>
              </a:xfrm>
            </p:grpSpPr>
            <p:sp>
              <p:nvSpPr>
                <p:cNvPr id="100" name="Chevron 479">
                  <a:extLst>
                    <a:ext uri="{FF2B5EF4-FFF2-40B4-BE49-F238E27FC236}">
                      <a16:creationId xmlns:a16="http://schemas.microsoft.com/office/drawing/2014/main" id="{742BC339-FEEE-7413-C457-8AE0ADF9B676}"/>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101" name="Chevron 480">
                  <a:extLst>
                    <a:ext uri="{FF2B5EF4-FFF2-40B4-BE49-F238E27FC236}">
                      <a16:creationId xmlns:a16="http://schemas.microsoft.com/office/drawing/2014/main" id="{DBEB0AB2-965A-624A-E727-6342E0B96334}"/>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92" name="TextBox 91">
                <a:extLst>
                  <a:ext uri="{FF2B5EF4-FFF2-40B4-BE49-F238E27FC236}">
                    <a16:creationId xmlns:a16="http://schemas.microsoft.com/office/drawing/2014/main" id="{94EED160-58E8-28EE-4F97-E7C927338F2B}"/>
                  </a:ext>
                </a:extLst>
              </p:cNvPr>
              <p:cNvSpPr txBox="1"/>
              <p:nvPr/>
            </p:nvSpPr>
            <p:spPr>
              <a:xfrm>
                <a:off x="938850" y="3494830"/>
                <a:ext cx="1115058" cy="553998"/>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Stock check and</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interact with procurement teams</a:t>
                </a:r>
                <a:endParaRPr kumimoji="0" lang="en-US"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93" name="Rectangle 92">
                <a:extLst>
                  <a:ext uri="{FF2B5EF4-FFF2-40B4-BE49-F238E27FC236}">
                    <a16:creationId xmlns:a16="http://schemas.microsoft.com/office/drawing/2014/main" id="{4AE609A7-4F99-0746-DEA7-6DE27EF6A2DB}"/>
                  </a:ext>
                </a:extLst>
              </p:cNvPr>
              <p:cNvSpPr/>
              <p:nvPr/>
            </p:nvSpPr>
            <p:spPr>
              <a:xfrm>
                <a:off x="923159" y="3077133"/>
                <a:ext cx="1146440"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cs typeface="+mn-cs"/>
                  </a:rPr>
                  <a:t>Mermaid Synthesis</a:t>
                </a:r>
              </a:p>
            </p:txBody>
          </p:sp>
          <p:grpSp>
            <p:nvGrpSpPr>
              <p:cNvPr id="94" name="Group 93">
                <a:extLst>
                  <a:ext uri="{FF2B5EF4-FFF2-40B4-BE49-F238E27FC236}">
                    <a16:creationId xmlns:a16="http://schemas.microsoft.com/office/drawing/2014/main" id="{AC78A7FA-C54B-EC46-91F1-FD4049A4A31C}"/>
                  </a:ext>
                </a:extLst>
              </p:cNvPr>
              <p:cNvGrpSpPr/>
              <p:nvPr/>
            </p:nvGrpSpPr>
            <p:grpSpPr>
              <a:xfrm>
                <a:off x="740419" y="3800698"/>
                <a:ext cx="93742" cy="95618"/>
                <a:chOff x="9181659" y="3419406"/>
                <a:chExt cx="99974" cy="108628"/>
              </a:xfrm>
            </p:grpSpPr>
            <p:sp>
              <p:nvSpPr>
                <p:cNvPr id="97" name="Chevron 476">
                  <a:extLst>
                    <a:ext uri="{FF2B5EF4-FFF2-40B4-BE49-F238E27FC236}">
                      <a16:creationId xmlns:a16="http://schemas.microsoft.com/office/drawing/2014/main" id="{9231A779-2FED-DE6B-5994-50B39D49AB69}"/>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99" name="Chevron 477">
                  <a:extLst>
                    <a:ext uri="{FF2B5EF4-FFF2-40B4-BE49-F238E27FC236}">
                      <a16:creationId xmlns:a16="http://schemas.microsoft.com/office/drawing/2014/main" id="{AF7E14BB-3E34-E099-97C2-53356876673D}"/>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grpSp>
      <p:grpSp>
        <p:nvGrpSpPr>
          <p:cNvPr id="102" name="Group 101">
            <a:extLst>
              <a:ext uri="{FF2B5EF4-FFF2-40B4-BE49-F238E27FC236}">
                <a16:creationId xmlns:a16="http://schemas.microsoft.com/office/drawing/2014/main" id="{75A72646-CC7E-A2CB-9FBE-D2654F8FDF1E}"/>
              </a:ext>
            </a:extLst>
          </p:cNvPr>
          <p:cNvGrpSpPr/>
          <p:nvPr/>
        </p:nvGrpSpPr>
        <p:grpSpPr>
          <a:xfrm>
            <a:off x="10346112" y="2567130"/>
            <a:ext cx="1495691" cy="2376545"/>
            <a:chOff x="2411307" y="2568993"/>
            <a:chExt cx="1495691" cy="2376545"/>
          </a:xfrm>
        </p:grpSpPr>
        <p:cxnSp>
          <p:nvCxnSpPr>
            <p:cNvPr id="103" name="Straight Connector 102">
              <a:extLst>
                <a:ext uri="{FF2B5EF4-FFF2-40B4-BE49-F238E27FC236}">
                  <a16:creationId xmlns:a16="http://schemas.microsoft.com/office/drawing/2014/main" id="{2AE2EFC7-8AB9-BBFA-0D89-F49940DCD817}"/>
                </a:ext>
              </a:extLst>
            </p:cNvPr>
            <p:cNvCxnSpPr>
              <a:cxnSpLocks/>
            </p:cNvCxnSpPr>
            <p:nvPr/>
          </p:nvCxnSpPr>
          <p:spPr>
            <a:xfrm>
              <a:off x="2462852" y="2633042"/>
              <a:ext cx="0" cy="2232000"/>
            </a:xfrm>
            <a:prstGeom prst="line">
              <a:avLst/>
            </a:prstGeom>
            <a:noFill/>
            <a:ln w="101600" cap="flat" cmpd="sng" algn="ctr">
              <a:solidFill>
                <a:sysClr val="window" lastClr="FFFFFF">
                  <a:lumMod val="85000"/>
                </a:sysClr>
              </a:solidFill>
              <a:prstDash val="solid"/>
            </a:ln>
            <a:effectLst/>
          </p:spPr>
        </p:cxnSp>
        <p:grpSp>
          <p:nvGrpSpPr>
            <p:cNvPr id="104" name="Group 103">
              <a:extLst>
                <a:ext uri="{FF2B5EF4-FFF2-40B4-BE49-F238E27FC236}">
                  <a16:creationId xmlns:a16="http://schemas.microsoft.com/office/drawing/2014/main" id="{E0C4E510-BA47-373E-236A-113E63E89288}"/>
                </a:ext>
              </a:extLst>
            </p:cNvPr>
            <p:cNvGrpSpPr/>
            <p:nvPr/>
          </p:nvGrpSpPr>
          <p:grpSpPr>
            <a:xfrm>
              <a:off x="2411307" y="2568993"/>
              <a:ext cx="1495691" cy="2376545"/>
              <a:chOff x="740419" y="2714727"/>
              <a:chExt cx="1495691" cy="2376545"/>
            </a:xfrm>
          </p:grpSpPr>
          <p:cxnSp>
            <p:nvCxnSpPr>
              <p:cNvPr id="105" name="Straight Connector 104">
                <a:extLst>
                  <a:ext uri="{FF2B5EF4-FFF2-40B4-BE49-F238E27FC236}">
                    <a16:creationId xmlns:a16="http://schemas.microsoft.com/office/drawing/2014/main" id="{89D140EC-77FB-7BC8-59C5-7D4EFD359C55}"/>
                  </a:ext>
                </a:extLst>
              </p:cNvPr>
              <p:cNvCxnSpPr>
                <a:cxnSpLocks/>
              </p:cNvCxnSpPr>
              <p:nvPr/>
            </p:nvCxnSpPr>
            <p:spPr>
              <a:xfrm>
                <a:off x="918929" y="5086611"/>
                <a:ext cx="1073899" cy="1765"/>
              </a:xfrm>
              <a:prstGeom prst="line">
                <a:avLst/>
              </a:prstGeom>
              <a:noFill/>
              <a:ln w="101600" cap="flat" cmpd="sng" algn="ctr">
                <a:solidFill>
                  <a:sysClr val="window" lastClr="FFFFFF">
                    <a:lumMod val="85000"/>
                  </a:sysClr>
                </a:solidFill>
                <a:prstDash val="solid"/>
              </a:ln>
              <a:effectLst/>
            </p:spPr>
          </p:cxnSp>
          <p:sp>
            <p:nvSpPr>
              <p:cNvPr id="106" name="Arc 105">
                <a:extLst>
                  <a:ext uri="{FF2B5EF4-FFF2-40B4-BE49-F238E27FC236}">
                    <a16:creationId xmlns:a16="http://schemas.microsoft.com/office/drawing/2014/main" id="{AA73DCC9-255C-6AE9-BC02-E685023B1982}"/>
                  </a:ext>
                </a:extLst>
              </p:cNvPr>
              <p:cNvSpPr/>
              <p:nvPr/>
            </p:nvSpPr>
            <p:spPr>
              <a:xfrm rot="5400000">
                <a:off x="1806915" y="4696888"/>
                <a:ext cx="371824" cy="404801"/>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107" name="Straight Connector 106">
                <a:extLst>
                  <a:ext uri="{FF2B5EF4-FFF2-40B4-BE49-F238E27FC236}">
                    <a16:creationId xmlns:a16="http://schemas.microsoft.com/office/drawing/2014/main" id="{58B96BBD-2A04-7418-6B3E-D76047911C4D}"/>
                  </a:ext>
                </a:extLst>
              </p:cNvPr>
              <p:cNvCxnSpPr>
                <a:cxnSpLocks/>
              </p:cNvCxnSpPr>
              <p:nvPr/>
            </p:nvCxnSpPr>
            <p:spPr>
              <a:xfrm>
                <a:off x="2191695" y="2714727"/>
                <a:ext cx="0" cy="2176125"/>
              </a:xfrm>
              <a:prstGeom prst="line">
                <a:avLst/>
              </a:prstGeom>
              <a:noFill/>
              <a:ln w="101600" cap="flat" cmpd="sng" algn="ctr">
                <a:solidFill>
                  <a:sysClr val="window" lastClr="FFFFFF">
                    <a:lumMod val="85000"/>
                  </a:sysClr>
                </a:solidFill>
                <a:prstDash val="solid"/>
              </a:ln>
              <a:effectLst/>
            </p:spPr>
          </p:cxnSp>
          <p:sp>
            <p:nvSpPr>
              <p:cNvPr id="110" name="Arc 109">
                <a:extLst>
                  <a:ext uri="{FF2B5EF4-FFF2-40B4-BE49-F238E27FC236}">
                    <a16:creationId xmlns:a16="http://schemas.microsoft.com/office/drawing/2014/main" id="{8B3E01D8-C5C7-3C0F-A7E9-EB7782124DFC}"/>
                  </a:ext>
                </a:extLst>
              </p:cNvPr>
              <p:cNvSpPr/>
              <p:nvPr/>
            </p:nvSpPr>
            <p:spPr>
              <a:xfrm rot="10800000">
                <a:off x="774672" y="4719448"/>
                <a:ext cx="404801"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111" name="Group 110">
                <a:extLst>
                  <a:ext uri="{FF2B5EF4-FFF2-40B4-BE49-F238E27FC236}">
                    <a16:creationId xmlns:a16="http://schemas.microsoft.com/office/drawing/2014/main" id="{B07971B5-F339-CB92-B6F3-C7B9CD14FAA6}"/>
                  </a:ext>
                </a:extLst>
              </p:cNvPr>
              <p:cNvGrpSpPr/>
              <p:nvPr/>
            </p:nvGrpSpPr>
            <p:grpSpPr>
              <a:xfrm>
                <a:off x="2142368" y="4319980"/>
                <a:ext cx="93742" cy="95618"/>
                <a:chOff x="7331909" y="3522364"/>
                <a:chExt cx="99974" cy="108628"/>
              </a:xfrm>
            </p:grpSpPr>
            <p:sp>
              <p:nvSpPr>
                <p:cNvPr id="119" name="Chevron 479">
                  <a:extLst>
                    <a:ext uri="{FF2B5EF4-FFF2-40B4-BE49-F238E27FC236}">
                      <a16:creationId xmlns:a16="http://schemas.microsoft.com/office/drawing/2014/main" id="{E4F0FF00-CF14-90E9-4132-E90C3209EE10}"/>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120" name="Chevron 480">
                  <a:extLst>
                    <a:ext uri="{FF2B5EF4-FFF2-40B4-BE49-F238E27FC236}">
                      <a16:creationId xmlns:a16="http://schemas.microsoft.com/office/drawing/2014/main" id="{BB308590-3824-D498-C569-2C4ABBA5D21C}"/>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112" name="TextBox 111">
                <a:extLst>
                  <a:ext uri="{FF2B5EF4-FFF2-40B4-BE49-F238E27FC236}">
                    <a16:creationId xmlns:a16="http://schemas.microsoft.com/office/drawing/2014/main" id="{9A1E961A-C347-352C-C5DB-45973327800F}"/>
                  </a:ext>
                </a:extLst>
              </p:cNvPr>
              <p:cNvSpPr txBox="1"/>
              <p:nvPr/>
            </p:nvSpPr>
            <p:spPr>
              <a:xfrm>
                <a:off x="904986" y="3510811"/>
                <a:ext cx="1220410" cy="83099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Allocate tasks to upcoming ingestion batches to processing thread based on per-hour basis and</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skill</a:t>
                </a:r>
                <a:endParaRPr kumimoji="0" lang="en-US"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endParaRPr>
              </a:p>
            </p:txBody>
          </p:sp>
          <p:sp>
            <p:nvSpPr>
              <p:cNvPr id="113" name="Rectangle 112">
                <a:extLst>
                  <a:ext uri="{FF2B5EF4-FFF2-40B4-BE49-F238E27FC236}">
                    <a16:creationId xmlns:a16="http://schemas.microsoft.com/office/drawing/2014/main" id="{093F6E20-AF63-C14E-7AF5-21AF87826428}"/>
                  </a:ext>
                </a:extLst>
              </p:cNvPr>
              <p:cNvSpPr/>
              <p:nvPr/>
            </p:nvSpPr>
            <p:spPr>
              <a:xfrm>
                <a:off x="904986" y="3064238"/>
                <a:ext cx="1146440"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cs typeface="+mn-cs"/>
                  </a:rPr>
                  <a:t>Visual Rendering &amp; Validation</a:t>
                </a:r>
              </a:p>
            </p:txBody>
          </p:sp>
          <p:grpSp>
            <p:nvGrpSpPr>
              <p:cNvPr id="114" name="Group 113">
                <a:extLst>
                  <a:ext uri="{FF2B5EF4-FFF2-40B4-BE49-F238E27FC236}">
                    <a16:creationId xmlns:a16="http://schemas.microsoft.com/office/drawing/2014/main" id="{3CD8D913-16DF-8212-2829-21A43493F2F1}"/>
                  </a:ext>
                </a:extLst>
              </p:cNvPr>
              <p:cNvGrpSpPr/>
              <p:nvPr/>
            </p:nvGrpSpPr>
            <p:grpSpPr>
              <a:xfrm>
                <a:off x="740419" y="3800698"/>
                <a:ext cx="93742" cy="95618"/>
                <a:chOff x="9181659" y="3419406"/>
                <a:chExt cx="99974" cy="108628"/>
              </a:xfrm>
            </p:grpSpPr>
            <p:sp>
              <p:nvSpPr>
                <p:cNvPr id="117" name="Chevron 476">
                  <a:extLst>
                    <a:ext uri="{FF2B5EF4-FFF2-40B4-BE49-F238E27FC236}">
                      <a16:creationId xmlns:a16="http://schemas.microsoft.com/office/drawing/2014/main" id="{57666F90-0C82-1E83-7068-55C569C073BB}"/>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118" name="Chevron 477">
                  <a:extLst>
                    <a:ext uri="{FF2B5EF4-FFF2-40B4-BE49-F238E27FC236}">
                      <a16:creationId xmlns:a16="http://schemas.microsoft.com/office/drawing/2014/main" id="{63F1DD5B-B30E-7042-6005-B32961E4404C}"/>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grpSp>
      <p:sp>
        <p:nvSpPr>
          <p:cNvPr id="122" name="TextBox 121">
            <a:extLst>
              <a:ext uri="{FF2B5EF4-FFF2-40B4-BE49-F238E27FC236}">
                <a16:creationId xmlns:a16="http://schemas.microsoft.com/office/drawing/2014/main" id="{B71545AF-6D64-13EE-40C0-645D5084F9BC}"/>
              </a:ext>
            </a:extLst>
          </p:cNvPr>
          <p:cNvSpPr txBox="1"/>
          <p:nvPr/>
        </p:nvSpPr>
        <p:spPr>
          <a:xfrm>
            <a:off x="446761" y="5034511"/>
            <a:ext cx="1713434" cy="203133"/>
          </a:xfrm>
          <a:prstGeom prst="rect">
            <a:avLst/>
          </a:prstGeom>
          <a:noFill/>
        </p:spPr>
        <p:txBody>
          <a:bodyPr wrap="square">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800" b="1" i="0" u="none" strike="noStrike" kern="0" cap="none" spc="0" normalizeH="0" baseline="0" noProof="0">
                <a:ln>
                  <a:noFill/>
                </a:ln>
                <a:solidFill>
                  <a:srgbClr val="333333"/>
                </a:solidFill>
                <a:effectLst/>
                <a:uLnTx/>
                <a:uFillTx/>
                <a:latin typeface="Verdana" panose="020B0604030504040204" pitchFamily="34" charset="0"/>
                <a:ea typeface="Verdana" panose="020B0604030504040204" pitchFamily="34" charset="0"/>
                <a:cs typeface="Open Sans" panose="020B0606030504020204" pitchFamily="34" charset="0"/>
              </a:rPr>
              <a:t>Ingestion Operator</a:t>
            </a:r>
            <a:endParaRPr kumimoji="0" lang="en-US" sz="800" b="1" i="0" u="none" strike="noStrike" kern="0" cap="none" spc="0" normalizeH="0" baseline="0" noProof="0">
              <a:ln>
                <a:noFill/>
              </a:ln>
              <a:solidFill>
                <a:srgbClr val="333333"/>
              </a:solidFill>
              <a:effectLst/>
              <a:uLnTx/>
              <a:uFillTx/>
              <a:latin typeface="Verdana" panose="020B0604030504040204" pitchFamily="34" charset="0"/>
              <a:ea typeface="Verdana" panose="020B0604030504040204" pitchFamily="34" charset="0"/>
              <a:cs typeface="Open Sans" panose="020B0606030504020204" pitchFamily="34" charset="0"/>
              <a:sym typeface="Arial"/>
            </a:endParaRPr>
          </a:p>
        </p:txBody>
      </p:sp>
      <p:sp>
        <p:nvSpPr>
          <p:cNvPr id="123" name="Rectangle 122">
            <a:extLst>
              <a:ext uri="{FF2B5EF4-FFF2-40B4-BE49-F238E27FC236}">
                <a16:creationId xmlns:a16="http://schemas.microsoft.com/office/drawing/2014/main" id="{19AC07E8-7044-8D4C-C544-7425C45DFC6D}"/>
              </a:ext>
            </a:extLst>
          </p:cNvPr>
          <p:cNvSpPr/>
          <p:nvPr/>
        </p:nvSpPr>
        <p:spPr>
          <a:xfrm>
            <a:off x="8334259" y="5042122"/>
            <a:ext cx="1606986" cy="203133"/>
          </a:xfrm>
          <a:prstGeom prst="rect">
            <a:avLst/>
          </a:prstGeom>
          <a:no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800" b="1" i="0" u="none" strike="noStrike" kern="0" cap="none" spc="0" normalizeH="0" baseline="0" noProof="0">
                <a:ln>
                  <a:noFill/>
                </a:ln>
                <a:solidFill>
                  <a:srgbClr val="0F9ED5"/>
                </a:solidFill>
                <a:effectLst/>
                <a:uLnTx/>
                <a:uFillTx/>
                <a:latin typeface="Verdana" panose="020B0604030504040204" pitchFamily="34" charset="0"/>
                <a:ea typeface="Verdana" panose="020B0604030504040204" pitchFamily="34" charset="0"/>
                <a:cs typeface="Open Sans" panose="020B0606030504020204" pitchFamily="34" charset="0"/>
                <a:sym typeface="Arial"/>
              </a:rPr>
              <a:t>Validation Auditor</a:t>
            </a:r>
          </a:p>
        </p:txBody>
      </p:sp>
      <p:pic>
        <p:nvPicPr>
          <p:cNvPr id="124" name="Graphic 123" descr="Bullseye with solid fill">
            <a:extLst>
              <a:ext uri="{FF2B5EF4-FFF2-40B4-BE49-F238E27FC236}">
                <a16:creationId xmlns:a16="http://schemas.microsoft.com/office/drawing/2014/main" id="{E48E1EC3-077D-27EB-4BB6-215919071D8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7969" y="5885672"/>
            <a:ext cx="573932" cy="573932"/>
          </a:xfrm>
          <a:prstGeom prst="rect">
            <a:avLst/>
          </a:prstGeom>
        </p:spPr>
      </p:pic>
      <p:grpSp>
        <p:nvGrpSpPr>
          <p:cNvPr id="125" name="Group 124">
            <a:extLst>
              <a:ext uri="{FF2B5EF4-FFF2-40B4-BE49-F238E27FC236}">
                <a16:creationId xmlns:a16="http://schemas.microsoft.com/office/drawing/2014/main" id="{735A3B86-52FE-E8DF-E46A-E7586275F27F}"/>
              </a:ext>
            </a:extLst>
          </p:cNvPr>
          <p:cNvGrpSpPr/>
          <p:nvPr/>
        </p:nvGrpSpPr>
        <p:grpSpPr>
          <a:xfrm>
            <a:off x="2029327" y="5883075"/>
            <a:ext cx="91440" cy="324000"/>
            <a:chOff x="1450297" y="4744720"/>
            <a:chExt cx="91440" cy="361244"/>
          </a:xfrm>
          <a:solidFill>
            <a:srgbClr val="34A853"/>
          </a:solidFill>
        </p:grpSpPr>
        <p:cxnSp>
          <p:nvCxnSpPr>
            <p:cNvPr id="126" name="Straight Connector 125">
              <a:extLst>
                <a:ext uri="{FF2B5EF4-FFF2-40B4-BE49-F238E27FC236}">
                  <a16:creationId xmlns:a16="http://schemas.microsoft.com/office/drawing/2014/main" id="{4B3D0E44-9AA6-F6F4-CA7F-2B0F85208118}"/>
                </a:ext>
              </a:extLst>
            </p:cNvPr>
            <p:cNvCxnSpPr/>
            <p:nvPr/>
          </p:nvCxnSpPr>
          <p:spPr>
            <a:xfrm>
              <a:off x="1496017" y="4744720"/>
              <a:ext cx="0" cy="325120"/>
            </a:xfrm>
            <a:prstGeom prst="line">
              <a:avLst/>
            </a:prstGeom>
            <a:grpFill/>
            <a:ln>
              <a:solidFill>
                <a:srgbClr val="34A853"/>
              </a:solidFill>
            </a:ln>
          </p:spPr>
          <p:style>
            <a:lnRef idx="3">
              <a:schemeClr val="accent5"/>
            </a:lnRef>
            <a:fillRef idx="0">
              <a:schemeClr val="accent5"/>
            </a:fillRef>
            <a:effectRef idx="2">
              <a:schemeClr val="accent5"/>
            </a:effectRef>
            <a:fontRef idx="minor">
              <a:schemeClr val="tx1"/>
            </a:fontRef>
          </p:style>
        </p:cxnSp>
        <p:sp>
          <p:nvSpPr>
            <p:cNvPr id="127" name="Oval 126">
              <a:extLst>
                <a:ext uri="{FF2B5EF4-FFF2-40B4-BE49-F238E27FC236}">
                  <a16:creationId xmlns:a16="http://schemas.microsoft.com/office/drawing/2014/main" id="{8A2AF0E3-545A-6466-EE3D-286533268332}"/>
                </a:ext>
              </a:extLst>
            </p:cNvPr>
            <p:cNvSpPr/>
            <p:nvPr/>
          </p:nvSpPr>
          <p:spPr>
            <a:xfrm>
              <a:off x="1450297" y="4744720"/>
              <a:ext cx="91440" cy="91440"/>
            </a:xfrm>
            <a:prstGeom prst="ellipse">
              <a:avLst/>
            </a:prstGeom>
            <a:grpFill/>
            <a:ln>
              <a:solidFill>
                <a:srgbClr val="34A8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28" name="Oval 127">
              <a:extLst>
                <a:ext uri="{FF2B5EF4-FFF2-40B4-BE49-F238E27FC236}">
                  <a16:creationId xmlns:a16="http://schemas.microsoft.com/office/drawing/2014/main" id="{76A1E2F4-0071-80EE-6913-339C9F6A1845}"/>
                </a:ext>
              </a:extLst>
            </p:cNvPr>
            <p:cNvSpPr/>
            <p:nvPr/>
          </p:nvSpPr>
          <p:spPr>
            <a:xfrm>
              <a:off x="1450297" y="5014524"/>
              <a:ext cx="91440" cy="91440"/>
            </a:xfrm>
            <a:prstGeom prst="ellipse">
              <a:avLst/>
            </a:prstGeom>
            <a:grpFill/>
            <a:ln>
              <a:solidFill>
                <a:srgbClr val="34A8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29" name="Group 128">
            <a:extLst>
              <a:ext uri="{FF2B5EF4-FFF2-40B4-BE49-F238E27FC236}">
                <a16:creationId xmlns:a16="http://schemas.microsoft.com/office/drawing/2014/main" id="{A906E002-780F-B9B9-F486-866EFD6049B3}"/>
              </a:ext>
            </a:extLst>
          </p:cNvPr>
          <p:cNvGrpSpPr/>
          <p:nvPr/>
        </p:nvGrpSpPr>
        <p:grpSpPr>
          <a:xfrm>
            <a:off x="4815987" y="5872711"/>
            <a:ext cx="91440" cy="324000"/>
            <a:chOff x="1450297" y="4744720"/>
            <a:chExt cx="91440" cy="361244"/>
          </a:xfrm>
          <a:solidFill>
            <a:srgbClr val="34A853"/>
          </a:solidFill>
        </p:grpSpPr>
        <p:cxnSp>
          <p:nvCxnSpPr>
            <p:cNvPr id="130" name="Straight Connector 129">
              <a:extLst>
                <a:ext uri="{FF2B5EF4-FFF2-40B4-BE49-F238E27FC236}">
                  <a16:creationId xmlns:a16="http://schemas.microsoft.com/office/drawing/2014/main" id="{0A4B6DE7-41AD-801D-1D62-910AD4EA12F2}"/>
                </a:ext>
              </a:extLst>
            </p:cNvPr>
            <p:cNvCxnSpPr/>
            <p:nvPr/>
          </p:nvCxnSpPr>
          <p:spPr>
            <a:xfrm>
              <a:off x="1496017" y="4744720"/>
              <a:ext cx="0" cy="325120"/>
            </a:xfrm>
            <a:prstGeom prst="line">
              <a:avLst/>
            </a:prstGeom>
            <a:grpFill/>
            <a:ln>
              <a:solidFill>
                <a:srgbClr val="34A853"/>
              </a:solidFill>
            </a:ln>
          </p:spPr>
          <p:style>
            <a:lnRef idx="3">
              <a:schemeClr val="accent5"/>
            </a:lnRef>
            <a:fillRef idx="0">
              <a:schemeClr val="accent5"/>
            </a:fillRef>
            <a:effectRef idx="2">
              <a:schemeClr val="accent5"/>
            </a:effectRef>
            <a:fontRef idx="minor">
              <a:schemeClr val="tx1"/>
            </a:fontRef>
          </p:style>
        </p:cxnSp>
        <p:sp>
          <p:nvSpPr>
            <p:cNvPr id="131" name="Oval 130">
              <a:extLst>
                <a:ext uri="{FF2B5EF4-FFF2-40B4-BE49-F238E27FC236}">
                  <a16:creationId xmlns:a16="http://schemas.microsoft.com/office/drawing/2014/main" id="{1DDC94E9-7E80-4FD4-E295-DBD95D870397}"/>
                </a:ext>
              </a:extLst>
            </p:cNvPr>
            <p:cNvSpPr/>
            <p:nvPr/>
          </p:nvSpPr>
          <p:spPr>
            <a:xfrm>
              <a:off x="1450297" y="4744720"/>
              <a:ext cx="91440" cy="91440"/>
            </a:xfrm>
            <a:prstGeom prst="ellipse">
              <a:avLst/>
            </a:prstGeom>
            <a:grpFill/>
            <a:ln>
              <a:solidFill>
                <a:srgbClr val="34A8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32" name="Oval 131">
              <a:extLst>
                <a:ext uri="{FF2B5EF4-FFF2-40B4-BE49-F238E27FC236}">
                  <a16:creationId xmlns:a16="http://schemas.microsoft.com/office/drawing/2014/main" id="{48F00FAE-352E-EB34-CF63-70AB36EACDFB}"/>
                </a:ext>
              </a:extLst>
            </p:cNvPr>
            <p:cNvSpPr/>
            <p:nvPr/>
          </p:nvSpPr>
          <p:spPr>
            <a:xfrm>
              <a:off x="1450297" y="5014524"/>
              <a:ext cx="91440" cy="91440"/>
            </a:xfrm>
            <a:prstGeom prst="ellipse">
              <a:avLst/>
            </a:prstGeom>
            <a:grpFill/>
            <a:ln>
              <a:solidFill>
                <a:srgbClr val="34A8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33" name="Group 132">
            <a:extLst>
              <a:ext uri="{FF2B5EF4-FFF2-40B4-BE49-F238E27FC236}">
                <a16:creationId xmlns:a16="http://schemas.microsoft.com/office/drawing/2014/main" id="{F846A114-3EEB-3680-5C2D-665BAC759616}"/>
              </a:ext>
            </a:extLst>
          </p:cNvPr>
          <p:cNvGrpSpPr/>
          <p:nvPr/>
        </p:nvGrpSpPr>
        <p:grpSpPr>
          <a:xfrm>
            <a:off x="7898822" y="5898226"/>
            <a:ext cx="91440" cy="324000"/>
            <a:chOff x="1450297" y="4744720"/>
            <a:chExt cx="91440" cy="361244"/>
          </a:xfrm>
          <a:solidFill>
            <a:srgbClr val="34A853"/>
          </a:solidFill>
        </p:grpSpPr>
        <p:cxnSp>
          <p:nvCxnSpPr>
            <p:cNvPr id="134" name="Straight Connector 133">
              <a:extLst>
                <a:ext uri="{FF2B5EF4-FFF2-40B4-BE49-F238E27FC236}">
                  <a16:creationId xmlns:a16="http://schemas.microsoft.com/office/drawing/2014/main" id="{49822A60-2EBF-5050-81EA-14869182D985}"/>
                </a:ext>
              </a:extLst>
            </p:cNvPr>
            <p:cNvCxnSpPr/>
            <p:nvPr/>
          </p:nvCxnSpPr>
          <p:spPr>
            <a:xfrm>
              <a:off x="1496017" y="4744720"/>
              <a:ext cx="0" cy="325120"/>
            </a:xfrm>
            <a:prstGeom prst="line">
              <a:avLst/>
            </a:prstGeom>
            <a:grpFill/>
            <a:ln>
              <a:solidFill>
                <a:srgbClr val="34A853"/>
              </a:solidFill>
            </a:ln>
          </p:spPr>
          <p:style>
            <a:lnRef idx="3">
              <a:schemeClr val="accent5"/>
            </a:lnRef>
            <a:fillRef idx="0">
              <a:schemeClr val="accent5"/>
            </a:fillRef>
            <a:effectRef idx="2">
              <a:schemeClr val="accent5"/>
            </a:effectRef>
            <a:fontRef idx="minor">
              <a:schemeClr val="tx1"/>
            </a:fontRef>
          </p:style>
        </p:cxnSp>
        <p:sp>
          <p:nvSpPr>
            <p:cNvPr id="135" name="Oval 134">
              <a:extLst>
                <a:ext uri="{FF2B5EF4-FFF2-40B4-BE49-F238E27FC236}">
                  <a16:creationId xmlns:a16="http://schemas.microsoft.com/office/drawing/2014/main" id="{21C8B922-3FB2-B8C6-0308-7450C76072CE}"/>
                </a:ext>
              </a:extLst>
            </p:cNvPr>
            <p:cNvSpPr/>
            <p:nvPr/>
          </p:nvSpPr>
          <p:spPr>
            <a:xfrm>
              <a:off x="1450297" y="4744720"/>
              <a:ext cx="91440" cy="91440"/>
            </a:xfrm>
            <a:prstGeom prst="ellipse">
              <a:avLst/>
            </a:prstGeom>
            <a:grpFill/>
            <a:ln>
              <a:solidFill>
                <a:srgbClr val="34A8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36" name="Oval 135">
              <a:extLst>
                <a:ext uri="{FF2B5EF4-FFF2-40B4-BE49-F238E27FC236}">
                  <a16:creationId xmlns:a16="http://schemas.microsoft.com/office/drawing/2014/main" id="{4AC2788F-5243-5C51-B292-6A91A98E825D}"/>
                </a:ext>
              </a:extLst>
            </p:cNvPr>
            <p:cNvSpPr/>
            <p:nvPr/>
          </p:nvSpPr>
          <p:spPr>
            <a:xfrm>
              <a:off x="1450297" y="5014524"/>
              <a:ext cx="91440" cy="91440"/>
            </a:xfrm>
            <a:prstGeom prst="ellipse">
              <a:avLst/>
            </a:prstGeom>
            <a:grpFill/>
            <a:ln>
              <a:solidFill>
                <a:srgbClr val="34A8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sp>
        <p:nvSpPr>
          <p:cNvPr id="137" name="Content Placeholder 1">
            <a:extLst>
              <a:ext uri="{FF2B5EF4-FFF2-40B4-BE49-F238E27FC236}">
                <a16:creationId xmlns:a16="http://schemas.microsoft.com/office/drawing/2014/main" id="{44B9D65F-E5BF-8A35-5CC8-19C5793E9292}"/>
              </a:ext>
            </a:extLst>
          </p:cNvPr>
          <p:cNvSpPr txBox="1">
            <a:spLocks/>
          </p:cNvSpPr>
          <p:nvPr/>
        </p:nvSpPr>
        <p:spPr>
          <a:xfrm>
            <a:off x="834414" y="5489087"/>
            <a:ext cx="2677197" cy="334102"/>
          </a:xfrm>
          <a:prstGeom prst="snip1Rect">
            <a:avLst>
              <a:gd name="adj" fmla="val 50000"/>
            </a:avLst>
          </a:prstGeom>
          <a:solidFill>
            <a:srgbClr val="34A853"/>
          </a:solidFill>
          <a:ln>
            <a:solidFill>
              <a:srgbClr val="43B02A"/>
            </a:solidFill>
          </a:ln>
        </p:spPr>
        <p:txBody>
          <a:bodyPr vert="horz" lIns="18288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Business Impact</a:t>
            </a:r>
            <a:endParaRPr kumimoji="0" lang="en-IN"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38" name="Freeform: Shape 137">
            <a:extLst>
              <a:ext uri="{FF2B5EF4-FFF2-40B4-BE49-F238E27FC236}">
                <a16:creationId xmlns:a16="http://schemas.microsoft.com/office/drawing/2014/main" id="{D448E4AE-CBC9-5ED0-F5C1-7229E96EC83E}"/>
              </a:ext>
            </a:extLst>
          </p:cNvPr>
          <p:cNvSpPr/>
          <p:nvPr/>
        </p:nvSpPr>
        <p:spPr bwMode="gray">
          <a:xfrm>
            <a:off x="526020" y="5898226"/>
            <a:ext cx="8786683" cy="162661"/>
          </a:xfrm>
          <a:custGeom>
            <a:avLst/>
            <a:gdLst>
              <a:gd name="connsiteX0" fmla="*/ 0 w 7244080"/>
              <a:gd name="connsiteY0" fmla="*/ 254000 h 254000"/>
              <a:gd name="connsiteX1" fmla="*/ 254000 w 7244080"/>
              <a:gd name="connsiteY1" fmla="*/ 0 h 254000"/>
              <a:gd name="connsiteX2" fmla="*/ 7244080 w 7244080"/>
              <a:gd name="connsiteY2" fmla="*/ 0 h 254000"/>
            </a:gdLst>
            <a:ahLst/>
            <a:cxnLst>
              <a:cxn ang="0">
                <a:pos x="connsiteX0" y="connsiteY0"/>
              </a:cxn>
              <a:cxn ang="0">
                <a:pos x="connsiteX1" y="connsiteY1"/>
              </a:cxn>
              <a:cxn ang="0">
                <a:pos x="connsiteX2" y="connsiteY2"/>
              </a:cxn>
            </a:cxnLst>
            <a:rect l="l" t="t" r="r" b="b"/>
            <a:pathLst>
              <a:path w="7244080" h="254000">
                <a:moveTo>
                  <a:pt x="0" y="254000"/>
                </a:moveTo>
                <a:lnTo>
                  <a:pt x="254000" y="0"/>
                </a:lnTo>
                <a:lnTo>
                  <a:pt x="7244080" y="0"/>
                </a:lnTo>
              </a:path>
            </a:pathLst>
          </a:custGeom>
          <a:noFill/>
          <a:ln w="19050" algn="ctr">
            <a:solidFill>
              <a:srgbClr val="34A853"/>
            </a:solidFill>
            <a:prstDash val="solid"/>
            <a:miter lim="800000"/>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sp>
        <p:nvSpPr>
          <p:cNvPr id="139" name="TextBox 138">
            <a:extLst>
              <a:ext uri="{FF2B5EF4-FFF2-40B4-BE49-F238E27FC236}">
                <a16:creationId xmlns:a16="http://schemas.microsoft.com/office/drawing/2014/main" id="{22309BCE-B77B-E930-56C3-BFD8F517B5EC}"/>
              </a:ext>
            </a:extLst>
          </p:cNvPr>
          <p:cNvSpPr txBox="1"/>
          <p:nvPr/>
        </p:nvSpPr>
        <p:spPr>
          <a:xfrm>
            <a:off x="778061" y="6000000"/>
            <a:ext cx="2677195" cy="86177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34A853"/>
                </a:solidFill>
                <a:effectLst/>
                <a:uLnTx/>
                <a:uFillTx/>
                <a:latin typeface="Verdana" panose="020B0604030504040204" pitchFamily="34" charset="0"/>
                <a:ea typeface="Verdana" panose="020B0604030504040204" pitchFamily="34" charset="0"/>
                <a:cs typeface="Open Sans" panose="020B0606030504020204" pitchFamily="34" charset="0"/>
              </a:rPr>
              <a:t>Extracts coordinate-based geometries to ensure 100% layout and border preservation.</a:t>
            </a:r>
            <a:r>
              <a:rPr kumimoji="0" lang="en-GB" sz="1000" b="0" i="0" u="none" strike="noStrike" kern="1200" cap="none" spc="0" normalizeH="0" baseline="0" noProof="0">
                <a:ln>
                  <a:noFill/>
                </a:ln>
                <a:solidFill>
                  <a:srgbClr val="34A853"/>
                </a:solidFill>
                <a:effectLst/>
                <a:uLnTx/>
                <a:uFillTx/>
                <a:latin typeface="Verdana" panose="020B0604030504040204" pitchFamily="34" charset="0"/>
                <a:ea typeface="Verdana" panose="020B0604030504040204" pitchFamily="34" charset="0"/>
                <a:cs typeface="Open Sans" panose="020B0606030504020204" pitchFamily="34" charset="0"/>
              </a:rPr>
              <a:t/>
            </a:r>
            <a:r>
              <a:rPr kumimoji="0" lang="en-GB"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rPr>
              <a:t/>
            </a:r>
            <a:endParaRPr kumimoji="0" lang="en-US" altLang="en-US"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Open Sans" panose="020B06060305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40" name="TextBox 139">
            <a:extLst>
              <a:ext uri="{FF2B5EF4-FFF2-40B4-BE49-F238E27FC236}">
                <a16:creationId xmlns:a16="http://schemas.microsoft.com/office/drawing/2014/main" id="{1D467FFD-0741-F9B4-DE99-910471970C7F}"/>
              </a:ext>
            </a:extLst>
          </p:cNvPr>
          <p:cNvSpPr txBox="1"/>
          <p:nvPr/>
        </p:nvSpPr>
        <p:spPr>
          <a:xfrm>
            <a:off x="3581398" y="6000000"/>
            <a:ext cx="2762384" cy="707886"/>
          </a:xfrm>
          <a:prstGeom prst="rect">
            <a:avLst/>
          </a:prstGeom>
          <a:noFill/>
        </p:spPr>
        <p:txBody>
          <a:bodyPr wrap="square">
            <a:spAutoFit/>
          </a:bodyPr>
          <a:lstStyle/>
          <a:p>
            <a:r>
              <a:t>Improves RAG Relevance: Layout-aware extraction reduces downstream reasoning errors while preserving visual context.</a:t>
            </a:r>
          </a:p>
        </p:txBody>
      </p:sp>
      <p:sp>
        <p:nvSpPr>
          <p:cNvPr id="141" name="TextBox 140">
            <a:extLst>
              <a:ext uri="{FF2B5EF4-FFF2-40B4-BE49-F238E27FC236}">
                <a16:creationId xmlns:a16="http://schemas.microsoft.com/office/drawing/2014/main" id="{305ADCCB-16E7-63D6-369C-DFEA11227ACC}"/>
              </a:ext>
            </a:extLst>
          </p:cNvPr>
          <p:cNvSpPr txBox="1"/>
          <p:nvPr/>
        </p:nvSpPr>
        <p:spPr>
          <a:xfrm>
            <a:off x="6579990" y="6000000"/>
            <a:ext cx="2762384"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000" b="1" i="0" u="none" strike="noStrike" kern="0" cap="none" spc="0" normalizeH="0" baseline="0" noProof="0">
                <a:ln>
                  <a:noFill/>
                </a:ln>
                <a:solidFill>
                  <a:srgbClr val="34A853"/>
                </a:solidFill>
                <a:effectLst/>
                <a:uLnTx/>
                <a:uFillTx/>
                <a:latin typeface="Verdana" panose="020B0604030504040204" pitchFamily="34" charset="0"/>
                <a:ea typeface="Verdana" panose="020B0604030504040204" pitchFamily="34" charset="0"/>
                <a:cs typeface="+mn-cs"/>
              </a:rPr>
              <a:t>Automates structural form validation audits using closed-loop SSIM visual tests.</a:t>
            </a:r>
            <a:r>
              <a:rPr kumimoji="0" lang="en-US" altLang="en-US"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pic>
        <p:nvPicPr>
          <p:cNvPr id="142" name="Graphic 141" descr="Artificial Intelligence with solid fill">
            <a:extLst>
              <a:ext uri="{FF2B5EF4-FFF2-40B4-BE49-F238E27FC236}">
                <a16:creationId xmlns:a16="http://schemas.microsoft.com/office/drawing/2014/main" id="{817FE970-2D27-ADFE-04D8-191A17C9025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717198" y="2977596"/>
            <a:ext cx="152350" cy="144000"/>
          </a:xfrm>
          <a:prstGeom prst="rect">
            <a:avLst/>
          </a:prstGeom>
        </p:spPr>
      </p:pic>
      <p:pic>
        <p:nvPicPr>
          <p:cNvPr id="143" name="Graphic 142" descr="Artificial Intelligence with solid fill">
            <a:extLst>
              <a:ext uri="{FF2B5EF4-FFF2-40B4-BE49-F238E27FC236}">
                <a16:creationId xmlns:a16="http://schemas.microsoft.com/office/drawing/2014/main" id="{3EBAD9D5-BE01-57A3-9C32-A52C7A8F446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817840" y="3918691"/>
            <a:ext cx="152350" cy="144000"/>
          </a:xfrm>
          <a:prstGeom prst="rect">
            <a:avLst/>
          </a:prstGeom>
        </p:spPr>
      </p:pic>
      <p:pic>
        <p:nvPicPr>
          <p:cNvPr id="144" name="Graphic 143" descr="Artificial Intelligence with solid fill">
            <a:extLst>
              <a:ext uri="{FF2B5EF4-FFF2-40B4-BE49-F238E27FC236}">
                <a16:creationId xmlns:a16="http://schemas.microsoft.com/office/drawing/2014/main" id="{5850B423-2E17-8413-8C26-057EDBFE34B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29048" y="4033188"/>
            <a:ext cx="152350" cy="144000"/>
          </a:xfrm>
          <a:prstGeom prst="rect">
            <a:avLst/>
          </a:prstGeom>
        </p:spPr>
      </p:pic>
      <p:pic>
        <p:nvPicPr>
          <p:cNvPr id="145" name="Graphic 144" descr="Artificial Intelligence with solid fill">
            <a:extLst>
              <a:ext uri="{FF2B5EF4-FFF2-40B4-BE49-F238E27FC236}">
                <a16:creationId xmlns:a16="http://schemas.microsoft.com/office/drawing/2014/main" id="{83CFBEA8-C304-4383-0310-596E49248C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7550" y="2917523"/>
            <a:ext cx="152350" cy="144000"/>
          </a:xfrm>
          <a:prstGeom prst="rect">
            <a:avLst/>
          </a:prstGeom>
        </p:spPr>
      </p:pic>
      <p:pic>
        <p:nvPicPr>
          <p:cNvPr id="146" name="Graphic 145" descr="Artificial Intelligence with solid fill">
            <a:extLst>
              <a:ext uri="{FF2B5EF4-FFF2-40B4-BE49-F238E27FC236}">
                <a16:creationId xmlns:a16="http://schemas.microsoft.com/office/drawing/2014/main" id="{A574FFFC-861B-BB2E-D4FB-C0F87BD35B2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11140" y="2929468"/>
            <a:ext cx="152350" cy="144000"/>
          </a:xfrm>
          <a:prstGeom prst="rect">
            <a:avLst/>
          </a:prstGeom>
        </p:spPr>
      </p:pic>
      <p:pic>
        <p:nvPicPr>
          <p:cNvPr id="147" name="Graphic 146" descr="Artificial Intelligence with solid fill">
            <a:extLst>
              <a:ext uri="{FF2B5EF4-FFF2-40B4-BE49-F238E27FC236}">
                <a16:creationId xmlns:a16="http://schemas.microsoft.com/office/drawing/2014/main" id="{E1AD3F2D-75F8-1B3C-8988-203179A440E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171090" y="2955141"/>
            <a:ext cx="152350" cy="144000"/>
          </a:xfrm>
          <a:prstGeom prst="rect">
            <a:avLst/>
          </a:prstGeom>
        </p:spPr>
      </p:pic>
      <p:pic>
        <p:nvPicPr>
          <p:cNvPr id="148" name="Graphic 147" descr="Cmd Terminal with solid fill">
            <a:extLst>
              <a:ext uri="{FF2B5EF4-FFF2-40B4-BE49-F238E27FC236}">
                <a16:creationId xmlns:a16="http://schemas.microsoft.com/office/drawing/2014/main" id="{0CBEC5B4-E43C-1913-98C4-6137CBE40C1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65328" y="3069883"/>
            <a:ext cx="221301" cy="216000"/>
          </a:xfrm>
          <a:prstGeom prst="rect">
            <a:avLst/>
          </a:prstGeom>
        </p:spPr>
      </p:pic>
      <p:pic>
        <p:nvPicPr>
          <p:cNvPr id="149" name="Graphic 148" descr="Cmd Terminal with solid fill">
            <a:extLst>
              <a:ext uri="{FF2B5EF4-FFF2-40B4-BE49-F238E27FC236}">
                <a16:creationId xmlns:a16="http://schemas.microsoft.com/office/drawing/2014/main" id="{A90B1132-701F-B206-E285-D415C0E1921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43529" y="3993627"/>
            <a:ext cx="221301" cy="216000"/>
          </a:xfrm>
          <a:prstGeom prst="rect">
            <a:avLst/>
          </a:prstGeom>
        </p:spPr>
      </p:pic>
      <p:pic>
        <p:nvPicPr>
          <p:cNvPr id="150" name="Graphic 149" descr="Cmd Terminal with solid fill">
            <a:extLst>
              <a:ext uri="{FF2B5EF4-FFF2-40B4-BE49-F238E27FC236}">
                <a16:creationId xmlns:a16="http://schemas.microsoft.com/office/drawing/2014/main" id="{850D284A-4B23-1EE5-1040-1057275E315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331155" y="2978993"/>
            <a:ext cx="221301" cy="216000"/>
          </a:xfrm>
          <a:prstGeom prst="rect">
            <a:avLst/>
          </a:prstGeom>
        </p:spPr>
      </p:pic>
      <p:pic>
        <p:nvPicPr>
          <p:cNvPr id="151" name="Graphic 150" descr="Artificial Intelligence with solid fill">
            <a:extLst>
              <a:ext uri="{FF2B5EF4-FFF2-40B4-BE49-F238E27FC236}">
                <a16:creationId xmlns:a16="http://schemas.microsoft.com/office/drawing/2014/main" id="{BD563E90-AB7F-F518-DDBC-A2338FC564B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649911" y="5671329"/>
            <a:ext cx="152350" cy="144000"/>
          </a:xfrm>
          <a:prstGeom prst="rect">
            <a:avLst/>
          </a:prstGeom>
        </p:spPr>
      </p:pic>
      <p:pic>
        <p:nvPicPr>
          <p:cNvPr id="152" name="Graphic 151" descr="Cmd Terminal with solid fill">
            <a:extLst>
              <a:ext uri="{FF2B5EF4-FFF2-40B4-BE49-F238E27FC236}">
                <a16:creationId xmlns:a16="http://schemas.microsoft.com/office/drawing/2014/main" id="{D8713493-5DFF-F95D-BF19-CBF3E64C15B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668836" y="6011406"/>
            <a:ext cx="221301" cy="216000"/>
          </a:xfrm>
          <a:prstGeom prst="rect">
            <a:avLst/>
          </a:prstGeom>
        </p:spPr>
      </p:pic>
      <p:sp>
        <p:nvSpPr>
          <p:cNvPr id="153" name="Rectangle 152">
            <a:extLst>
              <a:ext uri="{FF2B5EF4-FFF2-40B4-BE49-F238E27FC236}">
                <a16:creationId xmlns:a16="http://schemas.microsoft.com/office/drawing/2014/main" id="{C933DBE2-C96B-B7D8-AF41-780CE6411062}"/>
              </a:ext>
            </a:extLst>
          </p:cNvPr>
          <p:cNvSpPr/>
          <p:nvPr/>
        </p:nvSpPr>
        <p:spPr>
          <a:xfrm>
            <a:off x="10460791" y="5577910"/>
            <a:ext cx="1439241" cy="769662"/>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4" name="TextBox 153">
            <a:extLst>
              <a:ext uri="{FF2B5EF4-FFF2-40B4-BE49-F238E27FC236}">
                <a16:creationId xmlns:a16="http://schemas.microsoft.com/office/drawing/2014/main" id="{69D47B86-5634-D1B8-2D3A-0B09A89605ED}"/>
              </a:ext>
            </a:extLst>
          </p:cNvPr>
          <p:cNvSpPr txBox="1"/>
          <p:nvPr/>
        </p:nvSpPr>
        <p:spPr>
          <a:xfrm>
            <a:off x="10877708" y="5937632"/>
            <a:ext cx="95254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rPr>
              <a:t>Structured blue-prints</a:t>
            </a:r>
            <a:r>
              <a:rPr kumimoji="0" lang="en-US" sz="800" b="0" i="1"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rPr>
              <a:t/>
            </a:r>
            <a:endParaRPr kumimoji="0" lang="en-US" sz="8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155" name="TextBox 154">
            <a:extLst>
              <a:ext uri="{FF2B5EF4-FFF2-40B4-BE49-F238E27FC236}">
                <a16:creationId xmlns:a16="http://schemas.microsoft.com/office/drawing/2014/main" id="{713EAB7A-7205-7426-7E25-8509B3A38F51}"/>
              </a:ext>
            </a:extLst>
          </p:cNvPr>
          <p:cNvSpPr txBox="1"/>
          <p:nvPr/>
        </p:nvSpPr>
        <p:spPr>
          <a:xfrm>
            <a:off x="10799577" y="5638755"/>
            <a:ext cx="100210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333333"/>
                </a:solidFill>
                <a:effectLst/>
                <a:uLnTx/>
                <a:uFillTx/>
                <a:latin typeface="Verdana" panose="020B0604030504040204" pitchFamily="34" charset="0"/>
                <a:ea typeface="Verdana" panose="020B0604030504040204" pitchFamily="34" charset="0"/>
                <a:cs typeface="Open Sans" panose="020B0606030504020204" pitchFamily="34" charset="0"/>
              </a:rPr>
              <a:t>Layout Extraction Engine</a:t>
            </a:r>
          </a:p>
        </p:txBody>
      </p:sp>
      <p:sp>
        <p:nvSpPr>
          <p:cNvPr id="3" name="Rectangle 2">
            <a:extLst>
              <a:ext uri="{FF2B5EF4-FFF2-40B4-BE49-F238E27FC236}">
                <a16:creationId xmlns:a16="http://schemas.microsoft.com/office/drawing/2014/main" id="{AA1C99DF-CEA2-43C4-B43F-D6A19D2BF22B}"/>
              </a:ext>
            </a:extLst>
          </p:cNvPr>
          <p:cNvSpPr/>
          <p:nvPr/>
        </p:nvSpPr>
        <p:spPr>
          <a:xfrm>
            <a:off x="8186278" y="3978602"/>
            <a:ext cx="1606986" cy="189283"/>
          </a:xfrm>
          <a:prstGeom prst="rect">
            <a:avLst/>
          </a:prstGeom>
          <a:no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sym typeface="Arial"/>
              </a:rPr>
              <a:t>(su</a:t>
            </a:r>
            <a:r>
              <a:rPr kumimoji="0" lang="en-US" sz="7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sym typeface="Arial"/>
              </a:rPr>
              <a:t>pporting</a:t>
            </a:r>
            <a:r>
              <a:rPr kumimoji="0" lang="en-US" sz="7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sym typeface="Arial"/>
              </a:rPr>
              <a:t> agent)</a:t>
            </a:r>
          </a:p>
        </p:txBody>
      </p:sp>
      <p:sp>
        <p:nvSpPr>
          <p:cNvPr id="287" name="Oval 286">
            <a:extLst>
              <a:ext uri="{FF2B5EF4-FFF2-40B4-BE49-F238E27FC236}">
                <a16:creationId xmlns:a16="http://schemas.microsoft.com/office/drawing/2014/main" id="{3312E23D-D888-B55D-9027-9821952CA5B8}"/>
              </a:ext>
            </a:extLst>
          </p:cNvPr>
          <p:cNvSpPr>
            <a:spLocks noChangeAspect="1"/>
          </p:cNvSpPr>
          <p:nvPr/>
        </p:nvSpPr>
        <p:spPr>
          <a:xfrm>
            <a:off x="11212878" y="2384700"/>
            <a:ext cx="460262" cy="422767"/>
          </a:xfrm>
          <a:prstGeom prst="ellipse">
            <a:avLst/>
          </a:prstGeom>
          <a:solidFill>
            <a:schemeClr val="bg1"/>
          </a:solidFill>
          <a:ln w="38100" cap="flat" cmpd="sng" algn="ctr">
            <a:solidFill>
              <a:srgbClr val="C4D600"/>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288" name="Graphic 4">
            <a:extLst>
              <a:ext uri="{FF2B5EF4-FFF2-40B4-BE49-F238E27FC236}">
                <a16:creationId xmlns:a16="http://schemas.microsoft.com/office/drawing/2014/main" id="{D66213E5-681D-D98C-25D9-6D04AFBE92B7}"/>
              </a:ext>
            </a:extLst>
          </p:cNvPr>
          <p:cNvGrpSpPr/>
          <p:nvPr/>
        </p:nvGrpSpPr>
        <p:grpSpPr>
          <a:xfrm>
            <a:off x="11313020" y="2527801"/>
            <a:ext cx="228033" cy="159599"/>
            <a:chOff x="8915239" y="4894761"/>
            <a:chExt cx="214063" cy="159599"/>
          </a:xfrm>
          <a:solidFill>
            <a:schemeClr val="tx1"/>
          </a:solidFill>
        </p:grpSpPr>
        <p:sp>
          <p:nvSpPr>
            <p:cNvPr id="289" name="Graphic 4">
              <a:extLst>
                <a:ext uri="{FF2B5EF4-FFF2-40B4-BE49-F238E27FC236}">
                  <a16:creationId xmlns:a16="http://schemas.microsoft.com/office/drawing/2014/main" id="{E23ED18D-65F5-7885-3482-5EDD9DC3374A}"/>
                </a:ext>
              </a:extLst>
            </p:cNvPr>
            <p:cNvSpPr/>
            <p:nvPr/>
          </p:nvSpPr>
          <p:spPr>
            <a:xfrm>
              <a:off x="9009172" y="4894761"/>
              <a:ext cx="120130" cy="158323"/>
            </a:xfrm>
            <a:custGeom>
              <a:avLst/>
              <a:gdLst>
                <a:gd name="connsiteX0" fmla="*/ 113740 w 120130"/>
                <a:gd name="connsiteY0" fmla="*/ 0 h 158323"/>
                <a:gd name="connsiteX1" fmla="*/ 6390 w 120130"/>
                <a:gd name="connsiteY1" fmla="*/ 0 h 158323"/>
                <a:gd name="connsiteX2" fmla="*/ 0 w 120130"/>
                <a:gd name="connsiteY2" fmla="*/ 6384 h 158323"/>
                <a:gd name="connsiteX3" fmla="*/ 0 w 120130"/>
                <a:gd name="connsiteY3" fmla="*/ 64478 h 158323"/>
                <a:gd name="connsiteX4" fmla="*/ 6390 w 120130"/>
                <a:gd name="connsiteY4" fmla="*/ 70862 h 158323"/>
                <a:gd name="connsiteX5" fmla="*/ 12780 w 120130"/>
                <a:gd name="connsiteY5" fmla="*/ 64478 h 158323"/>
                <a:gd name="connsiteX6" fmla="*/ 12780 w 120130"/>
                <a:gd name="connsiteY6" fmla="*/ 12768 h 158323"/>
                <a:gd name="connsiteX7" fmla="*/ 107350 w 120130"/>
                <a:gd name="connsiteY7" fmla="*/ 12768 h 158323"/>
                <a:gd name="connsiteX8" fmla="*/ 107350 w 120130"/>
                <a:gd name="connsiteY8" fmla="*/ 145555 h 158323"/>
                <a:gd name="connsiteX9" fmla="*/ 12780 w 120130"/>
                <a:gd name="connsiteY9" fmla="*/ 145555 h 158323"/>
                <a:gd name="connsiteX10" fmla="*/ 12780 w 120130"/>
                <a:gd name="connsiteY10" fmla="*/ 137256 h 158323"/>
                <a:gd name="connsiteX11" fmla="*/ 6390 w 120130"/>
                <a:gd name="connsiteY11" fmla="*/ 130872 h 158323"/>
                <a:gd name="connsiteX12" fmla="*/ 0 w 120130"/>
                <a:gd name="connsiteY12" fmla="*/ 137256 h 158323"/>
                <a:gd name="connsiteX13" fmla="*/ 0 w 120130"/>
                <a:gd name="connsiteY13" fmla="*/ 151939 h 158323"/>
                <a:gd name="connsiteX14" fmla="*/ 6390 w 120130"/>
                <a:gd name="connsiteY14" fmla="*/ 158323 h 158323"/>
                <a:gd name="connsiteX15" fmla="*/ 113740 w 120130"/>
                <a:gd name="connsiteY15" fmla="*/ 158323 h 158323"/>
                <a:gd name="connsiteX16" fmla="*/ 120130 w 120130"/>
                <a:gd name="connsiteY16" fmla="*/ 151939 h 158323"/>
                <a:gd name="connsiteX17" fmla="*/ 120130 w 120130"/>
                <a:gd name="connsiteY17" fmla="*/ 6384 h 158323"/>
                <a:gd name="connsiteX18" fmla="*/ 113740 w 120130"/>
                <a:gd name="connsiteY18" fmla="*/ 0 h 158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0130" h="158323">
                  <a:moveTo>
                    <a:pt x="113740" y="0"/>
                  </a:moveTo>
                  <a:lnTo>
                    <a:pt x="6390" y="0"/>
                  </a:lnTo>
                  <a:cubicBezTo>
                    <a:pt x="2556" y="0"/>
                    <a:pt x="0" y="2554"/>
                    <a:pt x="0" y="6384"/>
                  </a:cubicBezTo>
                  <a:lnTo>
                    <a:pt x="0" y="64478"/>
                  </a:lnTo>
                  <a:cubicBezTo>
                    <a:pt x="0" y="68309"/>
                    <a:pt x="2556" y="70862"/>
                    <a:pt x="6390" y="70862"/>
                  </a:cubicBezTo>
                  <a:cubicBezTo>
                    <a:pt x="10224" y="70862"/>
                    <a:pt x="12780" y="68309"/>
                    <a:pt x="12780" y="64478"/>
                  </a:cubicBezTo>
                  <a:lnTo>
                    <a:pt x="12780" y="12768"/>
                  </a:lnTo>
                  <a:lnTo>
                    <a:pt x="107350" y="12768"/>
                  </a:lnTo>
                  <a:lnTo>
                    <a:pt x="107350" y="145555"/>
                  </a:lnTo>
                  <a:lnTo>
                    <a:pt x="12780" y="145555"/>
                  </a:lnTo>
                  <a:lnTo>
                    <a:pt x="12780" y="137256"/>
                  </a:lnTo>
                  <a:cubicBezTo>
                    <a:pt x="12780" y="133425"/>
                    <a:pt x="10224" y="130872"/>
                    <a:pt x="6390" y="130872"/>
                  </a:cubicBezTo>
                  <a:cubicBezTo>
                    <a:pt x="2556" y="130872"/>
                    <a:pt x="0" y="133425"/>
                    <a:pt x="0" y="137256"/>
                  </a:cubicBezTo>
                  <a:lnTo>
                    <a:pt x="0" y="151939"/>
                  </a:lnTo>
                  <a:cubicBezTo>
                    <a:pt x="0" y="155769"/>
                    <a:pt x="2556" y="158323"/>
                    <a:pt x="6390" y="158323"/>
                  </a:cubicBezTo>
                  <a:lnTo>
                    <a:pt x="113740" y="158323"/>
                  </a:lnTo>
                  <a:cubicBezTo>
                    <a:pt x="117575" y="158323"/>
                    <a:pt x="120130" y="155769"/>
                    <a:pt x="120130" y="151939"/>
                  </a:cubicBezTo>
                  <a:lnTo>
                    <a:pt x="120130" y="6384"/>
                  </a:lnTo>
                  <a:cubicBezTo>
                    <a:pt x="120130" y="3192"/>
                    <a:pt x="116935" y="0"/>
                    <a:pt x="113740"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90" name="Graphic 4">
              <a:extLst>
                <a:ext uri="{FF2B5EF4-FFF2-40B4-BE49-F238E27FC236}">
                  <a16:creationId xmlns:a16="http://schemas.microsoft.com/office/drawing/2014/main" id="{F0C2ACD3-28F8-3A64-F784-8A277527DF4A}"/>
                </a:ext>
              </a:extLst>
            </p:cNvPr>
            <p:cNvSpPr/>
            <p:nvPr/>
          </p:nvSpPr>
          <p:spPr>
            <a:xfrm>
              <a:off x="8927380" y="4901145"/>
              <a:ext cx="51119" cy="51071"/>
            </a:xfrm>
            <a:custGeom>
              <a:avLst/>
              <a:gdLst>
                <a:gd name="connsiteX0" fmla="*/ 25560 w 51119"/>
                <a:gd name="connsiteY0" fmla="*/ 51072 h 51071"/>
                <a:gd name="connsiteX1" fmla="*/ 51119 w 51119"/>
                <a:gd name="connsiteY1" fmla="*/ 25536 h 51071"/>
                <a:gd name="connsiteX2" fmla="*/ 25560 w 51119"/>
                <a:gd name="connsiteY2" fmla="*/ 0 h 51071"/>
                <a:gd name="connsiteX3" fmla="*/ 0 w 51119"/>
                <a:gd name="connsiteY3" fmla="*/ 25536 h 51071"/>
                <a:gd name="connsiteX4" fmla="*/ 25560 w 51119"/>
                <a:gd name="connsiteY4" fmla="*/ 51072 h 51071"/>
                <a:gd name="connsiteX5" fmla="*/ 25560 w 51119"/>
                <a:gd name="connsiteY5" fmla="*/ 12768 h 51071"/>
                <a:gd name="connsiteX6" fmla="*/ 38340 w 51119"/>
                <a:gd name="connsiteY6" fmla="*/ 25536 h 51071"/>
                <a:gd name="connsiteX7" fmla="*/ 25560 w 51119"/>
                <a:gd name="connsiteY7" fmla="*/ 38304 h 51071"/>
                <a:gd name="connsiteX8" fmla="*/ 12780 w 51119"/>
                <a:gd name="connsiteY8" fmla="*/ 25536 h 51071"/>
                <a:gd name="connsiteX9" fmla="*/ 25560 w 51119"/>
                <a:gd name="connsiteY9" fmla="*/ 12768 h 51071"/>
                <a:gd name="connsiteX10" fmla="*/ 25560 w 51119"/>
                <a:gd name="connsiteY10" fmla="*/ 12768 h 51071"/>
                <a:gd name="connsiteX11" fmla="*/ 25560 w 51119"/>
                <a:gd name="connsiteY11" fmla="*/ 12768 h 5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19" h="51071">
                  <a:moveTo>
                    <a:pt x="25560" y="51072"/>
                  </a:moveTo>
                  <a:cubicBezTo>
                    <a:pt x="39618" y="51072"/>
                    <a:pt x="51119" y="39581"/>
                    <a:pt x="51119" y="25536"/>
                  </a:cubicBezTo>
                  <a:cubicBezTo>
                    <a:pt x="51119" y="11491"/>
                    <a:pt x="39618" y="0"/>
                    <a:pt x="25560" y="0"/>
                  </a:cubicBezTo>
                  <a:cubicBezTo>
                    <a:pt x="11502" y="0"/>
                    <a:pt x="0" y="11491"/>
                    <a:pt x="0" y="25536"/>
                  </a:cubicBezTo>
                  <a:cubicBezTo>
                    <a:pt x="0" y="39581"/>
                    <a:pt x="11502" y="51072"/>
                    <a:pt x="25560" y="51072"/>
                  </a:cubicBezTo>
                  <a:close/>
                  <a:moveTo>
                    <a:pt x="25560" y="12768"/>
                  </a:moveTo>
                  <a:cubicBezTo>
                    <a:pt x="32589" y="12768"/>
                    <a:pt x="38340" y="18514"/>
                    <a:pt x="38340" y="25536"/>
                  </a:cubicBezTo>
                  <a:cubicBezTo>
                    <a:pt x="38340" y="32559"/>
                    <a:pt x="32589" y="38304"/>
                    <a:pt x="25560" y="38304"/>
                  </a:cubicBezTo>
                  <a:cubicBezTo>
                    <a:pt x="18531" y="38304"/>
                    <a:pt x="12780" y="32559"/>
                    <a:pt x="12780" y="25536"/>
                  </a:cubicBezTo>
                  <a:cubicBezTo>
                    <a:pt x="12780" y="18514"/>
                    <a:pt x="18531" y="12768"/>
                    <a:pt x="25560" y="12768"/>
                  </a:cubicBezTo>
                  <a:cubicBezTo>
                    <a:pt x="25560" y="12768"/>
                    <a:pt x="25560" y="12768"/>
                    <a:pt x="25560" y="12768"/>
                  </a:cubicBezTo>
                  <a:lnTo>
                    <a:pt x="25560" y="127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91" name="Graphic 4">
              <a:extLst>
                <a:ext uri="{FF2B5EF4-FFF2-40B4-BE49-F238E27FC236}">
                  <a16:creationId xmlns:a16="http://schemas.microsoft.com/office/drawing/2014/main" id="{D1916F61-5956-D588-B04A-C0851652B6C9}"/>
                </a:ext>
              </a:extLst>
            </p:cNvPr>
            <p:cNvSpPr/>
            <p:nvPr/>
          </p:nvSpPr>
          <p:spPr>
            <a:xfrm>
              <a:off x="8915239" y="4966953"/>
              <a:ext cx="141218" cy="87407"/>
            </a:xfrm>
            <a:custGeom>
              <a:avLst/>
              <a:gdLst>
                <a:gd name="connsiteX0" fmla="*/ 106712 w 141218"/>
                <a:gd name="connsiteY0" fmla="*/ 49104 h 87407"/>
                <a:gd name="connsiteX1" fmla="*/ 111185 w 141218"/>
                <a:gd name="connsiteY1" fmla="*/ 47189 h 87407"/>
                <a:gd name="connsiteX2" fmla="*/ 139301 w 141218"/>
                <a:gd name="connsiteY2" fmla="*/ 17823 h 87407"/>
                <a:gd name="connsiteX3" fmla="*/ 139301 w 141218"/>
                <a:gd name="connsiteY3" fmla="*/ 8885 h 87407"/>
                <a:gd name="connsiteX4" fmla="*/ 130355 w 141218"/>
                <a:gd name="connsiteY4" fmla="*/ 8885 h 87407"/>
                <a:gd name="connsiteX5" fmla="*/ 106074 w 141218"/>
                <a:gd name="connsiteY5" fmla="*/ 34421 h 87407"/>
                <a:gd name="connsiteX6" fmla="*/ 74763 w 141218"/>
                <a:gd name="connsiteY6" fmla="*/ 10800 h 87407"/>
                <a:gd name="connsiteX7" fmla="*/ 74763 w 141218"/>
                <a:gd name="connsiteY7" fmla="*/ 10800 h 87407"/>
                <a:gd name="connsiteX8" fmla="*/ 74763 w 141218"/>
                <a:gd name="connsiteY8" fmla="*/ 10800 h 87407"/>
                <a:gd name="connsiteX9" fmla="*/ 3195 w 141218"/>
                <a:gd name="connsiteY9" fmla="*/ 8247 h 87407"/>
                <a:gd name="connsiteX10" fmla="*/ 0 w 141218"/>
                <a:gd name="connsiteY10" fmla="*/ 13992 h 87407"/>
                <a:gd name="connsiteX11" fmla="*/ 0 w 141218"/>
                <a:gd name="connsiteY11" fmla="*/ 80385 h 87407"/>
                <a:gd name="connsiteX12" fmla="*/ 6390 w 141218"/>
                <a:gd name="connsiteY12" fmla="*/ 86769 h 87407"/>
                <a:gd name="connsiteX13" fmla="*/ 12780 w 141218"/>
                <a:gd name="connsiteY13" fmla="*/ 80385 h 87407"/>
                <a:gd name="connsiteX14" fmla="*/ 12780 w 141218"/>
                <a:gd name="connsiteY14" fmla="*/ 18461 h 87407"/>
                <a:gd name="connsiteX15" fmla="*/ 65178 w 141218"/>
                <a:gd name="connsiteY15" fmla="*/ 20376 h 87407"/>
                <a:gd name="connsiteX16" fmla="*/ 65178 w 141218"/>
                <a:gd name="connsiteY16" fmla="*/ 81024 h 87407"/>
                <a:gd name="connsiteX17" fmla="*/ 71568 w 141218"/>
                <a:gd name="connsiteY17" fmla="*/ 87408 h 87407"/>
                <a:gd name="connsiteX18" fmla="*/ 77958 w 141218"/>
                <a:gd name="connsiteY18" fmla="*/ 81024 h 87407"/>
                <a:gd name="connsiteX19" fmla="*/ 77958 w 141218"/>
                <a:gd name="connsiteY19" fmla="*/ 29952 h 87407"/>
                <a:gd name="connsiteX20" fmla="*/ 103517 w 141218"/>
                <a:gd name="connsiteY20" fmla="*/ 49104 h 87407"/>
                <a:gd name="connsiteX21" fmla="*/ 106712 w 141218"/>
                <a:gd name="connsiteY21" fmla="*/ 49104 h 8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1218" h="87407">
                  <a:moveTo>
                    <a:pt x="106712" y="49104"/>
                  </a:moveTo>
                  <a:cubicBezTo>
                    <a:pt x="108629" y="49104"/>
                    <a:pt x="109907" y="48466"/>
                    <a:pt x="111185" y="47189"/>
                  </a:cubicBezTo>
                  <a:lnTo>
                    <a:pt x="139301" y="17823"/>
                  </a:lnTo>
                  <a:cubicBezTo>
                    <a:pt x="141857" y="15269"/>
                    <a:pt x="141857" y="11439"/>
                    <a:pt x="139301" y="8885"/>
                  </a:cubicBezTo>
                  <a:cubicBezTo>
                    <a:pt x="136745" y="6331"/>
                    <a:pt x="132911" y="6331"/>
                    <a:pt x="130355" y="8885"/>
                  </a:cubicBezTo>
                  <a:lnTo>
                    <a:pt x="106074" y="34421"/>
                  </a:lnTo>
                  <a:lnTo>
                    <a:pt x="74763" y="10800"/>
                  </a:lnTo>
                  <a:lnTo>
                    <a:pt x="74763" y="10800"/>
                  </a:lnTo>
                  <a:lnTo>
                    <a:pt x="74763" y="10800"/>
                  </a:lnTo>
                  <a:cubicBezTo>
                    <a:pt x="41535" y="-11544"/>
                    <a:pt x="5112" y="7608"/>
                    <a:pt x="3195" y="8247"/>
                  </a:cubicBezTo>
                  <a:cubicBezTo>
                    <a:pt x="1278" y="9523"/>
                    <a:pt x="0" y="11439"/>
                    <a:pt x="0" y="13992"/>
                  </a:cubicBezTo>
                  <a:lnTo>
                    <a:pt x="0" y="80385"/>
                  </a:lnTo>
                  <a:cubicBezTo>
                    <a:pt x="0" y="84216"/>
                    <a:pt x="2556" y="86769"/>
                    <a:pt x="6390" y="86769"/>
                  </a:cubicBezTo>
                  <a:cubicBezTo>
                    <a:pt x="10225" y="86769"/>
                    <a:pt x="12780" y="84216"/>
                    <a:pt x="12780" y="80385"/>
                  </a:cubicBezTo>
                  <a:lnTo>
                    <a:pt x="12780" y="18461"/>
                  </a:lnTo>
                  <a:cubicBezTo>
                    <a:pt x="21087" y="15269"/>
                    <a:pt x="44091" y="7608"/>
                    <a:pt x="65178" y="20376"/>
                  </a:cubicBezTo>
                  <a:lnTo>
                    <a:pt x="65178" y="81024"/>
                  </a:lnTo>
                  <a:cubicBezTo>
                    <a:pt x="65178" y="84854"/>
                    <a:pt x="67734" y="87408"/>
                    <a:pt x="71568" y="87408"/>
                  </a:cubicBezTo>
                  <a:cubicBezTo>
                    <a:pt x="75402" y="87408"/>
                    <a:pt x="77958" y="84854"/>
                    <a:pt x="77958" y="81024"/>
                  </a:cubicBezTo>
                  <a:lnTo>
                    <a:pt x="77958" y="29952"/>
                  </a:lnTo>
                  <a:lnTo>
                    <a:pt x="103517" y="49104"/>
                  </a:lnTo>
                  <a:cubicBezTo>
                    <a:pt x="104156" y="48466"/>
                    <a:pt x="105434" y="49104"/>
                    <a:pt x="106712" y="491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sp>
        <p:nvSpPr>
          <p:cNvPr id="8" name="Rectangle 7">
            <a:extLst>
              <a:ext uri="{FF2B5EF4-FFF2-40B4-BE49-F238E27FC236}">
                <a16:creationId xmlns:a16="http://schemas.microsoft.com/office/drawing/2014/main" id="{C3E95B11-5F50-A1E4-0C62-A61961ACB122}"/>
              </a:ext>
            </a:extLst>
          </p:cNvPr>
          <p:cNvSpPr/>
          <p:nvPr/>
        </p:nvSpPr>
        <p:spPr>
          <a:xfrm>
            <a:off x="10927993" y="0"/>
            <a:ext cx="1271587" cy="385761"/>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latin typeface="Verdana" panose="020B0604030504040204" pitchFamily="34" charset="0"/>
                <a:ea typeface="Verdana" panose="020B0604030504040204" pitchFamily="34" charset="0"/>
              </a:rPr>
              <a:t>AetherMind</a:t>
            </a:r>
          </a:p>
        </p:txBody>
      </p:sp>
    </p:spTree>
    <p:extLst>
      <p:ext uri="{BB962C8B-B14F-4D97-AF65-F5344CB8AC3E}">
        <p14:creationId xmlns:p14="http://schemas.microsoft.com/office/powerpoint/2010/main" val="1735032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35083-0A1B-17A3-FDEE-4AE5E36BA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C6910-69B8-3D4C-A2D7-56982A3DACFB}"/>
              </a:ext>
            </a:extLst>
          </p:cNvPr>
          <p:cNvSpPr>
            <a:spLocks noGrp="1"/>
          </p:cNvSpPr>
          <p:nvPr>
            <p:ph type="title"/>
          </p:nvPr>
        </p:nvSpPr>
        <p:spPr/>
        <p:txBody>
          <a:bodyPr/>
          <a:lstStyle/>
          <a:p>
            <a:r>
              <a:rPr lang="en-AU" noProof="0" dirty="0"/>
              <a:t>AetherMind Document Ingestion – Executive Summary </a:t>
            </a:r>
          </a:p>
        </p:txBody>
      </p:sp>
      <p:sp>
        <p:nvSpPr>
          <p:cNvPr id="4" name="Rectangle 3">
            <a:extLst>
              <a:ext uri="{FF2B5EF4-FFF2-40B4-BE49-F238E27FC236}">
                <a16:creationId xmlns:a16="http://schemas.microsoft.com/office/drawing/2014/main" id="{D5B2945B-C752-E315-FAAA-77DBF7FF2D58}"/>
              </a:ext>
            </a:extLst>
          </p:cNvPr>
          <p:cNvSpPr/>
          <p:nvPr/>
        </p:nvSpPr>
        <p:spPr>
          <a:xfrm>
            <a:off x="503025" y="1087673"/>
            <a:ext cx="3606847" cy="47764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r>
              <a:t>Background</a:t>
            </a:r>
          </a:p>
          <a:p>
            <a:pPr/>
            <a:r>
              <a:t>Enterprise documents (presentations, forms, PDFs) contain rich spatial and semantic structures. Traditional text RAG pipelines flatten layout formatting, collapsing table cell grids and discarding flowchart directional arrows. This data loss destroys the visual structure needed for downstream LLM understanding.</a:t>
            </a:r>
          </a:p>
          <a:p>
            <a:pPr/>
            <a:r>
              <a:t>This leads to several persistent challenges:</a:t>
            </a:r>
          </a:p>
          <a:p>
            <a:pPr/>
            <a:r>
              <a:t>▪ Flat-text engines discard layout geometry and coordinates, corrupting reading order.</a:t>
            </a:r>
          </a:p>
          <a:p>
            <a:pPr/>
            <a:r>
              <a:t>▪ Table cell grids collapse, losing row/column spans and data alignments.</a:t>
            </a:r>
          </a:p>
          <a:p>
            <a:pPr/>
            <a:r>
              <a:t>▪ Checkboxes, lines, flowcharts, and drawings are omitted or treated as unparseable blobs.</a:t>
            </a:r>
          </a:p>
          <a:p>
            <a:pPr/>
            <a:r>
              <a:t>▪ Downstream LLMs lose visual context, leading to poor reasoning and retrieval.</a:t>
            </a:r>
          </a:p>
        </p:txBody>
      </p:sp>
      <p:sp>
        <p:nvSpPr>
          <p:cNvPr id="6" name="Rectangle 5">
            <a:extLst>
              <a:ext uri="{FF2B5EF4-FFF2-40B4-BE49-F238E27FC236}">
                <a16:creationId xmlns:a16="http://schemas.microsoft.com/office/drawing/2014/main" id="{EE1DEA12-634E-134C-D2CF-239890F947B4}"/>
              </a:ext>
            </a:extLst>
          </p:cNvPr>
          <p:cNvSpPr/>
          <p:nvPr/>
        </p:nvSpPr>
        <p:spPr>
          <a:xfrm>
            <a:off x="4186203" y="1087673"/>
            <a:ext cx="3809451" cy="47764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r>
              <a:t>The AetherMind Approach</a:t>
            </a:r>
          </a:p>
          <a:p>
            <a:pPr/>
            <a:r>
              <a:t>AetherMind implements a structured, data-driven approach to extracting, validating, and continuously improving document ingestion pipelines. It shifts extraction from a "flat-text" model to a layout-aware, visual-reconstruction framework that preserves absolute coordinates, table grids, and flowchart connectors.</a:t>
            </a:r>
          </a:p>
          <a:p>
            <a:pPr/>
            <a:r>
              <a:t>Key features include:</a:t>
            </a:r>
          </a:p>
          <a:p>
            <a:pPr/>
            <a:r>
              <a:t>▪ High-Fidelity Spatial Mapping: Captures coordinates in native EMUs and pixels, documenting exact layout bounds and styles.</a:t>
            </a:r>
          </a:p>
          <a:p>
            <a:pPr/>
            <a:r>
              <a:t>▪ Phased Multi-Agent Orchestration: Runs task-specific agents (Table, Flowchart, Layout, Style) in parallel execution phases.</a:t>
            </a:r>
          </a:p>
          <a:p>
            <a:pPr/>
            <a:r>
              <a:t>▪ Scene &amp; Logic Synthesis: Transcribes illustrations and translates flowchart symbols into Mermaid.js diagram models.</a:t>
            </a:r>
          </a:p>
          <a:p>
            <a:pPr/>
            <a:r>
              <a:t>▪ Deterministic Layout Rendering: Programmatically draws shapes and borders to re-render pages and audit extraction accuracy.</a:t>
            </a:r>
          </a:p>
        </p:txBody>
      </p:sp>
      <p:sp>
        <p:nvSpPr>
          <p:cNvPr id="8" name="Rounded Rectangle 7">
            <a:extLst>
              <a:ext uri="{FF2B5EF4-FFF2-40B4-BE49-F238E27FC236}">
                <a16:creationId xmlns:a16="http://schemas.microsoft.com/office/drawing/2014/main" id="{DFE66BF8-A8EB-2076-2B01-4B43300A2FFA}"/>
              </a:ext>
            </a:extLst>
          </p:cNvPr>
          <p:cNvSpPr/>
          <p:nvPr/>
        </p:nvSpPr>
        <p:spPr>
          <a:xfrm>
            <a:off x="8082127" y="1465988"/>
            <a:ext cx="3520374" cy="1185119"/>
          </a:xfrm>
          <a:prstGeom prst="roundRect">
            <a:avLst>
              <a:gd name="adj" fmla="val 7705"/>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t>Lossless Coordinates</a:t>
            </a:r>
          </a:p>
          <a:p>
            <a:r>
              <a:t>Captures precise dimensions in native EMUs and pixels, documenting exact layout bounds, font styling runs, and margins.</a:t>
            </a:r>
          </a:p>
        </p:txBody>
      </p:sp>
      <p:sp>
        <p:nvSpPr>
          <p:cNvPr id="9" name="Rounded Rectangle 8">
            <a:extLst>
              <a:ext uri="{FF2B5EF4-FFF2-40B4-BE49-F238E27FC236}">
                <a16:creationId xmlns:a16="http://schemas.microsoft.com/office/drawing/2014/main" id="{E986F767-BCB3-F998-6B74-16EF2541A675}"/>
              </a:ext>
            </a:extLst>
          </p:cNvPr>
          <p:cNvSpPr/>
          <p:nvPr/>
        </p:nvSpPr>
        <p:spPr>
          <a:xfrm>
            <a:off x="8082127" y="2789273"/>
            <a:ext cx="3520374" cy="973489"/>
          </a:xfrm>
          <a:prstGeom prst="roundRect">
            <a:avLst>
              <a:gd name="adj" fmla="val 7705"/>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Multi-Agent Analysis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Orchestrates 12 parallel agents to segment layout grids, topological table structures, and visual elements.</a:t>
            </a:r>
            <a:r>
              <a:rPr kumimoji="0" lang="en-AU" sz="1100" b="0" i="0" u="sng"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a:r>
            <a:r>
              <a:rPr kumimoji="0" lang="en-AU" sz="11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a:r>
            <a:endParaRPr kumimoji="0" lang="en-US" sz="1100" b="0" i="0" u="none" strike="noStrike" kern="1200" cap="none" spc="0" normalizeH="0" baseline="0" noProof="0" dirty="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0" name="Rounded Rectangle 9">
            <a:extLst>
              <a:ext uri="{FF2B5EF4-FFF2-40B4-BE49-F238E27FC236}">
                <a16:creationId xmlns:a16="http://schemas.microsoft.com/office/drawing/2014/main" id="{FBB5501F-4D2B-503D-02F9-A15D2023A14D}"/>
              </a:ext>
            </a:extLst>
          </p:cNvPr>
          <p:cNvSpPr/>
          <p:nvPr/>
        </p:nvSpPr>
        <p:spPr>
          <a:xfrm>
            <a:off x="8082127" y="3900928"/>
            <a:ext cx="3520373" cy="839111"/>
          </a:xfrm>
          <a:prstGeom prst="roundRect">
            <a:avLst>
              <a:gd name="adj" fmla="val 7705"/>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t>Semantic Synthesis</a:t>
            </a:r>
          </a:p>
          <a:p>
            <a:r>
              <a:t>Generates markdown logs, GFM tables, and Mermaid flowchart models to describe complex slide processes, enhancing visibility and layout integrity.</a:t>
            </a:r>
          </a:p>
        </p:txBody>
      </p:sp>
      <p:sp>
        <p:nvSpPr>
          <p:cNvPr id="11" name="Rounded Rectangle 10">
            <a:extLst>
              <a:ext uri="{FF2B5EF4-FFF2-40B4-BE49-F238E27FC236}">
                <a16:creationId xmlns:a16="http://schemas.microsoft.com/office/drawing/2014/main" id="{FF757CB3-AF4F-B8BD-39A6-A56E5015CDAC}"/>
              </a:ext>
            </a:extLst>
          </p:cNvPr>
          <p:cNvSpPr/>
          <p:nvPr/>
        </p:nvSpPr>
        <p:spPr>
          <a:xfrm>
            <a:off x="8082128" y="4878205"/>
            <a:ext cx="3520372" cy="1180523"/>
          </a:xfrm>
          <a:prstGeom prst="roundRect">
            <a:avLst>
              <a:gd name="adj" fmla="val 7705"/>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t>Closed-Loop Validation</a:t>
            </a:r>
          </a:p>
          <a:p>
            <a:r>
              <a:t>Re-renders layouts deterministically and computes SSIM metrics, ensuring extraction matches the original, building confidence in downstream data.</a:t>
            </a:r>
          </a:p>
        </p:txBody>
      </p:sp>
      <p:sp>
        <p:nvSpPr>
          <p:cNvPr id="14" name="Rectangle 13">
            <a:extLst>
              <a:ext uri="{FF2B5EF4-FFF2-40B4-BE49-F238E27FC236}">
                <a16:creationId xmlns:a16="http://schemas.microsoft.com/office/drawing/2014/main" id="{EFF4D976-683F-18DC-86AC-B78717B5C481}"/>
              </a:ext>
            </a:extLst>
          </p:cNvPr>
          <p:cNvSpPr/>
          <p:nvPr/>
        </p:nvSpPr>
        <p:spPr>
          <a:xfrm>
            <a:off x="8005796" y="1081618"/>
            <a:ext cx="3606847" cy="10783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AU" sz="1200" b="1"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Benefits</a:t>
            </a:r>
            <a:endParaRPr kumimoji="0" lang="en-AU" sz="1100" b="1"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15" name="Picture 14">
            <a:extLst>
              <a:ext uri="{FF2B5EF4-FFF2-40B4-BE49-F238E27FC236}">
                <a16:creationId xmlns:a16="http://schemas.microsoft.com/office/drawing/2014/main" id="{EB9149FE-D8DD-2C8B-BFC2-5CD02AC3B565}"/>
              </a:ext>
            </a:extLst>
          </p:cNvPr>
          <p:cNvPicPr>
            <a:picLocks noChangeAspect="1"/>
          </p:cNvPicPr>
          <p:nvPr/>
        </p:nvPicPr>
        <p:blipFill>
          <a:blip r:embed="rId2"/>
          <a:stretch>
            <a:fillRect/>
          </a:stretch>
        </p:blipFill>
        <p:spPr>
          <a:xfrm>
            <a:off x="4681959" y="2434332"/>
            <a:ext cx="2476526" cy="1404236"/>
          </a:xfrm>
          <a:prstGeom prst="rect">
            <a:avLst/>
          </a:prstGeom>
        </p:spPr>
      </p:pic>
    </p:spTree>
    <p:extLst>
      <p:ext uri="{BB962C8B-B14F-4D97-AF65-F5344CB8AC3E}">
        <p14:creationId xmlns:p14="http://schemas.microsoft.com/office/powerpoint/2010/main" val="345084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95644-B78A-277E-8F08-FF70953592C9}"/>
              </a:ext>
            </a:extLst>
          </p:cNvPr>
          <p:cNvSpPr>
            <a:spLocks noGrp="1"/>
          </p:cNvSpPr>
          <p:nvPr>
            <p:ph type="title"/>
          </p:nvPr>
        </p:nvSpPr>
        <p:spPr/>
        <p:txBody>
          <a:bodyPr/>
          <a:lstStyle/>
          <a:p>
            <a:r>
              <a:rPr lang="en-AU" noProof="0"/>
              <a:t>AetherMind Document Ingestion – Process Overview</a:t>
            </a:r>
          </a:p>
        </p:txBody>
      </p:sp>
      <p:sp>
        <p:nvSpPr>
          <p:cNvPr id="3" name="Text Placeholder 2">
            <a:extLst>
              <a:ext uri="{FF2B5EF4-FFF2-40B4-BE49-F238E27FC236}">
                <a16:creationId xmlns:a16="http://schemas.microsoft.com/office/drawing/2014/main" id="{C473F525-BEF8-4533-3A7F-BF2A172C29CA}"/>
              </a:ext>
            </a:extLst>
          </p:cNvPr>
          <p:cNvSpPr>
            <a:spLocks noGrp="1"/>
          </p:cNvSpPr>
          <p:nvPr>
            <p:ph type="body" sz="quarter" idx="10"/>
          </p:nvPr>
        </p:nvSpPr>
        <p:spPr/>
        <p:txBody>
          <a:bodyPr/>
          <a:lstStyle/>
          <a:p>
            <a:r>
              <a:rPr lang="en-AU" noProof="0" dirty="0"/>
              <a:t>The AetherMind Pipeline extracts, enriches, and validates layout geometry and document text.</a:t>
            </a:r>
          </a:p>
        </p:txBody>
      </p:sp>
      <p:sp>
        <p:nvSpPr>
          <p:cNvPr id="4" name="Rectangle 3">
            <a:extLst>
              <a:ext uri="{FF2B5EF4-FFF2-40B4-BE49-F238E27FC236}">
                <a16:creationId xmlns:a16="http://schemas.microsoft.com/office/drawing/2014/main" id="{1C23A589-DA83-641C-2D81-D2B493B7FC4A}"/>
              </a:ext>
            </a:extLst>
          </p:cNvPr>
          <p:cNvSpPr/>
          <p:nvPr/>
        </p:nvSpPr>
        <p:spPr>
          <a:xfrm>
            <a:off x="2152499" y="1944242"/>
            <a:ext cx="2846108" cy="4114792"/>
          </a:xfrm>
          <a:prstGeom prst="rect">
            <a:avLst/>
          </a:prstGeom>
          <a:noFill/>
          <a:ln w="19050" cap="flat" cmpd="sng" algn="ctr">
            <a:solidFill>
              <a:schemeClr val="accent4"/>
            </a:solidFill>
            <a:prstDash val="sysDash"/>
          </a:ln>
          <a:effectLst/>
        </p:spPr>
        <p:txBody>
          <a:bodyPr tIns="91440" rtlCol="0" anchor="t"/>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1400" b="1" i="0" u="none" strike="noStrike" kern="0" cap="none" spc="0" normalizeH="0" baseline="0" noProof="0">
                <a:ln>
                  <a:noFill/>
                </a:ln>
                <a:solidFill>
                  <a:srgbClr val="0D8390"/>
                </a:solidFill>
                <a:effectLst/>
                <a:uLnTx/>
                <a:uFillTx/>
                <a:latin typeface="Calibri Light" panose="020F0302020204030204"/>
                <a:ea typeface="Open Sans Light" panose="020B0306030504020204" pitchFamily="34" charset="0"/>
                <a:cs typeface="Open Sans Light" panose="020B0306030504020204" pitchFamily="34" charset="0"/>
              </a:rPr>
              <a:t>EXTRACTION LAYER</a:t>
            </a:r>
          </a:p>
        </p:txBody>
      </p:sp>
      <p:sp>
        <p:nvSpPr>
          <p:cNvPr id="5" name="Oval 4">
            <a:extLst>
              <a:ext uri="{FF2B5EF4-FFF2-40B4-BE49-F238E27FC236}">
                <a16:creationId xmlns:a16="http://schemas.microsoft.com/office/drawing/2014/main" id="{C999D538-9FD3-BA2D-D56D-FA107998ABEF}"/>
              </a:ext>
            </a:extLst>
          </p:cNvPr>
          <p:cNvSpPr/>
          <p:nvPr/>
        </p:nvSpPr>
        <p:spPr>
          <a:xfrm>
            <a:off x="1996008" y="1799079"/>
            <a:ext cx="324000" cy="324000"/>
          </a:xfrm>
          <a:prstGeom prst="ellipse">
            <a:avLst/>
          </a:prstGeom>
          <a:solidFill>
            <a:schemeClr val="accent4"/>
          </a:solidFill>
          <a:ln w="28575"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prstClr val="white"/>
                </a:solidFill>
                <a:effectLst/>
                <a:uLnTx/>
                <a:uFillTx/>
                <a:latin typeface="Calibri" panose="020F0502020204030204"/>
                <a:ea typeface="Open Sans" panose="020B0606030504020204" pitchFamily="34" charset="0"/>
                <a:cs typeface="Open Sans" panose="020B0606030504020204" pitchFamily="34" charset="0"/>
              </a:rPr>
              <a:t>2</a:t>
            </a:r>
          </a:p>
        </p:txBody>
      </p:sp>
      <p:sp>
        <p:nvSpPr>
          <p:cNvPr id="6" name="Rectangle 5">
            <a:extLst>
              <a:ext uri="{FF2B5EF4-FFF2-40B4-BE49-F238E27FC236}">
                <a16:creationId xmlns:a16="http://schemas.microsoft.com/office/drawing/2014/main" id="{D5C9C894-A6FC-F8BA-03CC-97EE46CAC9D7}"/>
              </a:ext>
            </a:extLst>
          </p:cNvPr>
          <p:cNvSpPr/>
          <p:nvPr/>
        </p:nvSpPr>
        <p:spPr>
          <a:xfrm>
            <a:off x="431665" y="1944243"/>
            <a:ext cx="1408568" cy="4114792"/>
          </a:xfrm>
          <a:prstGeom prst="rect">
            <a:avLst/>
          </a:prstGeom>
          <a:noFill/>
          <a:ln w="19050" cap="flat" cmpd="sng" algn="ctr">
            <a:solidFill>
              <a:schemeClr val="accent2"/>
            </a:solidFill>
            <a:prstDash val="sysDash"/>
          </a:ln>
          <a:effectLst/>
        </p:spPr>
        <p:txBody>
          <a:bodyPr tIns="64008" rtlCol="0" anchor="t"/>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endParaRPr kumimoji="0" lang="en-AU" sz="1400" b="1" i="0" u="none" strike="noStrike" kern="0" cap="none" spc="0" normalizeH="0" baseline="0" noProof="0">
              <a:ln>
                <a:noFill/>
              </a:ln>
              <a:solidFill>
                <a:srgbClr val="DA291C"/>
              </a:solidFill>
              <a:effectLst/>
              <a:uLnTx/>
              <a:uFillTx/>
              <a:latin typeface="Calibri Light" panose="020F0302020204030204"/>
              <a:ea typeface="Open Sans Light" panose="020B0306030504020204" pitchFamily="34" charset="0"/>
              <a:cs typeface="Open Sans Light" panose="020B0306030504020204" pitchFamily="34" charset="0"/>
            </a:endParaRPr>
          </a:p>
        </p:txBody>
      </p:sp>
      <p:sp>
        <p:nvSpPr>
          <p:cNvPr id="7" name="Oval 6">
            <a:extLst>
              <a:ext uri="{FF2B5EF4-FFF2-40B4-BE49-F238E27FC236}">
                <a16:creationId xmlns:a16="http://schemas.microsoft.com/office/drawing/2014/main" id="{C53D1F81-55FD-0396-D4CA-64744BAE29E2}"/>
              </a:ext>
            </a:extLst>
          </p:cNvPr>
          <p:cNvSpPr/>
          <p:nvPr/>
        </p:nvSpPr>
        <p:spPr>
          <a:xfrm>
            <a:off x="275890" y="1793392"/>
            <a:ext cx="324000" cy="324000"/>
          </a:xfrm>
          <a:prstGeom prst="ellipse">
            <a:avLst/>
          </a:prstGeom>
          <a:solidFill>
            <a:schemeClr val="accent2"/>
          </a:solidFill>
          <a:ln w="28575"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prstClr val="white"/>
                </a:solidFill>
                <a:effectLst/>
                <a:uLnTx/>
                <a:uFillTx/>
                <a:latin typeface="Calibri" panose="020F0502020204030204"/>
                <a:ea typeface="Open Sans" panose="020B0606030504020204" pitchFamily="34" charset="0"/>
                <a:cs typeface="Open Sans" panose="020B0606030504020204" pitchFamily="34" charset="0"/>
              </a:rPr>
              <a:t>1</a:t>
            </a:r>
          </a:p>
        </p:txBody>
      </p:sp>
      <p:sp>
        <p:nvSpPr>
          <p:cNvPr id="8" name="Rectangle 7">
            <a:extLst>
              <a:ext uri="{FF2B5EF4-FFF2-40B4-BE49-F238E27FC236}">
                <a16:creationId xmlns:a16="http://schemas.microsoft.com/office/drawing/2014/main" id="{696427F7-9940-19C1-422D-C6C646D77910}"/>
              </a:ext>
            </a:extLst>
          </p:cNvPr>
          <p:cNvSpPr/>
          <p:nvPr/>
        </p:nvSpPr>
        <p:spPr>
          <a:xfrm>
            <a:off x="597703" y="3017148"/>
            <a:ext cx="1095242" cy="540000"/>
          </a:xfrm>
          <a:prstGeom prst="rect">
            <a:avLst/>
          </a:prstGeom>
          <a:solidFill>
            <a:schemeClr val="accent1">
              <a:lumMod val="20000"/>
              <a:lumOff val="80000"/>
            </a:schemeClr>
          </a:solidFill>
          <a:ln w="3175" cap="flat" cmpd="sng" algn="ctr">
            <a:solidFill>
              <a:sysClr val="window" lastClr="FFFFFF">
                <a:lumMod val="75000"/>
              </a:sysClr>
            </a:solidFill>
            <a:prstDash val="solid"/>
          </a:ln>
          <a:effectLst/>
        </p:spPr>
        <p:txBody>
          <a:bodyPr lIns="0" tIns="0" rIns="72000" bIns="0" rtlCol="0" anchor="ctr"/>
          <a:lstStyle/>
          <a:p>
            <a:pPr marL="93662"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Load Ingestion Files</a:t>
            </a:r>
          </a:p>
        </p:txBody>
      </p:sp>
      <p:cxnSp>
        <p:nvCxnSpPr>
          <p:cNvPr id="9" name="Straight Arrow Connector 8">
            <a:extLst>
              <a:ext uri="{FF2B5EF4-FFF2-40B4-BE49-F238E27FC236}">
                <a16:creationId xmlns:a16="http://schemas.microsoft.com/office/drawing/2014/main" id="{85502C93-F5B4-6199-2600-F401B33D37A2}"/>
              </a:ext>
            </a:extLst>
          </p:cNvPr>
          <p:cNvCxnSpPr>
            <a:cxnSpLocks/>
            <a:stCxn id="8" idx="2"/>
            <a:endCxn id="15" idx="0"/>
          </p:cNvCxnSpPr>
          <p:nvPr/>
        </p:nvCxnSpPr>
        <p:spPr>
          <a:xfrm>
            <a:off x="1145324" y="3557148"/>
            <a:ext cx="0" cy="252388"/>
          </a:xfrm>
          <a:prstGeom prst="straightConnector1">
            <a:avLst/>
          </a:prstGeom>
          <a:noFill/>
          <a:ln w="19050" cap="flat" cmpd="sng" algn="ctr">
            <a:solidFill>
              <a:srgbClr val="C5C6C4"/>
            </a:solidFill>
            <a:prstDash val="solid"/>
            <a:tailEnd type="triangle"/>
          </a:ln>
          <a:effectLst/>
        </p:spPr>
      </p:cxnSp>
      <p:sp>
        <p:nvSpPr>
          <p:cNvPr id="10" name="Rectangle 9">
            <a:extLst>
              <a:ext uri="{FF2B5EF4-FFF2-40B4-BE49-F238E27FC236}">
                <a16:creationId xmlns:a16="http://schemas.microsoft.com/office/drawing/2014/main" id="{2737DB0B-9370-3C61-D829-10F75469003E}"/>
              </a:ext>
            </a:extLst>
          </p:cNvPr>
          <p:cNvSpPr/>
          <p:nvPr/>
        </p:nvSpPr>
        <p:spPr>
          <a:xfrm>
            <a:off x="5264031" y="1947167"/>
            <a:ext cx="3398333" cy="4111869"/>
          </a:xfrm>
          <a:prstGeom prst="rect">
            <a:avLst/>
          </a:prstGeom>
          <a:noFill/>
          <a:ln w="19050" cap="flat" cmpd="sng" algn="ctr">
            <a:solidFill>
              <a:schemeClr val="accent4"/>
            </a:solidFill>
            <a:prstDash val="sysDash"/>
          </a:ln>
          <a:effectLst/>
        </p:spPr>
        <p:txBody>
          <a:bodyPr tIns="91440" rtlCol="0" anchor="t"/>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1400" b="1" i="0" u="none" strike="noStrike" kern="0" cap="none" spc="0" normalizeH="0" baseline="0" noProof="0">
                <a:ln>
                  <a:noFill/>
                </a:ln>
                <a:solidFill>
                  <a:srgbClr val="0D8390"/>
                </a:solidFill>
                <a:effectLst/>
                <a:uLnTx/>
                <a:uFillTx/>
                <a:latin typeface="Calibri Light" panose="020F0302020204030204"/>
                <a:ea typeface="Open Sans Light" panose="020B0306030504020204" pitchFamily="34" charset="0"/>
                <a:cs typeface="Open Sans Light" panose="020B0306030504020204" pitchFamily="34" charset="0"/>
              </a:rPr>
              <a:t>ENRICHMENT LAYER</a:t>
            </a:r>
          </a:p>
        </p:txBody>
      </p:sp>
      <p:sp>
        <p:nvSpPr>
          <p:cNvPr id="11" name="Oval 10">
            <a:extLst>
              <a:ext uri="{FF2B5EF4-FFF2-40B4-BE49-F238E27FC236}">
                <a16:creationId xmlns:a16="http://schemas.microsoft.com/office/drawing/2014/main" id="{05F7FF97-05D4-2F7A-5495-BB4F8EC90560}"/>
              </a:ext>
            </a:extLst>
          </p:cNvPr>
          <p:cNvSpPr/>
          <p:nvPr/>
        </p:nvSpPr>
        <p:spPr>
          <a:xfrm>
            <a:off x="5102031" y="1796316"/>
            <a:ext cx="324000" cy="324000"/>
          </a:xfrm>
          <a:prstGeom prst="ellipse">
            <a:avLst/>
          </a:prstGeom>
          <a:solidFill>
            <a:schemeClr val="accent4"/>
          </a:solidFill>
          <a:ln w="28575"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a:ln>
                  <a:noFill/>
                </a:ln>
                <a:solidFill>
                  <a:prstClr val="white"/>
                </a:solidFill>
                <a:effectLst/>
                <a:uLnTx/>
                <a:uFillTx/>
                <a:latin typeface="Calibri" panose="020F0502020204030204"/>
                <a:ea typeface="Open Sans" panose="020B0606030504020204" pitchFamily="34" charset="0"/>
                <a:cs typeface="Open Sans" panose="020B0606030504020204" pitchFamily="34" charset="0"/>
              </a:rPr>
              <a:t>3</a:t>
            </a:r>
          </a:p>
        </p:txBody>
      </p:sp>
      <p:sp>
        <p:nvSpPr>
          <p:cNvPr id="12" name="Rectangle 11">
            <a:extLst>
              <a:ext uri="{FF2B5EF4-FFF2-40B4-BE49-F238E27FC236}">
                <a16:creationId xmlns:a16="http://schemas.microsoft.com/office/drawing/2014/main" id="{D4596A67-FE60-1DA5-B773-4AC91D1AA378}"/>
              </a:ext>
            </a:extLst>
          </p:cNvPr>
          <p:cNvSpPr/>
          <p:nvPr/>
        </p:nvSpPr>
        <p:spPr>
          <a:xfrm>
            <a:off x="9020140" y="1947167"/>
            <a:ext cx="2728948" cy="4111869"/>
          </a:xfrm>
          <a:prstGeom prst="rect">
            <a:avLst/>
          </a:prstGeom>
          <a:noFill/>
          <a:ln w="19050" cap="flat" cmpd="sng" algn="ctr">
            <a:solidFill>
              <a:schemeClr val="accent5"/>
            </a:solidFill>
            <a:prstDash val="sysDash"/>
          </a:ln>
          <a:effectLst/>
        </p:spPr>
        <p:txBody>
          <a:bodyPr tIns="64008" rtlCol="0" anchor="t"/>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1400" b="1" i="0" u="none" strike="noStrike" kern="0" cap="none" spc="0" normalizeH="0" baseline="0" noProof="0">
                <a:ln>
                  <a:noFill/>
                </a:ln>
                <a:solidFill>
                  <a:srgbClr val="BFBFBF"/>
                </a:solidFill>
                <a:effectLst/>
                <a:uLnTx/>
                <a:uFillTx/>
                <a:latin typeface="Calibri Light" panose="020F0302020204030204"/>
                <a:ea typeface="Open Sans Light" panose="020B0306030504020204" pitchFamily="34" charset="0"/>
                <a:cs typeface="Open Sans Light" panose="020B0306030504020204" pitchFamily="34" charset="0"/>
              </a:rPr>
              <a:t>VALIDATION &amp; AUDIT</a:t>
            </a:r>
          </a:p>
        </p:txBody>
      </p:sp>
      <p:sp>
        <p:nvSpPr>
          <p:cNvPr id="13" name="Oval 12">
            <a:extLst>
              <a:ext uri="{FF2B5EF4-FFF2-40B4-BE49-F238E27FC236}">
                <a16:creationId xmlns:a16="http://schemas.microsoft.com/office/drawing/2014/main" id="{29143A57-85EC-A39E-7743-AC4F356E49D7}"/>
              </a:ext>
            </a:extLst>
          </p:cNvPr>
          <p:cNvSpPr/>
          <p:nvPr/>
        </p:nvSpPr>
        <p:spPr>
          <a:xfrm>
            <a:off x="8858140" y="1792242"/>
            <a:ext cx="324000" cy="324000"/>
          </a:xfrm>
          <a:prstGeom prst="ellipse">
            <a:avLst/>
          </a:prstGeom>
          <a:solidFill>
            <a:srgbClr val="BFBFBF"/>
          </a:solidFill>
          <a:ln w="19050" cap="flat" cmpd="sng" algn="ctr">
            <a:solidFill>
              <a:schemeClr val="accent5"/>
            </a:solidFill>
            <a:prstDash val="sysDash"/>
          </a:ln>
          <a:effectLst/>
        </p:spPr>
        <p:txBody>
          <a:bodyPr tIns="64008" rtlCol="0" anchor="ct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1200" b="1" i="0" u="none" strike="noStrike" kern="0" cap="none" spc="0" normalizeH="0" baseline="0" noProof="0">
                <a:ln>
                  <a:noFill/>
                </a:ln>
                <a:solidFill>
                  <a:srgbClr val="FFFFFF"/>
                </a:solidFill>
                <a:effectLst/>
                <a:uLnTx/>
                <a:uFillTx/>
                <a:latin typeface="Calibri Light" panose="020F0302020204030204"/>
                <a:ea typeface="Open Sans Light" panose="020B0306030504020204" pitchFamily="34" charset="0"/>
                <a:cs typeface="Open Sans Light" panose="020B0306030504020204" pitchFamily="34" charset="0"/>
              </a:rPr>
              <a:t>4</a:t>
            </a:r>
          </a:p>
        </p:txBody>
      </p:sp>
      <p:sp>
        <p:nvSpPr>
          <p:cNvPr id="14" name="Rounded Rectangle 567">
            <a:extLst>
              <a:ext uri="{FF2B5EF4-FFF2-40B4-BE49-F238E27FC236}">
                <a16:creationId xmlns:a16="http://schemas.microsoft.com/office/drawing/2014/main" id="{FFCD3F28-FB03-AAF1-B9F7-07F7518D0E45}"/>
              </a:ext>
            </a:extLst>
          </p:cNvPr>
          <p:cNvSpPr/>
          <p:nvPr/>
        </p:nvSpPr>
        <p:spPr bwMode="ltGray">
          <a:xfrm>
            <a:off x="9125823" y="4289659"/>
            <a:ext cx="1177188" cy="645602"/>
          </a:xfrm>
          <a:prstGeom prst="rect">
            <a:avLst/>
          </a:prstGeom>
          <a:solidFill>
            <a:schemeClr val="accent5">
              <a:lumMod val="20000"/>
              <a:lumOff val="80000"/>
            </a:schemeClr>
          </a:solidFill>
          <a:ln w="9525" cap="flat" cmpd="sng" algn="ctr">
            <a:solidFill>
              <a:sysClr val="window" lastClr="FFFFFF">
                <a:lumMod val="85000"/>
              </a:sysClr>
            </a:solidFill>
            <a:prstDash val="solid"/>
          </a:ln>
          <a:effectLst/>
        </p:spPr>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FormRenderer PDF/PNG page drawing</a:t>
            </a:r>
          </a:p>
        </p:txBody>
      </p:sp>
      <p:sp>
        <p:nvSpPr>
          <p:cNvPr id="15" name="Rectangle 14">
            <a:extLst>
              <a:ext uri="{FF2B5EF4-FFF2-40B4-BE49-F238E27FC236}">
                <a16:creationId xmlns:a16="http://schemas.microsoft.com/office/drawing/2014/main" id="{43CA7225-CA2E-0AB4-39E7-7A394AD8A97C}"/>
              </a:ext>
            </a:extLst>
          </p:cNvPr>
          <p:cNvSpPr/>
          <p:nvPr/>
        </p:nvSpPr>
        <p:spPr>
          <a:xfrm>
            <a:off x="597703" y="3809536"/>
            <a:ext cx="1095242" cy="540000"/>
          </a:xfrm>
          <a:prstGeom prst="rect">
            <a:avLst/>
          </a:prstGeom>
          <a:solidFill>
            <a:schemeClr val="accent1">
              <a:lumMod val="20000"/>
              <a:lumOff val="80000"/>
            </a:scheme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Crop Screen Chrome</a:t>
            </a:r>
          </a:p>
        </p:txBody>
      </p:sp>
      <p:sp>
        <p:nvSpPr>
          <p:cNvPr id="16" name="Rounded Rectangle 567">
            <a:extLst>
              <a:ext uri="{FF2B5EF4-FFF2-40B4-BE49-F238E27FC236}">
                <a16:creationId xmlns:a16="http://schemas.microsoft.com/office/drawing/2014/main" id="{EDB06BD9-546A-49D3-517A-CE2E8B316D5D}"/>
              </a:ext>
            </a:extLst>
          </p:cNvPr>
          <p:cNvSpPr/>
          <p:nvPr/>
        </p:nvSpPr>
        <p:spPr bwMode="ltGray">
          <a:xfrm>
            <a:off x="9125823" y="5184026"/>
            <a:ext cx="1177188" cy="626245"/>
          </a:xfrm>
          <a:prstGeom prst="rect">
            <a:avLst/>
          </a:prstGeom>
          <a:solidFill>
            <a:schemeClr val="accent5">
              <a:lumMod val="20000"/>
              <a:lumOff val="8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SSIM Quality validation audits</a:t>
            </a:r>
          </a:p>
        </p:txBody>
      </p:sp>
      <p:sp>
        <p:nvSpPr>
          <p:cNvPr id="17" name="Arrow: Chevron 11">
            <a:extLst>
              <a:ext uri="{FF2B5EF4-FFF2-40B4-BE49-F238E27FC236}">
                <a16:creationId xmlns:a16="http://schemas.microsoft.com/office/drawing/2014/main" id="{0A16934F-92C9-F9AB-E942-E1388E2CB55F}"/>
              </a:ext>
            </a:extLst>
          </p:cNvPr>
          <p:cNvSpPr/>
          <p:nvPr/>
        </p:nvSpPr>
        <p:spPr bwMode="gray">
          <a:xfrm>
            <a:off x="379588" y="1408938"/>
            <a:ext cx="1615084" cy="301751"/>
          </a:xfrm>
          <a:prstGeom prst="chevr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AU" sz="1400" b="1" i="0" u="none" strike="noStrike" kern="1200" cap="none" spc="0" normalizeH="0" baseline="0" noProof="0">
                <a:ln>
                  <a:noFill/>
                </a:ln>
                <a:solidFill>
                  <a:srgbClr val="FFFFFF"/>
                </a:solidFill>
                <a:effectLst/>
                <a:uLnTx/>
                <a:uFillTx/>
                <a:latin typeface="Calibri" panose="020F0502020204030204"/>
                <a:ea typeface="+mn-ea"/>
                <a:cs typeface="+mn-cs"/>
              </a:rPr>
              <a:t>INGEST</a:t>
            </a:r>
          </a:p>
        </p:txBody>
      </p:sp>
      <p:sp>
        <p:nvSpPr>
          <p:cNvPr id="18" name="Arrow: Chevron 12">
            <a:extLst>
              <a:ext uri="{FF2B5EF4-FFF2-40B4-BE49-F238E27FC236}">
                <a16:creationId xmlns:a16="http://schemas.microsoft.com/office/drawing/2014/main" id="{AA4F5678-5D97-1174-C0F5-3AEBDEE16651}"/>
              </a:ext>
            </a:extLst>
          </p:cNvPr>
          <p:cNvSpPr/>
          <p:nvPr/>
        </p:nvSpPr>
        <p:spPr bwMode="gray">
          <a:xfrm>
            <a:off x="1996008" y="1418695"/>
            <a:ext cx="6862132" cy="301751"/>
          </a:xfrm>
          <a:prstGeom prst="chevron">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AU" sz="1400" b="1" i="0" u="none" strike="noStrike" kern="1200" cap="none" spc="0" normalizeH="0" baseline="0" noProof="0">
                <a:ln>
                  <a:noFill/>
                </a:ln>
                <a:solidFill>
                  <a:srgbClr val="FFFFFF"/>
                </a:solidFill>
                <a:effectLst/>
                <a:uLnTx/>
                <a:uFillTx/>
                <a:latin typeface="Calibri" panose="020F0502020204030204"/>
                <a:ea typeface="+mn-ea"/>
                <a:cs typeface="+mn-cs"/>
              </a:rPr>
              <a:t>EXTRACT</a:t>
            </a:r>
          </a:p>
        </p:txBody>
      </p:sp>
      <p:sp>
        <p:nvSpPr>
          <p:cNvPr id="19" name="Arrow: Chevron 13">
            <a:extLst>
              <a:ext uri="{FF2B5EF4-FFF2-40B4-BE49-F238E27FC236}">
                <a16:creationId xmlns:a16="http://schemas.microsoft.com/office/drawing/2014/main" id="{E94EFF3E-47E1-DFF0-A6CF-2A07337C1107}"/>
              </a:ext>
            </a:extLst>
          </p:cNvPr>
          <p:cNvSpPr/>
          <p:nvPr/>
        </p:nvSpPr>
        <p:spPr bwMode="gray">
          <a:xfrm>
            <a:off x="8858140" y="1418695"/>
            <a:ext cx="2952936" cy="301751"/>
          </a:xfrm>
          <a:prstGeom prst="chevron">
            <a:avLst/>
          </a:prstGeom>
          <a:solidFill>
            <a:srgbClr val="BFBFB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AU" sz="1400" b="1" i="0" u="none" strike="noStrike" kern="1200" cap="none" spc="0" normalizeH="0" baseline="0" noProof="0">
                <a:ln>
                  <a:noFill/>
                </a:ln>
                <a:solidFill>
                  <a:srgbClr val="FFFFFF"/>
                </a:solidFill>
                <a:effectLst/>
                <a:uLnTx/>
                <a:uFillTx/>
                <a:latin typeface="Calibri" panose="020F0502020204030204"/>
                <a:ea typeface="+mn-ea"/>
                <a:cs typeface="+mn-cs"/>
              </a:rPr>
              <a:t>VALIDATE</a:t>
            </a:r>
          </a:p>
        </p:txBody>
      </p:sp>
      <p:sp>
        <p:nvSpPr>
          <p:cNvPr id="20" name="Rounded Rectangle 567">
            <a:extLst>
              <a:ext uri="{FF2B5EF4-FFF2-40B4-BE49-F238E27FC236}">
                <a16:creationId xmlns:a16="http://schemas.microsoft.com/office/drawing/2014/main" id="{8060EEB1-16C1-E3F3-5044-CB197C2CC8E6}"/>
              </a:ext>
            </a:extLst>
          </p:cNvPr>
          <p:cNvSpPr/>
          <p:nvPr/>
        </p:nvSpPr>
        <p:spPr bwMode="ltGray">
          <a:xfrm>
            <a:off x="9125823" y="3183318"/>
            <a:ext cx="1177188" cy="908580"/>
          </a:xfrm>
          <a:prstGeom prst="rect">
            <a:avLst/>
          </a:prstGeom>
          <a:solidFill>
            <a:schemeClr val="accent5">
              <a:lumMod val="20000"/>
              <a:lumOff val="80000"/>
            </a:schemeClr>
          </a:solidFill>
          <a:ln w="9525" cap="flat" cmpd="sng" algn="ctr">
            <a:solidFill>
              <a:sysClr val="window" lastClr="FFFFFF">
                <a:lumMod val="85000"/>
              </a:sysClr>
            </a:solidFill>
            <a:prstDash val="solid"/>
          </a:ln>
          <a:effectLst/>
        </p:spPr>
        <p:txBody>
          <a:bodyPr lIns="36000" tIns="36000" rIns="36000" bIns="36000" rtlCol="0" anchor="ct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Compare reconstructed layout coordinate spans</a:t>
            </a:r>
          </a:p>
        </p:txBody>
      </p:sp>
      <p:grpSp>
        <p:nvGrpSpPr>
          <p:cNvPr id="21" name="Group 20">
            <a:extLst>
              <a:ext uri="{FF2B5EF4-FFF2-40B4-BE49-F238E27FC236}">
                <a16:creationId xmlns:a16="http://schemas.microsoft.com/office/drawing/2014/main" id="{C01F9F95-A40F-CA60-E04B-CD4D6B09E1B3}"/>
              </a:ext>
            </a:extLst>
          </p:cNvPr>
          <p:cNvGrpSpPr/>
          <p:nvPr/>
        </p:nvGrpSpPr>
        <p:grpSpPr>
          <a:xfrm>
            <a:off x="772176" y="2309820"/>
            <a:ext cx="746301" cy="393023"/>
            <a:chOff x="1274960" y="6136555"/>
            <a:chExt cx="964620" cy="425710"/>
          </a:xfrm>
        </p:grpSpPr>
        <p:sp>
          <p:nvSpPr>
            <p:cNvPr id="22" name="object 189">
              <a:extLst>
                <a:ext uri="{FF2B5EF4-FFF2-40B4-BE49-F238E27FC236}">
                  <a16:creationId xmlns:a16="http://schemas.microsoft.com/office/drawing/2014/main" id="{EFA4223C-7473-EBCD-3D5E-37D87552D41D}"/>
                </a:ext>
              </a:extLst>
            </p:cNvPr>
            <p:cNvSpPr/>
            <p:nvPr/>
          </p:nvSpPr>
          <p:spPr>
            <a:xfrm>
              <a:off x="1275167" y="6136555"/>
              <a:ext cx="650875" cy="135890"/>
            </a:xfrm>
            <a:custGeom>
              <a:avLst/>
              <a:gdLst/>
              <a:ahLst/>
              <a:cxnLst/>
              <a:rect l="l" t="t" r="r" b="b"/>
              <a:pathLst>
                <a:path w="650875" h="135889">
                  <a:moveTo>
                    <a:pt x="83" y="0"/>
                  </a:moveTo>
                  <a:lnTo>
                    <a:pt x="0" y="135189"/>
                  </a:lnTo>
                  <a:lnTo>
                    <a:pt x="650629" y="135660"/>
                  </a:lnTo>
                  <a:lnTo>
                    <a:pt x="650723" y="471"/>
                  </a:lnTo>
                  <a:lnTo>
                    <a:pt x="83" y="0"/>
                  </a:lnTo>
                  <a:close/>
                </a:path>
              </a:pathLst>
            </a:custGeom>
            <a:solidFill>
              <a:srgbClr val="34475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23" name="object 190">
              <a:extLst>
                <a:ext uri="{FF2B5EF4-FFF2-40B4-BE49-F238E27FC236}">
                  <a16:creationId xmlns:a16="http://schemas.microsoft.com/office/drawing/2014/main" id="{CDBF3BD0-710E-B2CD-A51F-EBC206488031}"/>
                </a:ext>
              </a:extLst>
            </p:cNvPr>
            <p:cNvPicPr/>
            <p:nvPr/>
          </p:nvPicPr>
          <p:blipFill>
            <a:blip r:embed="rId2" cstate="print"/>
            <a:stretch>
              <a:fillRect/>
            </a:stretch>
          </p:blipFill>
          <p:spPr>
            <a:xfrm>
              <a:off x="1354787" y="6167094"/>
              <a:ext cx="170895" cy="74353"/>
            </a:xfrm>
            <a:prstGeom prst="rect">
              <a:avLst/>
            </a:prstGeom>
          </p:spPr>
        </p:pic>
        <p:sp>
          <p:nvSpPr>
            <p:cNvPr id="24" name="object 191">
              <a:extLst>
                <a:ext uri="{FF2B5EF4-FFF2-40B4-BE49-F238E27FC236}">
                  <a16:creationId xmlns:a16="http://schemas.microsoft.com/office/drawing/2014/main" id="{86B4396A-3417-A06C-26ED-F2106C03E66B}"/>
                </a:ext>
              </a:extLst>
            </p:cNvPr>
            <p:cNvSpPr/>
            <p:nvPr/>
          </p:nvSpPr>
          <p:spPr>
            <a:xfrm>
              <a:off x="1275063" y="6282332"/>
              <a:ext cx="650875" cy="135890"/>
            </a:xfrm>
            <a:custGeom>
              <a:avLst/>
              <a:gdLst/>
              <a:ahLst/>
              <a:cxnLst/>
              <a:rect l="l" t="t" r="r" b="b"/>
              <a:pathLst>
                <a:path w="650875" h="135889">
                  <a:moveTo>
                    <a:pt x="83" y="0"/>
                  </a:moveTo>
                  <a:lnTo>
                    <a:pt x="0" y="135189"/>
                  </a:lnTo>
                  <a:lnTo>
                    <a:pt x="650629" y="135660"/>
                  </a:lnTo>
                  <a:lnTo>
                    <a:pt x="650723" y="471"/>
                  </a:lnTo>
                  <a:lnTo>
                    <a:pt x="83" y="0"/>
                  </a:lnTo>
                  <a:close/>
                </a:path>
              </a:pathLst>
            </a:custGeom>
            <a:solidFill>
              <a:srgbClr val="34475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25" name="object 192">
              <a:extLst>
                <a:ext uri="{FF2B5EF4-FFF2-40B4-BE49-F238E27FC236}">
                  <a16:creationId xmlns:a16="http://schemas.microsoft.com/office/drawing/2014/main" id="{562E927C-D7E3-B31C-A02A-AE51ED3852CD}"/>
                </a:ext>
              </a:extLst>
            </p:cNvPr>
            <p:cNvPicPr/>
            <p:nvPr/>
          </p:nvPicPr>
          <p:blipFill>
            <a:blip r:embed="rId3" cstate="print"/>
            <a:stretch>
              <a:fillRect/>
            </a:stretch>
          </p:blipFill>
          <p:spPr>
            <a:xfrm>
              <a:off x="1354683" y="6312869"/>
              <a:ext cx="170895" cy="74353"/>
            </a:xfrm>
            <a:prstGeom prst="rect">
              <a:avLst/>
            </a:prstGeom>
          </p:spPr>
        </p:pic>
        <p:sp>
          <p:nvSpPr>
            <p:cNvPr id="26" name="object 193">
              <a:extLst>
                <a:ext uri="{FF2B5EF4-FFF2-40B4-BE49-F238E27FC236}">
                  <a16:creationId xmlns:a16="http://schemas.microsoft.com/office/drawing/2014/main" id="{8EA43A0C-566C-13D4-2367-6986029121E2}"/>
                </a:ext>
              </a:extLst>
            </p:cNvPr>
            <p:cNvSpPr/>
            <p:nvPr/>
          </p:nvSpPr>
          <p:spPr>
            <a:xfrm>
              <a:off x="1274960" y="6428108"/>
              <a:ext cx="650875" cy="133985"/>
            </a:xfrm>
            <a:custGeom>
              <a:avLst/>
              <a:gdLst/>
              <a:ahLst/>
              <a:cxnLst/>
              <a:rect l="l" t="t" r="r" b="b"/>
              <a:pathLst>
                <a:path w="650875" h="133984">
                  <a:moveTo>
                    <a:pt x="0" y="133933"/>
                  </a:moveTo>
                  <a:lnTo>
                    <a:pt x="650723" y="133933"/>
                  </a:lnTo>
                  <a:lnTo>
                    <a:pt x="650723" y="0"/>
                  </a:lnTo>
                  <a:lnTo>
                    <a:pt x="0" y="0"/>
                  </a:lnTo>
                  <a:lnTo>
                    <a:pt x="0" y="133933"/>
                  </a:lnTo>
                  <a:close/>
                </a:path>
              </a:pathLst>
            </a:custGeom>
            <a:solidFill>
              <a:srgbClr val="34475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27" name="object 194">
              <a:extLst>
                <a:ext uri="{FF2B5EF4-FFF2-40B4-BE49-F238E27FC236}">
                  <a16:creationId xmlns:a16="http://schemas.microsoft.com/office/drawing/2014/main" id="{827F7BA7-E83C-1B37-2C38-6E32A5F4B9A7}"/>
                </a:ext>
              </a:extLst>
            </p:cNvPr>
            <p:cNvPicPr/>
            <p:nvPr/>
          </p:nvPicPr>
          <p:blipFill>
            <a:blip r:embed="rId4" cstate="print"/>
            <a:stretch>
              <a:fillRect/>
            </a:stretch>
          </p:blipFill>
          <p:spPr>
            <a:xfrm>
              <a:off x="1354582" y="6458646"/>
              <a:ext cx="170895" cy="74353"/>
            </a:xfrm>
            <a:prstGeom prst="rect">
              <a:avLst/>
            </a:prstGeom>
          </p:spPr>
        </p:pic>
        <p:sp>
          <p:nvSpPr>
            <p:cNvPr id="28" name="object 202">
              <a:extLst>
                <a:ext uri="{FF2B5EF4-FFF2-40B4-BE49-F238E27FC236}">
                  <a16:creationId xmlns:a16="http://schemas.microsoft.com/office/drawing/2014/main" id="{573FA8FF-2C8F-CD85-B962-A7A0E63C5135}"/>
                </a:ext>
              </a:extLst>
            </p:cNvPr>
            <p:cNvSpPr/>
            <p:nvPr/>
          </p:nvSpPr>
          <p:spPr>
            <a:xfrm>
              <a:off x="1577512" y="6363701"/>
              <a:ext cx="645795" cy="15875"/>
            </a:xfrm>
            <a:custGeom>
              <a:avLst/>
              <a:gdLst/>
              <a:ahLst/>
              <a:cxnLst/>
              <a:rect l="l" t="t" r="r" b="b"/>
              <a:pathLst>
                <a:path w="645794" h="15875">
                  <a:moveTo>
                    <a:pt x="645729" y="0"/>
                  </a:moveTo>
                  <a:lnTo>
                    <a:pt x="0" y="0"/>
                  </a:lnTo>
                  <a:lnTo>
                    <a:pt x="0" y="15277"/>
                  </a:lnTo>
                  <a:lnTo>
                    <a:pt x="645729" y="15277"/>
                  </a:lnTo>
                  <a:lnTo>
                    <a:pt x="645729" y="0"/>
                  </a:lnTo>
                  <a:close/>
                </a:path>
              </a:pathLst>
            </a:custGeom>
            <a:solidFill>
              <a:srgbClr val="6D666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29" name="object 203">
              <a:extLst>
                <a:ext uri="{FF2B5EF4-FFF2-40B4-BE49-F238E27FC236}">
                  <a16:creationId xmlns:a16="http://schemas.microsoft.com/office/drawing/2014/main" id="{32E6411C-2A86-4B64-8C0A-AF83C00F8636}"/>
                </a:ext>
              </a:extLst>
            </p:cNvPr>
            <p:cNvSpPr/>
            <p:nvPr/>
          </p:nvSpPr>
          <p:spPr>
            <a:xfrm>
              <a:off x="1588705" y="6378978"/>
              <a:ext cx="650875" cy="15875"/>
            </a:xfrm>
            <a:custGeom>
              <a:avLst/>
              <a:gdLst/>
              <a:ahLst/>
              <a:cxnLst/>
              <a:rect l="l" t="t" r="r" b="b"/>
              <a:pathLst>
                <a:path w="650875" h="15875">
                  <a:moveTo>
                    <a:pt x="650461" y="0"/>
                  </a:moveTo>
                  <a:lnTo>
                    <a:pt x="0" y="0"/>
                  </a:lnTo>
                  <a:lnTo>
                    <a:pt x="0" y="15277"/>
                  </a:lnTo>
                  <a:lnTo>
                    <a:pt x="650461" y="15277"/>
                  </a:lnTo>
                  <a:lnTo>
                    <a:pt x="650461" y="0"/>
                  </a:lnTo>
                  <a:close/>
                </a:path>
              </a:pathLst>
            </a:custGeom>
            <a:solidFill>
              <a:srgbClr val="FFF7F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30" name="object 204">
              <a:extLst>
                <a:ext uri="{FF2B5EF4-FFF2-40B4-BE49-F238E27FC236}">
                  <a16:creationId xmlns:a16="http://schemas.microsoft.com/office/drawing/2014/main" id="{9800B843-D0F2-7070-BEEB-A7ADD2522BAD}"/>
                </a:ext>
              </a:extLst>
            </p:cNvPr>
            <p:cNvSpPr/>
            <p:nvPr/>
          </p:nvSpPr>
          <p:spPr>
            <a:xfrm>
              <a:off x="1577512" y="6394255"/>
              <a:ext cx="645795" cy="15875"/>
            </a:xfrm>
            <a:custGeom>
              <a:avLst/>
              <a:gdLst/>
              <a:ahLst/>
              <a:cxnLst/>
              <a:rect l="l" t="t" r="r" b="b"/>
              <a:pathLst>
                <a:path w="645794" h="15875">
                  <a:moveTo>
                    <a:pt x="645729" y="0"/>
                  </a:moveTo>
                  <a:lnTo>
                    <a:pt x="0" y="0"/>
                  </a:lnTo>
                  <a:lnTo>
                    <a:pt x="0" y="15277"/>
                  </a:lnTo>
                  <a:lnTo>
                    <a:pt x="645729" y="15277"/>
                  </a:lnTo>
                  <a:lnTo>
                    <a:pt x="645729"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31" name="object 205">
              <a:extLst>
                <a:ext uri="{FF2B5EF4-FFF2-40B4-BE49-F238E27FC236}">
                  <a16:creationId xmlns:a16="http://schemas.microsoft.com/office/drawing/2014/main" id="{37E6A7E0-FC1F-F0EA-5EAB-DF9E8A1874FB}"/>
                </a:ext>
              </a:extLst>
            </p:cNvPr>
            <p:cNvSpPr/>
            <p:nvPr/>
          </p:nvSpPr>
          <p:spPr>
            <a:xfrm>
              <a:off x="1594045" y="6409522"/>
              <a:ext cx="645160" cy="15875"/>
            </a:xfrm>
            <a:custGeom>
              <a:avLst/>
              <a:gdLst/>
              <a:ahLst/>
              <a:cxnLst/>
              <a:rect l="l" t="t" r="r" b="b"/>
              <a:pathLst>
                <a:path w="645160" h="15875">
                  <a:moveTo>
                    <a:pt x="645121" y="0"/>
                  </a:moveTo>
                  <a:lnTo>
                    <a:pt x="0" y="0"/>
                  </a:lnTo>
                  <a:lnTo>
                    <a:pt x="0" y="15287"/>
                  </a:lnTo>
                  <a:lnTo>
                    <a:pt x="645121" y="15287"/>
                  </a:lnTo>
                  <a:lnTo>
                    <a:pt x="645121" y="0"/>
                  </a:lnTo>
                  <a:close/>
                </a:path>
              </a:pathLst>
            </a:custGeom>
            <a:solidFill>
              <a:srgbClr val="80737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32" name="object 206">
              <a:extLst>
                <a:ext uri="{FF2B5EF4-FFF2-40B4-BE49-F238E27FC236}">
                  <a16:creationId xmlns:a16="http://schemas.microsoft.com/office/drawing/2014/main" id="{72BC3E24-E94E-DE71-4216-FE6BE73231BC}"/>
                </a:ext>
              </a:extLst>
            </p:cNvPr>
            <p:cNvSpPr/>
            <p:nvPr/>
          </p:nvSpPr>
          <p:spPr>
            <a:xfrm>
              <a:off x="1588705" y="6424809"/>
              <a:ext cx="650875" cy="15875"/>
            </a:xfrm>
            <a:custGeom>
              <a:avLst/>
              <a:gdLst/>
              <a:ahLst/>
              <a:cxnLst/>
              <a:rect l="l" t="t" r="r" b="b"/>
              <a:pathLst>
                <a:path w="650875" h="15875">
                  <a:moveTo>
                    <a:pt x="650461" y="0"/>
                  </a:moveTo>
                  <a:lnTo>
                    <a:pt x="0" y="0"/>
                  </a:lnTo>
                  <a:lnTo>
                    <a:pt x="0" y="15277"/>
                  </a:lnTo>
                  <a:lnTo>
                    <a:pt x="650461" y="15277"/>
                  </a:lnTo>
                  <a:lnTo>
                    <a:pt x="650461"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33" name="object 207">
              <a:extLst>
                <a:ext uri="{FF2B5EF4-FFF2-40B4-BE49-F238E27FC236}">
                  <a16:creationId xmlns:a16="http://schemas.microsoft.com/office/drawing/2014/main" id="{F326E1ED-630C-90DE-7206-3A6A189693A1}"/>
                </a:ext>
              </a:extLst>
            </p:cNvPr>
            <p:cNvSpPr/>
            <p:nvPr/>
          </p:nvSpPr>
          <p:spPr>
            <a:xfrm>
              <a:off x="1577512" y="6440086"/>
              <a:ext cx="645795" cy="15875"/>
            </a:xfrm>
            <a:custGeom>
              <a:avLst/>
              <a:gdLst/>
              <a:ahLst/>
              <a:cxnLst/>
              <a:rect l="l" t="t" r="r" b="b"/>
              <a:pathLst>
                <a:path w="645794" h="15875">
                  <a:moveTo>
                    <a:pt x="645729" y="0"/>
                  </a:moveTo>
                  <a:lnTo>
                    <a:pt x="0" y="0"/>
                  </a:lnTo>
                  <a:lnTo>
                    <a:pt x="0" y="15287"/>
                  </a:lnTo>
                  <a:lnTo>
                    <a:pt x="645729" y="15287"/>
                  </a:lnTo>
                  <a:lnTo>
                    <a:pt x="645729" y="0"/>
                  </a:lnTo>
                  <a:close/>
                </a:path>
              </a:pathLst>
            </a:custGeom>
            <a:solidFill>
              <a:srgbClr val="80737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34" name="object 208">
              <a:extLst>
                <a:ext uri="{FF2B5EF4-FFF2-40B4-BE49-F238E27FC236}">
                  <a16:creationId xmlns:a16="http://schemas.microsoft.com/office/drawing/2014/main" id="{D197B3E4-A55A-0E94-8306-17D604A03D5F}"/>
                </a:ext>
              </a:extLst>
            </p:cNvPr>
            <p:cNvSpPr/>
            <p:nvPr/>
          </p:nvSpPr>
          <p:spPr>
            <a:xfrm>
              <a:off x="1588705" y="6455374"/>
              <a:ext cx="650875" cy="15875"/>
            </a:xfrm>
            <a:custGeom>
              <a:avLst/>
              <a:gdLst/>
              <a:ahLst/>
              <a:cxnLst/>
              <a:rect l="l" t="t" r="r" b="b"/>
              <a:pathLst>
                <a:path w="650875" h="15875">
                  <a:moveTo>
                    <a:pt x="650461" y="0"/>
                  </a:moveTo>
                  <a:lnTo>
                    <a:pt x="0" y="0"/>
                  </a:lnTo>
                  <a:lnTo>
                    <a:pt x="0" y="15277"/>
                  </a:lnTo>
                  <a:lnTo>
                    <a:pt x="650461" y="15277"/>
                  </a:lnTo>
                  <a:lnTo>
                    <a:pt x="650461" y="0"/>
                  </a:lnTo>
                  <a:close/>
                </a:path>
              </a:pathLst>
            </a:custGeom>
            <a:solidFill>
              <a:srgbClr val="6D666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35" name="object 209">
              <a:extLst>
                <a:ext uri="{FF2B5EF4-FFF2-40B4-BE49-F238E27FC236}">
                  <a16:creationId xmlns:a16="http://schemas.microsoft.com/office/drawing/2014/main" id="{0411D7C8-13A8-2E96-1907-B2181615134B}"/>
                </a:ext>
              </a:extLst>
            </p:cNvPr>
            <p:cNvSpPr/>
            <p:nvPr/>
          </p:nvSpPr>
          <p:spPr>
            <a:xfrm>
              <a:off x="1563376" y="6470651"/>
              <a:ext cx="660400" cy="15875"/>
            </a:xfrm>
            <a:custGeom>
              <a:avLst/>
              <a:gdLst/>
              <a:ahLst/>
              <a:cxnLst/>
              <a:rect l="l" t="t" r="r" b="b"/>
              <a:pathLst>
                <a:path w="660400" h="15875">
                  <a:moveTo>
                    <a:pt x="659854" y="0"/>
                  </a:moveTo>
                  <a:lnTo>
                    <a:pt x="0" y="0"/>
                  </a:lnTo>
                  <a:lnTo>
                    <a:pt x="0" y="15277"/>
                  </a:lnTo>
                  <a:lnTo>
                    <a:pt x="659854" y="15277"/>
                  </a:lnTo>
                  <a:lnTo>
                    <a:pt x="659854" y="0"/>
                  </a:lnTo>
                  <a:close/>
                </a:path>
              </a:pathLst>
            </a:custGeom>
            <a:solidFill>
              <a:srgbClr val="FFF7F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36" name="object 210">
              <a:extLst>
                <a:ext uri="{FF2B5EF4-FFF2-40B4-BE49-F238E27FC236}">
                  <a16:creationId xmlns:a16="http://schemas.microsoft.com/office/drawing/2014/main" id="{C05DD927-58D5-9E76-950A-9681846FD9B2}"/>
                </a:ext>
              </a:extLst>
            </p:cNvPr>
            <p:cNvSpPr/>
            <p:nvPr/>
          </p:nvSpPr>
          <p:spPr>
            <a:xfrm>
              <a:off x="1588705" y="6485917"/>
              <a:ext cx="650875" cy="15875"/>
            </a:xfrm>
            <a:custGeom>
              <a:avLst/>
              <a:gdLst/>
              <a:ahLst/>
              <a:cxnLst/>
              <a:rect l="l" t="t" r="r" b="b"/>
              <a:pathLst>
                <a:path w="650875" h="15875">
                  <a:moveTo>
                    <a:pt x="650461" y="0"/>
                  </a:moveTo>
                  <a:lnTo>
                    <a:pt x="0" y="0"/>
                  </a:lnTo>
                  <a:lnTo>
                    <a:pt x="0" y="15277"/>
                  </a:lnTo>
                  <a:lnTo>
                    <a:pt x="650461" y="15277"/>
                  </a:lnTo>
                  <a:lnTo>
                    <a:pt x="650461" y="0"/>
                  </a:lnTo>
                  <a:close/>
                </a:path>
              </a:pathLst>
            </a:custGeom>
            <a:solidFill>
              <a:srgbClr val="80737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37" name="object 211">
              <a:extLst>
                <a:ext uri="{FF2B5EF4-FFF2-40B4-BE49-F238E27FC236}">
                  <a16:creationId xmlns:a16="http://schemas.microsoft.com/office/drawing/2014/main" id="{2CE8D0C6-72F0-2122-9545-DE5188BC6028}"/>
                </a:ext>
              </a:extLst>
            </p:cNvPr>
            <p:cNvSpPr/>
            <p:nvPr/>
          </p:nvSpPr>
          <p:spPr>
            <a:xfrm>
              <a:off x="1577512" y="6501194"/>
              <a:ext cx="661670" cy="15875"/>
            </a:xfrm>
            <a:custGeom>
              <a:avLst/>
              <a:gdLst/>
              <a:ahLst/>
              <a:cxnLst/>
              <a:rect l="l" t="t" r="r" b="b"/>
              <a:pathLst>
                <a:path w="661669" h="15875">
                  <a:moveTo>
                    <a:pt x="661665" y="0"/>
                  </a:moveTo>
                  <a:lnTo>
                    <a:pt x="0" y="0"/>
                  </a:lnTo>
                  <a:lnTo>
                    <a:pt x="0" y="15277"/>
                  </a:lnTo>
                  <a:lnTo>
                    <a:pt x="661665" y="15277"/>
                  </a:lnTo>
                  <a:lnTo>
                    <a:pt x="661665" y="0"/>
                  </a:lnTo>
                  <a:close/>
                </a:path>
              </a:pathLst>
            </a:custGeom>
            <a:solidFill>
              <a:srgbClr val="6D666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38" name="object 212">
              <a:extLst>
                <a:ext uri="{FF2B5EF4-FFF2-40B4-BE49-F238E27FC236}">
                  <a16:creationId xmlns:a16="http://schemas.microsoft.com/office/drawing/2014/main" id="{34E33D24-910E-29CB-4564-20716EDCB03B}"/>
                </a:ext>
              </a:extLst>
            </p:cNvPr>
            <p:cNvSpPr/>
            <p:nvPr/>
          </p:nvSpPr>
          <p:spPr>
            <a:xfrm>
              <a:off x="1604694" y="6516471"/>
              <a:ext cx="622300" cy="15875"/>
            </a:xfrm>
            <a:custGeom>
              <a:avLst/>
              <a:gdLst/>
              <a:ahLst/>
              <a:cxnLst/>
              <a:rect l="l" t="t" r="r" b="b"/>
              <a:pathLst>
                <a:path w="622300" h="15875">
                  <a:moveTo>
                    <a:pt x="621865" y="0"/>
                  </a:moveTo>
                  <a:lnTo>
                    <a:pt x="0" y="0"/>
                  </a:lnTo>
                  <a:lnTo>
                    <a:pt x="0" y="15287"/>
                  </a:lnTo>
                  <a:lnTo>
                    <a:pt x="621865" y="15287"/>
                  </a:lnTo>
                  <a:lnTo>
                    <a:pt x="621865" y="0"/>
                  </a:lnTo>
                  <a:close/>
                </a:path>
              </a:pathLst>
            </a:custGeom>
            <a:solidFill>
              <a:srgbClr val="4F453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39" name="object 213">
              <a:extLst>
                <a:ext uri="{FF2B5EF4-FFF2-40B4-BE49-F238E27FC236}">
                  <a16:creationId xmlns:a16="http://schemas.microsoft.com/office/drawing/2014/main" id="{B33BF24C-FEE3-7CB6-6494-D0F7A8B4DE82}"/>
                </a:ext>
              </a:extLst>
            </p:cNvPr>
            <p:cNvSpPr/>
            <p:nvPr/>
          </p:nvSpPr>
          <p:spPr>
            <a:xfrm>
              <a:off x="1577512" y="6531759"/>
              <a:ext cx="661670" cy="15875"/>
            </a:xfrm>
            <a:custGeom>
              <a:avLst/>
              <a:gdLst/>
              <a:ahLst/>
              <a:cxnLst/>
              <a:rect l="l" t="t" r="r" b="b"/>
              <a:pathLst>
                <a:path w="661669" h="15875">
                  <a:moveTo>
                    <a:pt x="661665" y="0"/>
                  </a:moveTo>
                  <a:lnTo>
                    <a:pt x="0" y="0"/>
                  </a:lnTo>
                  <a:lnTo>
                    <a:pt x="0" y="15277"/>
                  </a:lnTo>
                  <a:lnTo>
                    <a:pt x="661665" y="15277"/>
                  </a:lnTo>
                  <a:lnTo>
                    <a:pt x="661665" y="0"/>
                  </a:lnTo>
                  <a:close/>
                </a:path>
              </a:pathLst>
            </a:custGeom>
            <a:solidFill>
              <a:srgbClr val="80737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40" name="object 214">
              <a:extLst>
                <a:ext uri="{FF2B5EF4-FFF2-40B4-BE49-F238E27FC236}">
                  <a16:creationId xmlns:a16="http://schemas.microsoft.com/office/drawing/2014/main" id="{8EF02834-BF96-BDEE-2FD3-EBC30A56A48A}"/>
                </a:ext>
              </a:extLst>
            </p:cNvPr>
            <p:cNvSpPr/>
            <p:nvPr/>
          </p:nvSpPr>
          <p:spPr>
            <a:xfrm>
              <a:off x="1577512" y="6547025"/>
              <a:ext cx="633730" cy="15240"/>
            </a:xfrm>
            <a:custGeom>
              <a:avLst/>
              <a:gdLst/>
              <a:ahLst/>
              <a:cxnLst/>
              <a:rect l="l" t="t" r="r" b="b"/>
              <a:pathLst>
                <a:path w="633730" h="15240">
                  <a:moveTo>
                    <a:pt x="0" y="15015"/>
                  </a:moveTo>
                  <a:lnTo>
                    <a:pt x="633656" y="15015"/>
                  </a:lnTo>
                  <a:lnTo>
                    <a:pt x="633656" y="0"/>
                  </a:lnTo>
                  <a:lnTo>
                    <a:pt x="0" y="0"/>
                  </a:lnTo>
                  <a:lnTo>
                    <a:pt x="0" y="15015"/>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grpSp>
      <p:sp>
        <p:nvSpPr>
          <p:cNvPr id="41" name="Rectangle 40">
            <a:extLst>
              <a:ext uri="{FF2B5EF4-FFF2-40B4-BE49-F238E27FC236}">
                <a16:creationId xmlns:a16="http://schemas.microsoft.com/office/drawing/2014/main" id="{CAE1E602-6FEC-95E5-3ADE-7A86CB9E2630}"/>
              </a:ext>
            </a:extLst>
          </p:cNvPr>
          <p:cNvSpPr/>
          <p:nvPr/>
        </p:nvSpPr>
        <p:spPr>
          <a:xfrm>
            <a:off x="5369881" y="2340519"/>
            <a:ext cx="3199323" cy="3584968"/>
          </a:xfrm>
          <a:prstGeom prst="rect">
            <a:avLst/>
          </a:prstGeom>
          <a:solidFill>
            <a:schemeClr val="accent2">
              <a:lumMod val="20000"/>
              <a:lumOff val="80000"/>
              <a:alpha val="65000"/>
            </a:schemeClr>
          </a:solidFill>
          <a:ln w="3175" cap="flat" cmpd="sng" algn="ctr">
            <a:solidFill>
              <a:sysClr val="window" lastClr="FFFFFF">
                <a:lumMod val="75000"/>
              </a:sysClr>
            </a:solidFill>
            <a:prstDash val="solid"/>
          </a:ln>
          <a:effectLst/>
        </p:spPr>
        <p:txBody>
          <a:bodyPr lIns="36000" tIns="36000" rIns="36000" bIns="36000" rtlCol="0" anchor="t"/>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1100" b="1" i="0" u="none" strike="noStrike" kern="0" cap="none" spc="0" normalizeH="0" baseline="0" noProof="0">
                <a:ln>
                  <a:noFill/>
                </a:ln>
                <a:solidFill>
                  <a:prstClr val="black"/>
                </a:solidFill>
                <a:effectLst/>
                <a:uLnTx/>
                <a:uFillTx/>
                <a:latin typeface="Calibri" panose="020F0502020204030204"/>
                <a:ea typeface="Open Sans" panose="020B0606030504020204" pitchFamily="34" charset="0"/>
                <a:cs typeface="Open Sans" panose="020B0606030504020204" pitchFamily="34" charset="0"/>
              </a:rPr>
              <a:t>Topological Analysis</a:t>
            </a:r>
          </a:p>
        </p:txBody>
      </p:sp>
      <p:sp>
        <p:nvSpPr>
          <p:cNvPr id="42" name="Rectangle 41">
            <a:extLst>
              <a:ext uri="{FF2B5EF4-FFF2-40B4-BE49-F238E27FC236}">
                <a16:creationId xmlns:a16="http://schemas.microsoft.com/office/drawing/2014/main" id="{AC12689B-037D-A347-DCBF-4B3CD57D7858}"/>
              </a:ext>
            </a:extLst>
          </p:cNvPr>
          <p:cNvSpPr/>
          <p:nvPr/>
        </p:nvSpPr>
        <p:spPr>
          <a:xfrm>
            <a:off x="5554352" y="4478787"/>
            <a:ext cx="2778217" cy="514736"/>
          </a:xfrm>
          <a:prstGeom prst="rect">
            <a:avLst/>
          </a:prstGeom>
          <a:solidFill>
            <a:sysClr val="window" lastClr="FFFFFF">
              <a:lumMod val="95000"/>
            </a:sysClr>
          </a:solidFill>
          <a:ln w="3175" cap="flat" cmpd="sng" algn="ctr">
            <a:solidFill>
              <a:sysClr val="window" lastClr="FFFFFF">
                <a:lumMod val="75000"/>
              </a:sysClr>
            </a:solidFill>
            <a:prstDash val="solid"/>
          </a:ln>
          <a:effectLst/>
        </p:spPr>
        <p:txBody>
          <a:bodyPr lIns="36000" tIns="36000" rIns="36000" b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Identify reading path &amp; bounding boxes</a:t>
            </a:r>
          </a:p>
        </p:txBody>
      </p:sp>
      <p:grpSp>
        <p:nvGrpSpPr>
          <p:cNvPr id="43" name="Group 42">
            <a:extLst>
              <a:ext uri="{FF2B5EF4-FFF2-40B4-BE49-F238E27FC236}">
                <a16:creationId xmlns:a16="http://schemas.microsoft.com/office/drawing/2014/main" id="{FFDA732E-2969-0704-2DB4-C0BE9FE4B14F}"/>
              </a:ext>
            </a:extLst>
          </p:cNvPr>
          <p:cNvGrpSpPr/>
          <p:nvPr/>
        </p:nvGrpSpPr>
        <p:grpSpPr>
          <a:xfrm>
            <a:off x="7891404" y="2602276"/>
            <a:ext cx="572832" cy="524833"/>
            <a:chOff x="3866726" y="2258295"/>
            <a:chExt cx="1224000" cy="814243"/>
          </a:xfrm>
        </p:grpSpPr>
        <p:pic>
          <p:nvPicPr>
            <p:cNvPr id="44" name="object 86">
              <a:extLst>
                <a:ext uri="{FF2B5EF4-FFF2-40B4-BE49-F238E27FC236}">
                  <a16:creationId xmlns:a16="http://schemas.microsoft.com/office/drawing/2014/main" id="{710775E6-624F-F33A-037E-4A06DF05CBAE}"/>
                </a:ext>
              </a:extLst>
            </p:cNvPr>
            <p:cNvPicPr/>
            <p:nvPr/>
          </p:nvPicPr>
          <p:blipFill>
            <a:blip r:embed="rId5" cstate="print"/>
            <a:stretch>
              <a:fillRect/>
            </a:stretch>
          </p:blipFill>
          <p:spPr>
            <a:xfrm>
              <a:off x="4730611" y="2258295"/>
              <a:ext cx="230517" cy="671356"/>
            </a:xfrm>
            <a:prstGeom prst="rect">
              <a:avLst/>
            </a:prstGeom>
          </p:spPr>
        </p:pic>
        <p:grpSp>
          <p:nvGrpSpPr>
            <p:cNvPr id="45" name="object 22">
              <a:extLst>
                <a:ext uri="{FF2B5EF4-FFF2-40B4-BE49-F238E27FC236}">
                  <a16:creationId xmlns:a16="http://schemas.microsoft.com/office/drawing/2014/main" id="{E407C6B2-54CC-A83D-27F2-746DAD4CA43B}"/>
                </a:ext>
              </a:extLst>
            </p:cNvPr>
            <p:cNvGrpSpPr/>
            <p:nvPr/>
          </p:nvGrpSpPr>
          <p:grpSpPr>
            <a:xfrm>
              <a:off x="3866726" y="2332570"/>
              <a:ext cx="1224000" cy="739968"/>
              <a:chOff x="6908775" y="4131645"/>
              <a:chExt cx="9625965" cy="6135020"/>
            </a:xfrm>
          </p:grpSpPr>
          <p:sp>
            <p:nvSpPr>
              <p:cNvPr id="46" name="object 23">
                <a:extLst>
                  <a:ext uri="{FF2B5EF4-FFF2-40B4-BE49-F238E27FC236}">
                    <a16:creationId xmlns:a16="http://schemas.microsoft.com/office/drawing/2014/main" id="{28FA1FD1-117D-C32C-58A2-CEBD11D9C462}"/>
                  </a:ext>
                </a:extLst>
              </p:cNvPr>
              <p:cNvSpPr/>
              <p:nvPr/>
            </p:nvSpPr>
            <p:spPr>
              <a:xfrm>
                <a:off x="6908775" y="8608680"/>
                <a:ext cx="9625965" cy="1657985"/>
              </a:xfrm>
              <a:custGeom>
                <a:avLst/>
                <a:gdLst/>
                <a:ahLst/>
                <a:cxnLst/>
                <a:rect l="l" t="t" r="r" b="b"/>
                <a:pathLst>
                  <a:path w="9625965" h="1657984">
                    <a:moveTo>
                      <a:pt x="5724746" y="0"/>
                    </a:moveTo>
                    <a:lnTo>
                      <a:pt x="5659210" y="535"/>
                    </a:lnTo>
                    <a:lnTo>
                      <a:pt x="5595473" y="2465"/>
                    </a:lnTo>
                    <a:lnTo>
                      <a:pt x="5533694" y="5756"/>
                    </a:lnTo>
                    <a:lnTo>
                      <a:pt x="5474030" y="10373"/>
                    </a:lnTo>
                    <a:lnTo>
                      <a:pt x="5416640" y="16284"/>
                    </a:lnTo>
                    <a:lnTo>
                      <a:pt x="5361684" y="23455"/>
                    </a:lnTo>
                    <a:lnTo>
                      <a:pt x="5309319" y="31851"/>
                    </a:lnTo>
                    <a:lnTo>
                      <a:pt x="5259705" y="41441"/>
                    </a:lnTo>
                    <a:lnTo>
                      <a:pt x="5212999" y="52190"/>
                    </a:lnTo>
                    <a:lnTo>
                      <a:pt x="5169360" y="64065"/>
                    </a:lnTo>
                    <a:lnTo>
                      <a:pt x="5128948" y="77033"/>
                    </a:lnTo>
                    <a:lnTo>
                      <a:pt x="5091920" y="91059"/>
                    </a:lnTo>
                    <a:lnTo>
                      <a:pt x="5028652" y="122153"/>
                    </a:lnTo>
                    <a:lnTo>
                      <a:pt x="4980825" y="157080"/>
                    </a:lnTo>
                    <a:lnTo>
                      <a:pt x="4949709" y="195571"/>
                    </a:lnTo>
                    <a:lnTo>
                      <a:pt x="4936572" y="237359"/>
                    </a:lnTo>
                    <a:lnTo>
                      <a:pt x="4935933" y="244951"/>
                    </a:lnTo>
                    <a:lnTo>
                      <a:pt x="4936488" y="252542"/>
                    </a:lnTo>
                    <a:lnTo>
                      <a:pt x="4937598" y="260155"/>
                    </a:lnTo>
                    <a:lnTo>
                      <a:pt x="4833764" y="257741"/>
                    </a:lnTo>
                    <a:lnTo>
                      <a:pt x="4729050" y="255911"/>
                    </a:lnTo>
                    <a:lnTo>
                      <a:pt x="4623493" y="254678"/>
                    </a:lnTo>
                    <a:lnTo>
                      <a:pt x="4517128" y="254055"/>
                    </a:lnTo>
                    <a:lnTo>
                      <a:pt x="4392322" y="254114"/>
                    </a:lnTo>
                    <a:lnTo>
                      <a:pt x="4321331" y="254524"/>
                    </a:lnTo>
                    <a:lnTo>
                      <a:pt x="4250693" y="255205"/>
                    </a:lnTo>
                    <a:lnTo>
                      <a:pt x="4180421" y="256153"/>
                    </a:lnTo>
                    <a:lnTo>
                      <a:pt x="4110529" y="257367"/>
                    </a:lnTo>
                    <a:lnTo>
                      <a:pt x="4041029" y="258843"/>
                    </a:lnTo>
                    <a:lnTo>
                      <a:pt x="3971934" y="260579"/>
                    </a:lnTo>
                    <a:lnTo>
                      <a:pt x="3903258" y="262573"/>
                    </a:lnTo>
                    <a:lnTo>
                      <a:pt x="3835013" y="264822"/>
                    </a:lnTo>
                    <a:lnTo>
                      <a:pt x="3767212" y="267324"/>
                    </a:lnTo>
                    <a:lnTo>
                      <a:pt x="3699868" y="270075"/>
                    </a:lnTo>
                    <a:lnTo>
                      <a:pt x="3632994" y="273074"/>
                    </a:lnTo>
                    <a:lnTo>
                      <a:pt x="3566604" y="276317"/>
                    </a:lnTo>
                    <a:lnTo>
                      <a:pt x="3500709" y="279803"/>
                    </a:lnTo>
                    <a:lnTo>
                      <a:pt x="3435324" y="283529"/>
                    </a:lnTo>
                    <a:lnTo>
                      <a:pt x="3370460" y="287492"/>
                    </a:lnTo>
                    <a:lnTo>
                      <a:pt x="3306132" y="291689"/>
                    </a:lnTo>
                    <a:lnTo>
                      <a:pt x="3242352" y="296118"/>
                    </a:lnTo>
                    <a:lnTo>
                      <a:pt x="3179132" y="300777"/>
                    </a:lnTo>
                    <a:lnTo>
                      <a:pt x="3116486" y="305663"/>
                    </a:lnTo>
                    <a:lnTo>
                      <a:pt x="3054428" y="310773"/>
                    </a:lnTo>
                    <a:lnTo>
                      <a:pt x="2992969" y="316106"/>
                    </a:lnTo>
                    <a:lnTo>
                      <a:pt x="2932123" y="321657"/>
                    </a:lnTo>
                    <a:lnTo>
                      <a:pt x="2871902" y="327425"/>
                    </a:lnTo>
                    <a:lnTo>
                      <a:pt x="2812321" y="333408"/>
                    </a:lnTo>
                    <a:lnTo>
                      <a:pt x="2753391" y="339602"/>
                    </a:lnTo>
                    <a:lnTo>
                      <a:pt x="2695126" y="346005"/>
                    </a:lnTo>
                    <a:lnTo>
                      <a:pt x="2637538" y="352615"/>
                    </a:lnTo>
                    <a:lnTo>
                      <a:pt x="2580641" y="359429"/>
                    </a:lnTo>
                    <a:lnTo>
                      <a:pt x="2524448" y="366444"/>
                    </a:lnTo>
                    <a:lnTo>
                      <a:pt x="2468971" y="373658"/>
                    </a:lnTo>
                    <a:lnTo>
                      <a:pt x="2414224" y="381068"/>
                    </a:lnTo>
                    <a:lnTo>
                      <a:pt x="2360219" y="388673"/>
                    </a:lnTo>
                    <a:lnTo>
                      <a:pt x="2306970" y="396468"/>
                    </a:lnTo>
                    <a:lnTo>
                      <a:pt x="2254489" y="404452"/>
                    </a:lnTo>
                    <a:lnTo>
                      <a:pt x="2202790" y="412622"/>
                    </a:lnTo>
                    <a:lnTo>
                      <a:pt x="2151885" y="420976"/>
                    </a:lnTo>
                    <a:lnTo>
                      <a:pt x="2101787" y="429511"/>
                    </a:lnTo>
                    <a:lnTo>
                      <a:pt x="2052510" y="438225"/>
                    </a:lnTo>
                    <a:lnTo>
                      <a:pt x="2004066" y="447114"/>
                    </a:lnTo>
                    <a:lnTo>
                      <a:pt x="1956468" y="456177"/>
                    </a:lnTo>
                    <a:lnTo>
                      <a:pt x="1909729" y="465410"/>
                    </a:lnTo>
                    <a:lnTo>
                      <a:pt x="1863863" y="474812"/>
                    </a:lnTo>
                    <a:lnTo>
                      <a:pt x="1818881" y="484380"/>
                    </a:lnTo>
                    <a:lnTo>
                      <a:pt x="1774798" y="494110"/>
                    </a:lnTo>
                    <a:lnTo>
                      <a:pt x="1731626" y="504002"/>
                    </a:lnTo>
                    <a:lnTo>
                      <a:pt x="1689378" y="514051"/>
                    </a:lnTo>
                    <a:lnTo>
                      <a:pt x="1648067" y="524256"/>
                    </a:lnTo>
                    <a:lnTo>
                      <a:pt x="1607706" y="534614"/>
                    </a:lnTo>
                    <a:lnTo>
                      <a:pt x="1568308" y="545122"/>
                    </a:lnTo>
                    <a:lnTo>
                      <a:pt x="1529886" y="555778"/>
                    </a:lnTo>
                    <a:lnTo>
                      <a:pt x="1492453" y="566580"/>
                    </a:lnTo>
                    <a:lnTo>
                      <a:pt x="1420606" y="588608"/>
                    </a:lnTo>
                    <a:lnTo>
                      <a:pt x="1352869" y="611188"/>
                    </a:lnTo>
                    <a:lnTo>
                      <a:pt x="1289348" y="634297"/>
                    </a:lnTo>
                    <a:lnTo>
                      <a:pt x="1230146" y="657917"/>
                    </a:lnTo>
                    <a:lnTo>
                      <a:pt x="1175366" y="682025"/>
                    </a:lnTo>
                    <a:lnTo>
                      <a:pt x="1125112" y="706603"/>
                    </a:lnTo>
                    <a:lnTo>
                      <a:pt x="1079489" y="731629"/>
                    </a:lnTo>
                    <a:lnTo>
                      <a:pt x="1038599" y="757084"/>
                    </a:lnTo>
                    <a:lnTo>
                      <a:pt x="1002547" y="782946"/>
                    </a:lnTo>
                    <a:lnTo>
                      <a:pt x="971436" y="809195"/>
                    </a:lnTo>
                    <a:lnTo>
                      <a:pt x="895738" y="815051"/>
                    </a:lnTo>
                    <a:lnTo>
                      <a:pt x="822081" y="821875"/>
                    </a:lnTo>
                    <a:lnTo>
                      <a:pt x="750611" y="829635"/>
                    </a:lnTo>
                    <a:lnTo>
                      <a:pt x="681471" y="838297"/>
                    </a:lnTo>
                    <a:lnTo>
                      <a:pt x="614807" y="847828"/>
                    </a:lnTo>
                    <a:lnTo>
                      <a:pt x="550761" y="858196"/>
                    </a:lnTo>
                    <a:lnTo>
                      <a:pt x="489479" y="869366"/>
                    </a:lnTo>
                    <a:lnTo>
                      <a:pt x="431105" y="881307"/>
                    </a:lnTo>
                    <a:lnTo>
                      <a:pt x="375783" y="893983"/>
                    </a:lnTo>
                    <a:lnTo>
                      <a:pt x="323657" y="907364"/>
                    </a:lnTo>
                    <a:lnTo>
                      <a:pt x="274872" y="921415"/>
                    </a:lnTo>
                    <a:lnTo>
                      <a:pt x="229572" y="936102"/>
                    </a:lnTo>
                    <a:lnTo>
                      <a:pt x="187902" y="951394"/>
                    </a:lnTo>
                    <a:lnTo>
                      <a:pt x="150005" y="967257"/>
                    </a:lnTo>
                    <a:lnTo>
                      <a:pt x="86109" y="1000563"/>
                    </a:lnTo>
                    <a:lnTo>
                      <a:pt x="39040" y="1035755"/>
                    </a:lnTo>
                    <a:lnTo>
                      <a:pt x="9952" y="1072568"/>
                    </a:lnTo>
                    <a:lnTo>
                      <a:pt x="0" y="1110736"/>
                    </a:lnTo>
                    <a:lnTo>
                      <a:pt x="1900" y="1127471"/>
                    </a:lnTo>
                    <a:lnTo>
                      <a:pt x="29644" y="1176224"/>
                    </a:lnTo>
                    <a:lnTo>
                      <a:pt x="65562" y="1207299"/>
                    </a:lnTo>
                    <a:lnTo>
                      <a:pt x="114534" y="1237029"/>
                    </a:lnTo>
                    <a:lnTo>
                      <a:pt x="175802" y="1265240"/>
                    </a:lnTo>
                    <a:lnTo>
                      <a:pt x="248608" y="1291757"/>
                    </a:lnTo>
                    <a:lnTo>
                      <a:pt x="289100" y="1304326"/>
                    </a:lnTo>
                    <a:lnTo>
                      <a:pt x="332194" y="1316406"/>
                    </a:lnTo>
                    <a:lnTo>
                      <a:pt x="377792" y="1327975"/>
                    </a:lnTo>
                    <a:lnTo>
                      <a:pt x="425802" y="1339012"/>
                    </a:lnTo>
                    <a:lnTo>
                      <a:pt x="476128" y="1349495"/>
                    </a:lnTo>
                    <a:lnTo>
                      <a:pt x="528675" y="1359402"/>
                    </a:lnTo>
                    <a:lnTo>
                      <a:pt x="583348" y="1368711"/>
                    </a:lnTo>
                    <a:lnTo>
                      <a:pt x="640054" y="1377401"/>
                    </a:lnTo>
                    <a:lnTo>
                      <a:pt x="698696" y="1385450"/>
                    </a:lnTo>
                    <a:lnTo>
                      <a:pt x="759182" y="1392835"/>
                    </a:lnTo>
                    <a:lnTo>
                      <a:pt x="821414" y="1399535"/>
                    </a:lnTo>
                    <a:lnTo>
                      <a:pt x="885300" y="1405529"/>
                    </a:lnTo>
                    <a:lnTo>
                      <a:pt x="950744" y="1410794"/>
                    </a:lnTo>
                    <a:lnTo>
                      <a:pt x="1017652" y="1415309"/>
                    </a:lnTo>
                    <a:lnTo>
                      <a:pt x="1085928" y="1419052"/>
                    </a:lnTo>
                    <a:lnTo>
                      <a:pt x="1155479" y="1422001"/>
                    </a:lnTo>
                    <a:lnTo>
                      <a:pt x="1226208" y="1424135"/>
                    </a:lnTo>
                    <a:lnTo>
                      <a:pt x="1298023" y="1425431"/>
                    </a:lnTo>
                    <a:lnTo>
                      <a:pt x="1370827" y="1425868"/>
                    </a:lnTo>
                    <a:lnTo>
                      <a:pt x="1420617" y="1425663"/>
                    </a:lnTo>
                    <a:lnTo>
                      <a:pt x="1469959" y="1425053"/>
                    </a:lnTo>
                    <a:lnTo>
                      <a:pt x="1518823" y="1424046"/>
                    </a:lnTo>
                    <a:lnTo>
                      <a:pt x="1567180" y="1422649"/>
                    </a:lnTo>
                    <a:lnTo>
                      <a:pt x="1614999" y="1420870"/>
                    </a:lnTo>
                    <a:lnTo>
                      <a:pt x="1662252" y="1418716"/>
                    </a:lnTo>
                    <a:lnTo>
                      <a:pt x="1708909" y="1416195"/>
                    </a:lnTo>
                    <a:lnTo>
                      <a:pt x="1754941" y="1413313"/>
                    </a:lnTo>
                    <a:lnTo>
                      <a:pt x="1791644" y="1421577"/>
                    </a:lnTo>
                    <a:lnTo>
                      <a:pt x="1828988" y="1429726"/>
                    </a:lnTo>
                    <a:lnTo>
                      <a:pt x="1866967" y="1437759"/>
                    </a:lnTo>
                    <a:lnTo>
                      <a:pt x="1905573" y="1445674"/>
                    </a:lnTo>
                    <a:lnTo>
                      <a:pt x="1944797" y="1453471"/>
                    </a:lnTo>
                    <a:lnTo>
                      <a:pt x="1984632" y="1461147"/>
                    </a:lnTo>
                    <a:lnTo>
                      <a:pt x="2025070" y="1468701"/>
                    </a:lnTo>
                    <a:lnTo>
                      <a:pt x="2066104" y="1476131"/>
                    </a:lnTo>
                    <a:lnTo>
                      <a:pt x="2107725" y="1483436"/>
                    </a:lnTo>
                    <a:lnTo>
                      <a:pt x="2149927" y="1490614"/>
                    </a:lnTo>
                    <a:lnTo>
                      <a:pt x="2192701" y="1497664"/>
                    </a:lnTo>
                    <a:lnTo>
                      <a:pt x="2236039" y="1504585"/>
                    </a:lnTo>
                    <a:lnTo>
                      <a:pt x="2279934" y="1511374"/>
                    </a:lnTo>
                    <a:lnTo>
                      <a:pt x="2324379" y="1518030"/>
                    </a:lnTo>
                    <a:lnTo>
                      <a:pt x="2369365" y="1524553"/>
                    </a:lnTo>
                    <a:lnTo>
                      <a:pt x="2460929" y="1537188"/>
                    </a:lnTo>
                    <a:lnTo>
                      <a:pt x="2554567" y="1549268"/>
                    </a:lnTo>
                    <a:lnTo>
                      <a:pt x="2650215" y="1560781"/>
                    </a:lnTo>
                    <a:lnTo>
                      <a:pt x="2747812" y="1571713"/>
                    </a:lnTo>
                    <a:lnTo>
                      <a:pt x="2847296" y="1582054"/>
                    </a:lnTo>
                    <a:lnTo>
                      <a:pt x="2948606" y="1591791"/>
                    </a:lnTo>
                    <a:lnTo>
                      <a:pt x="3051679" y="1600911"/>
                    </a:lnTo>
                    <a:lnTo>
                      <a:pt x="3156454" y="1609403"/>
                    </a:lnTo>
                    <a:lnTo>
                      <a:pt x="3262868" y="1617254"/>
                    </a:lnTo>
                    <a:lnTo>
                      <a:pt x="3370860" y="1624452"/>
                    </a:lnTo>
                    <a:lnTo>
                      <a:pt x="3480368" y="1630985"/>
                    </a:lnTo>
                    <a:lnTo>
                      <a:pt x="3591331" y="1636841"/>
                    </a:lnTo>
                    <a:lnTo>
                      <a:pt x="3703685" y="1642008"/>
                    </a:lnTo>
                    <a:lnTo>
                      <a:pt x="3817370" y="1646473"/>
                    </a:lnTo>
                    <a:lnTo>
                      <a:pt x="3932324" y="1650224"/>
                    </a:lnTo>
                    <a:lnTo>
                      <a:pt x="4048484" y="1653249"/>
                    </a:lnTo>
                    <a:lnTo>
                      <a:pt x="4165789" y="1655536"/>
                    </a:lnTo>
                    <a:lnTo>
                      <a:pt x="4284177" y="1657073"/>
                    </a:lnTo>
                    <a:lnTo>
                      <a:pt x="4403586" y="1657847"/>
                    </a:lnTo>
                    <a:lnTo>
                      <a:pt x="4463654" y="1657944"/>
                    </a:lnTo>
                    <a:lnTo>
                      <a:pt x="4529652" y="1657827"/>
                    </a:lnTo>
                    <a:lnTo>
                      <a:pt x="4595359" y="1657476"/>
                    </a:lnTo>
                    <a:lnTo>
                      <a:pt x="4660765" y="1656893"/>
                    </a:lnTo>
                    <a:lnTo>
                      <a:pt x="4725860" y="1656080"/>
                    </a:lnTo>
                    <a:lnTo>
                      <a:pt x="4790635" y="1655040"/>
                    </a:lnTo>
                    <a:lnTo>
                      <a:pt x="4855077" y="1653774"/>
                    </a:lnTo>
                    <a:lnTo>
                      <a:pt x="4919178" y="1652285"/>
                    </a:lnTo>
                    <a:lnTo>
                      <a:pt x="4982927" y="1650574"/>
                    </a:lnTo>
                    <a:lnTo>
                      <a:pt x="5046313" y="1648643"/>
                    </a:lnTo>
                    <a:lnTo>
                      <a:pt x="5109327" y="1646495"/>
                    </a:lnTo>
                    <a:lnTo>
                      <a:pt x="5171958" y="1644132"/>
                    </a:lnTo>
                    <a:lnTo>
                      <a:pt x="5234195" y="1641555"/>
                    </a:lnTo>
                    <a:lnTo>
                      <a:pt x="5296030" y="1638766"/>
                    </a:lnTo>
                    <a:lnTo>
                      <a:pt x="5357450" y="1635768"/>
                    </a:lnTo>
                    <a:lnTo>
                      <a:pt x="5418447" y="1632563"/>
                    </a:lnTo>
                    <a:lnTo>
                      <a:pt x="5479010" y="1629152"/>
                    </a:lnTo>
                    <a:lnTo>
                      <a:pt x="5539128" y="1625538"/>
                    </a:lnTo>
                    <a:lnTo>
                      <a:pt x="5598791" y="1621722"/>
                    </a:lnTo>
                    <a:lnTo>
                      <a:pt x="5657990" y="1617707"/>
                    </a:lnTo>
                    <a:lnTo>
                      <a:pt x="5716713" y="1613495"/>
                    </a:lnTo>
                    <a:lnTo>
                      <a:pt x="5774951" y="1609087"/>
                    </a:lnTo>
                    <a:lnTo>
                      <a:pt x="5832693" y="1604486"/>
                    </a:lnTo>
                    <a:lnTo>
                      <a:pt x="5889928" y="1599694"/>
                    </a:lnTo>
                    <a:lnTo>
                      <a:pt x="5946648" y="1594713"/>
                    </a:lnTo>
                    <a:lnTo>
                      <a:pt x="6002841" y="1589544"/>
                    </a:lnTo>
                    <a:lnTo>
                      <a:pt x="6058497" y="1584190"/>
                    </a:lnTo>
                    <a:lnTo>
                      <a:pt x="6113606" y="1578653"/>
                    </a:lnTo>
                    <a:lnTo>
                      <a:pt x="6168157" y="1572935"/>
                    </a:lnTo>
                    <a:lnTo>
                      <a:pt x="6222141" y="1567038"/>
                    </a:lnTo>
                    <a:lnTo>
                      <a:pt x="6275547" y="1560963"/>
                    </a:lnTo>
                    <a:lnTo>
                      <a:pt x="6328365" y="1554713"/>
                    </a:lnTo>
                    <a:lnTo>
                      <a:pt x="6380584" y="1548291"/>
                    </a:lnTo>
                    <a:lnTo>
                      <a:pt x="6432195" y="1541697"/>
                    </a:lnTo>
                    <a:lnTo>
                      <a:pt x="6483186" y="1534934"/>
                    </a:lnTo>
                    <a:lnTo>
                      <a:pt x="6533549" y="1528004"/>
                    </a:lnTo>
                    <a:lnTo>
                      <a:pt x="6583271" y="1520910"/>
                    </a:lnTo>
                    <a:lnTo>
                      <a:pt x="6632344" y="1513652"/>
                    </a:lnTo>
                    <a:lnTo>
                      <a:pt x="6680757" y="1506233"/>
                    </a:lnTo>
                    <a:lnTo>
                      <a:pt x="6728500" y="1498655"/>
                    </a:lnTo>
                    <a:lnTo>
                      <a:pt x="6775562" y="1490921"/>
                    </a:lnTo>
                    <a:lnTo>
                      <a:pt x="6821933" y="1483031"/>
                    </a:lnTo>
                    <a:lnTo>
                      <a:pt x="6867604" y="1474989"/>
                    </a:lnTo>
                    <a:lnTo>
                      <a:pt x="6912562" y="1466795"/>
                    </a:lnTo>
                    <a:lnTo>
                      <a:pt x="6956799" y="1458453"/>
                    </a:lnTo>
                    <a:lnTo>
                      <a:pt x="7000305" y="1449964"/>
                    </a:lnTo>
                    <a:lnTo>
                      <a:pt x="7043068" y="1441330"/>
                    </a:lnTo>
                    <a:lnTo>
                      <a:pt x="7085078" y="1432554"/>
                    </a:lnTo>
                    <a:lnTo>
                      <a:pt x="7126326" y="1423636"/>
                    </a:lnTo>
                    <a:lnTo>
                      <a:pt x="7166801" y="1414580"/>
                    </a:lnTo>
                    <a:lnTo>
                      <a:pt x="7206492" y="1405388"/>
                    </a:lnTo>
                    <a:lnTo>
                      <a:pt x="7245390" y="1396060"/>
                    </a:lnTo>
                    <a:lnTo>
                      <a:pt x="7283485" y="1386600"/>
                    </a:lnTo>
                    <a:lnTo>
                      <a:pt x="7320765" y="1377009"/>
                    </a:lnTo>
                    <a:lnTo>
                      <a:pt x="7392842" y="1357444"/>
                    </a:lnTo>
                    <a:lnTo>
                      <a:pt x="7461540" y="1337380"/>
                    </a:lnTo>
                    <a:lnTo>
                      <a:pt x="7526777" y="1316833"/>
                    </a:lnTo>
                    <a:lnTo>
                      <a:pt x="7588469" y="1295821"/>
                    </a:lnTo>
                    <a:lnTo>
                      <a:pt x="7646536" y="1274359"/>
                    </a:lnTo>
                    <a:lnTo>
                      <a:pt x="7674185" y="1263464"/>
                    </a:lnTo>
                    <a:lnTo>
                      <a:pt x="7722777" y="1268433"/>
                    </a:lnTo>
                    <a:lnTo>
                      <a:pt x="7772339" y="1272977"/>
                    </a:lnTo>
                    <a:lnTo>
                      <a:pt x="7822827" y="1277086"/>
                    </a:lnTo>
                    <a:lnTo>
                      <a:pt x="7874198" y="1280750"/>
                    </a:lnTo>
                    <a:lnTo>
                      <a:pt x="7926409" y="1283959"/>
                    </a:lnTo>
                    <a:lnTo>
                      <a:pt x="7979417" y="1286702"/>
                    </a:lnTo>
                    <a:lnTo>
                      <a:pt x="8033178" y="1288969"/>
                    </a:lnTo>
                    <a:lnTo>
                      <a:pt x="8087649" y="1290751"/>
                    </a:lnTo>
                    <a:lnTo>
                      <a:pt x="8142787" y="1292036"/>
                    </a:lnTo>
                    <a:lnTo>
                      <a:pt x="8198548" y="1292814"/>
                    </a:lnTo>
                    <a:lnTo>
                      <a:pt x="8254890" y="1293076"/>
                    </a:lnTo>
                    <a:lnTo>
                      <a:pt x="8327693" y="1292639"/>
                    </a:lnTo>
                    <a:lnTo>
                      <a:pt x="8399506" y="1291343"/>
                    </a:lnTo>
                    <a:lnTo>
                      <a:pt x="8470235" y="1289210"/>
                    </a:lnTo>
                    <a:lnTo>
                      <a:pt x="8539785" y="1286260"/>
                    </a:lnTo>
                    <a:lnTo>
                      <a:pt x="8608062" y="1282517"/>
                    </a:lnTo>
                    <a:lnTo>
                      <a:pt x="8674969" y="1278002"/>
                    </a:lnTo>
                    <a:lnTo>
                      <a:pt x="8740413" y="1272737"/>
                    </a:lnTo>
                    <a:lnTo>
                      <a:pt x="8804299" y="1266743"/>
                    </a:lnTo>
                    <a:lnTo>
                      <a:pt x="8866532" y="1260043"/>
                    </a:lnTo>
                    <a:lnTo>
                      <a:pt x="8927018" y="1252657"/>
                    </a:lnTo>
                    <a:lnTo>
                      <a:pt x="8985661" y="1244609"/>
                    </a:lnTo>
                    <a:lnTo>
                      <a:pt x="9042367" y="1235919"/>
                    </a:lnTo>
                    <a:lnTo>
                      <a:pt x="9097041" y="1226610"/>
                    </a:lnTo>
                    <a:lnTo>
                      <a:pt x="9149589" y="1216703"/>
                    </a:lnTo>
                    <a:lnTo>
                      <a:pt x="9199915" y="1206219"/>
                    </a:lnTo>
                    <a:lnTo>
                      <a:pt x="9247926" y="1195182"/>
                    </a:lnTo>
                    <a:lnTo>
                      <a:pt x="9293525" y="1183612"/>
                    </a:lnTo>
                    <a:lnTo>
                      <a:pt x="9336619" y="1171532"/>
                    </a:lnTo>
                    <a:lnTo>
                      <a:pt x="9377113" y="1158963"/>
                    </a:lnTo>
                    <a:lnTo>
                      <a:pt x="9414911" y="1145926"/>
                    </a:lnTo>
                    <a:lnTo>
                      <a:pt x="9482045" y="1118540"/>
                    </a:lnTo>
                    <a:lnTo>
                      <a:pt x="9537261" y="1089547"/>
                    </a:lnTo>
                    <a:lnTo>
                      <a:pt x="9579802" y="1059121"/>
                    </a:lnTo>
                    <a:lnTo>
                      <a:pt x="9608910" y="1027437"/>
                    </a:lnTo>
                    <a:lnTo>
                      <a:pt x="9625727" y="977934"/>
                    </a:lnTo>
                    <a:lnTo>
                      <a:pt x="9623827" y="961199"/>
                    </a:lnTo>
                    <a:lnTo>
                      <a:pt x="9596082" y="912446"/>
                    </a:lnTo>
                    <a:lnTo>
                      <a:pt x="9560163" y="881370"/>
                    </a:lnTo>
                    <a:lnTo>
                      <a:pt x="9511190" y="851640"/>
                    </a:lnTo>
                    <a:lnTo>
                      <a:pt x="9449920" y="823430"/>
                    </a:lnTo>
                    <a:lnTo>
                      <a:pt x="9377113" y="796913"/>
                    </a:lnTo>
                    <a:lnTo>
                      <a:pt x="9336619" y="784344"/>
                    </a:lnTo>
                    <a:lnTo>
                      <a:pt x="9293525" y="772264"/>
                    </a:lnTo>
                    <a:lnTo>
                      <a:pt x="9247926" y="760695"/>
                    </a:lnTo>
                    <a:lnTo>
                      <a:pt x="9199915" y="749657"/>
                    </a:lnTo>
                    <a:lnTo>
                      <a:pt x="9149589" y="739175"/>
                    </a:lnTo>
                    <a:lnTo>
                      <a:pt x="9097041" y="729268"/>
                    </a:lnTo>
                    <a:lnTo>
                      <a:pt x="9042367" y="719958"/>
                    </a:lnTo>
                    <a:lnTo>
                      <a:pt x="8985661" y="711269"/>
                    </a:lnTo>
                    <a:lnTo>
                      <a:pt x="8927018" y="703220"/>
                    </a:lnTo>
                    <a:lnTo>
                      <a:pt x="8866532" y="695835"/>
                    </a:lnTo>
                    <a:lnTo>
                      <a:pt x="8804299" y="689134"/>
                    </a:lnTo>
                    <a:lnTo>
                      <a:pt x="8740413" y="683141"/>
                    </a:lnTo>
                    <a:lnTo>
                      <a:pt x="8674969" y="677875"/>
                    </a:lnTo>
                    <a:lnTo>
                      <a:pt x="8608062" y="673360"/>
                    </a:lnTo>
                    <a:lnTo>
                      <a:pt x="8539785" y="669618"/>
                    </a:lnTo>
                    <a:lnTo>
                      <a:pt x="8470235" y="666668"/>
                    </a:lnTo>
                    <a:lnTo>
                      <a:pt x="8399506" y="664535"/>
                    </a:lnTo>
                    <a:lnTo>
                      <a:pt x="8327693" y="663239"/>
                    </a:lnTo>
                    <a:lnTo>
                      <a:pt x="8254890" y="662802"/>
                    </a:lnTo>
                    <a:lnTo>
                      <a:pt x="8202420" y="663029"/>
                    </a:lnTo>
                    <a:lnTo>
                      <a:pt x="8150451" y="663703"/>
                    </a:lnTo>
                    <a:lnTo>
                      <a:pt x="8099017" y="664818"/>
                    </a:lnTo>
                    <a:lnTo>
                      <a:pt x="8048152" y="666364"/>
                    </a:lnTo>
                    <a:lnTo>
                      <a:pt x="7997891" y="668335"/>
                    </a:lnTo>
                    <a:lnTo>
                      <a:pt x="7948269" y="670720"/>
                    </a:lnTo>
                    <a:lnTo>
                      <a:pt x="7899322" y="673513"/>
                    </a:lnTo>
                    <a:lnTo>
                      <a:pt x="7851084" y="676706"/>
                    </a:lnTo>
                    <a:lnTo>
                      <a:pt x="7803589" y="680290"/>
                    </a:lnTo>
                    <a:lnTo>
                      <a:pt x="7756873" y="684257"/>
                    </a:lnTo>
                    <a:lnTo>
                      <a:pt x="7722350" y="668639"/>
                    </a:lnTo>
                    <a:lnTo>
                      <a:pt x="7685971" y="653221"/>
                    </a:lnTo>
                    <a:lnTo>
                      <a:pt x="7647764" y="638008"/>
                    </a:lnTo>
                    <a:lnTo>
                      <a:pt x="7607757" y="623006"/>
                    </a:lnTo>
                    <a:lnTo>
                      <a:pt x="7565978" y="608221"/>
                    </a:lnTo>
                    <a:lnTo>
                      <a:pt x="7522454" y="593656"/>
                    </a:lnTo>
                    <a:lnTo>
                      <a:pt x="7477213" y="579319"/>
                    </a:lnTo>
                    <a:lnTo>
                      <a:pt x="7430284" y="565213"/>
                    </a:lnTo>
                    <a:lnTo>
                      <a:pt x="7381693" y="551346"/>
                    </a:lnTo>
                    <a:lnTo>
                      <a:pt x="7331469" y="537721"/>
                    </a:lnTo>
                    <a:lnTo>
                      <a:pt x="7279639" y="524344"/>
                    </a:lnTo>
                    <a:lnTo>
                      <a:pt x="7226231" y="511221"/>
                    </a:lnTo>
                    <a:lnTo>
                      <a:pt x="7171273" y="498357"/>
                    </a:lnTo>
                    <a:lnTo>
                      <a:pt x="7114793" y="485758"/>
                    </a:lnTo>
                    <a:lnTo>
                      <a:pt x="7056819" y="473428"/>
                    </a:lnTo>
                    <a:lnTo>
                      <a:pt x="6997378" y="461374"/>
                    </a:lnTo>
                    <a:lnTo>
                      <a:pt x="7003355" y="450284"/>
                    </a:lnTo>
                    <a:lnTo>
                      <a:pt x="7007971" y="438945"/>
                    </a:lnTo>
                    <a:lnTo>
                      <a:pt x="7011182" y="427362"/>
                    </a:lnTo>
                    <a:lnTo>
                      <a:pt x="7012948" y="415542"/>
                    </a:lnTo>
                    <a:lnTo>
                      <a:pt x="7012398" y="393840"/>
                    </a:lnTo>
                    <a:lnTo>
                      <a:pt x="6997285" y="350453"/>
                    </a:lnTo>
                    <a:lnTo>
                      <a:pt x="6964495" y="307493"/>
                    </a:lnTo>
                    <a:lnTo>
                      <a:pt x="6915232" y="265439"/>
                    </a:lnTo>
                    <a:lnTo>
                      <a:pt x="6850702" y="224772"/>
                    </a:lnTo>
                    <a:lnTo>
                      <a:pt x="6813088" y="205109"/>
                    </a:lnTo>
                    <a:lnTo>
                      <a:pt x="6772110" y="185973"/>
                    </a:lnTo>
                    <a:lnTo>
                      <a:pt x="6727916" y="167423"/>
                    </a:lnTo>
                    <a:lnTo>
                      <a:pt x="6680659" y="149521"/>
                    </a:lnTo>
                    <a:lnTo>
                      <a:pt x="6630489" y="132325"/>
                    </a:lnTo>
                    <a:lnTo>
                      <a:pt x="6577556" y="115897"/>
                    </a:lnTo>
                    <a:lnTo>
                      <a:pt x="6522012" y="100295"/>
                    </a:lnTo>
                    <a:lnTo>
                      <a:pt x="6464006" y="85581"/>
                    </a:lnTo>
                    <a:lnTo>
                      <a:pt x="6403689" y="71814"/>
                    </a:lnTo>
                    <a:lnTo>
                      <a:pt x="6341213" y="59054"/>
                    </a:lnTo>
                    <a:lnTo>
                      <a:pt x="6276727" y="47362"/>
                    </a:lnTo>
                    <a:lnTo>
                      <a:pt x="6210382" y="36797"/>
                    </a:lnTo>
                    <a:lnTo>
                      <a:pt x="6142329" y="27419"/>
                    </a:lnTo>
                    <a:lnTo>
                      <a:pt x="6072719" y="19289"/>
                    </a:lnTo>
                    <a:lnTo>
                      <a:pt x="6001702" y="12466"/>
                    </a:lnTo>
                    <a:lnTo>
                      <a:pt x="5930558" y="7091"/>
                    </a:lnTo>
                    <a:lnTo>
                      <a:pt x="5860578" y="3244"/>
                    </a:lnTo>
                    <a:lnTo>
                      <a:pt x="5791921" y="891"/>
                    </a:lnTo>
                    <a:lnTo>
                      <a:pt x="5724746" y="0"/>
                    </a:lnTo>
                    <a:close/>
                  </a:path>
                </a:pathLst>
              </a:custGeom>
              <a:solidFill>
                <a:srgbClr val="E8E8E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47" name="object 24">
                <a:extLst>
                  <a:ext uri="{FF2B5EF4-FFF2-40B4-BE49-F238E27FC236}">
                    <a16:creationId xmlns:a16="http://schemas.microsoft.com/office/drawing/2014/main" id="{451E0D8F-4885-FF97-71D3-DBF571F57150}"/>
                  </a:ext>
                </a:extLst>
              </p:cNvPr>
              <p:cNvSpPr/>
              <p:nvPr/>
            </p:nvSpPr>
            <p:spPr>
              <a:xfrm>
                <a:off x="8600455" y="6630152"/>
                <a:ext cx="255904" cy="2541270"/>
              </a:xfrm>
              <a:custGeom>
                <a:avLst/>
                <a:gdLst/>
                <a:ahLst/>
                <a:cxnLst/>
                <a:rect l="l" t="t" r="r" b="b"/>
                <a:pathLst>
                  <a:path w="255904" h="2541270">
                    <a:moveTo>
                      <a:pt x="255897" y="0"/>
                    </a:moveTo>
                    <a:lnTo>
                      <a:pt x="0" y="0"/>
                    </a:lnTo>
                    <a:lnTo>
                      <a:pt x="59610" y="2540948"/>
                    </a:lnTo>
                    <a:lnTo>
                      <a:pt x="196308" y="2540948"/>
                    </a:lnTo>
                    <a:lnTo>
                      <a:pt x="255897" y="0"/>
                    </a:lnTo>
                    <a:close/>
                  </a:path>
                </a:pathLst>
              </a:custGeom>
              <a:solidFill>
                <a:srgbClr val="B6CCC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48" name="object 25">
                <a:extLst>
                  <a:ext uri="{FF2B5EF4-FFF2-40B4-BE49-F238E27FC236}">
                    <a16:creationId xmlns:a16="http://schemas.microsoft.com/office/drawing/2014/main" id="{3BA4E616-DB60-466D-F266-CD3CE0F96AA1}"/>
                  </a:ext>
                </a:extLst>
              </p:cNvPr>
              <p:cNvSpPr/>
              <p:nvPr/>
            </p:nvSpPr>
            <p:spPr>
              <a:xfrm>
                <a:off x="8562630" y="6630152"/>
                <a:ext cx="255904" cy="2541270"/>
              </a:xfrm>
              <a:custGeom>
                <a:avLst/>
                <a:gdLst/>
                <a:ahLst/>
                <a:cxnLst/>
                <a:rect l="l" t="t" r="r" b="b"/>
                <a:pathLst>
                  <a:path w="255904" h="2541270">
                    <a:moveTo>
                      <a:pt x="255897" y="0"/>
                    </a:moveTo>
                    <a:lnTo>
                      <a:pt x="0" y="0"/>
                    </a:lnTo>
                    <a:lnTo>
                      <a:pt x="59610" y="2540948"/>
                    </a:lnTo>
                    <a:lnTo>
                      <a:pt x="196308" y="2540948"/>
                    </a:lnTo>
                    <a:lnTo>
                      <a:pt x="255897" y="0"/>
                    </a:lnTo>
                    <a:close/>
                  </a:path>
                </a:pathLst>
              </a:custGeom>
              <a:solidFill>
                <a:srgbClr val="CADA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49" name="object 26">
                <a:extLst>
                  <a:ext uri="{FF2B5EF4-FFF2-40B4-BE49-F238E27FC236}">
                    <a16:creationId xmlns:a16="http://schemas.microsoft.com/office/drawing/2014/main" id="{D9E0DD29-F1F6-D7AA-C1FD-A6D9665B016D}"/>
                  </a:ext>
                </a:extLst>
              </p:cNvPr>
              <p:cNvSpPr/>
              <p:nvPr/>
            </p:nvSpPr>
            <p:spPr>
              <a:xfrm>
                <a:off x="8596138" y="6631667"/>
                <a:ext cx="78740" cy="2531110"/>
              </a:xfrm>
              <a:custGeom>
                <a:avLst/>
                <a:gdLst/>
                <a:ahLst/>
                <a:cxnLst/>
                <a:rect l="l" t="t" r="r" b="b"/>
                <a:pathLst>
                  <a:path w="78740" h="2531109">
                    <a:moveTo>
                      <a:pt x="78248" y="0"/>
                    </a:moveTo>
                    <a:lnTo>
                      <a:pt x="0" y="0"/>
                    </a:lnTo>
                    <a:lnTo>
                      <a:pt x="27140" y="2530593"/>
                    </a:lnTo>
                    <a:lnTo>
                      <a:pt x="72992" y="2530519"/>
                    </a:lnTo>
                    <a:lnTo>
                      <a:pt x="78248" y="0"/>
                    </a:lnTo>
                    <a:close/>
                  </a:path>
                </a:pathLst>
              </a:custGeom>
              <a:solidFill>
                <a:srgbClr val="E3EBE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50" name="object 27">
                <a:extLst>
                  <a:ext uri="{FF2B5EF4-FFF2-40B4-BE49-F238E27FC236}">
                    <a16:creationId xmlns:a16="http://schemas.microsoft.com/office/drawing/2014/main" id="{49C170C9-558E-E1CF-8475-3BEB87C3CD01}"/>
                  </a:ext>
                </a:extLst>
              </p:cNvPr>
              <p:cNvSpPr/>
              <p:nvPr/>
            </p:nvSpPr>
            <p:spPr>
              <a:xfrm>
                <a:off x="14098326" y="6630152"/>
                <a:ext cx="255904" cy="2541270"/>
              </a:xfrm>
              <a:custGeom>
                <a:avLst/>
                <a:gdLst/>
                <a:ahLst/>
                <a:cxnLst/>
                <a:rect l="l" t="t" r="r" b="b"/>
                <a:pathLst>
                  <a:path w="255905" h="2541270">
                    <a:moveTo>
                      <a:pt x="255897" y="0"/>
                    </a:moveTo>
                    <a:lnTo>
                      <a:pt x="0" y="0"/>
                    </a:lnTo>
                    <a:lnTo>
                      <a:pt x="59610" y="2540948"/>
                    </a:lnTo>
                    <a:lnTo>
                      <a:pt x="196308" y="2540948"/>
                    </a:lnTo>
                    <a:lnTo>
                      <a:pt x="255897" y="0"/>
                    </a:lnTo>
                    <a:close/>
                  </a:path>
                </a:pathLst>
              </a:custGeom>
              <a:solidFill>
                <a:srgbClr val="B6CCC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51" name="object 28">
                <a:extLst>
                  <a:ext uri="{FF2B5EF4-FFF2-40B4-BE49-F238E27FC236}">
                    <a16:creationId xmlns:a16="http://schemas.microsoft.com/office/drawing/2014/main" id="{0C068E22-8824-CC95-965C-11CB75BEBE49}"/>
                  </a:ext>
                </a:extLst>
              </p:cNvPr>
              <p:cNvSpPr/>
              <p:nvPr/>
            </p:nvSpPr>
            <p:spPr>
              <a:xfrm>
                <a:off x="14060503" y="6630152"/>
                <a:ext cx="255904" cy="2541270"/>
              </a:xfrm>
              <a:custGeom>
                <a:avLst/>
                <a:gdLst/>
                <a:ahLst/>
                <a:cxnLst/>
                <a:rect l="l" t="t" r="r" b="b"/>
                <a:pathLst>
                  <a:path w="255905" h="2541270">
                    <a:moveTo>
                      <a:pt x="255897" y="0"/>
                    </a:moveTo>
                    <a:lnTo>
                      <a:pt x="0" y="0"/>
                    </a:lnTo>
                    <a:lnTo>
                      <a:pt x="59600" y="2540948"/>
                    </a:lnTo>
                    <a:lnTo>
                      <a:pt x="196308" y="2540948"/>
                    </a:lnTo>
                    <a:lnTo>
                      <a:pt x="255897" y="0"/>
                    </a:lnTo>
                    <a:close/>
                  </a:path>
                </a:pathLst>
              </a:custGeom>
              <a:solidFill>
                <a:srgbClr val="CADA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52" name="object 29">
                <a:extLst>
                  <a:ext uri="{FF2B5EF4-FFF2-40B4-BE49-F238E27FC236}">
                    <a16:creationId xmlns:a16="http://schemas.microsoft.com/office/drawing/2014/main" id="{F43DB3E3-8EA2-19A6-A3B6-5313DBEC4E0B}"/>
                  </a:ext>
                </a:extLst>
              </p:cNvPr>
              <p:cNvSpPr/>
              <p:nvPr/>
            </p:nvSpPr>
            <p:spPr>
              <a:xfrm>
                <a:off x="14094009" y="6631667"/>
                <a:ext cx="78740" cy="2531110"/>
              </a:xfrm>
              <a:custGeom>
                <a:avLst/>
                <a:gdLst/>
                <a:ahLst/>
                <a:cxnLst/>
                <a:rect l="l" t="t" r="r" b="b"/>
                <a:pathLst>
                  <a:path w="78740" h="2531109">
                    <a:moveTo>
                      <a:pt x="78248" y="0"/>
                    </a:moveTo>
                    <a:lnTo>
                      <a:pt x="0" y="0"/>
                    </a:lnTo>
                    <a:lnTo>
                      <a:pt x="27140" y="2530593"/>
                    </a:lnTo>
                    <a:lnTo>
                      <a:pt x="72992" y="2530519"/>
                    </a:lnTo>
                    <a:lnTo>
                      <a:pt x="78248" y="0"/>
                    </a:lnTo>
                    <a:close/>
                  </a:path>
                </a:pathLst>
              </a:custGeom>
              <a:solidFill>
                <a:srgbClr val="E3EBE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53" name="object 30">
                <a:extLst>
                  <a:ext uri="{FF2B5EF4-FFF2-40B4-BE49-F238E27FC236}">
                    <a16:creationId xmlns:a16="http://schemas.microsoft.com/office/drawing/2014/main" id="{1C178956-5136-71D1-511A-3FAE691F1753}"/>
                  </a:ext>
                </a:extLst>
              </p:cNvPr>
              <p:cNvPicPr/>
              <p:nvPr/>
            </p:nvPicPr>
            <p:blipFill>
              <a:blip r:embed="rId6" cstate="print"/>
              <a:stretch>
                <a:fillRect/>
              </a:stretch>
            </p:blipFill>
            <p:spPr>
              <a:xfrm>
                <a:off x="8176949" y="8656715"/>
                <a:ext cx="236087" cy="71746"/>
              </a:xfrm>
              <a:prstGeom prst="rect">
                <a:avLst/>
              </a:prstGeom>
            </p:spPr>
          </p:pic>
          <p:sp>
            <p:nvSpPr>
              <p:cNvPr id="54" name="object 31">
                <a:extLst>
                  <a:ext uri="{FF2B5EF4-FFF2-40B4-BE49-F238E27FC236}">
                    <a16:creationId xmlns:a16="http://schemas.microsoft.com/office/drawing/2014/main" id="{3A96951B-9BA4-FD7C-0B16-31C041138791}"/>
                  </a:ext>
                </a:extLst>
              </p:cNvPr>
              <p:cNvSpPr/>
              <p:nvPr/>
            </p:nvSpPr>
            <p:spPr>
              <a:xfrm>
                <a:off x="8213561" y="8071377"/>
                <a:ext cx="163195" cy="920115"/>
              </a:xfrm>
              <a:custGeom>
                <a:avLst/>
                <a:gdLst/>
                <a:ahLst/>
                <a:cxnLst/>
                <a:rect l="l" t="t" r="r" b="b"/>
                <a:pathLst>
                  <a:path w="163195" h="920115">
                    <a:moveTo>
                      <a:pt x="162885" y="0"/>
                    </a:moveTo>
                    <a:lnTo>
                      <a:pt x="0" y="0"/>
                    </a:lnTo>
                    <a:lnTo>
                      <a:pt x="0" y="919971"/>
                    </a:lnTo>
                    <a:lnTo>
                      <a:pt x="162885" y="919971"/>
                    </a:lnTo>
                    <a:lnTo>
                      <a:pt x="162885" y="0"/>
                    </a:lnTo>
                    <a:close/>
                  </a:path>
                </a:pathLst>
              </a:custGeom>
              <a:solidFill>
                <a:srgbClr val="CADA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55" name="object 32">
                <a:extLst>
                  <a:ext uri="{FF2B5EF4-FFF2-40B4-BE49-F238E27FC236}">
                    <a16:creationId xmlns:a16="http://schemas.microsoft.com/office/drawing/2014/main" id="{B5E52D85-A74E-CD49-ECC0-05AC5B2651D2}"/>
                  </a:ext>
                </a:extLst>
              </p:cNvPr>
              <p:cNvSpPr/>
              <p:nvPr/>
            </p:nvSpPr>
            <p:spPr>
              <a:xfrm>
                <a:off x="8331578" y="8071377"/>
                <a:ext cx="39370" cy="920115"/>
              </a:xfrm>
              <a:custGeom>
                <a:avLst/>
                <a:gdLst/>
                <a:ahLst/>
                <a:cxnLst/>
                <a:rect l="l" t="t" r="r" b="b"/>
                <a:pathLst>
                  <a:path w="39370" h="920115">
                    <a:moveTo>
                      <a:pt x="38826" y="0"/>
                    </a:moveTo>
                    <a:lnTo>
                      <a:pt x="0" y="0"/>
                    </a:lnTo>
                    <a:lnTo>
                      <a:pt x="0" y="919971"/>
                    </a:lnTo>
                    <a:lnTo>
                      <a:pt x="38826" y="919971"/>
                    </a:lnTo>
                    <a:lnTo>
                      <a:pt x="38826" y="0"/>
                    </a:lnTo>
                    <a:close/>
                  </a:path>
                </a:pathLst>
              </a:custGeom>
              <a:solidFill>
                <a:srgbClr val="E3EBE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56" name="object 33">
                <a:extLst>
                  <a:ext uri="{FF2B5EF4-FFF2-40B4-BE49-F238E27FC236}">
                    <a16:creationId xmlns:a16="http://schemas.microsoft.com/office/drawing/2014/main" id="{B23B6D7B-DB4F-4F74-3C13-9F895E177822}"/>
                  </a:ext>
                </a:extLst>
              </p:cNvPr>
              <p:cNvSpPr/>
              <p:nvPr/>
            </p:nvSpPr>
            <p:spPr>
              <a:xfrm>
                <a:off x="7028129" y="8688114"/>
                <a:ext cx="2534285" cy="876935"/>
              </a:xfrm>
              <a:custGeom>
                <a:avLst/>
                <a:gdLst/>
                <a:ahLst/>
                <a:cxnLst/>
                <a:rect l="l" t="t" r="r" b="b"/>
                <a:pathLst>
                  <a:path w="2534284" h="876934">
                    <a:moveTo>
                      <a:pt x="2533713" y="791540"/>
                    </a:moveTo>
                    <a:lnTo>
                      <a:pt x="2505799" y="664730"/>
                    </a:lnTo>
                    <a:lnTo>
                      <a:pt x="2482189" y="592721"/>
                    </a:lnTo>
                    <a:lnTo>
                      <a:pt x="2449969" y="548754"/>
                    </a:lnTo>
                    <a:lnTo>
                      <a:pt x="2396286" y="506069"/>
                    </a:lnTo>
                    <a:lnTo>
                      <a:pt x="2345766" y="485711"/>
                    </a:lnTo>
                    <a:lnTo>
                      <a:pt x="2307234" y="477100"/>
                    </a:lnTo>
                    <a:lnTo>
                      <a:pt x="2261400" y="469404"/>
                    </a:lnTo>
                    <a:lnTo>
                      <a:pt x="2209368" y="462521"/>
                    </a:lnTo>
                    <a:lnTo>
                      <a:pt x="2152319" y="456311"/>
                    </a:lnTo>
                    <a:lnTo>
                      <a:pt x="2091372" y="450710"/>
                    </a:lnTo>
                    <a:lnTo>
                      <a:pt x="2027682" y="445579"/>
                    </a:lnTo>
                    <a:lnTo>
                      <a:pt x="1962378" y="440817"/>
                    </a:lnTo>
                    <a:lnTo>
                      <a:pt x="1768259" y="427736"/>
                    </a:lnTo>
                    <a:lnTo>
                      <a:pt x="1707946" y="423405"/>
                    </a:lnTo>
                    <a:lnTo>
                      <a:pt x="1651749" y="418922"/>
                    </a:lnTo>
                    <a:lnTo>
                      <a:pt x="1600809" y="414185"/>
                    </a:lnTo>
                    <a:lnTo>
                      <a:pt x="1556245" y="409054"/>
                    </a:lnTo>
                    <a:lnTo>
                      <a:pt x="1490878" y="397281"/>
                    </a:lnTo>
                    <a:lnTo>
                      <a:pt x="1416532" y="366877"/>
                    </a:lnTo>
                    <a:lnTo>
                      <a:pt x="1384896" y="341782"/>
                    </a:lnTo>
                    <a:lnTo>
                      <a:pt x="1384896" y="0"/>
                    </a:lnTo>
                    <a:lnTo>
                      <a:pt x="1377581" y="3670"/>
                    </a:lnTo>
                    <a:lnTo>
                      <a:pt x="1355547" y="11772"/>
                    </a:lnTo>
                    <a:lnTo>
                      <a:pt x="1318679" y="19862"/>
                    </a:lnTo>
                    <a:lnTo>
                      <a:pt x="1266863" y="23533"/>
                    </a:lnTo>
                    <a:lnTo>
                      <a:pt x="1220520" y="23164"/>
                    </a:lnTo>
                    <a:lnTo>
                      <a:pt x="1192771" y="20599"/>
                    </a:lnTo>
                    <a:lnTo>
                      <a:pt x="1172565" y="13601"/>
                    </a:lnTo>
                    <a:lnTo>
                      <a:pt x="1148816" y="0"/>
                    </a:lnTo>
                    <a:lnTo>
                      <a:pt x="1148816" y="361022"/>
                    </a:lnTo>
                    <a:lnTo>
                      <a:pt x="1042847" y="397281"/>
                    </a:lnTo>
                    <a:lnTo>
                      <a:pt x="977468" y="409054"/>
                    </a:lnTo>
                    <a:lnTo>
                      <a:pt x="932903" y="414185"/>
                    </a:lnTo>
                    <a:lnTo>
                      <a:pt x="881951" y="418922"/>
                    </a:lnTo>
                    <a:lnTo>
                      <a:pt x="825754" y="423405"/>
                    </a:lnTo>
                    <a:lnTo>
                      <a:pt x="765454" y="427736"/>
                    </a:lnTo>
                    <a:lnTo>
                      <a:pt x="571334" y="440817"/>
                    </a:lnTo>
                    <a:lnTo>
                      <a:pt x="506031" y="445579"/>
                    </a:lnTo>
                    <a:lnTo>
                      <a:pt x="442341" y="450710"/>
                    </a:lnTo>
                    <a:lnTo>
                      <a:pt x="381393" y="456311"/>
                    </a:lnTo>
                    <a:lnTo>
                      <a:pt x="324345" y="462521"/>
                    </a:lnTo>
                    <a:lnTo>
                      <a:pt x="272326" y="469404"/>
                    </a:lnTo>
                    <a:lnTo>
                      <a:pt x="226479" y="477100"/>
                    </a:lnTo>
                    <a:lnTo>
                      <a:pt x="187960" y="485711"/>
                    </a:lnTo>
                    <a:lnTo>
                      <a:pt x="137439" y="506069"/>
                    </a:lnTo>
                    <a:lnTo>
                      <a:pt x="77304" y="579335"/>
                    </a:lnTo>
                    <a:lnTo>
                      <a:pt x="34353" y="674281"/>
                    </a:lnTo>
                    <a:lnTo>
                      <a:pt x="8585" y="756488"/>
                    </a:lnTo>
                    <a:lnTo>
                      <a:pt x="0" y="791540"/>
                    </a:lnTo>
                    <a:lnTo>
                      <a:pt x="89217" y="814095"/>
                    </a:lnTo>
                    <a:lnTo>
                      <a:pt x="120370" y="734491"/>
                    </a:lnTo>
                    <a:lnTo>
                      <a:pt x="147548" y="685431"/>
                    </a:lnTo>
                    <a:lnTo>
                      <a:pt x="185889" y="646633"/>
                    </a:lnTo>
                    <a:lnTo>
                      <a:pt x="250507" y="597801"/>
                    </a:lnTo>
                    <a:lnTo>
                      <a:pt x="415582" y="576605"/>
                    </a:lnTo>
                    <a:lnTo>
                      <a:pt x="708571" y="581355"/>
                    </a:lnTo>
                    <a:lnTo>
                      <a:pt x="988060" y="595972"/>
                    </a:lnTo>
                    <a:lnTo>
                      <a:pt x="1112647" y="604405"/>
                    </a:lnTo>
                    <a:lnTo>
                      <a:pt x="1205776" y="876541"/>
                    </a:lnTo>
                    <a:lnTo>
                      <a:pt x="1327975" y="876541"/>
                    </a:lnTo>
                    <a:lnTo>
                      <a:pt x="1421091" y="604405"/>
                    </a:lnTo>
                    <a:lnTo>
                      <a:pt x="1879015" y="570953"/>
                    </a:lnTo>
                    <a:lnTo>
                      <a:pt x="2121471" y="559117"/>
                    </a:lnTo>
                    <a:lnTo>
                      <a:pt x="2229269" y="568274"/>
                    </a:lnTo>
                    <a:lnTo>
                      <a:pt x="2283231" y="597801"/>
                    </a:lnTo>
                    <a:lnTo>
                      <a:pt x="2354999" y="665683"/>
                    </a:lnTo>
                    <a:lnTo>
                      <a:pt x="2405253" y="736244"/>
                    </a:lnTo>
                    <a:lnTo>
                      <a:pt x="2434806" y="791654"/>
                    </a:lnTo>
                    <a:lnTo>
                      <a:pt x="2444483" y="814095"/>
                    </a:lnTo>
                    <a:lnTo>
                      <a:pt x="2533713" y="791540"/>
                    </a:lnTo>
                    <a:close/>
                  </a:path>
                </a:pathLst>
              </a:custGeom>
              <a:solidFill>
                <a:srgbClr val="046A3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57" name="object 34">
                <a:extLst>
                  <a:ext uri="{FF2B5EF4-FFF2-40B4-BE49-F238E27FC236}">
                    <a16:creationId xmlns:a16="http://schemas.microsoft.com/office/drawing/2014/main" id="{CC7E0D5D-0908-EF59-018B-2D20E55C21EA}"/>
                  </a:ext>
                </a:extLst>
              </p:cNvPr>
              <p:cNvSpPr/>
              <p:nvPr/>
            </p:nvSpPr>
            <p:spPr>
              <a:xfrm>
                <a:off x="6930403" y="9436347"/>
                <a:ext cx="2723515" cy="273685"/>
              </a:xfrm>
              <a:custGeom>
                <a:avLst/>
                <a:gdLst/>
                <a:ahLst/>
                <a:cxnLst/>
                <a:rect l="l" t="t" r="r" b="b"/>
                <a:pathLst>
                  <a:path w="2723515" h="273684">
                    <a:moveTo>
                      <a:pt x="273608" y="136779"/>
                    </a:moveTo>
                    <a:lnTo>
                      <a:pt x="266636" y="93535"/>
                    </a:lnTo>
                    <a:lnTo>
                      <a:pt x="247205" y="55981"/>
                    </a:lnTo>
                    <a:lnTo>
                      <a:pt x="217589" y="26377"/>
                    </a:lnTo>
                    <a:lnTo>
                      <a:pt x="180035" y="6972"/>
                    </a:lnTo>
                    <a:lnTo>
                      <a:pt x="136804" y="0"/>
                    </a:lnTo>
                    <a:lnTo>
                      <a:pt x="93548" y="6972"/>
                    </a:lnTo>
                    <a:lnTo>
                      <a:pt x="55994" y="26377"/>
                    </a:lnTo>
                    <a:lnTo>
                      <a:pt x="26390" y="55981"/>
                    </a:lnTo>
                    <a:lnTo>
                      <a:pt x="6972" y="93535"/>
                    </a:lnTo>
                    <a:lnTo>
                      <a:pt x="0" y="136779"/>
                    </a:lnTo>
                    <a:lnTo>
                      <a:pt x="6972" y="180009"/>
                    </a:lnTo>
                    <a:lnTo>
                      <a:pt x="26390" y="217563"/>
                    </a:lnTo>
                    <a:lnTo>
                      <a:pt x="55994" y="247167"/>
                    </a:lnTo>
                    <a:lnTo>
                      <a:pt x="93548" y="266585"/>
                    </a:lnTo>
                    <a:lnTo>
                      <a:pt x="136804" y="273558"/>
                    </a:lnTo>
                    <a:lnTo>
                      <a:pt x="180035" y="266585"/>
                    </a:lnTo>
                    <a:lnTo>
                      <a:pt x="217589" y="247167"/>
                    </a:lnTo>
                    <a:lnTo>
                      <a:pt x="247205" y="217563"/>
                    </a:lnTo>
                    <a:lnTo>
                      <a:pt x="266636" y="180009"/>
                    </a:lnTo>
                    <a:lnTo>
                      <a:pt x="273608" y="136779"/>
                    </a:lnTo>
                    <a:close/>
                  </a:path>
                  <a:path w="2723515" h="273684">
                    <a:moveTo>
                      <a:pt x="1500428" y="136779"/>
                    </a:moveTo>
                    <a:lnTo>
                      <a:pt x="1493456" y="93535"/>
                    </a:lnTo>
                    <a:lnTo>
                      <a:pt x="1474025" y="55981"/>
                    </a:lnTo>
                    <a:lnTo>
                      <a:pt x="1444421" y="26377"/>
                    </a:lnTo>
                    <a:lnTo>
                      <a:pt x="1406867" y="6972"/>
                    </a:lnTo>
                    <a:lnTo>
                      <a:pt x="1363649" y="0"/>
                    </a:lnTo>
                    <a:lnTo>
                      <a:pt x="1320393" y="6972"/>
                    </a:lnTo>
                    <a:lnTo>
                      <a:pt x="1282839" y="26377"/>
                    </a:lnTo>
                    <a:lnTo>
                      <a:pt x="1253236" y="55981"/>
                    </a:lnTo>
                    <a:lnTo>
                      <a:pt x="1233817" y="93535"/>
                    </a:lnTo>
                    <a:lnTo>
                      <a:pt x="1226845" y="136779"/>
                    </a:lnTo>
                    <a:lnTo>
                      <a:pt x="1233817" y="180009"/>
                    </a:lnTo>
                    <a:lnTo>
                      <a:pt x="1253236" y="217563"/>
                    </a:lnTo>
                    <a:lnTo>
                      <a:pt x="1282839" y="247167"/>
                    </a:lnTo>
                    <a:lnTo>
                      <a:pt x="1320393" y="266585"/>
                    </a:lnTo>
                    <a:lnTo>
                      <a:pt x="1363649" y="273558"/>
                    </a:lnTo>
                    <a:lnTo>
                      <a:pt x="1406867" y="266585"/>
                    </a:lnTo>
                    <a:lnTo>
                      <a:pt x="1444421" y="247167"/>
                    </a:lnTo>
                    <a:lnTo>
                      <a:pt x="1474025" y="217563"/>
                    </a:lnTo>
                    <a:lnTo>
                      <a:pt x="1493456" y="180009"/>
                    </a:lnTo>
                    <a:lnTo>
                      <a:pt x="1500428" y="136779"/>
                    </a:lnTo>
                    <a:close/>
                  </a:path>
                  <a:path w="2723515" h="273684">
                    <a:moveTo>
                      <a:pt x="2722892" y="136779"/>
                    </a:moveTo>
                    <a:lnTo>
                      <a:pt x="2715920" y="93535"/>
                    </a:lnTo>
                    <a:lnTo>
                      <a:pt x="2696502" y="55981"/>
                    </a:lnTo>
                    <a:lnTo>
                      <a:pt x="2666885" y="26377"/>
                    </a:lnTo>
                    <a:lnTo>
                      <a:pt x="2629331" y="6972"/>
                    </a:lnTo>
                    <a:lnTo>
                      <a:pt x="2586101" y="0"/>
                    </a:lnTo>
                    <a:lnTo>
                      <a:pt x="2542857" y="6972"/>
                    </a:lnTo>
                    <a:lnTo>
                      <a:pt x="2505303" y="26377"/>
                    </a:lnTo>
                    <a:lnTo>
                      <a:pt x="2475687" y="55981"/>
                    </a:lnTo>
                    <a:lnTo>
                      <a:pt x="2456269" y="93535"/>
                    </a:lnTo>
                    <a:lnTo>
                      <a:pt x="2449296" y="136779"/>
                    </a:lnTo>
                    <a:lnTo>
                      <a:pt x="2456269" y="180009"/>
                    </a:lnTo>
                    <a:lnTo>
                      <a:pt x="2475687" y="217563"/>
                    </a:lnTo>
                    <a:lnTo>
                      <a:pt x="2505303" y="247167"/>
                    </a:lnTo>
                    <a:lnTo>
                      <a:pt x="2542857" y="266585"/>
                    </a:lnTo>
                    <a:lnTo>
                      <a:pt x="2586101" y="273558"/>
                    </a:lnTo>
                    <a:lnTo>
                      <a:pt x="2629331" y="266585"/>
                    </a:lnTo>
                    <a:lnTo>
                      <a:pt x="2666885" y="247167"/>
                    </a:lnTo>
                    <a:lnTo>
                      <a:pt x="2696502" y="217563"/>
                    </a:lnTo>
                    <a:lnTo>
                      <a:pt x="2715920" y="180009"/>
                    </a:lnTo>
                    <a:lnTo>
                      <a:pt x="2722892" y="136779"/>
                    </a:lnTo>
                    <a:close/>
                  </a:path>
                </a:pathLst>
              </a:custGeom>
              <a:solidFill>
                <a:srgbClr val="064F5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58" name="object 35">
                <a:extLst>
                  <a:ext uri="{FF2B5EF4-FFF2-40B4-BE49-F238E27FC236}">
                    <a16:creationId xmlns:a16="http://schemas.microsoft.com/office/drawing/2014/main" id="{B1E3AB5B-E508-A6E1-D2DC-A9586C48192F}"/>
                  </a:ext>
                </a:extLst>
              </p:cNvPr>
              <p:cNvSpPr/>
              <p:nvPr/>
            </p:nvSpPr>
            <p:spPr>
              <a:xfrm>
                <a:off x="7980504" y="7959827"/>
                <a:ext cx="629285" cy="167005"/>
              </a:xfrm>
              <a:custGeom>
                <a:avLst/>
                <a:gdLst/>
                <a:ahLst/>
                <a:cxnLst/>
                <a:rect l="l" t="t" r="r" b="b"/>
                <a:pathLst>
                  <a:path w="629284" h="167004">
                    <a:moveTo>
                      <a:pt x="628975" y="0"/>
                    </a:moveTo>
                    <a:lnTo>
                      <a:pt x="0" y="1026"/>
                    </a:lnTo>
                    <a:lnTo>
                      <a:pt x="45045" y="164905"/>
                    </a:lnTo>
                    <a:lnTo>
                      <a:pt x="581029" y="166958"/>
                    </a:lnTo>
                    <a:lnTo>
                      <a:pt x="628975" y="0"/>
                    </a:lnTo>
                    <a:close/>
                  </a:path>
                </a:pathLst>
              </a:custGeom>
              <a:solidFill>
                <a:srgbClr val="046A3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59" name="object 36">
                <a:extLst>
                  <a:ext uri="{FF2B5EF4-FFF2-40B4-BE49-F238E27FC236}">
                    <a16:creationId xmlns:a16="http://schemas.microsoft.com/office/drawing/2014/main" id="{640F6AC6-6453-BBBE-0BC5-B634833FBDEC}"/>
                  </a:ext>
                </a:extLst>
              </p:cNvPr>
              <p:cNvSpPr/>
              <p:nvPr/>
            </p:nvSpPr>
            <p:spPr>
              <a:xfrm>
                <a:off x="7069163" y="6020377"/>
                <a:ext cx="2098675" cy="1967864"/>
              </a:xfrm>
              <a:custGeom>
                <a:avLst/>
                <a:gdLst/>
                <a:ahLst/>
                <a:cxnLst/>
                <a:rect l="l" t="t" r="r" b="b"/>
                <a:pathLst>
                  <a:path w="2098675" h="1967865">
                    <a:moveTo>
                      <a:pt x="2098217" y="1921256"/>
                    </a:moveTo>
                    <a:lnTo>
                      <a:pt x="2093556" y="1903285"/>
                    </a:lnTo>
                    <a:lnTo>
                      <a:pt x="2080844" y="1888604"/>
                    </a:lnTo>
                    <a:lnTo>
                      <a:pt x="2061997" y="1878711"/>
                    </a:lnTo>
                    <a:lnTo>
                      <a:pt x="2038921" y="1875078"/>
                    </a:lnTo>
                    <a:lnTo>
                      <a:pt x="517042" y="1875078"/>
                    </a:lnTo>
                    <a:lnTo>
                      <a:pt x="493953" y="1878711"/>
                    </a:lnTo>
                    <a:lnTo>
                      <a:pt x="475107" y="1888604"/>
                    </a:lnTo>
                    <a:lnTo>
                      <a:pt x="464451" y="1900910"/>
                    </a:lnTo>
                    <a:lnTo>
                      <a:pt x="455764" y="1871827"/>
                    </a:lnTo>
                    <a:lnTo>
                      <a:pt x="445808" y="1826171"/>
                    </a:lnTo>
                    <a:lnTo>
                      <a:pt x="436168" y="1771053"/>
                    </a:lnTo>
                    <a:lnTo>
                      <a:pt x="427964" y="1712099"/>
                    </a:lnTo>
                    <a:lnTo>
                      <a:pt x="422338" y="1654937"/>
                    </a:lnTo>
                    <a:lnTo>
                      <a:pt x="420420" y="1605165"/>
                    </a:lnTo>
                    <a:lnTo>
                      <a:pt x="393217" y="1596466"/>
                    </a:lnTo>
                    <a:lnTo>
                      <a:pt x="344220" y="1552689"/>
                    </a:lnTo>
                    <a:lnTo>
                      <a:pt x="322478" y="1519618"/>
                    </a:lnTo>
                    <a:lnTo>
                      <a:pt x="302577" y="1480413"/>
                    </a:lnTo>
                    <a:lnTo>
                      <a:pt x="284568" y="1436116"/>
                    </a:lnTo>
                    <a:lnTo>
                      <a:pt x="268439" y="1387690"/>
                    </a:lnTo>
                    <a:lnTo>
                      <a:pt x="254241" y="1336179"/>
                    </a:lnTo>
                    <a:lnTo>
                      <a:pt x="241973" y="1282560"/>
                    </a:lnTo>
                    <a:lnTo>
                      <a:pt x="231660" y="1227848"/>
                    </a:lnTo>
                    <a:lnTo>
                      <a:pt x="223316" y="1173048"/>
                    </a:lnTo>
                    <a:lnTo>
                      <a:pt x="216979" y="1119162"/>
                    </a:lnTo>
                    <a:lnTo>
                      <a:pt x="212648" y="1067193"/>
                    </a:lnTo>
                    <a:lnTo>
                      <a:pt x="210362" y="1018146"/>
                    </a:lnTo>
                    <a:lnTo>
                      <a:pt x="210121" y="973035"/>
                    </a:lnTo>
                    <a:lnTo>
                      <a:pt x="198526" y="750481"/>
                    </a:lnTo>
                    <a:lnTo>
                      <a:pt x="169989" y="423837"/>
                    </a:lnTo>
                    <a:lnTo>
                      <a:pt x="140868" y="128536"/>
                    </a:lnTo>
                    <a:lnTo>
                      <a:pt x="127520" y="0"/>
                    </a:lnTo>
                    <a:lnTo>
                      <a:pt x="90017" y="1092"/>
                    </a:lnTo>
                    <a:lnTo>
                      <a:pt x="47472" y="14897"/>
                    </a:lnTo>
                    <a:lnTo>
                      <a:pt x="11620" y="48996"/>
                    </a:lnTo>
                    <a:lnTo>
                      <a:pt x="0" y="111556"/>
                    </a:lnTo>
                    <a:lnTo>
                      <a:pt x="762" y="161442"/>
                    </a:lnTo>
                    <a:lnTo>
                      <a:pt x="11049" y="386067"/>
                    </a:lnTo>
                    <a:lnTo>
                      <a:pt x="17792" y="521309"/>
                    </a:lnTo>
                    <a:lnTo>
                      <a:pt x="21615" y="590080"/>
                    </a:lnTo>
                    <a:lnTo>
                      <a:pt x="25679" y="656742"/>
                    </a:lnTo>
                    <a:lnTo>
                      <a:pt x="29959" y="719162"/>
                    </a:lnTo>
                    <a:lnTo>
                      <a:pt x="34429" y="775169"/>
                    </a:lnTo>
                    <a:lnTo>
                      <a:pt x="39077" y="822642"/>
                    </a:lnTo>
                    <a:lnTo>
                      <a:pt x="48704" y="883361"/>
                    </a:lnTo>
                    <a:lnTo>
                      <a:pt x="53340" y="973620"/>
                    </a:lnTo>
                    <a:lnTo>
                      <a:pt x="59690" y="1057516"/>
                    </a:lnTo>
                    <a:lnTo>
                      <a:pt x="67614" y="1135354"/>
                    </a:lnTo>
                    <a:lnTo>
                      <a:pt x="76974" y="1207389"/>
                    </a:lnTo>
                    <a:lnTo>
                      <a:pt x="87642" y="1273924"/>
                    </a:lnTo>
                    <a:lnTo>
                      <a:pt x="99466" y="1335227"/>
                    </a:lnTo>
                    <a:lnTo>
                      <a:pt x="112306" y="1391577"/>
                    </a:lnTo>
                    <a:lnTo>
                      <a:pt x="126034" y="1443253"/>
                    </a:lnTo>
                    <a:lnTo>
                      <a:pt x="140512" y="1490548"/>
                    </a:lnTo>
                    <a:lnTo>
                      <a:pt x="155600" y="1533715"/>
                    </a:lnTo>
                    <a:lnTo>
                      <a:pt x="171145" y="1573047"/>
                    </a:lnTo>
                    <a:lnTo>
                      <a:pt x="187020" y="1608836"/>
                    </a:lnTo>
                    <a:lnTo>
                      <a:pt x="219214" y="1670850"/>
                    </a:lnTo>
                    <a:lnTo>
                      <a:pt x="251053" y="1721993"/>
                    </a:lnTo>
                    <a:lnTo>
                      <a:pt x="281444" y="1764499"/>
                    </a:lnTo>
                    <a:lnTo>
                      <a:pt x="309283" y="1800618"/>
                    </a:lnTo>
                    <a:lnTo>
                      <a:pt x="333692" y="1835010"/>
                    </a:lnTo>
                    <a:lnTo>
                      <a:pt x="362445" y="1868843"/>
                    </a:lnTo>
                    <a:lnTo>
                      <a:pt x="403529" y="1894001"/>
                    </a:lnTo>
                    <a:lnTo>
                      <a:pt x="463334" y="1902206"/>
                    </a:lnTo>
                    <a:lnTo>
                      <a:pt x="462394" y="1903285"/>
                    </a:lnTo>
                    <a:lnTo>
                      <a:pt x="457746" y="1921256"/>
                    </a:lnTo>
                    <a:lnTo>
                      <a:pt x="462394" y="1939251"/>
                    </a:lnTo>
                    <a:lnTo>
                      <a:pt x="475107" y="1953945"/>
                    </a:lnTo>
                    <a:lnTo>
                      <a:pt x="493953" y="1963839"/>
                    </a:lnTo>
                    <a:lnTo>
                      <a:pt x="517042" y="1967471"/>
                    </a:lnTo>
                    <a:lnTo>
                      <a:pt x="2038921" y="1967471"/>
                    </a:lnTo>
                    <a:lnTo>
                      <a:pt x="2061997" y="1963839"/>
                    </a:lnTo>
                    <a:lnTo>
                      <a:pt x="2080844" y="1953945"/>
                    </a:lnTo>
                    <a:lnTo>
                      <a:pt x="2093556" y="1939251"/>
                    </a:lnTo>
                    <a:lnTo>
                      <a:pt x="2098217" y="1921256"/>
                    </a:lnTo>
                    <a:close/>
                  </a:path>
                </a:pathLst>
              </a:custGeom>
              <a:solidFill>
                <a:srgbClr val="3C757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60" name="object 37">
                <a:extLst>
                  <a:ext uri="{FF2B5EF4-FFF2-40B4-BE49-F238E27FC236}">
                    <a16:creationId xmlns:a16="http://schemas.microsoft.com/office/drawing/2014/main" id="{E323229F-8721-D18A-0F2A-67A7BF690017}"/>
                  </a:ext>
                </a:extLst>
              </p:cNvPr>
              <p:cNvSpPr/>
              <p:nvPr/>
            </p:nvSpPr>
            <p:spPr>
              <a:xfrm>
                <a:off x="7108495" y="5440216"/>
                <a:ext cx="2143760" cy="2486660"/>
              </a:xfrm>
              <a:custGeom>
                <a:avLst/>
                <a:gdLst/>
                <a:ahLst/>
                <a:cxnLst/>
                <a:rect l="l" t="t" r="r" b="b"/>
                <a:pathLst>
                  <a:path w="2143759" h="2486659">
                    <a:moveTo>
                      <a:pt x="480606" y="1420698"/>
                    </a:moveTo>
                    <a:lnTo>
                      <a:pt x="480301" y="1374571"/>
                    </a:lnTo>
                    <a:lnTo>
                      <a:pt x="476605" y="1326515"/>
                    </a:lnTo>
                    <a:lnTo>
                      <a:pt x="469823" y="1275740"/>
                    </a:lnTo>
                    <a:lnTo>
                      <a:pt x="460260" y="1221435"/>
                    </a:lnTo>
                    <a:lnTo>
                      <a:pt x="448221" y="1162786"/>
                    </a:lnTo>
                    <a:lnTo>
                      <a:pt x="434009" y="1098994"/>
                    </a:lnTo>
                    <a:lnTo>
                      <a:pt x="427062" y="1065504"/>
                    </a:lnTo>
                    <a:lnTo>
                      <a:pt x="419696" y="1024534"/>
                    </a:lnTo>
                    <a:lnTo>
                      <a:pt x="411988" y="977112"/>
                    </a:lnTo>
                    <a:lnTo>
                      <a:pt x="404037" y="924293"/>
                    </a:lnTo>
                    <a:lnTo>
                      <a:pt x="395935" y="867130"/>
                    </a:lnTo>
                    <a:lnTo>
                      <a:pt x="387756" y="806653"/>
                    </a:lnTo>
                    <a:lnTo>
                      <a:pt x="379603" y="743927"/>
                    </a:lnTo>
                    <a:lnTo>
                      <a:pt x="371551" y="679983"/>
                    </a:lnTo>
                    <a:lnTo>
                      <a:pt x="356146" y="552653"/>
                    </a:lnTo>
                    <a:lnTo>
                      <a:pt x="336067" y="378752"/>
                    </a:lnTo>
                    <a:lnTo>
                      <a:pt x="316598" y="204190"/>
                    </a:lnTo>
                    <a:lnTo>
                      <a:pt x="305523" y="124548"/>
                    </a:lnTo>
                    <a:lnTo>
                      <a:pt x="292811" y="68668"/>
                    </a:lnTo>
                    <a:lnTo>
                      <a:pt x="277253" y="32410"/>
                    </a:lnTo>
                    <a:lnTo>
                      <a:pt x="232638" y="2222"/>
                    </a:lnTo>
                    <a:lnTo>
                      <a:pt x="201155" y="0"/>
                    </a:lnTo>
                    <a:lnTo>
                      <a:pt x="154698" y="2857"/>
                    </a:lnTo>
                    <a:lnTo>
                      <a:pt x="104470" y="12115"/>
                    </a:lnTo>
                    <a:lnTo>
                      <a:pt x="57543" y="28765"/>
                    </a:lnTo>
                    <a:lnTo>
                      <a:pt x="20955" y="53848"/>
                    </a:lnTo>
                    <a:lnTo>
                      <a:pt x="1790" y="88379"/>
                    </a:lnTo>
                    <a:lnTo>
                      <a:pt x="0" y="131013"/>
                    </a:lnTo>
                    <a:lnTo>
                      <a:pt x="1181" y="165315"/>
                    </a:lnTo>
                    <a:lnTo>
                      <a:pt x="3556" y="206895"/>
                    </a:lnTo>
                    <a:lnTo>
                      <a:pt x="6997" y="254723"/>
                    </a:lnTo>
                    <a:lnTo>
                      <a:pt x="11366" y="307771"/>
                    </a:lnTo>
                    <a:lnTo>
                      <a:pt x="16548" y="365023"/>
                    </a:lnTo>
                    <a:lnTo>
                      <a:pt x="22402" y="425424"/>
                    </a:lnTo>
                    <a:lnTo>
                      <a:pt x="28790" y="487984"/>
                    </a:lnTo>
                    <a:lnTo>
                      <a:pt x="35598" y="551637"/>
                    </a:lnTo>
                    <a:lnTo>
                      <a:pt x="42672" y="615378"/>
                    </a:lnTo>
                    <a:lnTo>
                      <a:pt x="49885" y="678167"/>
                    </a:lnTo>
                    <a:lnTo>
                      <a:pt x="57124" y="738974"/>
                    </a:lnTo>
                    <a:lnTo>
                      <a:pt x="64236" y="796772"/>
                    </a:lnTo>
                    <a:lnTo>
                      <a:pt x="71107" y="850544"/>
                    </a:lnTo>
                    <a:lnTo>
                      <a:pt x="77584" y="899248"/>
                    </a:lnTo>
                    <a:lnTo>
                      <a:pt x="88633" y="979335"/>
                    </a:lnTo>
                    <a:lnTo>
                      <a:pt x="92456" y="1013460"/>
                    </a:lnTo>
                    <a:lnTo>
                      <a:pt x="94856" y="1043635"/>
                    </a:lnTo>
                    <a:lnTo>
                      <a:pt x="95694" y="1069289"/>
                    </a:lnTo>
                    <a:lnTo>
                      <a:pt x="96481" y="1118679"/>
                    </a:lnTo>
                    <a:lnTo>
                      <a:pt x="98679" y="1176185"/>
                    </a:lnTo>
                    <a:lnTo>
                      <a:pt x="101981" y="1239291"/>
                    </a:lnTo>
                    <a:lnTo>
                      <a:pt x="106146" y="1305471"/>
                    </a:lnTo>
                    <a:lnTo>
                      <a:pt x="110896" y="1372235"/>
                    </a:lnTo>
                    <a:lnTo>
                      <a:pt x="115951" y="1437043"/>
                    </a:lnTo>
                    <a:lnTo>
                      <a:pt x="121043" y="1497406"/>
                    </a:lnTo>
                    <a:lnTo>
                      <a:pt x="125907" y="1550784"/>
                    </a:lnTo>
                    <a:lnTo>
                      <a:pt x="130263" y="1594688"/>
                    </a:lnTo>
                    <a:lnTo>
                      <a:pt x="136372" y="1643964"/>
                    </a:lnTo>
                    <a:lnTo>
                      <a:pt x="187540" y="1678914"/>
                    </a:lnTo>
                    <a:lnTo>
                      <a:pt x="233794" y="1681035"/>
                    </a:lnTo>
                    <a:lnTo>
                      <a:pt x="286156" y="1675041"/>
                    </a:lnTo>
                    <a:lnTo>
                      <a:pt x="338899" y="1662557"/>
                    </a:lnTo>
                    <a:lnTo>
                      <a:pt x="386245" y="1645158"/>
                    </a:lnTo>
                    <a:lnTo>
                      <a:pt x="422478" y="1624457"/>
                    </a:lnTo>
                    <a:lnTo>
                      <a:pt x="458127" y="1555572"/>
                    </a:lnTo>
                    <a:lnTo>
                      <a:pt x="469823" y="1510398"/>
                    </a:lnTo>
                    <a:lnTo>
                      <a:pt x="477215" y="1465707"/>
                    </a:lnTo>
                    <a:lnTo>
                      <a:pt x="480606" y="1420698"/>
                    </a:lnTo>
                    <a:close/>
                  </a:path>
                  <a:path w="2143759" h="2486659">
                    <a:moveTo>
                      <a:pt x="2143315" y="2193836"/>
                    </a:moveTo>
                    <a:lnTo>
                      <a:pt x="2109190" y="2151024"/>
                    </a:lnTo>
                    <a:lnTo>
                      <a:pt x="2060727" y="2135352"/>
                    </a:lnTo>
                    <a:lnTo>
                      <a:pt x="1986165" y="2127072"/>
                    </a:lnTo>
                    <a:lnTo>
                      <a:pt x="1954110" y="2126335"/>
                    </a:lnTo>
                    <a:lnTo>
                      <a:pt x="1923961" y="2126792"/>
                    </a:lnTo>
                    <a:lnTo>
                      <a:pt x="1894293" y="2128291"/>
                    </a:lnTo>
                    <a:lnTo>
                      <a:pt x="1863686" y="2130679"/>
                    </a:lnTo>
                    <a:lnTo>
                      <a:pt x="1830692" y="2133790"/>
                    </a:lnTo>
                    <a:lnTo>
                      <a:pt x="1751876" y="2141613"/>
                    </a:lnTo>
                    <a:lnTo>
                      <a:pt x="1703184" y="2145995"/>
                    </a:lnTo>
                    <a:lnTo>
                      <a:pt x="1646415" y="2150503"/>
                    </a:lnTo>
                    <a:lnTo>
                      <a:pt x="1580134" y="2154986"/>
                    </a:lnTo>
                    <a:lnTo>
                      <a:pt x="1502905" y="2159266"/>
                    </a:lnTo>
                    <a:lnTo>
                      <a:pt x="1413306" y="2163203"/>
                    </a:lnTo>
                    <a:lnTo>
                      <a:pt x="1309916" y="2166632"/>
                    </a:lnTo>
                    <a:lnTo>
                      <a:pt x="1218387" y="2168804"/>
                    </a:lnTo>
                    <a:lnTo>
                      <a:pt x="1135341" y="2169922"/>
                    </a:lnTo>
                    <a:lnTo>
                      <a:pt x="1060132" y="2170112"/>
                    </a:lnTo>
                    <a:lnTo>
                      <a:pt x="992085" y="2169464"/>
                    </a:lnTo>
                    <a:lnTo>
                      <a:pt x="930567" y="2168093"/>
                    </a:lnTo>
                    <a:lnTo>
                      <a:pt x="874903" y="2166099"/>
                    </a:lnTo>
                    <a:lnTo>
                      <a:pt x="824445" y="2163597"/>
                    </a:lnTo>
                    <a:lnTo>
                      <a:pt x="778535" y="2160663"/>
                    </a:lnTo>
                    <a:lnTo>
                      <a:pt x="736511" y="2157438"/>
                    </a:lnTo>
                    <a:lnTo>
                      <a:pt x="697712" y="2153996"/>
                    </a:lnTo>
                    <a:lnTo>
                      <a:pt x="561721" y="2140305"/>
                    </a:lnTo>
                    <a:lnTo>
                      <a:pt x="529234" y="2137422"/>
                    </a:lnTo>
                    <a:lnTo>
                      <a:pt x="450608" y="2137448"/>
                    </a:lnTo>
                    <a:lnTo>
                      <a:pt x="405625" y="2150300"/>
                    </a:lnTo>
                    <a:lnTo>
                      <a:pt x="385267" y="2170823"/>
                    </a:lnTo>
                    <a:lnTo>
                      <a:pt x="380479" y="2193836"/>
                    </a:lnTo>
                    <a:lnTo>
                      <a:pt x="380479" y="2431745"/>
                    </a:lnTo>
                    <a:lnTo>
                      <a:pt x="385965" y="2452916"/>
                    </a:lnTo>
                    <a:lnTo>
                      <a:pt x="400926" y="2470213"/>
                    </a:lnTo>
                    <a:lnTo>
                      <a:pt x="423125" y="2481872"/>
                    </a:lnTo>
                    <a:lnTo>
                      <a:pt x="450316" y="2486152"/>
                    </a:lnTo>
                    <a:lnTo>
                      <a:pt x="2073503" y="2486152"/>
                    </a:lnTo>
                    <a:lnTo>
                      <a:pt x="2100668" y="2481872"/>
                    </a:lnTo>
                    <a:lnTo>
                      <a:pt x="2122868" y="2470213"/>
                    </a:lnTo>
                    <a:lnTo>
                      <a:pt x="2137829" y="2452916"/>
                    </a:lnTo>
                    <a:lnTo>
                      <a:pt x="2143315" y="2431745"/>
                    </a:lnTo>
                    <a:lnTo>
                      <a:pt x="2143315" y="2193836"/>
                    </a:lnTo>
                    <a:close/>
                  </a:path>
                </a:pathLst>
              </a:custGeom>
              <a:solidFill>
                <a:srgbClr val="83CFC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61" name="object 38">
                <a:extLst>
                  <a:ext uri="{FF2B5EF4-FFF2-40B4-BE49-F238E27FC236}">
                    <a16:creationId xmlns:a16="http://schemas.microsoft.com/office/drawing/2014/main" id="{9BEBB943-CF0D-02D0-9137-B49B01B9A750}"/>
                  </a:ext>
                </a:extLst>
              </p:cNvPr>
              <p:cNvPicPr/>
              <p:nvPr/>
            </p:nvPicPr>
            <p:blipFill>
              <a:blip r:embed="rId7" cstate="print"/>
              <a:stretch>
                <a:fillRect/>
              </a:stretch>
            </p:blipFill>
            <p:spPr>
              <a:xfrm>
                <a:off x="11041565" y="4131645"/>
                <a:ext cx="5086150" cy="5566155"/>
              </a:xfrm>
              <a:prstGeom prst="rect">
                <a:avLst/>
              </a:prstGeom>
            </p:spPr>
          </p:pic>
          <p:sp>
            <p:nvSpPr>
              <p:cNvPr id="62" name="object 39">
                <a:extLst>
                  <a:ext uri="{FF2B5EF4-FFF2-40B4-BE49-F238E27FC236}">
                    <a16:creationId xmlns:a16="http://schemas.microsoft.com/office/drawing/2014/main" id="{519D3254-E474-2BC8-8E0B-AFEEECE5957A}"/>
                  </a:ext>
                </a:extLst>
              </p:cNvPr>
              <p:cNvSpPr/>
              <p:nvPr/>
            </p:nvSpPr>
            <p:spPr>
              <a:xfrm>
                <a:off x="13586560" y="7184965"/>
                <a:ext cx="255904" cy="2737485"/>
              </a:xfrm>
              <a:custGeom>
                <a:avLst/>
                <a:gdLst/>
                <a:ahLst/>
                <a:cxnLst/>
                <a:rect l="l" t="t" r="r" b="b"/>
                <a:pathLst>
                  <a:path w="255905" h="2737484">
                    <a:moveTo>
                      <a:pt x="255897" y="0"/>
                    </a:moveTo>
                    <a:lnTo>
                      <a:pt x="0" y="0"/>
                    </a:lnTo>
                    <a:lnTo>
                      <a:pt x="59610" y="2737361"/>
                    </a:lnTo>
                    <a:lnTo>
                      <a:pt x="196308" y="2737361"/>
                    </a:lnTo>
                    <a:lnTo>
                      <a:pt x="255897" y="0"/>
                    </a:lnTo>
                    <a:close/>
                  </a:path>
                </a:pathLst>
              </a:custGeom>
              <a:solidFill>
                <a:srgbClr val="B6CCC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63" name="object 40">
                <a:extLst>
                  <a:ext uri="{FF2B5EF4-FFF2-40B4-BE49-F238E27FC236}">
                    <a16:creationId xmlns:a16="http://schemas.microsoft.com/office/drawing/2014/main" id="{EF9582C9-C727-CC7D-0056-1B10DF775378}"/>
                  </a:ext>
                </a:extLst>
              </p:cNvPr>
              <p:cNvSpPr/>
              <p:nvPr/>
            </p:nvSpPr>
            <p:spPr>
              <a:xfrm>
                <a:off x="13548736" y="7184965"/>
                <a:ext cx="255904" cy="2737485"/>
              </a:xfrm>
              <a:custGeom>
                <a:avLst/>
                <a:gdLst/>
                <a:ahLst/>
                <a:cxnLst/>
                <a:rect l="l" t="t" r="r" b="b"/>
                <a:pathLst>
                  <a:path w="255905" h="2737484">
                    <a:moveTo>
                      <a:pt x="255897" y="0"/>
                    </a:moveTo>
                    <a:lnTo>
                      <a:pt x="0" y="0"/>
                    </a:lnTo>
                    <a:lnTo>
                      <a:pt x="59610" y="2737361"/>
                    </a:lnTo>
                    <a:lnTo>
                      <a:pt x="196308" y="2737361"/>
                    </a:lnTo>
                    <a:lnTo>
                      <a:pt x="255897" y="0"/>
                    </a:lnTo>
                    <a:close/>
                  </a:path>
                </a:pathLst>
              </a:custGeom>
              <a:solidFill>
                <a:srgbClr val="CADA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64" name="object 41">
                <a:extLst>
                  <a:ext uri="{FF2B5EF4-FFF2-40B4-BE49-F238E27FC236}">
                    <a16:creationId xmlns:a16="http://schemas.microsoft.com/office/drawing/2014/main" id="{B6D1C7AE-45F0-0CD4-0D91-FDADDC33384A}"/>
                  </a:ext>
                </a:extLst>
              </p:cNvPr>
              <p:cNvSpPr/>
              <p:nvPr/>
            </p:nvSpPr>
            <p:spPr>
              <a:xfrm>
                <a:off x="13582242" y="7186609"/>
                <a:ext cx="78740" cy="2726690"/>
              </a:xfrm>
              <a:custGeom>
                <a:avLst/>
                <a:gdLst/>
                <a:ahLst/>
                <a:cxnLst/>
                <a:rect l="l" t="t" r="r" b="b"/>
                <a:pathLst>
                  <a:path w="78740" h="2726690">
                    <a:moveTo>
                      <a:pt x="78248" y="0"/>
                    </a:moveTo>
                    <a:lnTo>
                      <a:pt x="0" y="0"/>
                    </a:lnTo>
                    <a:lnTo>
                      <a:pt x="27140" y="2726189"/>
                    </a:lnTo>
                    <a:lnTo>
                      <a:pt x="72992" y="2726115"/>
                    </a:lnTo>
                    <a:lnTo>
                      <a:pt x="78248" y="0"/>
                    </a:lnTo>
                    <a:close/>
                  </a:path>
                </a:pathLst>
              </a:custGeom>
              <a:solidFill>
                <a:srgbClr val="E3EBE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65" name="object 42">
                <a:extLst>
                  <a:ext uri="{FF2B5EF4-FFF2-40B4-BE49-F238E27FC236}">
                    <a16:creationId xmlns:a16="http://schemas.microsoft.com/office/drawing/2014/main" id="{942C3A11-909E-553C-CB90-2F9578313292}"/>
                  </a:ext>
                </a:extLst>
              </p:cNvPr>
              <p:cNvSpPr/>
              <p:nvPr/>
            </p:nvSpPr>
            <p:spPr>
              <a:xfrm>
                <a:off x="9118078" y="7184965"/>
                <a:ext cx="255904" cy="2737485"/>
              </a:xfrm>
              <a:custGeom>
                <a:avLst/>
                <a:gdLst/>
                <a:ahLst/>
                <a:cxnLst/>
                <a:rect l="l" t="t" r="r" b="b"/>
                <a:pathLst>
                  <a:path w="255904" h="2737484">
                    <a:moveTo>
                      <a:pt x="255897" y="0"/>
                    </a:moveTo>
                    <a:lnTo>
                      <a:pt x="0" y="0"/>
                    </a:lnTo>
                    <a:lnTo>
                      <a:pt x="59610" y="2737361"/>
                    </a:lnTo>
                    <a:lnTo>
                      <a:pt x="196308" y="2737361"/>
                    </a:lnTo>
                    <a:lnTo>
                      <a:pt x="255897" y="0"/>
                    </a:lnTo>
                    <a:close/>
                  </a:path>
                </a:pathLst>
              </a:custGeom>
              <a:solidFill>
                <a:srgbClr val="B6CCC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66" name="object 43">
                <a:extLst>
                  <a:ext uri="{FF2B5EF4-FFF2-40B4-BE49-F238E27FC236}">
                    <a16:creationId xmlns:a16="http://schemas.microsoft.com/office/drawing/2014/main" id="{3D39A8C3-C9D0-950E-C466-5693A9199576}"/>
                  </a:ext>
                </a:extLst>
              </p:cNvPr>
              <p:cNvSpPr/>
              <p:nvPr/>
            </p:nvSpPr>
            <p:spPr>
              <a:xfrm>
                <a:off x="9080253" y="7184965"/>
                <a:ext cx="255904" cy="2737485"/>
              </a:xfrm>
              <a:custGeom>
                <a:avLst/>
                <a:gdLst/>
                <a:ahLst/>
                <a:cxnLst/>
                <a:rect l="l" t="t" r="r" b="b"/>
                <a:pathLst>
                  <a:path w="255904" h="2737484">
                    <a:moveTo>
                      <a:pt x="255897" y="0"/>
                    </a:moveTo>
                    <a:lnTo>
                      <a:pt x="0" y="0"/>
                    </a:lnTo>
                    <a:lnTo>
                      <a:pt x="59610" y="2737361"/>
                    </a:lnTo>
                    <a:lnTo>
                      <a:pt x="196308" y="2737361"/>
                    </a:lnTo>
                    <a:lnTo>
                      <a:pt x="255897" y="0"/>
                    </a:lnTo>
                    <a:close/>
                  </a:path>
                </a:pathLst>
              </a:custGeom>
              <a:solidFill>
                <a:srgbClr val="CADA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67" name="object 44">
                <a:extLst>
                  <a:ext uri="{FF2B5EF4-FFF2-40B4-BE49-F238E27FC236}">
                    <a16:creationId xmlns:a16="http://schemas.microsoft.com/office/drawing/2014/main" id="{A68C0902-4C6D-E5BB-09A8-D109954A0252}"/>
                  </a:ext>
                </a:extLst>
              </p:cNvPr>
              <p:cNvSpPr/>
              <p:nvPr/>
            </p:nvSpPr>
            <p:spPr>
              <a:xfrm>
                <a:off x="9113761" y="7186609"/>
                <a:ext cx="78740" cy="2726690"/>
              </a:xfrm>
              <a:custGeom>
                <a:avLst/>
                <a:gdLst/>
                <a:ahLst/>
                <a:cxnLst/>
                <a:rect l="l" t="t" r="r" b="b"/>
                <a:pathLst>
                  <a:path w="78740" h="2726690">
                    <a:moveTo>
                      <a:pt x="78248" y="0"/>
                    </a:moveTo>
                    <a:lnTo>
                      <a:pt x="0" y="0"/>
                    </a:lnTo>
                    <a:lnTo>
                      <a:pt x="27140" y="2726189"/>
                    </a:lnTo>
                    <a:lnTo>
                      <a:pt x="72992" y="2726115"/>
                    </a:lnTo>
                    <a:lnTo>
                      <a:pt x="78248" y="0"/>
                    </a:lnTo>
                    <a:close/>
                  </a:path>
                </a:pathLst>
              </a:custGeom>
              <a:solidFill>
                <a:srgbClr val="E3EBE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68" name="object 45">
                <a:extLst>
                  <a:ext uri="{FF2B5EF4-FFF2-40B4-BE49-F238E27FC236}">
                    <a16:creationId xmlns:a16="http://schemas.microsoft.com/office/drawing/2014/main" id="{7E2AB975-D1DC-4A11-D75E-030CFCF18900}"/>
                  </a:ext>
                </a:extLst>
              </p:cNvPr>
              <p:cNvSpPr/>
              <p:nvPr/>
            </p:nvSpPr>
            <p:spPr>
              <a:xfrm>
                <a:off x="7759912" y="6472263"/>
                <a:ext cx="7393940" cy="963930"/>
              </a:xfrm>
              <a:custGeom>
                <a:avLst/>
                <a:gdLst/>
                <a:ahLst/>
                <a:cxnLst/>
                <a:rect l="l" t="t" r="r" b="b"/>
                <a:pathLst>
                  <a:path w="7393940" h="963929">
                    <a:moveTo>
                      <a:pt x="3773932" y="0"/>
                    </a:moveTo>
                    <a:lnTo>
                      <a:pt x="3624472" y="0"/>
                    </a:lnTo>
                    <a:lnTo>
                      <a:pt x="3475689" y="553"/>
                    </a:lnTo>
                    <a:lnTo>
                      <a:pt x="3328444" y="1653"/>
                    </a:lnTo>
                    <a:lnTo>
                      <a:pt x="3182845" y="3293"/>
                    </a:lnTo>
                    <a:lnTo>
                      <a:pt x="3039000" y="5466"/>
                    </a:lnTo>
                    <a:lnTo>
                      <a:pt x="2897019" y="8165"/>
                    </a:lnTo>
                    <a:lnTo>
                      <a:pt x="2757009" y="11384"/>
                    </a:lnTo>
                    <a:lnTo>
                      <a:pt x="2619081" y="15116"/>
                    </a:lnTo>
                    <a:lnTo>
                      <a:pt x="2483342" y="19355"/>
                    </a:lnTo>
                    <a:lnTo>
                      <a:pt x="2349902" y="24092"/>
                    </a:lnTo>
                    <a:lnTo>
                      <a:pt x="2218869" y="29322"/>
                    </a:lnTo>
                    <a:lnTo>
                      <a:pt x="2090351" y="35038"/>
                    </a:lnTo>
                    <a:lnTo>
                      <a:pt x="1964459" y="41233"/>
                    </a:lnTo>
                    <a:lnTo>
                      <a:pt x="1841299" y="47900"/>
                    </a:lnTo>
                    <a:lnTo>
                      <a:pt x="1720982" y="55032"/>
                    </a:lnTo>
                    <a:lnTo>
                      <a:pt x="1603615" y="62624"/>
                    </a:lnTo>
                    <a:lnTo>
                      <a:pt x="1489308" y="70667"/>
                    </a:lnTo>
                    <a:lnTo>
                      <a:pt x="1378169" y="79155"/>
                    </a:lnTo>
                    <a:lnTo>
                      <a:pt x="1270308" y="88082"/>
                    </a:lnTo>
                    <a:lnTo>
                      <a:pt x="1165832" y="97440"/>
                    </a:lnTo>
                    <a:lnTo>
                      <a:pt x="1064851" y="107223"/>
                    </a:lnTo>
                    <a:lnTo>
                      <a:pt x="967472" y="117424"/>
                    </a:lnTo>
                    <a:lnTo>
                      <a:pt x="873806" y="128037"/>
                    </a:lnTo>
                    <a:lnTo>
                      <a:pt x="828399" y="133495"/>
                    </a:lnTo>
                    <a:lnTo>
                      <a:pt x="783961" y="139054"/>
                    </a:lnTo>
                    <a:lnTo>
                      <a:pt x="740505" y="144712"/>
                    </a:lnTo>
                    <a:lnTo>
                      <a:pt x="698046" y="150469"/>
                    </a:lnTo>
                    <a:lnTo>
                      <a:pt x="656595" y="156323"/>
                    </a:lnTo>
                    <a:lnTo>
                      <a:pt x="616168" y="162274"/>
                    </a:lnTo>
                    <a:lnTo>
                      <a:pt x="576778" y="168322"/>
                    </a:lnTo>
                    <a:lnTo>
                      <a:pt x="538438" y="174464"/>
                    </a:lnTo>
                    <a:lnTo>
                      <a:pt x="464963" y="187032"/>
                    </a:lnTo>
                    <a:lnTo>
                      <a:pt x="395853" y="199970"/>
                    </a:lnTo>
                    <a:lnTo>
                      <a:pt x="331216" y="213272"/>
                    </a:lnTo>
                    <a:lnTo>
                      <a:pt x="271161" y="226931"/>
                    </a:lnTo>
                    <a:lnTo>
                      <a:pt x="215797" y="240940"/>
                    </a:lnTo>
                    <a:lnTo>
                      <a:pt x="165232" y="255293"/>
                    </a:lnTo>
                    <a:lnTo>
                      <a:pt x="119575" y="269983"/>
                    </a:lnTo>
                    <a:lnTo>
                      <a:pt x="78936" y="285003"/>
                    </a:lnTo>
                    <a:lnTo>
                      <a:pt x="43422" y="300346"/>
                    </a:lnTo>
                    <a:lnTo>
                      <a:pt x="0" y="323952"/>
                    </a:lnTo>
                    <a:lnTo>
                      <a:pt x="0" y="514354"/>
                    </a:lnTo>
                    <a:lnTo>
                      <a:pt x="43422" y="540143"/>
                    </a:lnTo>
                    <a:lnTo>
                      <a:pt x="78936" y="557431"/>
                    </a:lnTo>
                    <a:lnTo>
                      <a:pt x="119575" y="574760"/>
                    </a:lnTo>
                    <a:lnTo>
                      <a:pt x="165232" y="592098"/>
                    </a:lnTo>
                    <a:lnTo>
                      <a:pt x="215797" y="609414"/>
                    </a:lnTo>
                    <a:lnTo>
                      <a:pt x="271161" y="626675"/>
                    </a:lnTo>
                    <a:lnTo>
                      <a:pt x="331216" y="643852"/>
                    </a:lnTo>
                    <a:lnTo>
                      <a:pt x="395853" y="660911"/>
                    </a:lnTo>
                    <a:lnTo>
                      <a:pt x="464963" y="677822"/>
                    </a:lnTo>
                    <a:lnTo>
                      <a:pt x="538438" y="694554"/>
                    </a:lnTo>
                    <a:lnTo>
                      <a:pt x="576778" y="702843"/>
                    </a:lnTo>
                    <a:lnTo>
                      <a:pt x="616168" y="711075"/>
                    </a:lnTo>
                    <a:lnTo>
                      <a:pt x="656595" y="719246"/>
                    </a:lnTo>
                    <a:lnTo>
                      <a:pt x="698046" y="727353"/>
                    </a:lnTo>
                    <a:lnTo>
                      <a:pt x="740505" y="735391"/>
                    </a:lnTo>
                    <a:lnTo>
                      <a:pt x="783961" y="743357"/>
                    </a:lnTo>
                    <a:lnTo>
                      <a:pt x="828399" y="751247"/>
                    </a:lnTo>
                    <a:lnTo>
                      <a:pt x="873806" y="759056"/>
                    </a:lnTo>
                    <a:lnTo>
                      <a:pt x="920169" y="766781"/>
                    </a:lnTo>
                    <a:lnTo>
                      <a:pt x="967472" y="774418"/>
                    </a:lnTo>
                    <a:lnTo>
                      <a:pt x="1015704" y="781963"/>
                    </a:lnTo>
                    <a:lnTo>
                      <a:pt x="1064851" y="789411"/>
                    </a:lnTo>
                    <a:lnTo>
                      <a:pt x="1114898" y="796760"/>
                    </a:lnTo>
                    <a:lnTo>
                      <a:pt x="1165832" y="804005"/>
                    </a:lnTo>
                    <a:lnTo>
                      <a:pt x="1217640" y="811143"/>
                    </a:lnTo>
                    <a:lnTo>
                      <a:pt x="1270308" y="818168"/>
                    </a:lnTo>
                    <a:lnTo>
                      <a:pt x="1323822" y="825078"/>
                    </a:lnTo>
                    <a:lnTo>
                      <a:pt x="1378169" y="831869"/>
                    </a:lnTo>
                    <a:lnTo>
                      <a:pt x="1433336" y="838535"/>
                    </a:lnTo>
                    <a:lnTo>
                      <a:pt x="1489308" y="845075"/>
                    </a:lnTo>
                    <a:lnTo>
                      <a:pt x="1546072" y="851483"/>
                    </a:lnTo>
                    <a:lnTo>
                      <a:pt x="1603615" y="857756"/>
                    </a:lnTo>
                    <a:lnTo>
                      <a:pt x="1661923" y="863889"/>
                    </a:lnTo>
                    <a:lnTo>
                      <a:pt x="1720982" y="869880"/>
                    </a:lnTo>
                    <a:lnTo>
                      <a:pt x="1780778" y="875723"/>
                    </a:lnTo>
                    <a:lnTo>
                      <a:pt x="1841299" y="881415"/>
                    </a:lnTo>
                    <a:lnTo>
                      <a:pt x="1902530" y="886953"/>
                    </a:lnTo>
                    <a:lnTo>
                      <a:pt x="1964459" y="892331"/>
                    </a:lnTo>
                    <a:lnTo>
                      <a:pt x="2027070" y="897547"/>
                    </a:lnTo>
                    <a:lnTo>
                      <a:pt x="2090351" y="902596"/>
                    </a:lnTo>
                    <a:lnTo>
                      <a:pt x="2154289" y="907474"/>
                    </a:lnTo>
                    <a:lnTo>
                      <a:pt x="2218869" y="912178"/>
                    </a:lnTo>
                    <a:lnTo>
                      <a:pt x="2284078" y="916704"/>
                    </a:lnTo>
                    <a:lnTo>
                      <a:pt x="2349902" y="921046"/>
                    </a:lnTo>
                    <a:lnTo>
                      <a:pt x="2416328" y="925203"/>
                    </a:lnTo>
                    <a:lnTo>
                      <a:pt x="2483342" y="929169"/>
                    </a:lnTo>
                    <a:lnTo>
                      <a:pt x="2550931" y="932941"/>
                    </a:lnTo>
                    <a:lnTo>
                      <a:pt x="2619081" y="936515"/>
                    </a:lnTo>
                    <a:lnTo>
                      <a:pt x="2687778" y="939886"/>
                    </a:lnTo>
                    <a:lnTo>
                      <a:pt x="2757009" y="943052"/>
                    </a:lnTo>
                    <a:lnTo>
                      <a:pt x="2826761" y="946008"/>
                    </a:lnTo>
                    <a:lnTo>
                      <a:pt x="2897019" y="948750"/>
                    </a:lnTo>
                    <a:lnTo>
                      <a:pt x="2967770" y="951274"/>
                    </a:lnTo>
                    <a:lnTo>
                      <a:pt x="3039000" y="953576"/>
                    </a:lnTo>
                    <a:lnTo>
                      <a:pt x="3110696" y="955653"/>
                    </a:lnTo>
                    <a:lnTo>
                      <a:pt x="3182845" y="957500"/>
                    </a:lnTo>
                    <a:lnTo>
                      <a:pt x="3255432" y="959113"/>
                    </a:lnTo>
                    <a:lnTo>
                      <a:pt x="3328444" y="960489"/>
                    </a:lnTo>
                    <a:lnTo>
                      <a:pt x="3401868" y="961624"/>
                    </a:lnTo>
                    <a:lnTo>
                      <a:pt x="3475689" y="962513"/>
                    </a:lnTo>
                    <a:lnTo>
                      <a:pt x="3549895" y="963153"/>
                    </a:lnTo>
                    <a:lnTo>
                      <a:pt x="3624472" y="963540"/>
                    </a:lnTo>
                    <a:lnTo>
                      <a:pt x="3699405" y="963670"/>
                    </a:lnTo>
                    <a:lnTo>
                      <a:pt x="3773932" y="963542"/>
                    </a:lnTo>
                    <a:lnTo>
                      <a:pt x="3848106" y="963159"/>
                    </a:lnTo>
                    <a:lnTo>
                      <a:pt x="3921913" y="962526"/>
                    </a:lnTo>
                    <a:lnTo>
                      <a:pt x="3995341" y="961646"/>
                    </a:lnTo>
                    <a:lnTo>
                      <a:pt x="4068375" y="960523"/>
                    </a:lnTo>
                    <a:lnTo>
                      <a:pt x="4141003" y="959162"/>
                    </a:lnTo>
                    <a:lnTo>
                      <a:pt x="4213211" y="957565"/>
                    </a:lnTo>
                    <a:lnTo>
                      <a:pt x="4284985" y="955738"/>
                    </a:lnTo>
                    <a:lnTo>
                      <a:pt x="4356313" y="953683"/>
                    </a:lnTo>
                    <a:lnTo>
                      <a:pt x="4427181" y="951405"/>
                    </a:lnTo>
                    <a:lnTo>
                      <a:pt x="4497575" y="948907"/>
                    </a:lnTo>
                    <a:lnTo>
                      <a:pt x="4567483" y="946193"/>
                    </a:lnTo>
                    <a:lnTo>
                      <a:pt x="4636890" y="943268"/>
                    </a:lnTo>
                    <a:lnTo>
                      <a:pt x="4705784" y="940135"/>
                    </a:lnTo>
                    <a:lnTo>
                      <a:pt x="4774151" y="936798"/>
                    </a:lnTo>
                    <a:lnTo>
                      <a:pt x="4841977" y="933260"/>
                    </a:lnTo>
                    <a:lnTo>
                      <a:pt x="4909250" y="929526"/>
                    </a:lnTo>
                    <a:lnTo>
                      <a:pt x="4975956" y="925600"/>
                    </a:lnTo>
                    <a:lnTo>
                      <a:pt x="5042081" y="921485"/>
                    </a:lnTo>
                    <a:lnTo>
                      <a:pt x="5107613" y="917185"/>
                    </a:lnTo>
                    <a:lnTo>
                      <a:pt x="5172537" y="912704"/>
                    </a:lnTo>
                    <a:lnTo>
                      <a:pt x="5236841" y="908047"/>
                    </a:lnTo>
                    <a:lnTo>
                      <a:pt x="5300511" y="903216"/>
                    </a:lnTo>
                    <a:lnTo>
                      <a:pt x="5363533" y="898216"/>
                    </a:lnTo>
                    <a:lnTo>
                      <a:pt x="5425895" y="893050"/>
                    </a:lnTo>
                    <a:lnTo>
                      <a:pt x="5487583" y="887723"/>
                    </a:lnTo>
                    <a:lnTo>
                      <a:pt x="5548583" y="882238"/>
                    </a:lnTo>
                    <a:lnTo>
                      <a:pt x="5608882" y="876600"/>
                    </a:lnTo>
                    <a:lnTo>
                      <a:pt x="5668467" y="870811"/>
                    </a:lnTo>
                    <a:lnTo>
                      <a:pt x="5727325" y="864876"/>
                    </a:lnTo>
                    <a:lnTo>
                      <a:pt x="5785442" y="858799"/>
                    </a:lnTo>
                    <a:lnTo>
                      <a:pt x="5842804" y="852584"/>
                    </a:lnTo>
                    <a:lnTo>
                      <a:pt x="5899399" y="846234"/>
                    </a:lnTo>
                    <a:lnTo>
                      <a:pt x="5955212" y="839754"/>
                    </a:lnTo>
                    <a:lnTo>
                      <a:pt x="6010232" y="833147"/>
                    </a:lnTo>
                    <a:lnTo>
                      <a:pt x="6064443" y="826417"/>
                    </a:lnTo>
                    <a:lnTo>
                      <a:pt x="6117833" y="819567"/>
                    </a:lnTo>
                    <a:lnTo>
                      <a:pt x="6170388" y="812603"/>
                    </a:lnTo>
                    <a:lnTo>
                      <a:pt x="6222096" y="805527"/>
                    </a:lnTo>
                    <a:lnTo>
                      <a:pt x="6272942" y="798344"/>
                    </a:lnTo>
                    <a:lnTo>
                      <a:pt x="6322914" y="791058"/>
                    </a:lnTo>
                    <a:lnTo>
                      <a:pt x="6371997" y="783671"/>
                    </a:lnTo>
                    <a:lnTo>
                      <a:pt x="6420179" y="776189"/>
                    </a:lnTo>
                    <a:lnTo>
                      <a:pt x="6467446" y="768615"/>
                    </a:lnTo>
                    <a:lnTo>
                      <a:pt x="6513785" y="760952"/>
                    </a:lnTo>
                    <a:lnTo>
                      <a:pt x="6559182" y="753206"/>
                    </a:lnTo>
                    <a:lnTo>
                      <a:pt x="6603624" y="745379"/>
                    </a:lnTo>
                    <a:lnTo>
                      <a:pt x="6647098" y="737475"/>
                    </a:lnTo>
                    <a:lnTo>
                      <a:pt x="6689590" y="729499"/>
                    </a:lnTo>
                    <a:lnTo>
                      <a:pt x="6731088" y="721454"/>
                    </a:lnTo>
                    <a:lnTo>
                      <a:pt x="6771576" y="713344"/>
                    </a:lnTo>
                    <a:lnTo>
                      <a:pt x="6811043" y="705174"/>
                    </a:lnTo>
                    <a:lnTo>
                      <a:pt x="6849475" y="696945"/>
                    </a:lnTo>
                    <a:lnTo>
                      <a:pt x="6886857" y="688664"/>
                    </a:lnTo>
                    <a:lnTo>
                      <a:pt x="6958424" y="671957"/>
                    </a:lnTo>
                    <a:lnTo>
                      <a:pt x="7025636" y="655082"/>
                    </a:lnTo>
                    <a:lnTo>
                      <a:pt x="7088386" y="638072"/>
                    </a:lnTo>
                    <a:lnTo>
                      <a:pt x="7146566" y="620956"/>
                    </a:lnTo>
                    <a:lnTo>
                      <a:pt x="7200071" y="603767"/>
                    </a:lnTo>
                    <a:lnTo>
                      <a:pt x="7248793" y="586534"/>
                    </a:lnTo>
                    <a:lnTo>
                      <a:pt x="7292625" y="569289"/>
                    </a:lnTo>
                    <a:lnTo>
                      <a:pt x="7331460" y="552062"/>
                    </a:lnTo>
                    <a:lnTo>
                      <a:pt x="7380110" y="526325"/>
                    </a:lnTo>
                    <a:lnTo>
                      <a:pt x="7393712" y="517789"/>
                    </a:lnTo>
                    <a:lnTo>
                      <a:pt x="7393712" y="323952"/>
                    </a:lnTo>
                    <a:lnTo>
                      <a:pt x="7348971" y="300499"/>
                    </a:lnTo>
                    <a:lnTo>
                      <a:pt x="7312674" y="285244"/>
                    </a:lnTo>
                    <a:lnTo>
                      <a:pt x="7271327" y="270302"/>
                    </a:lnTo>
                    <a:lnTo>
                      <a:pt x="7225037" y="255679"/>
                    </a:lnTo>
                    <a:lnTo>
                      <a:pt x="7173910" y="241384"/>
                    </a:lnTo>
                    <a:lnTo>
                      <a:pt x="7118054" y="227422"/>
                    </a:lnTo>
                    <a:lnTo>
                      <a:pt x="7057575" y="213802"/>
                    </a:lnTo>
                    <a:lnTo>
                      <a:pt x="6992581" y="200531"/>
                    </a:lnTo>
                    <a:lnTo>
                      <a:pt x="6923178" y="187615"/>
                    </a:lnTo>
                    <a:lnTo>
                      <a:pt x="6849475" y="175063"/>
                    </a:lnTo>
                    <a:lnTo>
                      <a:pt x="6811043" y="168926"/>
                    </a:lnTo>
                    <a:lnTo>
                      <a:pt x="6771576" y="162882"/>
                    </a:lnTo>
                    <a:lnTo>
                      <a:pt x="6731088" y="156932"/>
                    </a:lnTo>
                    <a:lnTo>
                      <a:pt x="6689590" y="151078"/>
                    </a:lnTo>
                    <a:lnTo>
                      <a:pt x="6647098" y="145320"/>
                    </a:lnTo>
                    <a:lnTo>
                      <a:pt x="6603624" y="139660"/>
                    </a:lnTo>
                    <a:lnTo>
                      <a:pt x="6559182" y="134097"/>
                    </a:lnTo>
                    <a:lnTo>
                      <a:pt x="6513785" y="128633"/>
                    </a:lnTo>
                    <a:lnTo>
                      <a:pt x="6420179" y="118007"/>
                    </a:lnTo>
                    <a:lnTo>
                      <a:pt x="6322914" y="107787"/>
                    </a:lnTo>
                    <a:lnTo>
                      <a:pt x="6222096" y="97981"/>
                    </a:lnTo>
                    <a:lnTo>
                      <a:pt x="6117833" y="88596"/>
                    </a:lnTo>
                    <a:lnTo>
                      <a:pt x="6010232" y="79640"/>
                    </a:lnTo>
                    <a:lnTo>
                      <a:pt x="5899399" y="71120"/>
                    </a:lnTo>
                    <a:lnTo>
                      <a:pt x="5785442" y="63043"/>
                    </a:lnTo>
                    <a:lnTo>
                      <a:pt x="5668467" y="55417"/>
                    </a:lnTo>
                    <a:lnTo>
                      <a:pt x="5548583" y="48248"/>
                    </a:lnTo>
                    <a:lnTo>
                      <a:pt x="5425895" y="41544"/>
                    </a:lnTo>
                    <a:lnTo>
                      <a:pt x="5300511" y="35312"/>
                    </a:lnTo>
                    <a:lnTo>
                      <a:pt x="5172537" y="29559"/>
                    </a:lnTo>
                    <a:lnTo>
                      <a:pt x="5042081" y="24294"/>
                    </a:lnTo>
                    <a:lnTo>
                      <a:pt x="4909250" y="19522"/>
                    </a:lnTo>
                    <a:lnTo>
                      <a:pt x="4774151" y="15251"/>
                    </a:lnTo>
                    <a:lnTo>
                      <a:pt x="4636890" y="11489"/>
                    </a:lnTo>
                    <a:lnTo>
                      <a:pt x="4497575" y="8243"/>
                    </a:lnTo>
                    <a:lnTo>
                      <a:pt x="4356313" y="5519"/>
                    </a:lnTo>
                    <a:lnTo>
                      <a:pt x="4213211" y="3326"/>
                    </a:lnTo>
                    <a:lnTo>
                      <a:pt x="4068375" y="1670"/>
                    </a:lnTo>
                    <a:lnTo>
                      <a:pt x="3921913" y="559"/>
                    </a:lnTo>
                    <a:lnTo>
                      <a:pt x="3773932" y="0"/>
                    </a:lnTo>
                    <a:close/>
                  </a:path>
                </a:pathLst>
              </a:custGeom>
              <a:solidFill>
                <a:srgbClr val="C3DE9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69" name="object 46">
                <a:extLst>
                  <a:ext uri="{FF2B5EF4-FFF2-40B4-BE49-F238E27FC236}">
                    <a16:creationId xmlns:a16="http://schemas.microsoft.com/office/drawing/2014/main" id="{654A0059-5B8F-D35B-1482-6981E4E2941C}"/>
                  </a:ext>
                </a:extLst>
              </p:cNvPr>
              <p:cNvSpPr/>
              <p:nvPr/>
            </p:nvSpPr>
            <p:spPr>
              <a:xfrm>
                <a:off x="7759912" y="6363815"/>
                <a:ext cx="7393940" cy="899160"/>
              </a:xfrm>
              <a:custGeom>
                <a:avLst/>
                <a:gdLst/>
                <a:ahLst/>
                <a:cxnLst/>
                <a:rect l="l" t="t" r="r" b="b"/>
                <a:pathLst>
                  <a:path w="7393940" h="899159">
                    <a:moveTo>
                      <a:pt x="3776210" y="0"/>
                    </a:moveTo>
                    <a:lnTo>
                      <a:pt x="3617512" y="0"/>
                    </a:lnTo>
                    <a:lnTo>
                      <a:pt x="3460055" y="802"/>
                    </a:lnTo>
                    <a:lnTo>
                      <a:pt x="3304363" y="2388"/>
                    </a:lnTo>
                    <a:lnTo>
                      <a:pt x="3150569" y="4737"/>
                    </a:lnTo>
                    <a:lnTo>
                      <a:pt x="2998806" y="7829"/>
                    </a:lnTo>
                    <a:lnTo>
                      <a:pt x="2849208" y="11644"/>
                    </a:lnTo>
                    <a:lnTo>
                      <a:pt x="2701909" y="16161"/>
                    </a:lnTo>
                    <a:lnTo>
                      <a:pt x="2557041" y="21360"/>
                    </a:lnTo>
                    <a:lnTo>
                      <a:pt x="2414739" y="27221"/>
                    </a:lnTo>
                    <a:lnTo>
                      <a:pt x="2275135" y="33724"/>
                    </a:lnTo>
                    <a:lnTo>
                      <a:pt x="2138363" y="40849"/>
                    </a:lnTo>
                    <a:lnTo>
                      <a:pt x="2004556" y="48575"/>
                    </a:lnTo>
                    <a:lnTo>
                      <a:pt x="1873848" y="56882"/>
                    </a:lnTo>
                    <a:lnTo>
                      <a:pt x="1746371" y="65750"/>
                    </a:lnTo>
                    <a:lnTo>
                      <a:pt x="1622260" y="75159"/>
                    </a:lnTo>
                    <a:lnTo>
                      <a:pt x="1501648" y="85088"/>
                    </a:lnTo>
                    <a:lnTo>
                      <a:pt x="1384668" y="95517"/>
                    </a:lnTo>
                    <a:lnTo>
                      <a:pt x="1271453" y="106427"/>
                    </a:lnTo>
                    <a:lnTo>
                      <a:pt x="1216300" y="112055"/>
                    </a:lnTo>
                    <a:lnTo>
                      <a:pt x="1162138" y="117796"/>
                    </a:lnTo>
                    <a:lnTo>
                      <a:pt x="1108984" y="123647"/>
                    </a:lnTo>
                    <a:lnTo>
                      <a:pt x="1056854" y="129605"/>
                    </a:lnTo>
                    <a:lnTo>
                      <a:pt x="1005766" y="135668"/>
                    </a:lnTo>
                    <a:lnTo>
                      <a:pt x="955737" y="141834"/>
                    </a:lnTo>
                    <a:lnTo>
                      <a:pt x="906782" y="148099"/>
                    </a:lnTo>
                    <a:lnTo>
                      <a:pt x="858918" y="154461"/>
                    </a:lnTo>
                    <a:lnTo>
                      <a:pt x="812162" y="160919"/>
                    </a:lnTo>
                    <a:lnTo>
                      <a:pt x="766532" y="167468"/>
                    </a:lnTo>
                    <a:lnTo>
                      <a:pt x="722042" y="174107"/>
                    </a:lnTo>
                    <a:lnTo>
                      <a:pt x="678711" y="180833"/>
                    </a:lnTo>
                    <a:lnTo>
                      <a:pt x="636555" y="187644"/>
                    </a:lnTo>
                    <a:lnTo>
                      <a:pt x="595590" y="194537"/>
                    </a:lnTo>
                    <a:lnTo>
                      <a:pt x="555833" y="201510"/>
                    </a:lnTo>
                    <a:lnTo>
                      <a:pt x="517301" y="208560"/>
                    </a:lnTo>
                    <a:lnTo>
                      <a:pt x="443978" y="222880"/>
                    </a:lnTo>
                    <a:lnTo>
                      <a:pt x="375755" y="237478"/>
                    </a:lnTo>
                    <a:lnTo>
                      <a:pt x="312764" y="252334"/>
                    </a:lnTo>
                    <a:lnTo>
                      <a:pt x="255140" y="267428"/>
                    </a:lnTo>
                    <a:lnTo>
                      <a:pt x="203014" y="282738"/>
                    </a:lnTo>
                    <a:lnTo>
                      <a:pt x="156522" y="298246"/>
                    </a:lnTo>
                    <a:lnTo>
                      <a:pt x="115796" y="313930"/>
                    </a:lnTo>
                    <a:lnTo>
                      <a:pt x="80969" y="329772"/>
                    </a:lnTo>
                    <a:lnTo>
                      <a:pt x="40083" y="353783"/>
                    </a:lnTo>
                    <a:lnTo>
                      <a:pt x="7462" y="386157"/>
                    </a:lnTo>
                    <a:lnTo>
                      <a:pt x="0" y="410619"/>
                    </a:lnTo>
                    <a:lnTo>
                      <a:pt x="834" y="418824"/>
                    </a:lnTo>
                    <a:lnTo>
                      <a:pt x="20589" y="452249"/>
                    </a:lnTo>
                    <a:lnTo>
                      <a:pt x="52176" y="477825"/>
                    </a:lnTo>
                    <a:lnTo>
                      <a:pt x="97637" y="503699"/>
                    </a:lnTo>
                    <a:lnTo>
                      <a:pt x="135430" y="521053"/>
                    </a:lnTo>
                    <a:lnTo>
                      <a:pt x="179056" y="538449"/>
                    </a:lnTo>
                    <a:lnTo>
                      <a:pt x="228381" y="555849"/>
                    </a:lnTo>
                    <a:lnTo>
                      <a:pt x="283273" y="573217"/>
                    </a:lnTo>
                    <a:lnTo>
                      <a:pt x="343597" y="590516"/>
                    </a:lnTo>
                    <a:lnTo>
                      <a:pt x="409221" y="607711"/>
                    </a:lnTo>
                    <a:lnTo>
                      <a:pt x="480011" y="624764"/>
                    </a:lnTo>
                    <a:lnTo>
                      <a:pt x="517301" y="633226"/>
                    </a:lnTo>
                    <a:lnTo>
                      <a:pt x="555833" y="641639"/>
                    </a:lnTo>
                    <a:lnTo>
                      <a:pt x="595590" y="649999"/>
                    </a:lnTo>
                    <a:lnTo>
                      <a:pt x="636555" y="658300"/>
                    </a:lnTo>
                    <a:lnTo>
                      <a:pt x="678711" y="666539"/>
                    </a:lnTo>
                    <a:lnTo>
                      <a:pt x="722042" y="674710"/>
                    </a:lnTo>
                    <a:lnTo>
                      <a:pt x="766532" y="682809"/>
                    </a:lnTo>
                    <a:lnTo>
                      <a:pt x="812162" y="690832"/>
                    </a:lnTo>
                    <a:lnTo>
                      <a:pt x="858918" y="698774"/>
                    </a:lnTo>
                    <a:lnTo>
                      <a:pt x="906782" y="706630"/>
                    </a:lnTo>
                    <a:lnTo>
                      <a:pt x="955737" y="714397"/>
                    </a:lnTo>
                    <a:lnTo>
                      <a:pt x="1005766" y="722068"/>
                    </a:lnTo>
                    <a:lnTo>
                      <a:pt x="1056854" y="729640"/>
                    </a:lnTo>
                    <a:lnTo>
                      <a:pt x="1108984" y="737109"/>
                    </a:lnTo>
                    <a:lnTo>
                      <a:pt x="1162138" y="744469"/>
                    </a:lnTo>
                    <a:lnTo>
                      <a:pt x="1216300" y="751716"/>
                    </a:lnTo>
                    <a:lnTo>
                      <a:pt x="1271453" y="758845"/>
                    </a:lnTo>
                    <a:lnTo>
                      <a:pt x="1327582" y="765852"/>
                    </a:lnTo>
                    <a:lnTo>
                      <a:pt x="1384668" y="772733"/>
                    </a:lnTo>
                    <a:lnTo>
                      <a:pt x="1442696" y="779483"/>
                    </a:lnTo>
                    <a:lnTo>
                      <a:pt x="1501648" y="786096"/>
                    </a:lnTo>
                    <a:lnTo>
                      <a:pt x="1561508" y="792570"/>
                    </a:lnTo>
                    <a:lnTo>
                      <a:pt x="1622260" y="798898"/>
                    </a:lnTo>
                    <a:lnTo>
                      <a:pt x="1683887" y="805077"/>
                    </a:lnTo>
                    <a:lnTo>
                      <a:pt x="1746371" y="811102"/>
                    </a:lnTo>
                    <a:lnTo>
                      <a:pt x="1809697" y="816968"/>
                    </a:lnTo>
                    <a:lnTo>
                      <a:pt x="1873848" y="822672"/>
                    </a:lnTo>
                    <a:lnTo>
                      <a:pt x="1938806" y="828207"/>
                    </a:lnTo>
                    <a:lnTo>
                      <a:pt x="2004556" y="833570"/>
                    </a:lnTo>
                    <a:lnTo>
                      <a:pt x="2071080" y="838756"/>
                    </a:lnTo>
                    <a:lnTo>
                      <a:pt x="2138363" y="843761"/>
                    </a:lnTo>
                    <a:lnTo>
                      <a:pt x="2206387" y="848580"/>
                    </a:lnTo>
                    <a:lnTo>
                      <a:pt x="2275135" y="853208"/>
                    </a:lnTo>
                    <a:lnTo>
                      <a:pt x="2344591" y="857641"/>
                    </a:lnTo>
                    <a:lnTo>
                      <a:pt x="2414739" y="861875"/>
                    </a:lnTo>
                    <a:lnTo>
                      <a:pt x="2485561" y="865904"/>
                    </a:lnTo>
                    <a:lnTo>
                      <a:pt x="2557041" y="869724"/>
                    </a:lnTo>
                    <a:lnTo>
                      <a:pt x="2629163" y="873331"/>
                    </a:lnTo>
                    <a:lnTo>
                      <a:pt x="2701909" y="876720"/>
                    </a:lnTo>
                    <a:lnTo>
                      <a:pt x="2775263" y="879886"/>
                    </a:lnTo>
                    <a:lnTo>
                      <a:pt x="2849208" y="882826"/>
                    </a:lnTo>
                    <a:lnTo>
                      <a:pt x="2923728" y="885533"/>
                    </a:lnTo>
                    <a:lnTo>
                      <a:pt x="2998806" y="888005"/>
                    </a:lnTo>
                    <a:lnTo>
                      <a:pt x="3074425" y="890236"/>
                    </a:lnTo>
                    <a:lnTo>
                      <a:pt x="3150569" y="892221"/>
                    </a:lnTo>
                    <a:lnTo>
                      <a:pt x="3227220" y="893956"/>
                    </a:lnTo>
                    <a:lnTo>
                      <a:pt x="3304363" y="895437"/>
                    </a:lnTo>
                    <a:lnTo>
                      <a:pt x="3381980" y="896659"/>
                    </a:lnTo>
                    <a:lnTo>
                      <a:pt x="3460055" y="897618"/>
                    </a:lnTo>
                    <a:lnTo>
                      <a:pt x="3538571" y="898308"/>
                    </a:lnTo>
                    <a:lnTo>
                      <a:pt x="3617512" y="898725"/>
                    </a:lnTo>
                    <a:lnTo>
                      <a:pt x="3696861" y="898866"/>
                    </a:lnTo>
                    <a:lnTo>
                      <a:pt x="3776210" y="898725"/>
                    </a:lnTo>
                    <a:lnTo>
                      <a:pt x="3855152" y="898308"/>
                    </a:lnTo>
                    <a:lnTo>
                      <a:pt x="3933669" y="897618"/>
                    </a:lnTo>
                    <a:lnTo>
                      <a:pt x="4011744" y="896659"/>
                    </a:lnTo>
                    <a:lnTo>
                      <a:pt x="4089362" y="895437"/>
                    </a:lnTo>
                    <a:lnTo>
                      <a:pt x="4166506" y="893956"/>
                    </a:lnTo>
                    <a:lnTo>
                      <a:pt x="4243157" y="892221"/>
                    </a:lnTo>
                    <a:lnTo>
                      <a:pt x="4319301" y="890236"/>
                    </a:lnTo>
                    <a:lnTo>
                      <a:pt x="4394921" y="888005"/>
                    </a:lnTo>
                    <a:lnTo>
                      <a:pt x="4469999" y="885533"/>
                    </a:lnTo>
                    <a:lnTo>
                      <a:pt x="4544519" y="882826"/>
                    </a:lnTo>
                    <a:lnTo>
                      <a:pt x="4618465" y="879886"/>
                    </a:lnTo>
                    <a:lnTo>
                      <a:pt x="4691819" y="876720"/>
                    </a:lnTo>
                    <a:lnTo>
                      <a:pt x="4764565" y="873331"/>
                    </a:lnTo>
                    <a:lnTo>
                      <a:pt x="4836687" y="869724"/>
                    </a:lnTo>
                    <a:lnTo>
                      <a:pt x="4908167" y="865904"/>
                    </a:lnTo>
                    <a:lnTo>
                      <a:pt x="4978990" y="861875"/>
                    </a:lnTo>
                    <a:lnTo>
                      <a:pt x="5049137" y="857641"/>
                    </a:lnTo>
                    <a:lnTo>
                      <a:pt x="5118594" y="853208"/>
                    </a:lnTo>
                    <a:lnTo>
                      <a:pt x="5187342" y="848580"/>
                    </a:lnTo>
                    <a:lnTo>
                      <a:pt x="5255366" y="843761"/>
                    </a:lnTo>
                    <a:lnTo>
                      <a:pt x="5322648" y="838756"/>
                    </a:lnTo>
                    <a:lnTo>
                      <a:pt x="5389173" y="833570"/>
                    </a:lnTo>
                    <a:lnTo>
                      <a:pt x="5454922" y="828207"/>
                    </a:lnTo>
                    <a:lnTo>
                      <a:pt x="5519881" y="822672"/>
                    </a:lnTo>
                    <a:lnTo>
                      <a:pt x="5584031" y="816968"/>
                    </a:lnTo>
                    <a:lnTo>
                      <a:pt x="5647357" y="811102"/>
                    </a:lnTo>
                    <a:lnTo>
                      <a:pt x="5709841" y="805077"/>
                    </a:lnTo>
                    <a:lnTo>
                      <a:pt x="5771467" y="798898"/>
                    </a:lnTo>
                    <a:lnTo>
                      <a:pt x="5832219" y="792570"/>
                    </a:lnTo>
                    <a:lnTo>
                      <a:pt x="5892079" y="786096"/>
                    </a:lnTo>
                    <a:lnTo>
                      <a:pt x="5951031" y="779483"/>
                    </a:lnTo>
                    <a:lnTo>
                      <a:pt x="6009058" y="772733"/>
                    </a:lnTo>
                    <a:lnTo>
                      <a:pt x="6066144" y="765852"/>
                    </a:lnTo>
                    <a:lnTo>
                      <a:pt x="6122272" y="758845"/>
                    </a:lnTo>
                    <a:lnTo>
                      <a:pt x="6177425" y="751716"/>
                    </a:lnTo>
                    <a:lnTo>
                      <a:pt x="6231587" y="744469"/>
                    </a:lnTo>
                    <a:lnTo>
                      <a:pt x="6284741" y="737109"/>
                    </a:lnTo>
                    <a:lnTo>
                      <a:pt x="6336870" y="729640"/>
                    </a:lnTo>
                    <a:lnTo>
                      <a:pt x="6387957" y="722068"/>
                    </a:lnTo>
                    <a:lnTo>
                      <a:pt x="6437987" y="714397"/>
                    </a:lnTo>
                    <a:lnTo>
                      <a:pt x="6486941" y="706630"/>
                    </a:lnTo>
                    <a:lnTo>
                      <a:pt x="6534804" y="698774"/>
                    </a:lnTo>
                    <a:lnTo>
                      <a:pt x="6581559" y="690832"/>
                    </a:lnTo>
                    <a:lnTo>
                      <a:pt x="6627190" y="682809"/>
                    </a:lnTo>
                    <a:lnTo>
                      <a:pt x="6671679" y="674710"/>
                    </a:lnTo>
                    <a:lnTo>
                      <a:pt x="6715009" y="666539"/>
                    </a:lnTo>
                    <a:lnTo>
                      <a:pt x="6757165" y="658300"/>
                    </a:lnTo>
                    <a:lnTo>
                      <a:pt x="6798130" y="649999"/>
                    </a:lnTo>
                    <a:lnTo>
                      <a:pt x="6837886" y="641639"/>
                    </a:lnTo>
                    <a:lnTo>
                      <a:pt x="6876417" y="633226"/>
                    </a:lnTo>
                    <a:lnTo>
                      <a:pt x="6913707" y="624764"/>
                    </a:lnTo>
                    <a:lnTo>
                      <a:pt x="6984496" y="607711"/>
                    </a:lnTo>
                    <a:lnTo>
                      <a:pt x="7050119" y="590516"/>
                    </a:lnTo>
                    <a:lnTo>
                      <a:pt x="7110443" y="573217"/>
                    </a:lnTo>
                    <a:lnTo>
                      <a:pt x="7165334" y="555849"/>
                    </a:lnTo>
                    <a:lnTo>
                      <a:pt x="7214658" y="538449"/>
                    </a:lnTo>
                    <a:lnTo>
                      <a:pt x="7258283" y="521053"/>
                    </a:lnTo>
                    <a:lnTo>
                      <a:pt x="7296076" y="503699"/>
                    </a:lnTo>
                    <a:lnTo>
                      <a:pt x="7341536" y="477825"/>
                    </a:lnTo>
                    <a:lnTo>
                      <a:pt x="7373122" y="452249"/>
                    </a:lnTo>
                    <a:lnTo>
                      <a:pt x="7392877" y="418824"/>
                    </a:lnTo>
                    <a:lnTo>
                      <a:pt x="7393712" y="410619"/>
                    </a:lnTo>
                    <a:lnTo>
                      <a:pt x="7392877" y="402453"/>
                    </a:lnTo>
                    <a:lnTo>
                      <a:pt x="7364163" y="361843"/>
                    </a:lnTo>
                    <a:lnTo>
                      <a:pt x="7327902" y="337745"/>
                    </a:lnTo>
                    <a:lnTo>
                      <a:pt x="7277917" y="313930"/>
                    </a:lnTo>
                    <a:lnTo>
                      <a:pt x="7237192" y="298246"/>
                    </a:lnTo>
                    <a:lnTo>
                      <a:pt x="7190700" y="282738"/>
                    </a:lnTo>
                    <a:lnTo>
                      <a:pt x="7138576" y="267428"/>
                    </a:lnTo>
                    <a:lnTo>
                      <a:pt x="7080952" y="252334"/>
                    </a:lnTo>
                    <a:lnTo>
                      <a:pt x="7017962" y="237478"/>
                    </a:lnTo>
                    <a:lnTo>
                      <a:pt x="6949739" y="222880"/>
                    </a:lnTo>
                    <a:lnTo>
                      <a:pt x="6876417" y="208560"/>
                    </a:lnTo>
                    <a:lnTo>
                      <a:pt x="6837886" y="201510"/>
                    </a:lnTo>
                    <a:lnTo>
                      <a:pt x="6798130" y="194537"/>
                    </a:lnTo>
                    <a:lnTo>
                      <a:pt x="6757165" y="187644"/>
                    </a:lnTo>
                    <a:lnTo>
                      <a:pt x="6715009" y="180833"/>
                    </a:lnTo>
                    <a:lnTo>
                      <a:pt x="6671679" y="174107"/>
                    </a:lnTo>
                    <a:lnTo>
                      <a:pt x="6627190" y="167468"/>
                    </a:lnTo>
                    <a:lnTo>
                      <a:pt x="6581559" y="160919"/>
                    </a:lnTo>
                    <a:lnTo>
                      <a:pt x="6534804" y="154461"/>
                    </a:lnTo>
                    <a:lnTo>
                      <a:pt x="6486941" y="148099"/>
                    </a:lnTo>
                    <a:lnTo>
                      <a:pt x="6437987" y="141834"/>
                    </a:lnTo>
                    <a:lnTo>
                      <a:pt x="6387957" y="135668"/>
                    </a:lnTo>
                    <a:lnTo>
                      <a:pt x="6336870" y="129605"/>
                    </a:lnTo>
                    <a:lnTo>
                      <a:pt x="6284741" y="123647"/>
                    </a:lnTo>
                    <a:lnTo>
                      <a:pt x="6231587" y="117796"/>
                    </a:lnTo>
                    <a:lnTo>
                      <a:pt x="6177425" y="112055"/>
                    </a:lnTo>
                    <a:lnTo>
                      <a:pt x="6122272" y="106427"/>
                    </a:lnTo>
                    <a:lnTo>
                      <a:pt x="6009058" y="95517"/>
                    </a:lnTo>
                    <a:lnTo>
                      <a:pt x="5892079" y="85088"/>
                    </a:lnTo>
                    <a:lnTo>
                      <a:pt x="5771467" y="75159"/>
                    </a:lnTo>
                    <a:lnTo>
                      <a:pt x="5647357" y="65750"/>
                    </a:lnTo>
                    <a:lnTo>
                      <a:pt x="5519881" y="56882"/>
                    </a:lnTo>
                    <a:lnTo>
                      <a:pt x="5389173" y="48575"/>
                    </a:lnTo>
                    <a:lnTo>
                      <a:pt x="5255366" y="40849"/>
                    </a:lnTo>
                    <a:lnTo>
                      <a:pt x="5118594" y="33724"/>
                    </a:lnTo>
                    <a:lnTo>
                      <a:pt x="4978990" y="27221"/>
                    </a:lnTo>
                    <a:lnTo>
                      <a:pt x="4836687" y="21360"/>
                    </a:lnTo>
                    <a:lnTo>
                      <a:pt x="4691819" y="16161"/>
                    </a:lnTo>
                    <a:lnTo>
                      <a:pt x="4544519" y="11644"/>
                    </a:lnTo>
                    <a:lnTo>
                      <a:pt x="4394921" y="7829"/>
                    </a:lnTo>
                    <a:lnTo>
                      <a:pt x="4243157" y="4737"/>
                    </a:lnTo>
                    <a:lnTo>
                      <a:pt x="4089362" y="2388"/>
                    </a:lnTo>
                    <a:lnTo>
                      <a:pt x="3933669" y="802"/>
                    </a:lnTo>
                    <a:lnTo>
                      <a:pt x="3776210" y="0"/>
                    </a:lnTo>
                    <a:close/>
                  </a:path>
                </a:pathLst>
              </a:custGeom>
              <a:solidFill>
                <a:srgbClr val="58B67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70" name="object 47">
                <a:extLst>
                  <a:ext uri="{FF2B5EF4-FFF2-40B4-BE49-F238E27FC236}">
                    <a16:creationId xmlns:a16="http://schemas.microsoft.com/office/drawing/2014/main" id="{8E2FDBA1-2687-6281-244D-A9A9C7A866C3}"/>
                  </a:ext>
                </a:extLst>
              </p:cNvPr>
              <p:cNvPicPr/>
              <p:nvPr/>
            </p:nvPicPr>
            <p:blipFill>
              <a:blip r:embed="rId8" cstate="print"/>
              <a:stretch>
                <a:fillRect/>
              </a:stretch>
            </p:blipFill>
            <p:spPr>
              <a:xfrm>
                <a:off x="10883752" y="6513728"/>
                <a:ext cx="1918998" cy="418102"/>
              </a:xfrm>
              <a:prstGeom prst="rect">
                <a:avLst/>
              </a:prstGeom>
            </p:spPr>
          </p:pic>
          <p:sp>
            <p:nvSpPr>
              <p:cNvPr id="71" name="object 48">
                <a:extLst>
                  <a:ext uri="{FF2B5EF4-FFF2-40B4-BE49-F238E27FC236}">
                    <a16:creationId xmlns:a16="http://schemas.microsoft.com/office/drawing/2014/main" id="{1DCA1F8D-A34B-E437-A3D1-3352FDDC3506}"/>
                  </a:ext>
                </a:extLst>
              </p:cNvPr>
              <p:cNvSpPr/>
              <p:nvPr/>
            </p:nvSpPr>
            <p:spPr>
              <a:xfrm>
                <a:off x="10878921" y="6489589"/>
                <a:ext cx="1919605" cy="418465"/>
              </a:xfrm>
              <a:custGeom>
                <a:avLst/>
                <a:gdLst/>
                <a:ahLst/>
                <a:cxnLst/>
                <a:rect l="l" t="t" r="r" b="b"/>
                <a:pathLst>
                  <a:path w="1919604" h="418465">
                    <a:moveTo>
                      <a:pt x="1919009" y="0"/>
                    </a:moveTo>
                    <a:lnTo>
                      <a:pt x="407401" y="0"/>
                    </a:lnTo>
                    <a:lnTo>
                      <a:pt x="0" y="418102"/>
                    </a:lnTo>
                    <a:lnTo>
                      <a:pt x="1586663" y="418102"/>
                    </a:lnTo>
                    <a:lnTo>
                      <a:pt x="1919009" y="0"/>
                    </a:lnTo>
                    <a:close/>
                  </a:path>
                </a:pathLst>
              </a:custGeom>
              <a:solidFill>
                <a:srgbClr val="FDFDF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72" name="object 49">
                <a:extLst>
                  <a:ext uri="{FF2B5EF4-FFF2-40B4-BE49-F238E27FC236}">
                    <a16:creationId xmlns:a16="http://schemas.microsoft.com/office/drawing/2014/main" id="{63F4F66C-BED3-DB46-65F1-BBD17C8B4BAB}"/>
                  </a:ext>
                </a:extLst>
              </p:cNvPr>
              <p:cNvSpPr/>
              <p:nvPr/>
            </p:nvSpPr>
            <p:spPr>
              <a:xfrm>
                <a:off x="11666889" y="6505671"/>
                <a:ext cx="311150" cy="370205"/>
              </a:xfrm>
              <a:custGeom>
                <a:avLst/>
                <a:gdLst/>
                <a:ahLst/>
                <a:cxnLst/>
                <a:rect l="l" t="t" r="r" b="b"/>
                <a:pathLst>
                  <a:path w="311150" h="370204">
                    <a:moveTo>
                      <a:pt x="310901" y="0"/>
                    </a:moveTo>
                    <a:lnTo>
                      <a:pt x="0" y="369852"/>
                    </a:lnTo>
                  </a:path>
                </a:pathLst>
              </a:custGeom>
              <a:ln w="7800">
                <a:solidFill>
                  <a:srgbClr val="3A747B"/>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73" name="object 50">
                <a:extLst>
                  <a:ext uri="{FF2B5EF4-FFF2-40B4-BE49-F238E27FC236}">
                    <a16:creationId xmlns:a16="http://schemas.microsoft.com/office/drawing/2014/main" id="{94E5F7B5-9E44-2A1A-EC2C-EAB19AA3837D}"/>
                  </a:ext>
                </a:extLst>
              </p:cNvPr>
              <p:cNvSpPr/>
              <p:nvPr/>
            </p:nvSpPr>
            <p:spPr>
              <a:xfrm>
                <a:off x="11843270" y="6804987"/>
                <a:ext cx="504190" cy="32384"/>
              </a:xfrm>
              <a:custGeom>
                <a:avLst/>
                <a:gdLst/>
                <a:ahLst/>
                <a:cxnLst/>
                <a:rect l="l" t="t" r="r" b="b"/>
                <a:pathLst>
                  <a:path w="504190" h="32384">
                    <a:moveTo>
                      <a:pt x="503911" y="0"/>
                    </a:moveTo>
                    <a:lnTo>
                      <a:pt x="42888" y="0"/>
                    </a:lnTo>
                    <a:lnTo>
                      <a:pt x="0" y="32145"/>
                    </a:lnTo>
                    <a:lnTo>
                      <a:pt x="471734" y="32145"/>
                    </a:lnTo>
                    <a:lnTo>
                      <a:pt x="503911" y="0"/>
                    </a:lnTo>
                    <a:close/>
                  </a:path>
                </a:pathLst>
              </a:custGeom>
              <a:solidFill>
                <a:srgbClr val="85BB2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74" name="object 51">
                <a:extLst>
                  <a:ext uri="{FF2B5EF4-FFF2-40B4-BE49-F238E27FC236}">
                    <a16:creationId xmlns:a16="http://schemas.microsoft.com/office/drawing/2014/main" id="{6F431EF9-AE04-DDF8-4D05-8D1A8B0E0CEC}"/>
                  </a:ext>
                </a:extLst>
              </p:cNvPr>
              <p:cNvSpPr/>
              <p:nvPr/>
            </p:nvSpPr>
            <p:spPr>
              <a:xfrm>
                <a:off x="11089221" y="6536962"/>
                <a:ext cx="1450975" cy="297180"/>
              </a:xfrm>
              <a:custGeom>
                <a:avLst/>
                <a:gdLst/>
                <a:ahLst/>
                <a:cxnLst/>
                <a:rect l="l" t="t" r="r" b="b"/>
                <a:pathLst>
                  <a:path w="1450975" h="297179">
                    <a:moveTo>
                      <a:pt x="493166" y="281927"/>
                    </a:moveTo>
                    <a:lnTo>
                      <a:pt x="42875" y="281927"/>
                    </a:lnTo>
                    <a:lnTo>
                      <a:pt x="0" y="296608"/>
                    </a:lnTo>
                    <a:lnTo>
                      <a:pt x="450278" y="296608"/>
                    </a:lnTo>
                    <a:lnTo>
                      <a:pt x="493166" y="281927"/>
                    </a:lnTo>
                    <a:close/>
                  </a:path>
                  <a:path w="1450975" h="297179">
                    <a:moveTo>
                      <a:pt x="550354" y="224739"/>
                    </a:moveTo>
                    <a:lnTo>
                      <a:pt x="100076" y="224739"/>
                    </a:lnTo>
                    <a:lnTo>
                      <a:pt x="57188" y="239420"/>
                    </a:lnTo>
                    <a:lnTo>
                      <a:pt x="507466" y="239420"/>
                    </a:lnTo>
                    <a:lnTo>
                      <a:pt x="550354" y="224739"/>
                    </a:lnTo>
                    <a:close/>
                  </a:path>
                  <a:path w="1450975" h="297179">
                    <a:moveTo>
                      <a:pt x="607529" y="167538"/>
                    </a:moveTo>
                    <a:lnTo>
                      <a:pt x="157226" y="167538"/>
                    </a:lnTo>
                    <a:lnTo>
                      <a:pt x="114363" y="182232"/>
                    </a:lnTo>
                    <a:lnTo>
                      <a:pt x="564642" y="182232"/>
                    </a:lnTo>
                    <a:lnTo>
                      <a:pt x="607529" y="167538"/>
                    </a:lnTo>
                    <a:close/>
                  </a:path>
                  <a:path w="1450975" h="297179">
                    <a:moveTo>
                      <a:pt x="664705" y="110350"/>
                    </a:moveTo>
                    <a:lnTo>
                      <a:pt x="214414" y="110350"/>
                    </a:lnTo>
                    <a:lnTo>
                      <a:pt x="171538" y="125044"/>
                    </a:lnTo>
                    <a:lnTo>
                      <a:pt x="621817" y="125044"/>
                    </a:lnTo>
                    <a:lnTo>
                      <a:pt x="664705" y="110350"/>
                    </a:lnTo>
                    <a:close/>
                  </a:path>
                  <a:path w="1450975" h="297179">
                    <a:moveTo>
                      <a:pt x="1272247" y="214439"/>
                    </a:moveTo>
                    <a:lnTo>
                      <a:pt x="854113" y="214439"/>
                    </a:lnTo>
                    <a:lnTo>
                      <a:pt x="854113" y="228727"/>
                    </a:lnTo>
                    <a:lnTo>
                      <a:pt x="1272247" y="228727"/>
                    </a:lnTo>
                    <a:lnTo>
                      <a:pt x="1272247" y="214439"/>
                    </a:lnTo>
                    <a:close/>
                  </a:path>
                  <a:path w="1450975" h="297179">
                    <a:moveTo>
                      <a:pt x="1307973" y="171551"/>
                    </a:moveTo>
                    <a:lnTo>
                      <a:pt x="889850" y="171551"/>
                    </a:lnTo>
                    <a:lnTo>
                      <a:pt x="889850" y="185839"/>
                    </a:lnTo>
                    <a:lnTo>
                      <a:pt x="1307973" y="185839"/>
                    </a:lnTo>
                    <a:lnTo>
                      <a:pt x="1307973" y="171551"/>
                    </a:lnTo>
                    <a:close/>
                  </a:path>
                  <a:path w="1450975" h="297179">
                    <a:moveTo>
                      <a:pt x="1343698" y="128651"/>
                    </a:moveTo>
                    <a:lnTo>
                      <a:pt x="925576" y="128651"/>
                    </a:lnTo>
                    <a:lnTo>
                      <a:pt x="925576" y="142951"/>
                    </a:lnTo>
                    <a:lnTo>
                      <a:pt x="1343698" y="142951"/>
                    </a:lnTo>
                    <a:lnTo>
                      <a:pt x="1343698" y="128651"/>
                    </a:lnTo>
                    <a:close/>
                  </a:path>
                  <a:path w="1450975" h="297179">
                    <a:moveTo>
                      <a:pt x="1379435" y="85775"/>
                    </a:moveTo>
                    <a:lnTo>
                      <a:pt x="961339" y="85775"/>
                    </a:lnTo>
                    <a:lnTo>
                      <a:pt x="961339" y="100076"/>
                    </a:lnTo>
                    <a:lnTo>
                      <a:pt x="1379435" y="100076"/>
                    </a:lnTo>
                    <a:lnTo>
                      <a:pt x="1379435" y="85775"/>
                    </a:lnTo>
                    <a:close/>
                  </a:path>
                  <a:path w="1450975" h="297179">
                    <a:moveTo>
                      <a:pt x="1415173" y="42887"/>
                    </a:moveTo>
                    <a:lnTo>
                      <a:pt x="997051" y="42887"/>
                    </a:lnTo>
                    <a:lnTo>
                      <a:pt x="997051" y="57188"/>
                    </a:lnTo>
                    <a:lnTo>
                      <a:pt x="1415173" y="57188"/>
                    </a:lnTo>
                    <a:lnTo>
                      <a:pt x="1415173" y="42887"/>
                    </a:lnTo>
                    <a:close/>
                  </a:path>
                  <a:path w="1450975" h="297179">
                    <a:moveTo>
                      <a:pt x="1450911" y="0"/>
                    </a:moveTo>
                    <a:lnTo>
                      <a:pt x="1032789" y="0"/>
                    </a:lnTo>
                    <a:lnTo>
                      <a:pt x="1032789" y="14300"/>
                    </a:lnTo>
                    <a:lnTo>
                      <a:pt x="1450911" y="14300"/>
                    </a:lnTo>
                    <a:lnTo>
                      <a:pt x="1450911" y="0"/>
                    </a:lnTo>
                    <a:close/>
                  </a:path>
                </a:pathLst>
              </a:custGeom>
              <a:solidFill>
                <a:srgbClr val="80A5A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75" name="object 52">
                <a:extLst>
                  <a:ext uri="{FF2B5EF4-FFF2-40B4-BE49-F238E27FC236}">
                    <a16:creationId xmlns:a16="http://schemas.microsoft.com/office/drawing/2014/main" id="{0364E1D7-EFBC-DB28-5F4B-C6B644016803}"/>
                  </a:ext>
                </a:extLst>
              </p:cNvPr>
              <p:cNvSpPr/>
              <p:nvPr/>
            </p:nvSpPr>
            <p:spPr>
              <a:xfrm>
                <a:off x="13371721" y="6545212"/>
                <a:ext cx="2540" cy="3810"/>
              </a:xfrm>
              <a:custGeom>
                <a:avLst/>
                <a:gdLst/>
                <a:ahLst/>
                <a:cxnLst/>
                <a:rect l="l" t="t" r="r" b="b"/>
                <a:pathLst>
                  <a:path w="2540" h="3809">
                    <a:moveTo>
                      <a:pt x="2366" y="0"/>
                    </a:moveTo>
                    <a:lnTo>
                      <a:pt x="1528" y="1068"/>
                    </a:lnTo>
                    <a:lnTo>
                      <a:pt x="785" y="2167"/>
                    </a:lnTo>
                    <a:lnTo>
                      <a:pt x="0" y="3245"/>
                    </a:lnTo>
                    <a:lnTo>
                      <a:pt x="785" y="2177"/>
                    </a:lnTo>
                    <a:lnTo>
                      <a:pt x="1570" y="1078"/>
                    </a:lnTo>
                    <a:lnTo>
                      <a:pt x="2366" y="0"/>
                    </a:lnTo>
                    <a:close/>
                  </a:path>
                </a:pathLst>
              </a:custGeom>
              <a:solidFill>
                <a:srgbClr val="79C49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76" name="object 53">
                <a:extLst>
                  <a:ext uri="{FF2B5EF4-FFF2-40B4-BE49-F238E27FC236}">
                    <a16:creationId xmlns:a16="http://schemas.microsoft.com/office/drawing/2014/main" id="{FACF5A45-2A59-6011-1193-EFA4CA8EA08E}"/>
                  </a:ext>
                </a:extLst>
              </p:cNvPr>
              <p:cNvSpPr/>
              <p:nvPr/>
            </p:nvSpPr>
            <p:spPr>
              <a:xfrm>
                <a:off x="12723376" y="6554174"/>
                <a:ext cx="940435" cy="409575"/>
              </a:xfrm>
              <a:custGeom>
                <a:avLst/>
                <a:gdLst/>
                <a:ahLst/>
                <a:cxnLst/>
                <a:rect l="l" t="t" r="r" b="b"/>
                <a:pathLst>
                  <a:path w="940434" h="409575">
                    <a:moveTo>
                      <a:pt x="940180" y="0"/>
                    </a:moveTo>
                    <a:lnTo>
                      <a:pt x="287279" y="0"/>
                    </a:lnTo>
                    <a:lnTo>
                      <a:pt x="0" y="409149"/>
                    </a:lnTo>
                    <a:lnTo>
                      <a:pt x="705130" y="409149"/>
                    </a:lnTo>
                    <a:lnTo>
                      <a:pt x="940180" y="0"/>
                    </a:lnTo>
                    <a:close/>
                  </a:path>
                </a:pathLst>
              </a:custGeom>
              <a:solidFill>
                <a:srgbClr val="E3EBE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77" name="object 54">
                <a:extLst>
                  <a:ext uri="{FF2B5EF4-FFF2-40B4-BE49-F238E27FC236}">
                    <a16:creationId xmlns:a16="http://schemas.microsoft.com/office/drawing/2014/main" id="{42765445-5DDD-A656-0BF7-B56DA21551AC}"/>
                  </a:ext>
                </a:extLst>
              </p:cNvPr>
              <p:cNvSpPr/>
              <p:nvPr/>
            </p:nvSpPr>
            <p:spPr>
              <a:xfrm>
                <a:off x="12682091" y="6360682"/>
                <a:ext cx="1052195" cy="462280"/>
              </a:xfrm>
              <a:custGeom>
                <a:avLst/>
                <a:gdLst/>
                <a:ahLst/>
                <a:cxnLst/>
                <a:rect l="l" t="t" r="r" b="b"/>
                <a:pathLst>
                  <a:path w="1052194" h="462279">
                    <a:moveTo>
                      <a:pt x="316765" y="0"/>
                    </a:moveTo>
                    <a:lnTo>
                      <a:pt x="0" y="451148"/>
                    </a:lnTo>
                    <a:lnTo>
                      <a:pt x="887658" y="462226"/>
                    </a:lnTo>
                    <a:lnTo>
                      <a:pt x="1051611" y="20229"/>
                    </a:lnTo>
                    <a:lnTo>
                      <a:pt x="316765" y="0"/>
                    </a:lnTo>
                    <a:close/>
                  </a:path>
                </a:pathLst>
              </a:custGeom>
              <a:solidFill>
                <a:srgbClr val="FDFDF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78" name="object 55">
                <a:extLst>
                  <a:ext uri="{FF2B5EF4-FFF2-40B4-BE49-F238E27FC236}">
                    <a16:creationId xmlns:a16="http://schemas.microsoft.com/office/drawing/2014/main" id="{33B5747F-0BFE-5AB0-6764-74E46AC3F80C}"/>
                  </a:ext>
                </a:extLst>
              </p:cNvPr>
              <p:cNvSpPr/>
              <p:nvPr/>
            </p:nvSpPr>
            <p:spPr>
              <a:xfrm>
                <a:off x="12894733" y="6421059"/>
                <a:ext cx="208915" cy="327660"/>
              </a:xfrm>
              <a:custGeom>
                <a:avLst/>
                <a:gdLst/>
                <a:ahLst/>
                <a:cxnLst/>
                <a:rect l="l" t="t" r="r" b="b"/>
                <a:pathLst>
                  <a:path w="208915" h="327659">
                    <a:moveTo>
                      <a:pt x="208653" y="0"/>
                    </a:moveTo>
                    <a:lnTo>
                      <a:pt x="0" y="327309"/>
                    </a:lnTo>
                  </a:path>
                </a:pathLst>
              </a:custGeom>
              <a:ln w="5235">
                <a:solidFill>
                  <a:srgbClr val="B1C8CB"/>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79" name="object 56">
                <a:extLst>
                  <a:ext uri="{FF2B5EF4-FFF2-40B4-BE49-F238E27FC236}">
                    <a16:creationId xmlns:a16="http://schemas.microsoft.com/office/drawing/2014/main" id="{711146F0-D2A9-89C4-D6B9-523B2B22D9B8}"/>
                  </a:ext>
                </a:extLst>
              </p:cNvPr>
              <p:cNvSpPr/>
              <p:nvPr/>
            </p:nvSpPr>
            <p:spPr>
              <a:xfrm>
                <a:off x="13007521" y="6420720"/>
                <a:ext cx="189865" cy="327660"/>
              </a:xfrm>
              <a:custGeom>
                <a:avLst/>
                <a:gdLst/>
                <a:ahLst/>
                <a:cxnLst/>
                <a:rect l="l" t="t" r="r" b="b"/>
                <a:pathLst>
                  <a:path w="189865" h="327659">
                    <a:moveTo>
                      <a:pt x="189680" y="0"/>
                    </a:moveTo>
                    <a:lnTo>
                      <a:pt x="0" y="327654"/>
                    </a:lnTo>
                  </a:path>
                </a:pathLst>
              </a:custGeom>
              <a:ln w="5235">
                <a:solidFill>
                  <a:srgbClr val="B1C8CB"/>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80" name="object 57">
                <a:extLst>
                  <a:ext uri="{FF2B5EF4-FFF2-40B4-BE49-F238E27FC236}">
                    <a16:creationId xmlns:a16="http://schemas.microsoft.com/office/drawing/2014/main" id="{8EA053C1-4F2C-AEF5-8581-AAA7015D9029}"/>
                  </a:ext>
                </a:extLst>
              </p:cNvPr>
              <p:cNvSpPr/>
              <p:nvPr/>
            </p:nvSpPr>
            <p:spPr>
              <a:xfrm>
                <a:off x="13114147" y="6420383"/>
                <a:ext cx="177165" cy="323850"/>
              </a:xfrm>
              <a:custGeom>
                <a:avLst/>
                <a:gdLst/>
                <a:ahLst/>
                <a:cxnLst/>
                <a:rect l="l" t="t" r="r" b="b"/>
                <a:pathLst>
                  <a:path w="177165" h="323850">
                    <a:moveTo>
                      <a:pt x="176884" y="0"/>
                    </a:moveTo>
                    <a:lnTo>
                      <a:pt x="0" y="323843"/>
                    </a:lnTo>
                  </a:path>
                </a:pathLst>
              </a:custGeom>
              <a:ln w="5235">
                <a:solidFill>
                  <a:srgbClr val="B1C8CB"/>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81" name="object 58">
                <a:extLst>
                  <a:ext uri="{FF2B5EF4-FFF2-40B4-BE49-F238E27FC236}">
                    <a16:creationId xmlns:a16="http://schemas.microsoft.com/office/drawing/2014/main" id="{34871925-5501-A75E-32DE-104DE6396201}"/>
                  </a:ext>
                </a:extLst>
              </p:cNvPr>
              <p:cNvSpPr/>
              <p:nvPr/>
            </p:nvSpPr>
            <p:spPr>
              <a:xfrm>
                <a:off x="13214938" y="6419399"/>
                <a:ext cx="169545" cy="329565"/>
              </a:xfrm>
              <a:custGeom>
                <a:avLst/>
                <a:gdLst/>
                <a:ahLst/>
                <a:cxnLst/>
                <a:rect l="l" t="t" r="r" b="b"/>
                <a:pathLst>
                  <a:path w="169544" h="329565">
                    <a:moveTo>
                      <a:pt x="169261" y="0"/>
                    </a:moveTo>
                    <a:lnTo>
                      <a:pt x="0" y="329026"/>
                    </a:lnTo>
                  </a:path>
                </a:pathLst>
              </a:custGeom>
              <a:ln w="5235">
                <a:solidFill>
                  <a:srgbClr val="B1C8CB"/>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82" name="object 59">
                <a:extLst>
                  <a:ext uri="{FF2B5EF4-FFF2-40B4-BE49-F238E27FC236}">
                    <a16:creationId xmlns:a16="http://schemas.microsoft.com/office/drawing/2014/main" id="{6466D7B6-C96E-1A53-383B-144DEFA09F57}"/>
                  </a:ext>
                </a:extLst>
              </p:cNvPr>
              <p:cNvSpPr/>
              <p:nvPr/>
            </p:nvSpPr>
            <p:spPr>
              <a:xfrm>
                <a:off x="13319929" y="6421059"/>
                <a:ext cx="160655" cy="327660"/>
              </a:xfrm>
              <a:custGeom>
                <a:avLst/>
                <a:gdLst/>
                <a:ahLst/>
                <a:cxnLst/>
                <a:rect l="l" t="t" r="r" b="b"/>
                <a:pathLst>
                  <a:path w="160655" h="327659">
                    <a:moveTo>
                      <a:pt x="160476" y="0"/>
                    </a:moveTo>
                    <a:lnTo>
                      <a:pt x="0" y="327372"/>
                    </a:lnTo>
                  </a:path>
                </a:pathLst>
              </a:custGeom>
              <a:ln w="5235">
                <a:solidFill>
                  <a:srgbClr val="B1C8CB"/>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83" name="object 60">
                <a:extLst>
                  <a:ext uri="{FF2B5EF4-FFF2-40B4-BE49-F238E27FC236}">
                    <a16:creationId xmlns:a16="http://schemas.microsoft.com/office/drawing/2014/main" id="{4B5BAB29-6D0F-1E41-8671-F5CDF9A27EE8}"/>
                  </a:ext>
                </a:extLst>
              </p:cNvPr>
              <p:cNvSpPr/>
              <p:nvPr/>
            </p:nvSpPr>
            <p:spPr>
              <a:xfrm>
                <a:off x="13407387" y="6419399"/>
                <a:ext cx="165100" cy="339090"/>
              </a:xfrm>
              <a:custGeom>
                <a:avLst/>
                <a:gdLst/>
                <a:ahLst/>
                <a:cxnLst/>
                <a:rect l="l" t="t" r="r" b="b"/>
                <a:pathLst>
                  <a:path w="165100" h="339090">
                    <a:moveTo>
                      <a:pt x="165104" y="0"/>
                    </a:moveTo>
                    <a:lnTo>
                      <a:pt x="0" y="338502"/>
                    </a:lnTo>
                  </a:path>
                </a:pathLst>
              </a:custGeom>
              <a:ln w="5235">
                <a:solidFill>
                  <a:srgbClr val="B1C8CB"/>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84" name="object 61">
                <a:extLst>
                  <a:ext uri="{FF2B5EF4-FFF2-40B4-BE49-F238E27FC236}">
                    <a16:creationId xmlns:a16="http://schemas.microsoft.com/office/drawing/2014/main" id="{260CF5D4-5550-9B3E-317D-4D70643CBD11}"/>
                  </a:ext>
                </a:extLst>
              </p:cNvPr>
              <p:cNvPicPr/>
              <p:nvPr/>
            </p:nvPicPr>
            <p:blipFill>
              <a:blip r:embed="rId9" cstate="print"/>
              <a:stretch>
                <a:fillRect/>
              </a:stretch>
            </p:blipFill>
            <p:spPr>
              <a:xfrm>
                <a:off x="10014177" y="6742475"/>
                <a:ext cx="786751" cy="403045"/>
              </a:xfrm>
              <a:prstGeom prst="rect">
                <a:avLst/>
              </a:prstGeom>
            </p:spPr>
          </p:pic>
          <p:sp>
            <p:nvSpPr>
              <p:cNvPr id="85" name="object 62">
                <a:extLst>
                  <a:ext uri="{FF2B5EF4-FFF2-40B4-BE49-F238E27FC236}">
                    <a16:creationId xmlns:a16="http://schemas.microsoft.com/office/drawing/2014/main" id="{F85BD278-9B73-7B5A-60B9-9409ABF559B6}"/>
                  </a:ext>
                </a:extLst>
              </p:cNvPr>
              <p:cNvSpPr/>
              <p:nvPr/>
            </p:nvSpPr>
            <p:spPr>
              <a:xfrm>
                <a:off x="9992403" y="6886069"/>
                <a:ext cx="741680" cy="252095"/>
              </a:xfrm>
              <a:custGeom>
                <a:avLst/>
                <a:gdLst/>
                <a:ahLst/>
                <a:cxnLst/>
                <a:rect l="l" t="t" r="r" b="b"/>
                <a:pathLst>
                  <a:path w="741679" h="252095">
                    <a:moveTo>
                      <a:pt x="74280" y="0"/>
                    </a:moveTo>
                    <a:lnTo>
                      <a:pt x="0" y="208014"/>
                    </a:lnTo>
                    <a:lnTo>
                      <a:pt x="667152" y="251720"/>
                    </a:lnTo>
                    <a:lnTo>
                      <a:pt x="741411" y="43695"/>
                    </a:lnTo>
                    <a:lnTo>
                      <a:pt x="74280" y="0"/>
                    </a:lnTo>
                    <a:close/>
                  </a:path>
                </a:pathLst>
              </a:custGeom>
              <a:solidFill>
                <a:srgbClr val="EDF2F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86" name="object 63">
                <a:extLst>
                  <a:ext uri="{FF2B5EF4-FFF2-40B4-BE49-F238E27FC236}">
                    <a16:creationId xmlns:a16="http://schemas.microsoft.com/office/drawing/2014/main" id="{C48F38FA-166D-D0DC-D115-FFAD02A439C5}"/>
                  </a:ext>
                </a:extLst>
              </p:cNvPr>
              <p:cNvSpPr/>
              <p:nvPr/>
            </p:nvSpPr>
            <p:spPr>
              <a:xfrm>
                <a:off x="10037153" y="6909517"/>
                <a:ext cx="635635" cy="177800"/>
              </a:xfrm>
              <a:custGeom>
                <a:avLst/>
                <a:gdLst/>
                <a:ahLst/>
                <a:cxnLst/>
                <a:rect l="l" t="t" r="r" b="b"/>
                <a:pathLst>
                  <a:path w="635634" h="177800">
                    <a:moveTo>
                      <a:pt x="67386" y="596"/>
                    </a:moveTo>
                    <a:lnTo>
                      <a:pt x="58293" y="0"/>
                    </a:lnTo>
                    <a:lnTo>
                      <a:pt x="0" y="163296"/>
                    </a:lnTo>
                    <a:lnTo>
                      <a:pt x="9067" y="163918"/>
                    </a:lnTo>
                    <a:lnTo>
                      <a:pt x="67386" y="596"/>
                    </a:lnTo>
                    <a:close/>
                  </a:path>
                  <a:path w="635634" h="177800">
                    <a:moveTo>
                      <a:pt x="108229" y="3251"/>
                    </a:moveTo>
                    <a:lnTo>
                      <a:pt x="99148" y="2654"/>
                    </a:lnTo>
                    <a:lnTo>
                      <a:pt x="40830" y="165989"/>
                    </a:lnTo>
                    <a:lnTo>
                      <a:pt x="49911" y="166573"/>
                    </a:lnTo>
                    <a:lnTo>
                      <a:pt x="108229" y="3251"/>
                    </a:lnTo>
                    <a:close/>
                  </a:path>
                  <a:path w="635634" h="177800">
                    <a:moveTo>
                      <a:pt x="149072" y="5930"/>
                    </a:moveTo>
                    <a:lnTo>
                      <a:pt x="140004" y="5334"/>
                    </a:lnTo>
                    <a:lnTo>
                      <a:pt x="81686" y="168656"/>
                    </a:lnTo>
                    <a:lnTo>
                      <a:pt x="90766" y="169240"/>
                    </a:lnTo>
                    <a:lnTo>
                      <a:pt x="149072" y="5930"/>
                    </a:lnTo>
                    <a:close/>
                  </a:path>
                  <a:path w="635634" h="177800">
                    <a:moveTo>
                      <a:pt x="189903" y="8610"/>
                    </a:moveTo>
                    <a:lnTo>
                      <a:pt x="180835" y="8001"/>
                    </a:lnTo>
                    <a:lnTo>
                      <a:pt x="122542" y="171335"/>
                    </a:lnTo>
                    <a:lnTo>
                      <a:pt x="131610" y="171945"/>
                    </a:lnTo>
                    <a:lnTo>
                      <a:pt x="189903" y="8610"/>
                    </a:lnTo>
                    <a:close/>
                  </a:path>
                  <a:path w="635634" h="177800">
                    <a:moveTo>
                      <a:pt x="230771" y="11290"/>
                    </a:moveTo>
                    <a:lnTo>
                      <a:pt x="221678" y="10693"/>
                    </a:lnTo>
                    <a:lnTo>
                      <a:pt x="163372" y="174015"/>
                    </a:lnTo>
                    <a:lnTo>
                      <a:pt x="172440" y="174599"/>
                    </a:lnTo>
                    <a:lnTo>
                      <a:pt x="230771" y="11290"/>
                    </a:lnTo>
                    <a:close/>
                  </a:path>
                  <a:path w="635634" h="177800">
                    <a:moveTo>
                      <a:pt x="271614" y="13957"/>
                    </a:moveTo>
                    <a:lnTo>
                      <a:pt x="262534" y="13360"/>
                    </a:lnTo>
                    <a:lnTo>
                      <a:pt x="204228" y="176682"/>
                    </a:lnTo>
                    <a:lnTo>
                      <a:pt x="213309" y="177292"/>
                    </a:lnTo>
                    <a:lnTo>
                      <a:pt x="271614" y="13957"/>
                    </a:lnTo>
                    <a:close/>
                  </a:path>
                  <a:path w="635634" h="177800">
                    <a:moveTo>
                      <a:pt x="359346" y="19710"/>
                    </a:moveTo>
                    <a:lnTo>
                      <a:pt x="350266" y="19126"/>
                    </a:lnTo>
                    <a:lnTo>
                      <a:pt x="324827" y="90411"/>
                    </a:lnTo>
                    <a:lnTo>
                      <a:pt x="333895" y="91008"/>
                    </a:lnTo>
                    <a:lnTo>
                      <a:pt x="359346" y="19710"/>
                    </a:lnTo>
                    <a:close/>
                  </a:path>
                  <a:path w="635634" h="177800">
                    <a:moveTo>
                      <a:pt x="392633" y="21894"/>
                    </a:moveTo>
                    <a:lnTo>
                      <a:pt x="383552" y="21297"/>
                    </a:lnTo>
                    <a:lnTo>
                      <a:pt x="360426" y="86118"/>
                    </a:lnTo>
                    <a:lnTo>
                      <a:pt x="369506" y="86702"/>
                    </a:lnTo>
                    <a:lnTo>
                      <a:pt x="392633" y="21894"/>
                    </a:lnTo>
                    <a:close/>
                  </a:path>
                  <a:path w="635634" h="177800">
                    <a:moveTo>
                      <a:pt x="635533" y="61341"/>
                    </a:moveTo>
                    <a:lnTo>
                      <a:pt x="608317" y="59563"/>
                    </a:lnTo>
                    <a:lnTo>
                      <a:pt x="567131" y="174917"/>
                    </a:lnTo>
                    <a:lnTo>
                      <a:pt x="594360" y="176707"/>
                    </a:lnTo>
                    <a:lnTo>
                      <a:pt x="635533" y="61341"/>
                    </a:lnTo>
                    <a:close/>
                  </a:path>
                </a:pathLst>
              </a:custGeom>
              <a:solidFill>
                <a:srgbClr val="259CA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87" name="object 64">
                <a:extLst>
                  <a:ext uri="{FF2B5EF4-FFF2-40B4-BE49-F238E27FC236}">
                    <a16:creationId xmlns:a16="http://schemas.microsoft.com/office/drawing/2014/main" id="{258AEC8D-1CC7-E6E1-CB34-AAE8A239FE42}"/>
                  </a:ext>
                </a:extLst>
              </p:cNvPr>
              <p:cNvSpPr/>
              <p:nvPr/>
            </p:nvSpPr>
            <p:spPr>
              <a:xfrm>
                <a:off x="10347315" y="7000368"/>
                <a:ext cx="147320" cy="40640"/>
              </a:xfrm>
              <a:custGeom>
                <a:avLst/>
                <a:gdLst/>
                <a:ahLst/>
                <a:cxnLst/>
                <a:rect l="l" t="t" r="r" b="b"/>
                <a:pathLst>
                  <a:path w="147320" h="40640">
                    <a:moveTo>
                      <a:pt x="112562" y="0"/>
                    </a:moveTo>
                    <a:lnTo>
                      <a:pt x="74157" y="692"/>
                    </a:lnTo>
                    <a:lnTo>
                      <a:pt x="40366" y="7249"/>
                    </a:lnTo>
                    <a:lnTo>
                      <a:pt x="14532" y="18619"/>
                    </a:lnTo>
                    <a:lnTo>
                      <a:pt x="0" y="33747"/>
                    </a:lnTo>
                    <a:lnTo>
                      <a:pt x="100855" y="40354"/>
                    </a:lnTo>
                    <a:lnTo>
                      <a:pt x="146958" y="5162"/>
                    </a:lnTo>
                    <a:lnTo>
                      <a:pt x="138978" y="3402"/>
                    </a:lnTo>
                    <a:lnTo>
                      <a:pt x="130569" y="1941"/>
                    </a:lnTo>
                    <a:lnTo>
                      <a:pt x="121756" y="799"/>
                    </a:lnTo>
                    <a:lnTo>
                      <a:pt x="112562" y="0"/>
                    </a:lnTo>
                    <a:close/>
                  </a:path>
                </a:pathLst>
              </a:custGeom>
              <a:solidFill>
                <a:srgbClr val="92D4C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88" name="object 65">
                <a:extLst>
                  <a:ext uri="{FF2B5EF4-FFF2-40B4-BE49-F238E27FC236}">
                    <a16:creationId xmlns:a16="http://schemas.microsoft.com/office/drawing/2014/main" id="{C7213555-6E99-47AF-15C9-8BA5DF352495}"/>
                  </a:ext>
                </a:extLst>
              </p:cNvPr>
              <p:cNvSpPr/>
              <p:nvPr/>
            </p:nvSpPr>
            <p:spPr>
              <a:xfrm>
                <a:off x="10448168" y="7005528"/>
                <a:ext cx="95885" cy="41910"/>
              </a:xfrm>
              <a:custGeom>
                <a:avLst/>
                <a:gdLst/>
                <a:ahLst/>
                <a:cxnLst/>
                <a:rect l="l" t="t" r="r" b="b"/>
                <a:pathLst>
                  <a:path w="95884" h="41909">
                    <a:moveTo>
                      <a:pt x="46103" y="0"/>
                    </a:moveTo>
                    <a:lnTo>
                      <a:pt x="0" y="35192"/>
                    </a:lnTo>
                    <a:lnTo>
                      <a:pt x="95578" y="41454"/>
                    </a:lnTo>
                    <a:lnTo>
                      <a:pt x="94348" y="28882"/>
                    </a:lnTo>
                    <a:lnTo>
                      <a:pt x="84956" y="17362"/>
                    </a:lnTo>
                    <a:lnTo>
                      <a:pt x="68506" y="7524"/>
                    </a:lnTo>
                    <a:lnTo>
                      <a:pt x="46103" y="0"/>
                    </a:lnTo>
                    <a:close/>
                  </a:path>
                </a:pathLst>
              </a:custGeom>
              <a:solidFill>
                <a:srgbClr val="D3DF6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89" name="object 66">
                <a:extLst>
                  <a:ext uri="{FF2B5EF4-FFF2-40B4-BE49-F238E27FC236}">
                    <a16:creationId xmlns:a16="http://schemas.microsoft.com/office/drawing/2014/main" id="{48C4268F-D305-A2AD-30AA-7DB860158C97}"/>
                  </a:ext>
                </a:extLst>
              </p:cNvPr>
              <p:cNvSpPr/>
              <p:nvPr/>
            </p:nvSpPr>
            <p:spPr>
              <a:xfrm>
                <a:off x="10346507" y="7034112"/>
                <a:ext cx="148590" cy="51435"/>
              </a:xfrm>
              <a:custGeom>
                <a:avLst/>
                <a:gdLst/>
                <a:ahLst/>
                <a:cxnLst/>
                <a:rect l="l" t="t" r="r" b="b"/>
                <a:pathLst>
                  <a:path w="148590" h="51434">
                    <a:moveTo>
                      <a:pt x="816" y="0"/>
                    </a:moveTo>
                    <a:lnTo>
                      <a:pt x="46204" y="44678"/>
                    </a:lnTo>
                    <a:lnTo>
                      <a:pt x="100622" y="50981"/>
                    </a:lnTo>
                    <a:lnTo>
                      <a:pt x="117417" y="50205"/>
                    </a:lnTo>
                    <a:lnTo>
                      <a:pt x="133392" y="48255"/>
                    </a:lnTo>
                    <a:lnTo>
                      <a:pt x="148257" y="45223"/>
                    </a:lnTo>
                    <a:lnTo>
                      <a:pt x="103043" y="6680"/>
                    </a:lnTo>
                    <a:lnTo>
                      <a:pt x="816" y="0"/>
                    </a:lnTo>
                    <a:close/>
                  </a:path>
                </a:pathLst>
              </a:custGeom>
              <a:solidFill>
                <a:srgbClr val="13994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90" name="object 67">
                <a:extLst>
                  <a:ext uri="{FF2B5EF4-FFF2-40B4-BE49-F238E27FC236}">
                    <a16:creationId xmlns:a16="http://schemas.microsoft.com/office/drawing/2014/main" id="{DF189A8E-4A12-540B-60ED-AB7DB928EB70}"/>
                  </a:ext>
                </a:extLst>
              </p:cNvPr>
              <p:cNvSpPr/>
              <p:nvPr/>
            </p:nvSpPr>
            <p:spPr>
              <a:xfrm>
                <a:off x="10449556" y="7040798"/>
                <a:ext cx="94615" cy="38735"/>
              </a:xfrm>
              <a:custGeom>
                <a:avLst/>
                <a:gdLst/>
                <a:ahLst/>
                <a:cxnLst/>
                <a:rect l="l" t="t" r="r" b="b"/>
                <a:pathLst>
                  <a:path w="94615" h="38734">
                    <a:moveTo>
                      <a:pt x="0" y="0"/>
                    </a:moveTo>
                    <a:lnTo>
                      <a:pt x="45213" y="38532"/>
                    </a:lnTo>
                    <a:lnTo>
                      <a:pt x="62707" y="33010"/>
                    </a:lnTo>
                    <a:lnTo>
                      <a:pt x="77057" y="25961"/>
                    </a:lnTo>
                    <a:lnTo>
                      <a:pt x="87587" y="17598"/>
                    </a:lnTo>
                    <a:lnTo>
                      <a:pt x="93620" y="8135"/>
                    </a:lnTo>
                    <a:lnTo>
                      <a:pt x="94185" y="6177"/>
                    </a:lnTo>
                    <a:lnTo>
                      <a:pt x="0" y="0"/>
                    </a:lnTo>
                    <a:close/>
                  </a:path>
                </a:pathLst>
              </a:custGeom>
              <a:solidFill>
                <a:srgbClr val="71C19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91" name="object 68">
                <a:extLst>
                  <a:ext uri="{FF2B5EF4-FFF2-40B4-BE49-F238E27FC236}">
                    <a16:creationId xmlns:a16="http://schemas.microsoft.com/office/drawing/2014/main" id="{4976D2AD-5177-3316-F50A-38007F059D00}"/>
                  </a:ext>
                </a:extLst>
              </p:cNvPr>
              <p:cNvSpPr/>
              <p:nvPr/>
            </p:nvSpPr>
            <p:spPr>
              <a:xfrm>
                <a:off x="10507474" y="6942419"/>
                <a:ext cx="70485" cy="83820"/>
              </a:xfrm>
              <a:custGeom>
                <a:avLst/>
                <a:gdLst/>
                <a:ahLst/>
                <a:cxnLst/>
                <a:rect l="l" t="t" r="r" b="b"/>
                <a:pathLst>
                  <a:path w="70484" h="83820">
                    <a:moveTo>
                      <a:pt x="0" y="83610"/>
                    </a:moveTo>
                    <a:lnTo>
                      <a:pt x="44427" y="71934"/>
                    </a:lnTo>
                    <a:lnTo>
                      <a:pt x="70102" y="0"/>
                    </a:lnTo>
                  </a:path>
                </a:pathLst>
              </a:custGeom>
              <a:ln w="3175">
                <a:solidFill>
                  <a:srgbClr val="99B6B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92" name="object 69">
                <a:extLst>
                  <a:ext uri="{FF2B5EF4-FFF2-40B4-BE49-F238E27FC236}">
                    <a16:creationId xmlns:a16="http://schemas.microsoft.com/office/drawing/2014/main" id="{D58C1C4C-E3D4-F03B-AB29-53A4F70A5C44}"/>
                  </a:ext>
                </a:extLst>
              </p:cNvPr>
              <p:cNvSpPr/>
              <p:nvPr/>
            </p:nvSpPr>
            <p:spPr>
              <a:xfrm>
                <a:off x="10525607" y="7060379"/>
                <a:ext cx="32384" cy="41910"/>
              </a:xfrm>
              <a:custGeom>
                <a:avLst/>
                <a:gdLst/>
                <a:ahLst/>
                <a:cxnLst/>
                <a:rect l="l" t="t" r="r" b="b"/>
                <a:pathLst>
                  <a:path w="32384" h="41909">
                    <a:moveTo>
                      <a:pt x="0" y="0"/>
                    </a:moveTo>
                    <a:lnTo>
                      <a:pt x="32072" y="8785"/>
                    </a:lnTo>
                    <a:lnTo>
                      <a:pt x="20303" y="41789"/>
                    </a:lnTo>
                  </a:path>
                </a:pathLst>
              </a:custGeom>
              <a:ln w="3175">
                <a:solidFill>
                  <a:srgbClr val="99B6B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93" name="object 70">
                <a:extLst>
                  <a:ext uri="{FF2B5EF4-FFF2-40B4-BE49-F238E27FC236}">
                    <a16:creationId xmlns:a16="http://schemas.microsoft.com/office/drawing/2014/main" id="{A7ABEEE7-2A24-A1C2-62F2-4F17EFE5F974}"/>
                  </a:ext>
                </a:extLst>
              </p:cNvPr>
              <p:cNvSpPr/>
              <p:nvPr/>
            </p:nvSpPr>
            <p:spPr>
              <a:xfrm>
                <a:off x="10363377" y="7055051"/>
                <a:ext cx="32384" cy="41910"/>
              </a:xfrm>
              <a:custGeom>
                <a:avLst/>
                <a:gdLst/>
                <a:ahLst/>
                <a:cxnLst/>
                <a:rect l="l" t="t" r="r" b="b"/>
                <a:pathLst>
                  <a:path w="32384" h="41909">
                    <a:moveTo>
                      <a:pt x="0" y="0"/>
                    </a:moveTo>
                    <a:lnTo>
                      <a:pt x="32082" y="8806"/>
                    </a:lnTo>
                    <a:lnTo>
                      <a:pt x="20303" y="41789"/>
                    </a:lnTo>
                  </a:path>
                </a:pathLst>
              </a:custGeom>
              <a:ln w="3175">
                <a:solidFill>
                  <a:srgbClr val="99B6B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94" name="object 71">
                <a:extLst>
                  <a:ext uri="{FF2B5EF4-FFF2-40B4-BE49-F238E27FC236}">
                    <a16:creationId xmlns:a16="http://schemas.microsoft.com/office/drawing/2014/main" id="{29125F89-DA71-78B7-6F46-DD513257A5A1}"/>
                  </a:ext>
                </a:extLst>
              </p:cNvPr>
              <p:cNvSpPr/>
              <p:nvPr/>
            </p:nvSpPr>
            <p:spPr>
              <a:xfrm>
                <a:off x="10427179" y="6933180"/>
                <a:ext cx="70485" cy="83820"/>
              </a:xfrm>
              <a:custGeom>
                <a:avLst/>
                <a:gdLst/>
                <a:ahLst/>
                <a:cxnLst/>
                <a:rect l="l" t="t" r="r" b="b"/>
                <a:pathLst>
                  <a:path w="70484" h="83820">
                    <a:moveTo>
                      <a:pt x="0" y="83610"/>
                    </a:moveTo>
                    <a:lnTo>
                      <a:pt x="44407" y="71934"/>
                    </a:lnTo>
                    <a:lnTo>
                      <a:pt x="70092" y="0"/>
                    </a:lnTo>
                  </a:path>
                </a:pathLst>
              </a:custGeom>
              <a:ln w="3175">
                <a:solidFill>
                  <a:srgbClr val="99B6B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95" name="object 72">
                <a:extLst>
                  <a:ext uri="{FF2B5EF4-FFF2-40B4-BE49-F238E27FC236}">
                    <a16:creationId xmlns:a16="http://schemas.microsoft.com/office/drawing/2014/main" id="{F7ACD0DA-1E07-E5B8-A30E-448C7B301102}"/>
                  </a:ext>
                </a:extLst>
              </p:cNvPr>
              <p:cNvSpPr/>
              <p:nvPr/>
            </p:nvSpPr>
            <p:spPr>
              <a:xfrm>
                <a:off x="9999525" y="6738421"/>
                <a:ext cx="787400" cy="284480"/>
              </a:xfrm>
              <a:custGeom>
                <a:avLst/>
                <a:gdLst/>
                <a:ahLst/>
                <a:cxnLst/>
                <a:rect l="l" t="t" r="r" b="b"/>
                <a:pathLst>
                  <a:path w="787400" h="284479">
                    <a:moveTo>
                      <a:pt x="646996" y="0"/>
                    </a:moveTo>
                    <a:lnTo>
                      <a:pt x="0" y="82290"/>
                    </a:lnTo>
                    <a:lnTo>
                      <a:pt x="139796" y="284022"/>
                    </a:lnTo>
                    <a:lnTo>
                      <a:pt x="786792" y="201732"/>
                    </a:lnTo>
                    <a:lnTo>
                      <a:pt x="646996"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96" name="object 73">
                <a:extLst>
                  <a:ext uri="{FF2B5EF4-FFF2-40B4-BE49-F238E27FC236}">
                    <a16:creationId xmlns:a16="http://schemas.microsoft.com/office/drawing/2014/main" id="{DE6962CC-EFBE-942D-CFA0-AB1C45821C72}"/>
                  </a:ext>
                </a:extLst>
              </p:cNvPr>
              <p:cNvSpPr/>
              <p:nvPr/>
            </p:nvSpPr>
            <p:spPr>
              <a:xfrm>
                <a:off x="10281412" y="6781120"/>
                <a:ext cx="307975" cy="188595"/>
              </a:xfrm>
              <a:custGeom>
                <a:avLst/>
                <a:gdLst/>
                <a:ahLst/>
                <a:cxnLst/>
                <a:rect l="l" t="t" r="r" b="b"/>
                <a:pathLst>
                  <a:path w="307975" h="188595">
                    <a:moveTo>
                      <a:pt x="307606" y="5651"/>
                    </a:moveTo>
                    <a:lnTo>
                      <a:pt x="303669" y="0"/>
                    </a:lnTo>
                    <a:lnTo>
                      <a:pt x="35204" y="34137"/>
                    </a:lnTo>
                    <a:lnTo>
                      <a:pt x="29984" y="26593"/>
                    </a:lnTo>
                    <a:lnTo>
                      <a:pt x="16776" y="28257"/>
                    </a:lnTo>
                    <a:lnTo>
                      <a:pt x="22009" y="35814"/>
                    </a:lnTo>
                    <a:lnTo>
                      <a:pt x="0" y="38608"/>
                    </a:lnTo>
                    <a:lnTo>
                      <a:pt x="3924" y="44259"/>
                    </a:lnTo>
                    <a:lnTo>
                      <a:pt x="25920" y="41465"/>
                    </a:lnTo>
                    <a:lnTo>
                      <a:pt x="127825" y="188531"/>
                    </a:lnTo>
                    <a:lnTo>
                      <a:pt x="141033" y="186855"/>
                    </a:lnTo>
                    <a:lnTo>
                      <a:pt x="39116" y="39789"/>
                    </a:lnTo>
                    <a:lnTo>
                      <a:pt x="307606" y="5651"/>
                    </a:lnTo>
                    <a:close/>
                  </a:path>
                </a:pathLst>
              </a:custGeom>
              <a:solidFill>
                <a:srgbClr val="0A525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97" name="object 74">
                <a:extLst>
                  <a:ext uri="{FF2B5EF4-FFF2-40B4-BE49-F238E27FC236}">
                    <a16:creationId xmlns:a16="http://schemas.microsoft.com/office/drawing/2014/main" id="{5F0CAA09-7BDD-34FF-BB81-7DE4CEFB0554}"/>
                  </a:ext>
                </a:extLst>
              </p:cNvPr>
              <p:cNvSpPr/>
              <p:nvPr/>
            </p:nvSpPr>
            <p:spPr>
              <a:xfrm>
                <a:off x="10328375" y="6813749"/>
                <a:ext cx="157480" cy="35560"/>
              </a:xfrm>
              <a:custGeom>
                <a:avLst/>
                <a:gdLst/>
                <a:ahLst/>
                <a:cxnLst/>
                <a:rect l="l" t="t" r="r" b="b"/>
                <a:pathLst>
                  <a:path w="157479" h="35559">
                    <a:moveTo>
                      <a:pt x="145252" y="0"/>
                    </a:moveTo>
                    <a:lnTo>
                      <a:pt x="0" y="18460"/>
                    </a:lnTo>
                    <a:lnTo>
                      <a:pt x="11758" y="35433"/>
                    </a:lnTo>
                    <a:lnTo>
                      <a:pt x="157000" y="16973"/>
                    </a:lnTo>
                    <a:lnTo>
                      <a:pt x="145252" y="0"/>
                    </a:lnTo>
                    <a:close/>
                  </a:path>
                </a:pathLst>
              </a:custGeom>
              <a:solidFill>
                <a:srgbClr val="66C4B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98" name="object 75">
                <a:extLst>
                  <a:ext uri="{FF2B5EF4-FFF2-40B4-BE49-F238E27FC236}">
                    <a16:creationId xmlns:a16="http://schemas.microsoft.com/office/drawing/2014/main" id="{8FF0A748-6A36-01CB-DFD4-AB5D0B7BAD14}"/>
                  </a:ext>
                </a:extLst>
              </p:cNvPr>
              <p:cNvSpPr/>
              <p:nvPr/>
            </p:nvSpPr>
            <p:spPr>
              <a:xfrm>
                <a:off x="10346675" y="6845748"/>
                <a:ext cx="113030" cy="29845"/>
              </a:xfrm>
              <a:custGeom>
                <a:avLst/>
                <a:gdLst/>
                <a:ahLst/>
                <a:cxnLst/>
                <a:rect l="l" t="t" r="r" b="b"/>
                <a:pathLst>
                  <a:path w="113029" h="29845">
                    <a:moveTo>
                      <a:pt x="101232" y="0"/>
                    </a:moveTo>
                    <a:lnTo>
                      <a:pt x="0" y="12858"/>
                    </a:lnTo>
                    <a:lnTo>
                      <a:pt x="11758" y="29842"/>
                    </a:lnTo>
                    <a:lnTo>
                      <a:pt x="112991" y="16962"/>
                    </a:lnTo>
                    <a:lnTo>
                      <a:pt x="101232" y="0"/>
                    </a:lnTo>
                    <a:close/>
                  </a:path>
                </a:pathLst>
              </a:custGeom>
              <a:solidFill>
                <a:srgbClr val="40AC6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99" name="object 76">
                <a:extLst>
                  <a:ext uri="{FF2B5EF4-FFF2-40B4-BE49-F238E27FC236}">
                    <a16:creationId xmlns:a16="http://schemas.microsoft.com/office/drawing/2014/main" id="{EB8E691B-6E85-9096-B65A-692600643D65}"/>
                  </a:ext>
                </a:extLst>
              </p:cNvPr>
              <p:cNvSpPr/>
              <p:nvPr/>
            </p:nvSpPr>
            <p:spPr>
              <a:xfrm>
                <a:off x="10367577" y="6863612"/>
                <a:ext cx="210185" cy="42545"/>
              </a:xfrm>
              <a:custGeom>
                <a:avLst/>
                <a:gdLst/>
                <a:ahLst/>
                <a:cxnLst/>
                <a:rect l="l" t="t" r="r" b="b"/>
                <a:pathLst>
                  <a:path w="210184" h="42545">
                    <a:moveTo>
                      <a:pt x="198056" y="0"/>
                    </a:moveTo>
                    <a:lnTo>
                      <a:pt x="0" y="25151"/>
                    </a:lnTo>
                    <a:lnTo>
                      <a:pt x="11758" y="42124"/>
                    </a:lnTo>
                    <a:lnTo>
                      <a:pt x="209815" y="16973"/>
                    </a:lnTo>
                    <a:lnTo>
                      <a:pt x="198056" y="0"/>
                    </a:lnTo>
                    <a:close/>
                  </a:path>
                </a:pathLst>
              </a:custGeom>
              <a:solidFill>
                <a:srgbClr val="C4D32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00" name="object 77">
                <a:extLst>
                  <a:ext uri="{FF2B5EF4-FFF2-40B4-BE49-F238E27FC236}">
                    <a16:creationId xmlns:a16="http://schemas.microsoft.com/office/drawing/2014/main" id="{58A610ED-2211-ED2E-FCFA-5F9ED7989475}"/>
                  </a:ext>
                </a:extLst>
              </p:cNvPr>
              <p:cNvSpPr/>
              <p:nvPr/>
            </p:nvSpPr>
            <p:spPr>
              <a:xfrm>
                <a:off x="10388244" y="6903019"/>
                <a:ext cx="161925" cy="36195"/>
              </a:xfrm>
              <a:custGeom>
                <a:avLst/>
                <a:gdLst/>
                <a:ahLst/>
                <a:cxnLst/>
                <a:rect l="l" t="t" r="r" b="b"/>
                <a:pathLst>
                  <a:path w="161925" h="36195">
                    <a:moveTo>
                      <a:pt x="149639" y="0"/>
                    </a:moveTo>
                    <a:lnTo>
                      <a:pt x="0" y="19046"/>
                    </a:lnTo>
                    <a:lnTo>
                      <a:pt x="11748" y="35998"/>
                    </a:lnTo>
                    <a:lnTo>
                      <a:pt x="161408" y="16973"/>
                    </a:lnTo>
                    <a:lnTo>
                      <a:pt x="149639" y="0"/>
                    </a:lnTo>
                    <a:close/>
                  </a:path>
                </a:pathLst>
              </a:custGeom>
              <a:solidFill>
                <a:srgbClr val="13994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01" name="object 78">
                <a:extLst>
                  <a:ext uri="{FF2B5EF4-FFF2-40B4-BE49-F238E27FC236}">
                    <a16:creationId xmlns:a16="http://schemas.microsoft.com/office/drawing/2014/main" id="{B1C550F3-5F21-D2C7-9832-4214E2D90D68}"/>
                  </a:ext>
                </a:extLst>
              </p:cNvPr>
              <p:cNvSpPr/>
              <p:nvPr/>
            </p:nvSpPr>
            <p:spPr>
              <a:xfrm>
                <a:off x="10054984" y="6800576"/>
                <a:ext cx="654685" cy="190500"/>
              </a:xfrm>
              <a:custGeom>
                <a:avLst/>
                <a:gdLst/>
                <a:ahLst/>
                <a:cxnLst/>
                <a:rect l="l" t="t" r="r" b="b"/>
                <a:pathLst>
                  <a:path w="654684" h="190500">
                    <a:moveTo>
                      <a:pt x="109397" y="188937"/>
                    </a:moveTo>
                    <a:lnTo>
                      <a:pt x="8801" y="43738"/>
                    </a:lnTo>
                    <a:lnTo>
                      <a:pt x="0" y="44869"/>
                    </a:lnTo>
                    <a:lnTo>
                      <a:pt x="100596" y="190055"/>
                    </a:lnTo>
                    <a:lnTo>
                      <a:pt x="109397" y="188937"/>
                    </a:lnTo>
                    <a:close/>
                  </a:path>
                  <a:path w="654684" h="190500">
                    <a:moveTo>
                      <a:pt x="149009" y="183896"/>
                    </a:moveTo>
                    <a:lnTo>
                      <a:pt x="48412" y="38709"/>
                    </a:lnTo>
                    <a:lnTo>
                      <a:pt x="39598" y="39839"/>
                    </a:lnTo>
                    <a:lnTo>
                      <a:pt x="140208" y="185013"/>
                    </a:lnTo>
                    <a:lnTo>
                      <a:pt x="149009" y="183896"/>
                    </a:lnTo>
                    <a:close/>
                  </a:path>
                  <a:path w="654684" h="190500">
                    <a:moveTo>
                      <a:pt x="188620" y="178866"/>
                    </a:moveTo>
                    <a:lnTo>
                      <a:pt x="88023" y="33680"/>
                    </a:lnTo>
                    <a:lnTo>
                      <a:pt x="79222" y="34785"/>
                    </a:lnTo>
                    <a:lnTo>
                      <a:pt x="179832" y="179984"/>
                    </a:lnTo>
                    <a:lnTo>
                      <a:pt x="188620" y="178866"/>
                    </a:lnTo>
                    <a:close/>
                  </a:path>
                  <a:path w="654684" h="190500">
                    <a:moveTo>
                      <a:pt x="228231" y="173824"/>
                    </a:moveTo>
                    <a:lnTo>
                      <a:pt x="127635" y="28651"/>
                    </a:lnTo>
                    <a:lnTo>
                      <a:pt x="118833" y="29756"/>
                    </a:lnTo>
                    <a:lnTo>
                      <a:pt x="219443" y="174942"/>
                    </a:lnTo>
                    <a:lnTo>
                      <a:pt x="228231" y="173824"/>
                    </a:lnTo>
                    <a:close/>
                  </a:path>
                  <a:path w="654684" h="190500">
                    <a:moveTo>
                      <a:pt x="267843" y="168783"/>
                    </a:moveTo>
                    <a:lnTo>
                      <a:pt x="167246" y="23609"/>
                    </a:lnTo>
                    <a:lnTo>
                      <a:pt x="158457" y="24714"/>
                    </a:lnTo>
                    <a:lnTo>
                      <a:pt x="259041" y="169887"/>
                    </a:lnTo>
                    <a:lnTo>
                      <a:pt x="267843" y="168783"/>
                    </a:lnTo>
                    <a:close/>
                  </a:path>
                  <a:path w="654684" h="190500">
                    <a:moveTo>
                      <a:pt x="307479" y="163741"/>
                    </a:moveTo>
                    <a:lnTo>
                      <a:pt x="206857" y="18567"/>
                    </a:lnTo>
                    <a:lnTo>
                      <a:pt x="198069" y="19685"/>
                    </a:lnTo>
                    <a:lnTo>
                      <a:pt x="298653" y="164858"/>
                    </a:lnTo>
                    <a:lnTo>
                      <a:pt x="307479" y="163741"/>
                    </a:lnTo>
                    <a:close/>
                  </a:path>
                  <a:path w="654684" h="190500">
                    <a:moveTo>
                      <a:pt x="654659" y="98056"/>
                    </a:moveTo>
                    <a:lnTo>
                      <a:pt x="586701" y="0"/>
                    </a:lnTo>
                    <a:lnTo>
                      <a:pt x="560298" y="3378"/>
                    </a:lnTo>
                    <a:lnTo>
                      <a:pt x="628230" y="101409"/>
                    </a:lnTo>
                    <a:lnTo>
                      <a:pt x="654659" y="98056"/>
                    </a:lnTo>
                    <a:close/>
                  </a:path>
                </a:pathLst>
              </a:custGeom>
              <a:solidFill>
                <a:srgbClr val="259CA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102" name="object 79">
                <a:extLst>
                  <a:ext uri="{FF2B5EF4-FFF2-40B4-BE49-F238E27FC236}">
                    <a16:creationId xmlns:a16="http://schemas.microsoft.com/office/drawing/2014/main" id="{923B1453-5024-C063-E573-CDD9DA25FE61}"/>
                  </a:ext>
                </a:extLst>
              </p:cNvPr>
              <p:cNvPicPr/>
              <p:nvPr/>
            </p:nvPicPr>
            <p:blipFill>
              <a:blip r:embed="rId10" cstate="print"/>
              <a:stretch>
                <a:fillRect/>
              </a:stretch>
            </p:blipFill>
            <p:spPr>
              <a:xfrm>
                <a:off x="9852516" y="6515110"/>
                <a:ext cx="1142195" cy="243845"/>
              </a:xfrm>
              <a:prstGeom prst="rect">
                <a:avLst/>
              </a:prstGeom>
            </p:spPr>
          </p:pic>
          <p:sp>
            <p:nvSpPr>
              <p:cNvPr id="103" name="object 80">
                <a:extLst>
                  <a:ext uri="{FF2B5EF4-FFF2-40B4-BE49-F238E27FC236}">
                    <a16:creationId xmlns:a16="http://schemas.microsoft.com/office/drawing/2014/main" id="{FD99FFD8-21FB-806C-1FA8-B39247E1FDDE}"/>
                  </a:ext>
                </a:extLst>
              </p:cNvPr>
              <p:cNvSpPr/>
              <p:nvPr/>
            </p:nvSpPr>
            <p:spPr>
              <a:xfrm>
                <a:off x="9809321" y="6485691"/>
                <a:ext cx="1142365" cy="243840"/>
              </a:xfrm>
              <a:custGeom>
                <a:avLst/>
                <a:gdLst/>
                <a:ahLst/>
                <a:cxnLst/>
                <a:rect l="l" t="t" r="r" b="b"/>
                <a:pathLst>
                  <a:path w="1142365" h="243840">
                    <a:moveTo>
                      <a:pt x="1052868" y="0"/>
                    </a:moveTo>
                    <a:lnTo>
                      <a:pt x="54647" y="12753"/>
                    </a:lnTo>
                    <a:lnTo>
                      <a:pt x="0" y="243845"/>
                    </a:lnTo>
                    <a:lnTo>
                      <a:pt x="1142195" y="229249"/>
                    </a:lnTo>
                    <a:lnTo>
                      <a:pt x="1052868" y="0"/>
                    </a:lnTo>
                    <a:close/>
                  </a:path>
                </a:pathLst>
              </a:custGeom>
              <a:solidFill>
                <a:srgbClr val="FDFDF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04" name="object 81">
                <a:extLst>
                  <a:ext uri="{FF2B5EF4-FFF2-40B4-BE49-F238E27FC236}">
                    <a16:creationId xmlns:a16="http://schemas.microsoft.com/office/drawing/2014/main" id="{E8CE3682-5D33-6748-4BEF-8189B1618019}"/>
                  </a:ext>
                </a:extLst>
              </p:cNvPr>
              <p:cNvSpPr/>
              <p:nvPr/>
            </p:nvSpPr>
            <p:spPr>
              <a:xfrm>
                <a:off x="9809321" y="6485691"/>
                <a:ext cx="1142365" cy="243840"/>
              </a:xfrm>
              <a:custGeom>
                <a:avLst/>
                <a:gdLst/>
                <a:ahLst/>
                <a:cxnLst/>
                <a:rect l="l" t="t" r="r" b="b"/>
                <a:pathLst>
                  <a:path w="1142365" h="243840">
                    <a:moveTo>
                      <a:pt x="1142195" y="229249"/>
                    </a:moveTo>
                    <a:lnTo>
                      <a:pt x="0" y="243845"/>
                    </a:lnTo>
                    <a:lnTo>
                      <a:pt x="54647" y="12753"/>
                    </a:lnTo>
                    <a:lnTo>
                      <a:pt x="1052868" y="0"/>
                    </a:lnTo>
                    <a:lnTo>
                      <a:pt x="1142195" y="229249"/>
                    </a:lnTo>
                    <a:close/>
                  </a:path>
                </a:pathLst>
              </a:custGeom>
              <a:ln w="20941">
                <a:solidFill>
                  <a:srgbClr val="FFFFF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05" name="object 82">
                <a:extLst>
                  <a:ext uri="{FF2B5EF4-FFF2-40B4-BE49-F238E27FC236}">
                    <a16:creationId xmlns:a16="http://schemas.microsoft.com/office/drawing/2014/main" id="{4A92BEE4-C9AF-CBD8-267E-44E2662415FD}"/>
                  </a:ext>
                </a:extLst>
              </p:cNvPr>
              <p:cNvSpPr/>
              <p:nvPr/>
            </p:nvSpPr>
            <p:spPr>
              <a:xfrm>
                <a:off x="9864090" y="6529267"/>
                <a:ext cx="1024890" cy="156845"/>
              </a:xfrm>
              <a:custGeom>
                <a:avLst/>
                <a:gdLst/>
                <a:ahLst/>
                <a:cxnLst/>
                <a:rect l="l" t="t" r="r" b="b"/>
                <a:pathLst>
                  <a:path w="1024890" h="156845">
                    <a:moveTo>
                      <a:pt x="968713" y="0"/>
                    </a:moveTo>
                    <a:lnTo>
                      <a:pt x="34156" y="11947"/>
                    </a:lnTo>
                    <a:lnTo>
                      <a:pt x="0" y="156372"/>
                    </a:lnTo>
                    <a:lnTo>
                      <a:pt x="1024544" y="143283"/>
                    </a:lnTo>
                    <a:lnTo>
                      <a:pt x="968713" y="0"/>
                    </a:lnTo>
                    <a:close/>
                  </a:path>
                </a:pathLst>
              </a:custGeom>
              <a:solidFill>
                <a:srgbClr val="C3D4D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06" name="object 83">
                <a:extLst>
                  <a:ext uri="{FF2B5EF4-FFF2-40B4-BE49-F238E27FC236}">
                    <a16:creationId xmlns:a16="http://schemas.microsoft.com/office/drawing/2014/main" id="{28605A13-EB28-AB73-CC24-2633D2561ADC}"/>
                  </a:ext>
                </a:extLst>
              </p:cNvPr>
              <p:cNvSpPr/>
              <p:nvPr/>
            </p:nvSpPr>
            <p:spPr>
              <a:xfrm>
                <a:off x="10323658" y="6494617"/>
                <a:ext cx="54610" cy="25400"/>
              </a:xfrm>
              <a:custGeom>
                <a:avLst/>
                <a:gdLst/>
                <a:ahLst/>
                <a:cxnLst/>
                <a:rect l="l" t="t" r="r" b="b"/>
                <a:pathLst>
                  <a:path w="54609" h="25400">
                    <a:moveTo>
                      <a:pt x="26836" y="0"/>
                    </a:moveTo>
                    <a:lnTo>
                      <a:pt x="16341" y="1128"/>
                    </a:lnTo>
                    <a:lnTo>
                      <a:pt x="7795" y="3939"/>
                    </a:lnTo>
                    <a:lnTo>
                      <a:pt x="2061" y="8019"/>
                    </a:lnTo>
                    <a:lnTo>
                      <a:pt x="0" y="12952"/>
                    </a:lnTo>
                    <a:lnTo>
                      <a:pt x="2186" y="17830"/>
                    </a:lnTo>
                    <a:lnTo>
                      <a:pt x="8024" y="21759"/>
                    </a:lnTo>
                    <a:lnTo>
                      <a:pt x="16640" y="24347"/>
                    </a:lnTo>
                    <a:lnTo>
                      <a:pt x="27161" y="25203"/>
                    </a:lnTo>
                    <a:lnTo>
                      <a:pt x="37656" y="24080"/>
                    </a:lnTo>
                    <a:lnTo>
                      <a:pt x="46202" y="21272"/>
                    </a:lnTo>
                    <a:lnTo>
                      <a:pt x="51937" y="17194"/>
                    </a:lnTo>
                    <a:lnTo>
                      <a:pt x="53998" y="12261"/>
                    </a:lnTo>
                    <a:lnTo>
                      <a:pt x="51811" y="7382"/>
                    </a:lnTo>
                    <a:lnTo>
                      <a:pt x="45973" y="3452"/>
                    </a:lnTo>
                    <a:lnTo>
                      <a:pt x="37357" y="861"/>
                    </a:lnTo>
                    <a:lnTo>
                      <a:pt x="26836" y="0"/>
                    </a:lnTo>
                    <a:close/>
                  </a:path>
                </a:pathLst>
              </a:custGeom>
              <a:solidFill>
                <a:srgbClr val="80A5A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07" name="object 84">
                <a:extLst>
                  <a:ext uri="{FF2B5EF4-FFF2-40B4-BE49-F238E27FC236}">
                    <a16:creationId xmlns:a16="http://schemas.microsoft.com/office/drawing/2014/main" id="{2E9F9246-316D-6FB4-EC66-DCC06734CF4D}"/>
                  </a:ext>
                </a:extLst>
              </p:cNvPr>
              <p:cNvSpPr/>
              <p:nvPr/>
            </p:nvSpPr>
            <p:spPr>
              <a:xfrm>
                <a:off x="9662652" y="5854308"/>
                <a:ext cx="347345" cy="1057275"/>
              </a:xfrm>
              <a:custGeom>
                <a:avLst/>
                <a:gdLst/>
                <a:ahLst/>
                <a:cxnLst/>
                <a:rect l="l" t="t" r="r" b="b"/>
                <a:pathLst>
                  <a:path w="347345" h="1057275">
                    <a:moveTo>
                      <a:pt x="248306" y="0"/>
                    </a:moveTo>
                    <a:lnTo>
                      <a:pt x="0" y="1032984"/>
                    </a:lnTo>
                    <a:lnTo>
                      <a:pt x="98551" y="1056700"/>
                    </a:lnTo>
                    <a:lnTo>
                      <a:pt x="346848" y="23706"/>
                    </a:lnTo>
                    <a:lnTo>
                      <a:pt x="248306" y="0"/>
                    </a:lnTo>
                    <a:close/>
                  </a:path>
                </a:pathLst>
              </a:custGeom>
              <a:solidFill>
                <a:srgbClr val="83CFC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08" name="object 85">
                <a:extLst>
                  <a:ext uri="{FF2B5EF4-FFF2-40B4-BE49-F238E27FC236}">
                    <a16:creationId xmlns:a16="http://schemas.microsoft.com/office/drawing/2014/main" id="{9FE657D7-E25C-18E8-7B09-3DDD29C4472C}"/>
                  </a:ext>
                </a:extLst>
              </p:cNvPr>
              <p:cNvSpPr/>
              <p:nvPr/>
            </p:nvSpPr>
            <p:spPr>
              <a:xfrm>
                <a:off x="8547614" y="6776369"/>
                <a:ext cx="1229995" cy="135255"/>
              </a:xfrm>
              <a:custGeom>
                <a:avLst/>
                <a:gdLst/>
                <a:ahLst/>
                <a:cxnLst/>
                <a:rect l="l" t="t" r="r" b="b"/>
                <a:pathLst>
                  <a:path w="1229995" h="135254">
                    <a:moveTo>
                      <a:pt x="1229774" y="0"/>
                    </a:moveTo>
                    <a:lnTo>
                      <a:pt x="0" y="0"/>
                    </a:lnTo>
                    <a:lnTo>
                      <a:pt x="0" y="134634"/>
                    </a:lnTo>
                    <a:lnTo>
                      <a:pt x="1229774" y="134634"/>
                    </a:lnTo>
                    <a:lnTo>
                      <a:pt x="1229774" y="0"/>
                    </a:lnTo>
                    <a:close/>
                  </a:path>
                </a:pathLst>
              </a:custGeom>
              <a:solidFill>
                <a:srgbClr val="3C757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109" name="object 86">
                <a:extLst>
                  <a:ext uri="{FF2B5EF4-FFF2-40B4-BE49-F238E27FC236}">
                    <a16:creationId xmlns:a16="http://schemas.microsoft.com/office/drawing/2014/main" id="{4D436163-DF2E-4506-8896-1DF679938DB6}"/>
                  </a:ext>
                </a:extLst>
              </p:cNvPr>
              <p:cNvPicPr/>
              <p:nvPr/>
            </p:nvPicPr>
            <p:blipFill>
              <a:blip r:embed="rId11" cstate="print"/>
              <a:stretch>
                <a:fillRect/>
              </a:stretch>
            </p:blipFill>
            <p:spPr>
              <a:xfrm>
                <a:off x="12209052" y="6502419"/>
                <a:ext cx="1047088" cy="816729"/>
              </a:xfrm>
              <a:prstGeom prst="rect">
                <a:avLst/>
              </a:prstGeom>
            </p:spPr>
          </p:pic>
          <p:pic>
            <p:nvPicPr>
              <p:cNvPr id="110" name="object 87">
                <a:extLst>
                  <a:ext uri="{FF2B5EF4-FFF2-40B4-BE49-F238E27FC236}">
                    <a16:creationId xmlns:a16="http://schemas.microsoft.com/office/drawing/2014/main" id="{A2FDDE7F-8E87-9DB6-EF6F-608C81FAD34D}"/>
                  </a:ext>
                </a:extLst>
              </p:cNvPr>
              <p:cNvPicPr/>
              <p:nvPr/>
            </p:nvPicPr>
            <p:blipFill>
              <a:blip r:embed="rId12" cstate="print"/>
              <a:stretch>
                <a:fillRect/>
              </a:stretch>
            </p:blipFill>
            <p:spPr>
              <a:xfrm>
                <a:off x="8648951" y="6188293"/>
                <a:ext cx="1036617" cy="816729"/>
              </a:xfrm>
              <a:prstGeom prst="rect">
                <a:avLst/>
              </a:prstGeom>
            </p:spPr>
          </p:pic>
          <p:pic>
            <p:nvPicPr>
              <p:cNvPr id="111" name="object 88">
                <a:extLst>
                  <a:ext uri="{FF2B5EF4-FFF2-40B4-BE49-F238E27FC236}">
                    <a16:creationId xmlns:a16="http://schemas.microsoft.com/office/drawing/2014/main" id="{AB5124AE-AF80-7495-49D8-EBB80F5094C0}"/>
                  </a:ext>
                </a:extLst>
              </p:cNvPr>
              <p:cNvPicPr/>
              <p:nvPr/>
            </p:nvPicPr>
            <p:blipFill>
              <a:blip r:embed="rId13" cstate="print"/>
              <a:stretch>
                <a:fillRect/>
              </a:stretch>
            </p:blipFill>
            <p:spPr>
              <a:xfrm>
                <a:off x="12588948" y="6262590"/>
                <a:ext cx="344725" cy="144820"/>
              </a:xfrm>
              <a:prstGeom prst="rect">
                <a:avLst/>
              </a:prstGeom>
            </p:spPr>
          </p:pic>
          <p:sp>
            <p:nvSpPr>
              <p:cNvPr id="112" name="object 89">
                <a:extLst>
                  <a:ext uri="{FF2B5EF4-FFF2-40B4-BE49-F238E27FC236}">
                    <a16:creationId xmlns:a16="http://schemas.microsoft.com/office/drawing/2014/main" id="{254E4963-3070-4597-C74B-F53DCA9D486D}"/>
                  </a:ext>
                </a:extLst>
              </p:cNvPr>
              <p:cNvSpPr/>
              <p:nvPr/>
            </p:nvSpPr>
            <p:spPr>
              <a:xfrm>
                <a:off x="12420284" y="6248806"/>
                <a:ext cx="403225" cy="144145"/>
              </a:xfrm>
              <a:custGeom>
                <a:avLst/>
                <a:gdLst/>
                <a:ahLst/>
                <a:cxnLst/>
                <a:rect l="l" t="t" r="r" b="b"/>
                <a:pathLst>
                  <a:path w="403225" h="144145">
                    <a:moveTo>
                      <a:pt x="238888" y="0"/>
                    </a:moveTo>
                    <a:lnTo>
                      <a:pt x="180344" y="1535"/>
                    </a:lnTo>
                    <a:lnTo>
                      <a:pt x="127462" y="5194"/>
                    </a:lnTo>
                    <a:lnTo>
                      <a:pt x="87113" y="9216"/>
                    </a:lnTo>
                    <a:lnTo>
                      <a:pt x="22060" y="28053"/>
                    </a:lnTo>
                    <a:lnTo>
                      <a:pt x="0" y="55412"/>
                    </a:lnTo>
                    <a:lnTo>
                      <a:pt x="2755" y="86162"/>
                    </a:lnTo>
                    <a:lnTo>
                      <a:pt x="33098" y="112548"/>
                    </a:lnTo>
                    <a:lnTo>
                      <a:pt x="90696" y="132770"/>
                    </a:lnTo>
                    <a:lnTo>
                      <a:pt x="151833" y="142559"/>
                    </a:lnTo>
                    <a:lnTo>
                      <a:pt x="211824" y="143734"/>
                    </a:lnTo>
                    <a:lnTo>
                      <a:pt x="265982" y="138116"/>
                    </a:lnTo>
                    <a:lnTo>
                      <a:pt x="309620" y="127526"/>
                    </a:lnTo>
                    <a:lnTo>
                      <a:pt x="368893" y="94085"/>
                    </a:lnTo>
                    <a:lnTo>
                      <a:pt x="402880" y="54749"/>
                    </a:lnTo>
                    <a:lnTo>
                      <a:pt x="379799" y="25744"/>
                    </a:lnTo>
                    <a:lnTo>
                      <a:pt x="345485" y="10343"/>
                    </a:lnTo>
                    <a:lnTo>
                      <a:pt x="296225" y="2349"/>
                    </a:lnTo>
                    <a:lnTo>
                      <a:pt x="238888" y="0"/>
                    </a:lnTo>
                    <a:close/>
                  </a:path>
                </a:pathLst>
              </a:custGeom>
              <a:solidFill>
                <a:srgbClr val="703B1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13" name="object 90">
                <a:extLst>
                  <a:ext uri="{FF2B5EF4-FFF2-40B4-BE49-F238E27FC236}">
                    <a16:creationId xmlns:a16="http://schemas.microsoft.com/office/drawing/2014/main" id="{07ADC906-6F21-7B6F-0BE6-7913B00A739E}"/>
                  </a:ext>
                </a:extLst>
              </p:cNvPr>
              <p:cNvSpPr/>
              <p:nvPr/>
            </p:nvSpPr>
            <p:spPr>
              <a:xfrm>
                <a:off x="12442191" y="6246257"/>
                <a:ext cx="323215" cy="123189"/>
              </a:xfrm>
              <a:custGeom>
                <a:avLst/>
                <a:gdLst/>
                <a:ahLst/>
                <a:cxnLst/>
                <a:rect l="l" t="t" r="r" b="b"/>
                <a:pathLst>
                  <a:path w="323215" h="123189">
                    <a:moveTo>
                      <a:pt x="179275" y="0"/>
                    </a:moveTo>
                    <a:lnTo>
                      <a:pt x="125149" y="1538"/>
                    </a:lnTo>
                    <a:lnTo>
                      <a:pt x="73657" y="6057"/>
                    </a:lnTo>
                    <a:lnTo>
                      <a:pt x="11333" y="49906"/>
                    </a:lnTo>
                    <a:lnTo>
                      <a:pt x="0" y="77213"/>
                    </a:lnTo>
                    <a:lnTo>
                      <a:pt x="6011" y="97236"/>
                    </a:lnTo>
                    <a:lnTo>
                      <a:pt x="25123" y="110902"/>
                    </a:lnTo>
                    <a:lnTo>
                      <a:pt x="53088" y="119138"/>
                    </a:lnTo>
                    <a:lnTo>
                      <a:pt x="85661" y="122872"/>
                    </a:lnTo>
                    <a:lnTo>
                      <a:pt x="118597" y="123031"/>
                    </a:lnTo>
                    <a:lnTo>
                      <a:pt x="147648" y="120542"/>
                    </a:lnTo>
                    <a:lnTo>
                      <a:pt x="250065" y="90348"/>
                    </a:lnTo>
                    <a:lnTo>
                      <a:pt x="293311" y="70893"/>
                    </a:lnTo>
                    <a:lnTo>
                      <a:pt x="322952" y="12724"/>
                    </a:lnTo>
                    <a:lnTo>
                      <a:pt x="320579" y="11724"/>
                    </a:lnTo>
                    <a:lnTo>
                      <a:pt x="307759" y="9050"/>
                    </a:lnTo>
                    <a:lnTo>
                      <a:pt x="275942" y="5183"/>
                    </a:lnTo>
                    <a:lnTo>
                      <a:pt x="216578" y="609"/>
                    </a:lnTo>
                    <a:lnTo>
                      <a:pt x="179275" y="0"/>
                    </a:lnTo>
                    <a:close/>
                  </a:path>
                </a:pathLst>
              </a:custGeom>
              <a:solidFill>
                <a:srgbClr val="7C482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114" name="object 91">
                <a:extLst>
                  <a:ext uri="{FF2B5EF4-FFF2-40B4-BE49-F238E27FC236}">
                    <a16:creationId xmlns:a16="http://schemas.microsoft.com/office/drawing/2014/main" id="{3021F17A-DEDC-A16E-5C92-E4B36D6512D8}"/>
                  </a:ext>
                </a:extLst>
              </p:cNvPr>
              <p:cNvPicPr/>
              <p:nvPr/>
            </p:nvPicPr>
            <p:blipFill>
              <a:blip r:embed="rId14" cstate="print"/>
              <a:stretch>
                <a:fillRect/>
              </a:stretch>
            </p:blipFill>
            <p:spPr>
              <a:xfrm>
                <a:off x="12593955" y="6258983"/>
                <a:ext cx="317986" cy="187847"/>
              </a:xfrm>
              <a:prstGeom prst="rect">
                <a:avLst/>
              </a:prstGeom>
            </p:spPr>
          </p:pic>
          <p:sp>
            <p:nvSpPr>
              <p:cNvPr id="115" name="object 92">
                <a:extLst>
                  <a:ext uri="{FF2B5EF4-FFF2-40B4-BE49-F238E27FC236}">
                    <a16:creationId xmlns:a16="http://schemas.microsoft.com/office/drawing/2014/main" id="{D9531920-78C4-C1AF-9B0A-16890ECD640D}"/>
                  </a:ext>
                </a:extLst>
              </p:cNvPr>
              <p:cNvSpPr/>
              <p:nvPr/>
            </p:nvSpPr>
            <p:spPr>
              <a:xfrm>
                <a:off x="13143881" y="6230248"/>
                <a:ext cx="260985" cy="92710"/>
              </a:xfrm>
              <a:custGeom>
                <a:avLst/>
                <a:gdLst/>
                <a:ahLst/>
                <a:cxnLst/>
                <a:rect l="l" t="t" r="r" b="b"/>
                <a:pathLst>
                  <a:path w="260984" h="92710">
                    <a:moveTo>
                      <a:pt x="41646" y="0"/>
                    </a:moveTo>
                    <a:lnTo>
                      <a:pt x="21846" y="2413"/>
                    </a:lnTo>
                    <a:lnTo>
                      <a:pt x="10130" y="10809"/>
                    </a:lnTo>
                    <a:lnTo>
                      <a:pt x="0" y="49681"/>
                    </a:lnTo>
                    <a:lnTo>
                      <a:pt x="17130" y="74202"/>
                    </a:lnTo>
                    <a:lnTo>
                      <a:pt x="52435" y="87412"/>
                    </a:lnTo>
                    <a:lnTo>
                      <a:pt x="96826" y="92351"/>
                    </a:lnTo>
                    <a:lnTo>
                      <a:pt x="141218" y="92061"/>
                    </a:lnTo>
                    <a:lnTo>
                      <a:pt x="176523" y="89582"/>
                    </a:lnTo>
                    <a:lnTo>
                      <a:pt x="216022" y="83736"/>
                    </a:lnTo>
                    <a:lnTo>
                      <a:pt x="246446" y="73492"/>
                    </a:lnTo>
                    <a:lnTo>
                      <a:pt x="260478" y="58290"/>
                    </a:lnTo>
                    <a:lnTo>
                      <a:pt x="250803" y="37573"/>
                    </a:lnTo>
                    <a:lnTo>
                      <a:pt x="178890" y="6247"/>
                    </a:lnTo>
                    <a:lnTo>
                      <a:pt x="136055" y="676"/>
                    </a:lnTo>
                    <a:lnTo>
                      <a:pt x="67781" y="321"/>
                    </a:lnTo>
                    <a:lnTo>
                      <a:pt x="41646" y="0"/>
                    </a:lnTo>
                    <a:close/>
                  </a:path>
                </a:pathLst>
              </a:custGeom>
              <a:solidFill>
                <a:srgbClr val="703B1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116" name="object 93">
                <a:extLst>
                  <a:ext uri="{FF2B5EF4-FFF2-40B4-BE49-F238E27FC236}">
                    <a16:creationId xmlns:a16="http://schemas.microsoft.com/office/drawing/2014/main" id="{219EA601-20F7-7086-B27F-0DBC085BBBF7}"/>
                  </a:ext>
                </a:extLst>
              </p:cNvPr>
              <p:cNvPicPr/>
              <p:nvPr/>
            </p:nvPicPr>
            <p:blipFill>
              <a:blip r:embed="rId15" cstate="print"/>
              <a:stretch>
                <a:fillRect/>
              </a:stretch>
            </p:blipFill>
            <p:spPr>
              <a:xfrm>
                <a:off x="13044882" y="6213437"/>
                <a:ext cx="425985" cy="219170"/>
              </a:xfrm>
              <a:prstGeom prst="rect">
                <a:avLst/>
              </a:prstGeom>
            </p:spPr>
          </p:pic>
          <p:sp>
            <p:nvSpPr>
              <p:cNvPr id="117" name="object 94">
                <a:extLst>
                  <a:ext uri="{FF2B5EF4-FFF2-40B4-BE49-F238E27FC236}">
                    <a16:creationId xmlns:a16="http://schemas.microsoft.com/office/drawing/2014/main" id="{73DEE90F-395F-7F0C-4C71-76477749641A}"/>
                  </a:ext>
                </a:extLst>
              </p:cNvPr>
              <p:cNvSpPr/>
              <p:nvPr/>
            </p:nvSpPr>
            <p:spPr>
              <a:xfrm>
                <a:off x="11744488" y="6102442"/>
                <a:ext cx="797560" cy="260985"/>
              </a:xfrm>
              <a:custGeom>
                <a:avLst/>
                <a:gdLst/>
                <a:ahLst/>
                <a:cxnLst/>
                <a:rect l="l" t="t" r="r" b="b"/>
                <a:pathLst>
                  <a:path w="797559" h="260985">
                    <a:moveTo>
                      <a:pt x="106687" y="0"/>
                    </a:moveTo>
                    <a:lnTo>
                      <a:pt x="53040" y="14594"/>
                    </a:lnTo>
                    <a:lnTo>
                      <a:pt x="9460" y="68670"/>
                    </a:lnTo>
                    <a:lnTo>
                      <a:pt x="0" y="101556"/>
                    </a:lnTo>
                    <a:lnTo>
                      <a:pt x="3323" y="133564"/>
                    </a:lnTo>
                    <a:lnTo>
                      <a:pt x="62008" y="180612"/>
                    </a:lnTo>
                    <a:lnTo>
                      <a:pt x="108724" y="191827"/>
                    </a:lnTo>
                    <a:lnTo>
                      <a:pt x="162734" y="201741"/>
                    </a:lnTo>
                    <a:lnTo>
                      <a:pt x="219693" y="210344"/>
                    </a:lnTo>
                    <a:lnTo>
                      <a:pt x="275254" y="217621"/>
                    </a:lnTo>
                    <a:lnTo>
                      <a:pt x="364809" y="228149"/>
                    </a:lnTo>
                    <a:lnTo>
                      <a:pt x="390113" y="231375"/>
                    </a:lnTo>
                    <a:lnTo>
                      <a:pt x="458835" y="238411"/>
                    </a:lnTo>
                    <a:lnTo>
                      <a:pt x="572158" y="248122"/>
                    </a:lnTo>
                    <a:lnTo>
                      <a:pt x="725077" y="260431"/>
                    </a:lnTo>
                    <a:lnTo>
                      <a:pt x="776604" y="248678"/>
                    </a:lnTo>
                    <a:lnTo>
                      <a:pt x="797095" y="234960"/>
                    </a:lnTo>
                    <a:lnTo>
                      <a:pt x="789535" y="210457"/>
                    </a:lnTo>
                    <a:lnTo>
                      <a:pt x="756908" y="166350"/>
                    </a:lnTo>
                    <a:lnTo>
                      <a:pt x="715787" y="152212"/>
                    </a:lnTo>
                    <a:lnTo>
                      <a:pt x="672596" y="140425"/>
                    </a:lnTo>
                    <a:lnTo>
                      <a:pt x="618210" y="126335"/>
                    </a:lnTo>
                    <a:lnTo>
                      <a:pt x="555549" y="110572"/>
                    </a:lnTo>
                    <a:lnTo>
                      <a:pt x="417079" y="76555"/>
                    </a:lnTo>
                    <a:lnTo>
                      <a:pt x="220297" y="28763"/>
                    </a:lnTo>
                    <a:lnTo>
                      <a:pt x="169293" y="16220"/>
                    </a:lnTo>
                    <a:lnTo>
                      <a:pt x="130450" y="6421"/>
                    </a:lnTo>
                    <a:lnTo>
                      <a:pt x="106687" y="0"/>
                    </a:lnTo>
                    <a:close/>
                  </a:path>
                </a:pathLst>
              </a:custGeom>
              <a:solidFill>
                <a:srgbClr val="7C482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grpSp>
      </p:grpSp>
      <p:grpSp>
        <p:nvGrpSpPr>
          <p:cNvPr id="118" name="Group 117">
            <a:extLst>
              <a:ext uri="{FF2B5EF4-FFF2-40B4-BE49-F238E27FC236}">
                <a16:creationId xmlns:a16="http://schemas.microsoft.com/office/drawing/2014/main" id="{BBF1D693-4EFA-8C81-4163-415806ED2A0A}"/>
              </a:ext>
            </a:extLst>
          </p:cNvPr>
          <p:cNvGrpSpPr/>
          <p:nvPr/>
        </p:nvGrpSpPr>
        <p:grpSpPr>
          <a:xfrm>
            <a:off x="9452532" y="2312628"/>
            <a:ext cx="492596" cy="575142"/>
            <a:chOff x="951571" y="2118294"/>
            <a:chExt cx="1826263" cy="2057080"/>
          </a:xfrm>
        </p:grpSpPr>
        <p:sp>
          <p:nvSpPr>
            <p:cNvPr id="119" name="object 2">
              <a:extLst>
                <a:ext uri="{FF2B5EF4-FFF2-40B4-BE49-F238E27FC236}">
                  <a16:creationId xmlns:a16="http://schemas.microsoft.com/office/drawing/2014/main" id="{263A0BEC-E266-946B-1BB4-9D52EA462951}"/>
                </a:ext>
              </a:extLst>
            </p:cNvPr>
            <p:cNvSpPr/>
            <p:nvPr/>
          </p:nvSpPr>
          <p:spPr>
            <a:xfrm>
              <a:off x="2211113" y="3203824"/>
              <a:ext cx="473075" cy="971550"/>
            </a:xfrm>
            <a:custGeom>
              <a:avLst/>
              <a:gdLst/>
              <a:ahLst/>
              <a:cxnLst/>
              <a:rect l="l" t="t" r="r" b="b"/>
              <a:pathLst>
                <a:path w="473075" h="971550">
                  <a:moveTo>
                    <a:pt x="0" y="970954"/>
                  </a:moveTo>
                  <a:lnTo>
                    <a:pt x="214129" y="0"/>
                  </a:lnTo>
                  <a:lnTo>
                    <a:pt x="347036" y="0"/>
                  </a:lnTo>
                  <a:lnTo>
                    <a:pt x="472561" y="970954"/>
                  </a:lnTo>
                </a:path>
              </a:pathLst>
            </a:custGeom>
            <a:ln w="5815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grpSp>
          <p:nvGrpSpPr>
            <p:cNvPr id="120" name="object 3">
              <a:extLst>
                <a:ext uri="{FF2B5EF4-FFF2-40B4-BE49-F238E27FC236}">
                  <a16:creationId xmlns:a16="http://schemas.microsoft.com/office/drawing/2014/main" id="{E570F65B-9BEC-1425-D45C-FE473903A390}"/>
                </a:ext>
              </a:extLst>
            </p:cNvPr>
            <p:cNvGrpSpPr/>
            <p:nvPr/>
          </p:nvGrpSpPr>
          <p:grpSpPr>
            <a:xfrm>
              <a:off x="951571" y="2118294"/>
              <a:ext cx="1826263" cy="2057080"/>
              <a:chOff x="9889589" y="1305851"/>
              <a:chExt cx="1826263" cy="2057080"/>
            </a:xfrm>
          </p:grpSpPr>
          <p:sp>
            <p:nvSpPr>
              <p:cNvPr id="121" name="object 4">
                <a:extLst>
                  <a:ext uri="{FF2B5EF4-FFF2-40B4-BE49-F238E27FC236}">
                    <a16:creationId xmlns:a16="http://schemas.microsoft.com/office/drawing/2014/main" id="{BB2A0A29-E5BE-A625-108F-3954F9A87631}"/>
                  </a:ext>
                </a:extLst>
              </p:cNvPr>
              <p:cNvSpPr/>
              <p:nvPr/>
            </p:nvSpPr>
            <p:spPr>
              <a:xfrm>
                <a:off x="9889589" y="2391381"/>
                <a:ext cx="473075" cy="971550"/>
              </a:xfrm>
              <a:custGeom>
                <a:avLst/>
                <a:gdLst/>
                <a:ahLst/>
                <a:cxnLst/>
                <a:rect l="l" t="t" r="r" b="b"/>
                <a:pathLst>
                  <a:path w="473075" h="971550">
                    <a:moveTo>
                      <a:pt x="0" y="970954"/>
                    </a:moveTo>
                    <a:lnTo>
                      <a:pt x="214129" y="0"/>
                    </a:lnTo>
                    <a:lnTo>
                      <a:pt x="347036" y="0"/>
                    </a:lnTo>
                    <a:lnTo>
                      <a:pt x="472561" y="970954"/>
                    </a:lnTo>
                  </a:path>
                </a:pathLst>
              </a:custGeom>
              <a:ln w="5815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22" name="object 5">
                <a:extLst>
                  <a:ext uri="{FF2B5EF4-FFF2-40B4-BE49-F238E27FC236}">
                    <a16:creationId xmlns:a16="http://schemas.microsoft.com/office/drawing/2014/main" id="{3B58547E-B95D-265B-CCEF-AF88EFDAE12A}"/>
                  </a:ext>
                </a:extLst>
              </p:cNvPr>
              <p:cNvSpPr/>
              <p:nvPr/>
            </p:nvSpPr>
            <p:spPr>
              <a:xfrm>
                <a:off x="10027223" y="1305851"/>
                <a:ext cx="1547495" cy="1361440"/>
              </a:xfrm>
              <a:custGeom>
                <a:avLst/>
                <a:gdLst/>
                <a:ahLst/>
                <a:cxnLst/>
                <a:rect l="l" t="t" r="r" b="b"/>
                <a:pathLst>
                  <a:path w="1547495" h="1361439">
                    <a:moveTo>
                      <a:pt x="1442584" y="0"/>
                    </a:moveTo>
                    <a:lnTo>
                      <a:pt x="0" y="0"/>
                    </a:lnTo>
                    <a:lnTo>
                      <a:pt x="104394" y="1361110"/>
                    </a:lnTo>
                    <a:lnTo>
                      <a:pt x="1546979" y="1361110"/>
                    </a:lnTo>
                    <a:lnTo>
                      <a:pt x="1442584" y="0"/>
                    </a:lnTo>
                    <a:close/>
                  </a:path>
                </a:pathLst>
              </a:custGeom>
              <a:solidFill>
                <a:srgbClr val="23253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23" name="object 6">
                <a:extLst>
                  <a:ext uri="{FF2B5EF4-FFF2-40B4-BE49-F238E27FC236}">
                    <a16:creationId xmlns:a16="http://schemas.microsoft.com/office/drawing/2014/main" id="{66501F28-B07E-3C60-B279-60209B9BC610}"/>
                  </a:ext>
                </a:extLst>
              </p:cNvPr>
              <p:cNvSpPr/>
              <p:nvPr/>
            </p:nvSpPr>
            <p:spPr>
              <a:xfrm>
                <a:off x="10073661" y="1310205"/>
                <a:ext cx="1547495" cy="1356995"/>
              </a:xfrm>
              <a:custGeom>
                <a:avLst/>
                <a:gdLst/>
                <a:ahLst/>
                <a:cxnLst/>
                <a:rect l="l" t="t" r="r" b="b"/>
                <a:pathLst>
                  <a:path w="1547495" h="1356995">
                    <a:moveTo>
                      <a:pt x="1442584" y="0"/>
                    </a:moveTo>
                    <a:lnTo>
                      <a:pt x="0" y="0"/>
                    </a:lnTo>
                    <a:lnTo>
                      <a:pt x="104394" y="1356764"/>
                    </a:lnTo>
                    <a:lnTo>
                      <a:pt x="1546979" y="1356764"/>
                    </a:lnTo>
                    <a:lnTo>
                      <a:pt x="144258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24" name="object 7">
                <a:extLst>
                  <a:ext uri="{FF2B5EF4-FFF2-40B4-BE49-F238E27FC236}">
                    <a16:creationId xmlns:a16="http://schemas.microsoft.com/office/drawing/2014/main" id="{76E9AFDA-F602-1B7D-E60F-B767D1ED544E}"/>
                  </a:ext>
                </a:extLst>
              </p:cNvPr>
              <p:cNvSpPr/>
              <p:nvPr/>
            </p:nvSpPr>
            <p:spPr>
              <a:xfrm>
                <a:off x="10073661" y="1310205"/>
                <a:ext cx="1547495" cy="1356995"/>
              </a:xfrm>
              <a:custGeom>
                <a:avLst/>
                <a:gdLst/>
                <a:ahLst/>
                <a:cxnLst/>
                <a:rect l="l" t="t" r="r" b="b"/>
                <a:pathLst>
                  <a:path w="1547495" h="1356995">
                    <a:moveTo>
                      <a:pt x="1442584" y="0"/>
                    </a:moveTo>
                    <a:lnTo>
                      <a:pt x="0" y="0"/>
                    </a:lnTo>
                    <a:lnTo>
                      <a:pt x="104394" y="1356764"/>
                    </a:lnTo>
                    <a:lnTo>
                      <a:pt x="1546979" y="1356764"/>
                    </a:lnTo>
                    <a:lnTo>
                      <a:pt x="1442584" y="0"/>
                    </a:lnTo>
                    <a:close/>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25" name="object 8">
                <a:extLst>
                  <a:ext uri="{FF2B5EF4-FFF2-40B4-BE49-F238E27FC236}">
                    <a16:creationId xmlns:a16="http://schemas.microsoft.com/office/drawing/2014/main" id="{800A37AD-2472-1973-B2CA-8B1B8EAE1893}"/>
                  </a:ext>
                </a:extLst>
              </p:cNvPr>
              <p:cNvSpPr/>
              <p:nvPr/>
            </p:nvSpPr>
            <p:spPr>
              <a:xfrm>
                <a:off x="10048342" y="2660882"/>
                <a:ext cx="1667510" cy="37465"/>
              </a:xfrm>
              <a:custGeom>
                <a:avLst/>
                <a:gdLst/>
                <a:ahLst/>
                <a:cxnLst/>
                <a:rect l="l" t="t" r="r" b="b"/>
                <a:pathLst>
                  <a:path w="1667509" h="37464">
                    <a:moveTo>
                      <a:pt x="1667383" y="0"/>
                    </a:moveTo>
                    <a:lnTo>
                      <a:pt x="0" y="0"/>
                    </a:lnTo>
                    <a:lnTo>
                      <a:pt x="0" y="36920"/>
                    </a:lnTo>
                    <a:lnTo>
                      <a:pt x="1667383" y="36920"/>
                    </a:lnTo>
                    <a:lnTo>
                      <a:pt x="1667383" y="0"/>
                    </a:lnTo>
                    <a:close/>
                  </a:path>
                </a:pathLst>
              </a:custGeom>
              <a:solidFill>
                <a:srgbClr val="23253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26" name="object 9">
                <a:extLst>
                  <a:ext uri="{FF2B5EF4-FFF2-40B4-BE49-F238E27FC236}">
                    <a16:creationId xmlns:a16="http://schemas.microsoft.com/office/drawing/2014/main" id="{F0833B1E-20C9-2B57-4D22-E7E1BBEABEDB}"/>
                  </a:ext>
                </a:extLst>
              </p:cNvPr>
              <p:cNvSpPr/>
              <p:nvPr/>
            </p:nvSpPr>
            <p:spPr>
              <a:xfrm>
                <a:off x="10567814" y="1545460"/>
                <a:ext cx="580390" cy="580390"/>
              </a:xfrm>
              <a:custGeom>
                <a:avLst/>
                <a:gdLst/>
                <a:ahLst/>
                <a:cxnLst/>
                <a:rect l="l" t="t" r="r" b="b"/>
                <a:pathLst>
                  <a:path w="580390" h="580389">
                    <a:moveTo>
                      <a:pt x="289896" y="0"/>
                    </a:moveTo>
                    <a:lnTo>
                      <a:pt x="242873" y="3794"/>
                    </a:lnTo>
                    <a:lnTo>
                      <a:pt x="198265" y="14778"/>
                    </a:lnTo>
                    <a:lnTo>
                      <a:pt x="156670" y="32356"/>
                    </a:lnTo>
                    <a:lnTo>
                      <a:pt x="118685" y="55931"/>
                    </a:lnTo>
                    <a:lnTo>
                      <a:pt x="84907" y="84905"/>
                    </a:lnTo>
                    <a:lnTo>
                      <a:pt x="55931" y="118683"/>
                    </a:lnTo>
                    <a:lnTo>
                      <a:pt x="32356" y="156666"/>
                    </a:lnTo>
                    <a:lnTo>
                      <a:pt x="14778" y="198259"/>
                    </a:lnTo>
                    <a:lnTo>
                      <a:pt x="3794" y="242865"/>
                    </a:lnTo>
                    <a:lnTo>
                      <a:pt x="0" y="289886"/>
                    </a:lnTo>
                    <a:lnTo>
                      <a:pt x="3794" y="336907"/>
                    </a:lnTo>
                    <a:lnTo>
                      <a:pt x="14778" y="381512"/>
                    </a:lnTo>
                    <a:lnTo>
                      <a:pt x="32356" y="423105"/>
                    </a:lnTo>
                    <a:lnTo>
                      <a:pt x="55931" y="461089"/>
                    </a:lnTo>
                    <a:lnTo>
                      <a:pt x="84907" y="494867"/>
                    </a:lnTo>
                    <a:lnTo>
                      <a:pt x="118685" y="523841"/>
                    </a:lnTo>
                    <a:lnTo>
                      <a:pt x="156670" y="547416"/>
                    </a:lnTo>
                    <a:lnTo>
                      <a:pt x="198265" y="564994"/>
                    </a:lnTo>
                    <a:lnTo>
                      <a:pt x="242873" y="575978"/>
                    </a:lnTo>
                    <a:lnTo>
                      <a:pt x="289896" y="579772"/>
                    </a:lnTo>
                    <a:lnTo>
                      <a:pt x="336918" y="575978"/>
                    </a:lnTo>
                    <a:lnTo>
                      <a:pt x="381523" y="564994"/>
                    </a:lnTo>
                    <a:lnTo>
                      <a:pt x="423116" y="547416"/>
                    </a:lnTo>
                    <a:lnTo>
                      <a:pt x="461100" y="523841"/>
                    </a:lnTo>
                    <a:lnTo>
                      <a:pt x="494877" y="494867"/>
                    </a:lnTo>
                    <a:lnTo>
                      <a:pt x="523852" y="461089"/>
                    </a:lnTo>
                    <a:lnTo>
                      <a:pt x="547426" y="423105"/>
                    </a:lnTo>
                    <a:lnTo>
                      <a:pt x="565004" y="381512"/>
                    </a:lnTo>
                    <a:lnTo>
                      <a:pt x="575989" y="336907"/>
                    </a:lnTo>
                    <a:lnTo>
                      <a:pt x="579783" y="289886"/>
                    </a:lnTo>
                    <a:lnTo>
                      <a:pt x="575989" y="242865"/>
                    </a:lnTo>
                    <a:lnTo>
                      <a:pt x="565004" y="198259"/>
                    </a:lnTo>
                    <a:lnTo>
                      <a:pt x="547426" y="156666"/>
                    </a:lnTo>
                    <a:lnTo>
                      <a:pt x="523852" y="118683"/>
                    </a:lnTo>
                    <a:lnTo>
                      <a:pt x="494877" y="84905"/>
                    </a:lnTo>
                    <a:lnTo>
                      <a:pt x="461100" y="55931"/>
                    </a:lnTo>
                    <a:lnTo>
                      <a:pt x="423116" y="32356"/>
                    </a:lnTo>
                    <a:lnTo>
                      <a:pt x="381523" y="14778"/>
                    </a:lnTo>
                    <a:lnTo>
                      <a:pt x="336918" y="3794"/>
                    </a:lnTo>
                    <a:lnTo>
                      <a:pt x="289896" y="0"/>
                    </a:lnTo>
                    <a:close/>
                  </a:path>
                </a:pathLst>
              </a:custGeom>
              <a:solidFill>
                <a:srgbClr val="D2D2D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27" name="object 10">
                <a:extLst>
                  <a:ext uri="{FF2B5EF4-FFF2-40B4-BE49-F238E27FC236}">
                    <a16:creationId xmlns:a16="http://schemas.microsoft.com/office/drawing/2014/main" id="{5D1019D4-3334-0437-87FB-D3D4537E9B4B}"/>
                  </a:ext>
                </a:extLst>
              </p:cNvPr>
              <p:cNvSpPr/>
              <p:nvPr/>
            </p:nvSpPr>
            <p:spPr>
              <a:xfrm>
                <a:off x="10634601" y="1545461"/>
                <a:ext cx="358775" cy="297180"/>
              </a:xfrm>
              <a:custGeom>
                <a:avLst/>
                <a:gdLst/>
                <a:ahLst/>
                <a:cxnLst/>
                <a:rect l="l" t="t" r="r" b="b"/>
                <a:pathLst>
                  <a:path w="358775" h="297180">
                    <a:moveTo>
                      <a:pt x="223109" y="0"/>
                    </a:moveTo>
                    <a:lnTo>
                      <a:pt x="176085" y="3794"/>
                    </a:lnTo>
                    <a:lnTo>
                      <a:pt x="131477" y="14778"/>
                    </a:lnTo>
                    <a:lnTo>
                      <a:pt x="89883" y="32356"/>
                    </a:lnTo>
                    <a:lnTo>
                      <a:pt x="51898" y="55931"/>
                    </a:lnTo>
                    <a:lnTo>
                      <a:pt x="18119" y="84905"/>
                    </a:lnTo>
                    <a:lnTo>
                      <a:pt x="0" y="106028"/>
                    </a:lnTo>
                    <a:lnTo>
                      <a:pt x="223305" y="297062"/>
                    </a:lnTo>
                    <a:lnTo>
                      <a:pt x="358275" y="33564"/>
                    </a:lnTo>
                    <a:lnTo>
                      <a:pt x="356329" y="32356"/>
                    </a:lnTo>
                    <a:lnTo>
                      <a:pt x="314736" y="14778"/>
                    </a:lnTo>
                    <a:lnTo>
                      <a:pt x="270130" y="3794"/>
                    </a:lnTo>
                    <a:lnTo>
                      <a:pt x="223109" y="0"/>
                    </a:lnTo>
                    <a:close/>
                  </a:path>
                </a:pathLst>
              </a:custGeom>
              <a:solidFill>
                <a:srgbClr val="E6CDB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28" name="object 11">
                <a:extLst>
                  <a:ext uri="{FF2B5EF4-FFF2-40B4-BE49-F238E27FC236}">
                    <a16:creationId xmlns:a16="http://schemas.microsoft.com/office/drawing/2014/main" id="{A9007BF1-80E9-74C6-3943-0F3ED701FD4B}"/>
                  </a:ext>
                </a:extLst>
              </p:cNvPr>
              <p:cNvSpPr/>
              <p:nvPr/>
            </p:nvSpPr>
            <p:spPr>
              <a:xfrm>
                <a:off x="10857902" y="1568295"/>
                <a:ext cx="290195" cy="546735"/>
              </a:xfrm>
              <a:custGeom>
                <a:avLst/>
                <a:gdLst/>
                <a:ahLst/>
                <a:cxnLst/>
                <a:rect l="l" t="t" r="r" b="b"/>
                <a:pathLst>
                  <a:path w="290195" h="546735">
                    <a:moveTo>
                      <a:pt x="110498" y="0"/>
                    </a:moveTo>
                    <a:lnTo>
                      <a:pt x="0" y="274228"/>
                    </a:lnTo>
                    <a:lnTo>
                      <a:pt x="74300" y="546378"/>
                    </a:lnTo>
                    <a:lnTo>
                      <a:pt x="91434" y="542159"/>
                    </a:lnTo>
                    <a:lnTo>
                      <a:pt x="133027" y="524581"/>
                    </a:lnTo>
                    <a:lnTo>
                      <a:pt x="171011" y="501006"/>
                    </a:lnTo>
                    <a:lnTo>
                      <a:pt x="204788" y="472031"/>
                    </a:lnTo>
                    <a:lnTo>
                      <a:pt x="233763" y="438254"/>
                    </a:lnTo>
                    <a:lnTo>
                      <a:pt x="257337" y="400270"/>
                    </a:lnTo>
                    <a:lnTo>
                      <a:pt x="274915" y="358677"/>
                    </a:lnTo>
                    <a:lnTo>
                      <a:pt x="285900" y="314072"/>
                    </a:lnTo>
                    <a:lnTo>
                      <a:pt x="289694" y="267051"/>
                    </a:lnTo>
                    <a:lnTo>
                      <a:pt x="285900" y="220030"/>
                    </a:lnTo>
                    <a:lnTo>
                      <a:pt x="274915" y="175424"/>
                    </a:lnTo>
                    <a:lnTo>
                      <a:pt x="257337" y="133831"/>
                    </a:lnTo>
                    <a:lnTo>
                      <a:pt x="233763" y="95848"/>
                    </a:lnTo>
                    <a:lnTo>
                      <a:pt x="204788" y="62070"/>
                    </a:lnTo>
                    <a:lnTo>
                      <a:pt x="171011" y="33096"/>
                    </a:lnTo>
                    <a:lnTo>
                      <a:pt x="133027" y="9521"/>
                    </a:lnTo>
                    <a:lnTo>
                      <a:pt x="110498" y="0"/>
                    </a:lnTo>
                    <a:close/>
                  </a:path>
                </a:pathLst>
              </a:custGeom>
              <a:solidFill>
                <a:srgbClr val="92929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129" name="object 12">
                <a:extLst>
                  <a:ext uri="{FF2B5EF4-FFF2-40B4-BE49-F238E27FC236}">
                    <a16:creationId xmlns:a16="http://schemas.microsoft.com/office/drawing/2014/main" id="{7628586E-11FB-3FF9-D414-1E11DA787642}"/>
                  </a:ext>
                </a:extLst>
              </p:cNvPr>
              <p:cNvPicPr/>
              <p:nvPr/>
            </p:nvPicPr>
            <p:blipFill>
              <a:blip r:embed="rId16" cstate="print"/>
              <a:stretch>
                <a:fillRect/>
              </a:stretch>
            </p:blipFill>
            <p:spPr>
              <a:xfrm>
                <a:off x="10899257" y="1568038"/>
                <a:ext cx="175784" cy="199949"/>
              </a:xfrm>
              <a:prstGeom prst="rect">
                <a:avLst/>
              </a:prstGeom>
            </p:spPr>
          </p:pic>
          <p:sp>
            <p:nvSpPr>
              <p:cNvPr id="130" name="object 13">
                <a:extLst>
                  <a:ext uri="{FF2B5EF4-FFF2-40B4-BE49-F238E27FC236}">
                    <a16:creationId xmlns:a16="http://schemas.microsoft.com/office/drawing/2014/main" id="{23DBD4A4-72D0-8171-C9E3-4C41EF85D00A}"/>
                  </a:ext>
                </a:extLst>
              </p:cNvPr>
              <p:cNvSpPr/>
              <p:nvPr/>
            </p:nvSpPr>
            <p:spPr>
              <a:xfrm>
                <a:off x="10714867" y="1698462"/>
                <a:ext cx="279400" cy="279400"/>
              </a:xfrm>
              <a:custGeom>
                <a:avLst/>
                <a:gdLst/>
                <a:ahLst/>
                <a:cxnLst/>
                <a:rect l="l" t="t" r="r" b="b"/>
                <a:pathLst>
                  <a:path w="279400" h="279400">
                    <a:moveTo>
                      <a:pt x="139461" y="0"/>
                    </a:moveTo>
                    <a:lnTo>
                      <a:pt x="95380" y="7109"/>
                    </a:lnTo>
                    <a:lnTo>
                      <a:pt x="57096" y="26907"/>
                    </a:lnTo>
                    <a:lnTo>
                      <a:pt x="26907" y="57096"/>
                    </a:lnTo>
                    <a:lnTo>
                      <a:pt x="7109" y="95380"/>
                    </a:lnTo>
                    <a:lnTo>
                      <a:pt x="0" y="139461"/>
                    </a:lnTo>
                    <a:lnTo>
                      <a:pt x="7109" y="183542"/>
                    </a:lnTo>
                    <a:lnTo>
                      <a:pt x="26907" y="221826"/>
                    </a:lnTo>
                    <a:lnTo>
                      <a:pt x="57096" y="252015"/>
                    </a:lnTo>
                    <a:lnTo>
                      <a:pt x="95380" y="271813"/>
                    </a:lnTo>
                    <a:lnTo>
                      <a:pt x="139461" y="278923"/>
                    </a:lnTo>
                    <a:lnTo>
                      <a:pt x="183542" y="271813"/>
                    </a:lnTo>
                    <a:lnTo>
                      <a:pt x="221826" y="252015"/>
                    </a:lnTo>
                    <a:lnTo>
                      <a:pt x="252015" y="221826"/>
                    </a:lnTo>
                    <a:lnTo>
                      <a:pt x="271813" y="183542"/>
                    </a:lnTo>
                    <a:lnTo>
                      <a:pt x="278923" y="139461"/>
                    </a:lnTo>
                    <a:lnTo>
                      <a:pt x="271813" y="95380"/>
                    </a:lnTo>
                    <a:lnTo>
                      <a:pt x="252015" y="57096"/>
                    </a:lnTo>
                    <a:lnTo>
                      <a:pt x="221826" y="26907"/>
                    </a:lnTo>
                    <a:lnTo>
                      <a:pt x="183542" y="7109"/>
                    </a:lnTo>
                    <a:lnTo>
                      <a:pt x="139461"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31" name="object 14">
                <a:extLst>
                  <a:ext uri="{FF2B5EF4-FFF2-40B4-BE49-F238E27FC236}">
                    <a16:creationId xmlns:a16="http://schemas.microsoft.com/office/drawing/2014/main" id="{99B911CC-803D-7E8D-CA64-2B6ADC5FBA75}"/>
                  </a:ext>
                </a:extLst>
              </p:cNvPr>
              <p:cNvSpPr/>
              <p:nvPr/>
            </p:nvSpPr>
            <p:spPr>
              <a:xfrm>
                <a:off x="11022494" y="1543769"/>
                <a:ext cx="407670" cy="92710"/>
              </a:xfrm>
              <a:custGeom>
                <a:avLst/>
                <a:gdLst/>
                <a:ahLst/>
                <a:cxnLst/>
                <a:rect l="l" t="t" r="r" b="b"/>
                <a:pathLst>
                  <a:path w="407670" h="92710">
                    <a:moveTo>
                      <a:pt x="0" y="92426"/>
                    </a:moveTo>
                    <a:lnTo>
                      <a:pt x="92426" y="0"/>
                    </a:lnTo>
                    <a:lnTo>
                      <a:pt x="407369"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32" name="object 15">
                <a:extLst>
                  <a:ext uri="{FF2B5EF4-FFF2-40B4-BE49-F238E27FC236}">
                    <a16:creationId xmlns:a16="http://schemas.microsoft.com/office/drawing/2014/main" id="{E7F8BAE4-BEEE-A801-1C6B-5442FC36DD14}"/>
                  </a:ext>
                </a:extLst>
              </p:cNvPr>
              <p:cNvSpPr/>
              <p:nvPr/>
            </p:nvSpPr>
            <p:spPr>
              <a:xfrm>
                <a:off x="11116634" y="1441713"/>
                <a:ext cx="114935" cy="0"/>
              </a:xfrm>
              <a:custGeom>
                <a:avLst/>
                <a:gdLst/>
                <a:ahLst/>
                <a:cxnLst/>
                <a:rect l="l" t="t" r="r" b="b"/>
                <a:pathLst>
                  <a:path w="114934">
                    <a:moveTo>
                      <a:pt x="0" y="0"/>
                    </a:moveTo>
                    <a:lnTo>
                      <a:pt x="114897"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33" name="object 16">
                <a:extLst>
                  <a:ext uri="{FF2B5EF4-FFF2-40B4-BE49-F238E27FC236}">
                    <a16:creationId xmlns:a16="http://schemas.microsoft.com/office/drawing/2014/main" id="{383B1EA5-E552-199E-0152-E81CA50E3326}"/>
                  </a:ext>
                </a:extLst>
              </p:cNvPr>
              <p:cNvSpPr/>
              <p:nvPr/>
            </p:nvSpPr>
            <p:spPr>
              <a:xfrm>
                <a:off x="11259127" y="1440429"/>
                <a:ext cx="138430" cy="0"/>
              </a:xfrm>
              <a:custGeom>
                <a:avLst/>
                <a:gdLst/>
                <a:ahLst/>
                <a:cxnLst/>
                <a:rect l="l" t="t" r="r" b="b"/>
                <a:pathLst>
                  <a:path w="138429">
                    <a:moveTo>
                      <a:pt x="0" y="0"/>
                    </a:moveTo>
                    <a:lnTo>
                      <a:pt x="137995"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34" name="object 17">
                <a:extLst>
                  <a:ext uri="{FF2B5EF4-FFF2-40B4-BE49-F238E27FC236}">
                    <a16:creationId xmlns:a16="http://schemas.microsoft.com/office/drawing/2014/main" id="{4A4138E4-5B59-E02B-5719-3D1D26FFC16B}"/>
                  </a:ext>
                </a:extLst>
              </p:cNvPr>
              <p:cNvSpPr/>
              <p:nvPr/>
            </p:nvSpPr>
            <p:spPr>
              <a:xfrm>
                <a:off x="11115350" y="1476372"/>
                <a:ext cx="239395" cy="0"/>
              </a:xfrm>
              <a:custGeom>
                <a:avLst/>
                <a:gdLst/>
                <a:ahLst/>
                <a:cxnLst/>
                <a:rect l="l" t="t" r="r" b="b"/>
                <a:pathLst>
                  <a:path w="239395">
                    <a:moveTo>
                      <a:pt x="0" y="0"/>
                    </a:moveTo>
                    <a:lnTo>
                      <a:pt x="238767"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35" name="object 18">
                <a:extLst>
                  <a:ext uri="{FF2B5EF4-FFF2-40B4-BE49-F238E27FC236}">
                    <a16:creationId xmlns:a16="http://schemas.microsoft.com/office/drawing/2014/main" id="{D2AF6E71-9D64-3A45-ACD7-90FE31F2F2E4}"/>
                  </a:ext>
                </a:extLst>
              </p:cNvPr>
              <p:cNvSpPr/>
              <p:nvPr/>
            </p:nvSpPr>
            <p:spPr>
              <a:xfrm>
                <a:off x="11115350" y="1512959"/>
                <a:ext cx="280035" cy="0"/>
              </a:xfrm>
              <a:custGeom>
                <a:avLst/>
                <a:gdLst/>
                <a:ahLst/>
                <a:cxnLst/>
                <a:rect l="l" t="t" r="r" b="b"/>
                <a:pathLst>
                  <a:path w="280034">
                    <a:moveTo>
                      <a:pt x="0" y="0"/>
                    </a:moveTo>
                    <a:lnTo>
                      <a:pt x="279855"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36" name="object 19">
                <a:extLst>
                  <a:ext uri="{FF2B5EF4-FFF2-40B4-BE49-F238E27FC236}">
                    <a16:creationId xmlns:a16="http://schemas.microsoft.com/office/drawing/2014/main" id="{895C6E2C-CAE9-7E57-ED84-F05D1DCD76A9}"/>
                  </a:ext>
                </a:extLst>
              </p:cNvPr>
              <p:cNvSpPr/>
              <p:nvPr/>
            </p:nvSpPr>
            <p:spPr>
              <a:xfrm>
                <a:off x="10391333" y="1489851"/>
                <a:ext cx="280035" cy="0"/>
              </a:xfrm>
              <a:custGeom>
                <a:avLst/>
                <a:gdLst/>
                <a:ahLst/>
                <a:cxnLst/>
                <a:rect l="l" t="t" r="r" b="b"/>
                <a:pathLst>
                  <a:path w="280034">
                    <a:moveTo>
                      <a:pt x="0" y="0"/>
                    </a:moveTo>
                    <a:lnTo>
                      <a:pt x="279855"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37" name="object 20">
                <a:extLst>
                  <a:ext uri="{FF2B5EF4-FFF2-40B4-BE49-F238E27FC236}">
                    <a16:creationId xmlns:a16="http://schemas.microsoft.com/office/drawing/2014/main" id="{8635591C-65B4-77EB-0851-C0730CE121DE}"/>
                  </a:ext>
                </a:extLst>
              </p:cNvPr>
              <p:cNvSpPr/>
              <p:nvPr/>
            </p:nvSpPr>
            <p:spPr>
              <a:xfrm>
                <a:off x="10313029" y="1854428"/>
                <a:ext cx="328930" cy="0"/>
              </a:xfrm>
              <a:custGeom>
                <a:avLst/>
                <a:gdLst/>
                <a:ahLst/>
                <a:cxnLst/>
                <a:rect l="l" t="t" r="r" b="b"/>
                <a:pathLst>
                  <a:path w="328929">
                    <a:moveTo>
                      <a:pt x="328628" y="0"/>
                    </a:moveTo>
                    <a:lnTo>
                      <a:pt x="0"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38" name="object 21">
                <a:extLst>
                  <a:ext uri="{FF2B5EF4-FFF2-40B4-BE49-F238E27FC236}">
                    <a16:creationId xmlns:a16="http://schemas.microsoft.com/office/drawing/2014/main" id="{4BF11444-2AFE-C7FD-F4FD-3DCB99DE25C8}"/>
                  </a:ext>
                </a:extLst>
              </p:cNvPr>
              <p:cNvSpPr/>
              <p:nvPr/>
            </p:nvSpPr>
            <p:spPr>
              <a:xfrm>
                <a:off x="10313882" y="1734615"/>
                <a:ext cx="104775" cy="0"/>
              </a:xfrm>
              <a:custGeom>
                <a:avLst/>
                <a:gdLst/>
                <a:ahLst/>
                <a:cxnLst/>
                <a:rect l="l" t="t" r="r" b="b"/>
                <a:pathLst>
                  <a:path w="104775">
                    <a:moveTo>
                      <a:pt x="0" y="0"/>
                    </a:moveTo>
                    <a:lnTo>
                      <a:pt x="104405"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39" name="object 22">
                <a:extLst>
                  <a:ext uri="{FF2B5EF4-FFF2-40B4-BE49-F238E27FC236}">
                    <a16:creationId xmlns:a16="http://schemas.microsoft.com/office/drawing/2014/main" id="{A583723A-3CDF-6EEC-F212-73ACDC42DE60}"/>
                  </a:ext>
                </a:extLst>
              </p:cNvPr>
              <p:cNvSpPr/>
              <p:nvPr/>
            </p:nvSpPr>
            <p:spPr>
              <a:xfrm>
                <a:off x="10313882" y="1768847"/>
                <a:ext cx="176530" cy="0"/>
              </a:xfrm>
              <a:custGeom>
                <a:avLst/>
                <a:gdLst/>
                <a:ahLst/>
                <a:cxnLst/>
                <a:rect l="l" t="t" r="r" b="b"/>
                <a:pathLst>
                  <a:path w="176529">
                    <a:moveTo>
                      <a:pt x="0" y="0"/>
                    </a:moveTo>
                    <a:lnTo>
                      <a:pt x="176298" y="0"/>
                    </a:lnTo>
                  </a:path>
                </a:pathLst>
              </a:custGeom>
              <a:ln w="11675">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40" name="object 23">
                <a:extLst>
                  <a:ext uri="{FF2B5EF4-FFF2-40B4-BE49-F238E27FC236}">
                    <a16:creationId xmlns:a16="http://schemas.microsoft.com/office/drawing/2014/main" id="{D8A286AA-1931-3719-5F65-36A5E61EF29C}"/>
                  </a:ext>
                </a:extLst>
              </p:cNvPr>
              <p:cNvSpPr/>
              <p:nvPr/>
            </p:nvSpPr>
            <p:spPr>
              <a:xfrm>
                <a:off x="10313882" y="1810781"/>
                <a:ext cx="176530" cy="0"/>
              </a:xfrm>
              <a:custGeom>
                <a:avLst/>
                <a:gdLst/>
                <a:ahLst/>
                <a:cxnLst/>
                <a:rect l="l" t="t" r="r" b="b"/>
                <a:pathLst>
                  <a:path w="176529">
                    <a:moveTo>
                      <a:pt x="0" y="0"/>
                    </a:moveTo>
                    <a:lnTo>
                      <a:pt x="176298" y="0"/>
                    </a:lnTo>
                  </a:path>
                </a:pathLst>
              </a:custGeom>
              <a:ln w="11675">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41" name="object 24">
                <a:extLst>
                  <a:ext uri="{FF2B5EF4-FFF2-40B4-BE49-F238E27FC236}">
                    <a16:creationId xmlns:a16="http://schemas.microsoft.com/office/drawing/2014/main" id="{2A87AE55-EBFE-2CF2-A9A9-E9699E8E5E58}"/>
                  </a:ext>
                </a:extLst>
              </p:cNvPr>
              <p:cNvSpPr/>
              <p:nvPr/>
            </p:nvSpPr>
            <p:spPr>
              <a:xfrm>
                <a:off x="10439687" y="1734615"/>
                <a:ext cx="104775" cy="0"/>
              </a:xfrm>
              <a:custGeom>
                <a:avLst/>
                <a:gdLst/>
                <a:ahLst/>
                <a:cxnLst/>
                <a:rect l="l" t="t" r="r" b="b"/>
                <a:pathLst>
                  <a:path w="104775">
                    <a:moveTo>
                      <a:pt x="0" y="0"/>
                    </a:moveTo>
                    <a:lnTo>
                      <a:pt x="104405"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42" name="object 25">
                <a:extLst>
                  <a:ext uri="{FF2B5EF4-FFF2-40B4-BE49-F238E27FC236}">
                    <a16:creationId xmlns:a16="http://schemas.microsoft.com/office/drawing/2014/main" id="{01BF2081-AEBC-9F96-8216-AF57DB86B0FB}"/>
                  </a:ext>
                </a:extLst>
              </p:cNvPr>
              <p:cNvSpPr/>
              <p:nvPr/>
            </p:nvSpPr>
            <p:spPr>
              <a:xfrm>
                <a:off x="10390049" y="1528364"/>
                <a:ext cx="390525" cy="80010"/>
              </a:xfrm>
              <a:custGeom>
                <a:avLst/>
                <a:gdLst/>
                <a:ahLst/>
                <a:cxnLst/>
                <a:rect l="l" t="t" r="r" b="b"/>
                <a:pathLst>
                  <a:path w="390525" h="80009">
                    <a:moveTo>
                      <a:pt x="390249" y="79589"/>
                    </a:moveTo>
                    <a:lnTo>
                      <a:pt x="326063" y="0"/>
                    </a:lnTo>
                    <a:lnTo>
                      <a:pt x="0" y="0"/>
                    </a:lnTo>
                  </a:path>
                </a:pathLst>
              </a:custGeom>
              <a:ln w="11675">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43" name="object 26">
                <a:extLst>
                  <a:ext uri="{FF2B5EF4-FFF2-40B4-BE49-F238E27FC236}">
                    <a16:creationId xmlns:a16="http://schemas.microsoft.com/office/drawing/2014/main" id="{EEFEE4F4-EF4F-23E1-B6D5-09FF0985335C}"/>
                  </a:ext>
                </a:extLst>
              </p:cNvPr>
              <p:cNvSpPr/>
              <p:nvPr/>
            </p:nvSpPr>
            <p:spPr>
              <a:xfrm>
                <a:off x="10242786" y="2270878"/>
                <a:ext cx="452755" cy="0"/>
              </a:xfrm>
              <a:custGeom>
                <a:avLst/>
                <a:gdLst/>
                <a:ahLst/>
                <a:cxnLst/>
                <a:rect l="l" t="t" r="r" b="b"/>
                <a:pathLst>
                  <a:path w="452754">
                    <a:moveTo>
                      <a:pt x="0" y="0"/>
                    </a:moveTo>
                    <a:lnTo>
                      <a:pt x="452761"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44" name="object 27">
                <a:extLst>
                  <a:ext uri="{FF2B5EF4-FFF2-40B4-BE49-F238E27FC236}">
                    <a16:creationId xmlns:a16="http://schemas.microsoft.com/office/drawing/2014/main" id="{A171240E-11F9-4DE8-FADA-86E37CBB29D8}"/>
                  </a:ext>
                </a:extLst>
              </p:cNvPr>
              <p:cNvSpPr/>
              <p:nvPr/>
            </p:nvSpPr>
            <p:spPr>
              <a:xfrm>
                <a:off x="10250042" y="2326023"/>
                <a:ext cx="1021715" cy="0"/>
              </a:xfrm>
              <a:custGeom>
                <a:avLst/>
                <a:gdLst/>
                <a:ahLst/>
                <a:cxnLst/>
                <a:rect l="l" t="t" r="r" b="b"/>
                <a:pathLst>
                  <a:path w="1021715">
                    <a:moveTo>
                      <a:pt x="0" y="0"/>
                    </a:moveTo>
                    <a:lnTo>
                      <a:pt x="1021623"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45" name="object 28">
                <a:extLst>
                  <a:ext uri="{FF2B5EF4-FFF2-40B4-BE49-F238E27FC236}">
                    <a16:creationId xmlns:a16="http://schemas.microsoft.com/office/drawing/2014/main" id="{FBF789F4-0C61-2F51-3DBB-5A95E8431E82}"/>
                  </a:ext>
                </a:extLst>
              </p:cNvPr>
              <p:cNvSpPr/>
              <p:nvPr/>
            </p:nvSpPr>
            <p:spPr>
              <a:xfrm>
                <a:off x="10268908" y="2437763"/>
                <a:ext cx="1021715" cy="0"/>
              </a:xfrm>
              <a:custGeom>
                <a:avLst/>
                <a:gdLst/>
                <a:ahLst/>
                <a:cxnLst/>
                <a:rect l="l" t="t" r="r" b="b"/>
                <a:pathLst>
                  <a:path w="1021715">
                    <a:moveTo>
                      <a:pt x="0" y="0"/>
                    </a:moveTo>
                    <a:lnTo>
                      <a:pt x="1021623"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46" name="object 29">
                <a:extLst>
                  <a:ext uri="{FF2B5EF4-FFF2-40B4-BE49-F238E27FC236}">
                    <a16:creationId xmlns:a16="http://schemas.microsoft.com/office/drawing/2014/main" id="{2F043EB3-400A-3D59-F16F-F13F62A6E5BC}"/>
                  </a:ext>
                </a:extLst>
              </p:cNvPr>
              <p:cNvSpPr/>
              <p:nvPr/>
            </p:nvSpPr>
            <p:spPr>
              <a:xfrm>
                <a:off x="10258750" y="2384070"/>
                <a:ext cx="701040" cy="0"/>
              </a:xfrm>
              <a:custGeom>
                <a:avLst/>
                <a:gdLst/>
                <a:ahLst/>
                <a:cxnLst/>
                <a:rect l="l" t="t" r="r" b="b"/>
                <a:pathLst>
                  <a:path w="701040">
                    <a:moveTo>
                      <a:pt x="0" y="0"/>
                    </a:moveTo>
                    <a:lnTo>
                      <a:pt x="700921"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47" name="object 30">
                <a:extLst>
                  <a:ext uri="{FF2B5EF4-FFF2-40B4-BE49-F238E27FC236}">
                    <a16:creationId xmlns:a16="http://schemas.microsoft.com/office/drawing/2014/main" id="{CCB5BF70-E72F-D057-CDCD-CB8AE36AAF35}"/>
                  </a:ext>
                </a:extLst>
              </p:cNvPr>
              <p:cNvSpPr/>
              <p:nvPr/>
            </p:nvSpPr>
            <p:spPr>
              <a:xfrm>
                <a:off x="10998849" y="2384070"/>
                <a:ext cx="520065" cy="0"/>
              </a:xfrm>
              <a:custGeom>
                <a:avLst/>
                <a:gdLst/>
                <a:ahLst/>
                <a:cxnLst/>
                <a:rect l="l" t="t" r="r" b="b"/>
                <a:pathLst>
                  <a:path w="520065">
                    <a:moveTo>
                      <a:pt x="0" y="0"/>
                    </a:moveTo>
                    <a:lnTo>
                      <a:pt x="519523"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48" name="object 31">
                <a:extLst>
                  <a:ext uri="{FF2B5EF4-FFF2-40B4-BE49-F238E27FC236}">
                    <a16:creationId xmlns:a16="http://schemas.microsoft.com/office/drawing/2014/main" id="{93677C6A-CA8A-6DE6-A7A3-DD0CC24B6B82}"/>
                  </a:ext>
                </a:extLst>
              </p:cNvPr>
              <p:cNvSpPr/>
              <p:nvPr/>
            </p:nvSpPr>
            <p:spPr>
              <a:xfrm>
                <a:off x="11046012" y="2270878"/>
                <a:ext cx="453390" cy="0"/>
              </a:xfrm>
              <a:custGeom>
                <a:avLst/>
                <a:gdLst/>
                <a:ahLst/>
                <a:cxnLst/>
                <a:rect l="l" t="t" r="r" b="b"/>
                <a:pathLst>
                  <a:path w="453390">
                    <a:moveTo>
                      <a:pt x="0" y="0"/>
                    </a:moveTo>
                    <a:lnTo>
                      <a:pt x="452771"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49" name="object 32">
                <a:extLst>
                  <a:ext uri="{FF2B5EF4-FFF2-40B4-BE49-F238E27FC236}">
                    <a16:creationId xmlns:a16="http://schemas.microsoft.com/office/drawing/2014/main" id="{7399513F-A6FC-AF80-EC0C-2A098CDD92C4}"/>
                  </a:ext>
                </a:extLst>
              </p:cNvPr>
              <p:cNvSpPr/>
              <p:nvPr/>
            </p:nvSpPr>
            <p:spPr>
              <a:xfrm>
                <a:off x="10736912" y="2270878"/>
                <a:ext cx="231775" cy="0"/>
              </a:xfrm>
              <a:custGeom>
                <a:avLst/>
                <a:gdLst/>
                <a:ahLst/>
                <a:cxnLst/>
                <a:rect l="l" t="t" r="r" b="b"/>
                <a:pathLst>
                  <a:path w="231775">
                    <a:moveTo>
                      <a:pt x="0" y="0"/>
                    </a:moveTo>
                    <a:lnTo>
                      <a:pt x="231458"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grpSp>
      </p:grpSp>
      <p:grpSp>
        <p:nvGrpSpPr>
          <p:cNvPr id="150" name="object 3">
            <a:extLst>
              <a:ext uri="{FF2B5EF4-FFF2-40B4-BE49-F238E27FC236}">
                <a16:creationId xmlns:a16="http://schemas.microsoft.com/office/drawing/2014/main" id="{66A9C93F-B50C-5182-2A34-52C8D70625B1}"/>
              </a:ext>
            </a:extLst>
          </p:cNvPr>
          <p:cNvGrpSpPr/>
          <p:nvPr/>
        </p:nvGrpSpPr>
        <p:grpSpPr>
          <a:xfrm flipH="1">
            <a:off x="10800143" y="2324025"/>
            <a:ext cx="657547" cy="562059"/>
            <a:chOff x="10027223" y="1305851"/>
            <a:chExt cx="1688629" cy="1392496"/>
          </a:xfrm>
        </p:grpSpPr>
        <p:sp>
          <p:nvSpPr>
            <p:cNvPr id="151" name="object 5">
              <a:extLst>
                <a:ext uri="{FF2B5EF4-FFF2-40B4-BE49-F238E27FC236}">
                  <a16:creationId xmlns:a16="http://schemas.microsoft.com/office/drawing/2014/main" id="{B950FCE1-697C-D9E9-89A6-D2B4338467D8}"/>
                </a:ext>
              </a:extLst>
            </p:cNvPr>
            <p:cNvSpPr/>
            <p:nvPr/>
          </p:nvSpPr>
          <p:spPr>
            <a:xfrm>
              <a:off x="10027223" y="1305851"/>
              <a:ext cx="1547495" cy="1361440"/>
            </a:xfrm>
            <a:custGeom>
              <a:avLst/>
              <a:gdLst/>
              <a:ahLst/>
              <a:cxnLst/>
              <a:rect l="l" t="t" r="r" b="b"/>
              <a:pathLst>
                <a:path w="1547495" h="1361439">
                  <a:moveTo>
                    <a:pt x="1442584" y="0"/>
                  </a:moveTo>
                  <a:lnTo>
                    <a:pt x="0" y="0"/>
                  </a:lnTo>
                  <a:lnTo>
                    <a:pt x="104394" y="1361110"/>
                  </a:lnTo>
                  <a:lnTo>
                    <a:pt x="1546979" y="1361110"/>
                  </a:lnTo>
                  <a:lnTo>
                    <a:pt x="1442584" y="0"/>
                  </a:lnTo>
                  <a:close/>
                </a:path>
              </a:pathLst>
            </a:custGeom>
            <a:solidFill>
              <a:srgbClr val="23253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52" name="object 6">
              <a:extLst>
                <a:ext uri="{FF2B5EF4-FFF2-40B4-BE49-F238E27FC236}">
                  <a16:creationId xmlns:a16="http://schemas.microsoft.com/office/drawing/2014/main" id="{91D93174-0098-72E7-A1DB-1CB13D39DB3B}"/>
                </a:ext>
              </a:extLst>
            </p:cNvPr>
            <p:cNvSpPr/>
            <p:nvPr/>
          </p:nvSpPr>
          <p:spPr>
            <a:xfrm>
              <a:off x="10073662" y="1310204"/>
              <a:ext cx="1547495" cy="1356994"/>
            </a:xfrm>
            <a:custGeom>
              <a:avLst/>
              <a:gdLst/>
              <a:ahLst/>
              <a:cxnLst/>
              <a:rect l="l" t="t" r="r" b="b"/>
              <a:pathLst>
                <a:path w="1547495" h="1356995">
                  <a:moveTo>
                    <a:pt x="1442584" y="0"/>
                  </a:moveTo>
                  <a:lnTo>
                    <a:pt x="0" y="0"/>
                  </a:lnTo>
                  <a:lnTo>
                    <a:pt x="104394" y="1356764"/>
                  </a:lnTo>
                  <a:lnTo>
                    <a:pt x="1546979" y="1356764"/>
                  </a:lnTo>
                  <a:lnTo>
                    <a:pt x="144258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53" name="object 7">
              <a:extLst>
                <a:ext uri="{FF2B5EF4-FFF2-40B4-BE49-F238E27FC236}">
                  <a16:creationId xmlns:a16="http://schemas.microsoft.com/office/drawing/2014/main" id="{A19E4D38-9EE9-5AEF-7326-5B567D2317E1}"/>
                </a:ext>
              </a:extLst>
            </p:cNvPr>
            <p:cNvSpPr/>
            <p:nvPr/>
          </p:nvSpPr>
          <p:spPr>
            <a:xfrm>
              <a:off x="10073661" y="1310205"/>
              <a:ext cx="1547495" cy="1356995"/>
            </a:xfrm>
            <a:custGeom>
              <a:avLst/>
              <a:gdLst/>
              <a:ahLst/>
              <a:cxnLst/>
              <a:rect l="l" t="t" r="r" b="b"/>
              <a:pathLst>
                <a:path w="1547495" h="1356995">
                  <a:moveTo>
                    <a:pt x="1442584" y="0"/>
                  </a:moveTo>
                  <a:lnTo>
                    <a:pt x="0" y="0"/>
                  </a:lnTo>
                  <a:lnTo>
                    <a:pt x="104394" y="1356764"/>
                  </a:lnTo>
                  <a:lnTo>
                    <a:pt x="1546979" y="1356764"/>
                  </a:lnTo>
                  <a:lnTo>
                    <a:pt x="1442584" y="0"/>
                  </a:lnTo>
                  <a:close/>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54" name="object 8">
              <a:extLst>
                <a:ext uri="{FF2B5EF4-FFF2-40B4-BE49-F238E27FC236}">
                  <a16:creationId xmlns:a16="http://schemas.microsoft.com/office/drawing/2014/main" id="{882E4D0A-A531-13F3-7290-CE9035F44B30}"/>
                </a:ext>
              </a:extLst>
            </p:cNvPr>
            <p:cNvSpPr/>
            <p:nvPr/>
          </p:nvSpPr>
          <p:spPr>
            <a:xfrm>
              <a:off x="10048342" y="2660882"/>
              <a:ext cx="1667510" cy="37465"/>
            </a:xfrm>
            <a:custGeom>
              <a:avLst/>
              <a:gdLst/>
              <a:ahLst/>
              <a:cxnLst/>
              <a:rect l="l" t="t" r="r" b="b"/>
              <a:pathLst>
                <a:path w="1667509" h="37464">
                  <a:moveTo>
                    <a:pt x="1667383" y="0"/>
                  </a:moveTo>
                  <a:lnTo>
                    <a:pt x="0" y="0"/>
                  </a:lnTo>
                  <a:lnTo>
                    <a:pt x="0" y="36920"/>
                  </a:lnTo>
                  <a:lnTo>
                    <a:pt x="1667383" y="36920"/>
                  </a:lnTo>
                  <a:lnTo>
                    <a:pt x="1667383" y="0"/>
                  </a:lnTo>
                  <a:close/>
                </a:path>
              </a:pathLst>
            </a:custGeom>
            <a:solidFill>
              <a:srgbClr val="23253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55" name="object 9">
              <a:extLst>
                <a:ext uri="{FF2B5EF4-FFF2-40B4-BE49-F238E27FC236}">
                  <a16:creationId xmlns:a16="http://schemas.microsoft.com/office/drawing/2014/main" id="{A957DFC7-F10A-AA97-B857-A6DF103D0AED}"/>
                </a:ext>
              </a:extLst>
            </p:cNvPr>
            <p:cNvSpPr/>
            <p:nvPr/>
          </p:nvSpPr>
          <p:spPr>
            <a:xfrm>
              <a:off x="10567814" y="1545460"/>
              <a:ext cx="580390" cy="580390"/>
            </a:xfrm>
            <a:custGeom>
              <a:avLst/>
              <a:gdLst/>
              <a:ahLst/>
              <a:cxnLst/>
              <a:rect l="l" t="t" r="r" b="b"/>
              <a:pathLst>
                <a:path w="580390" h="580389">
                  <a:moveTo>
                    <a:pt x="289896" y="0"/>
                  </a:moveTo>
                  <a:lnTo>
                    <a:pt x="242873" y="3794"/>
                  </a:lnTo>
                  <a:lnTo>
                    <a:pt x="198265" y="14778"/>
                  </a:lnTo>
                  <a:lnTo>
                    <a:pt x="156670" y="32356"/>
                  </a:lnTo>
                  <a:lnTo>
                    <a:pt x="118685" y="55931"/>
                  </a:lnTo>
                  <a:lnTo>
                    <a:pt x="84907" y="84905"/>
                  </a:lnTo>
                  <a:lnTo>
                    <a:pt x="55931" y="118683"/>
                  </a:lnTo>
                  <a:lnTo>
                    <a:pt x="32356" y="156666"/>
                  </a:lnTo>
                  <a:lnTo>
                    <a:pt x="14778" y="198259"/>
                  </a:lnTo>
                  <a:lnTo>
                    <a:pt x="3794" y="242865"/>
                  </a:lnTo>
                  <a:lnTo>
                    <a:pt x="0" y="289886"/>
                  </a:lnTo>
                  <a:lnTo>
                    <a:pt x="3794" y="336907"/>
                  </a:lnTo>
                  <a:lnTo>
                    <a:pt x="14778" y="381512"/>
                  </a:lnTo>
                  <a:lnTo>
                    <a:pt x="32356" y="423105"/>
                  </a:lnTo>
                  <a:lnTo>
                    <a:pt x="55931" y="461089"/>
                  </a:lnTo>
                  <a:lnTo>
                    <a:pt x="84907" y="494867"/>
                  </a:lnTo>
                  <a:lnTo>
                    <a:pt x="118685" y="523841"/>
                  </a:lnTo>
                  <a:lnTo>
                    <a:pt x="156670" y="547416"/>
                  </a:lnTo>
                  <a:lnTo>
                    <a:pt x="198265" y="564994"/>
                  </a:lnTo>
                  <a:lnTo>
                    <a:pt x="242873" y="575978"/>
                  </a:lnTo>
                  <a:lnTo>
                    <a:pt x="289896" y="579772"/>
                  </a:lnTo>
                  <a:lnTo>
                    <a:pt x="336918" y="575978"/>
                  </a:lnTo>
                  <a:lnTo>
                    <a:pt x="381523" y="564994"/>
                  </a:lnTo>
                  <a:lnTo>
                    <a:pt x="423116" y="547416"/>
                  </a:lnTo>
                  <a:lnTo>
                    <a:pt x="461100" y="523841"/>
                  </a:lnTo>
                  <a:lnTo>
                    <a:pt x="494877" y="494867"/>
                  </a:lnTo>
                  <a:lnTo>
                    <a:pt x="523852" y="461089"/>
                  </a:lnTo>
                  <a:lnTo>
                    <a:pt x="547426" y="423105"/>
                  </a:lnTo>
                  <a:lnTo>
                    <a:pt x="565004" y="381512"/>
                  </a:lnTo>
                  <a:lnTo>
                    <a:pt x="575989" y="336907"/>
                  </a:lnTo>
                  <a:lnTo>
                    <a:pt x="579783" y="289886"/>
                  </a:lnTo>
                  <a:lnTo>
                    <a:pt x="575989" y="242865"/>
                  </a:lnTo>
                  <a:lnTo>
                    <a:pt x="565004" y="198259"/>
                  </a:lnTo>
                  <a:lnTo>
                    <a:pt x="547426" y="156666"/>
                  </a:lnTo>
                  <a:lnTo>
                    <a:pt x="523852" y="118683"/>
                  </a:lnTo>
                  <a:lnTo>
                    <a:pt x="494877" y="84905"/>
                  </a:lnTo>
                  <a:lnTo>
                    <a:pt x="461100" y="55931"/>
                  </a:lnTo>
                  <a:lnTo>
                    <a:pt x="423116" y="32356"/>
                  </a:lnTo>
                  <a:lnTo>
                    <a:pt x="381523" y="14778"/>
                  </a:lnTo>
                  <a:lnTo>
                    <a:pt x="336918" y="3794"/>
                  </a:lnTo>
                  <a:lnTo>
                    <a:pt x="289896" y="0"/>
                  </a:lnTo>
                  <a:close/>
                </a:path>
              </a:pathLst>
            </a:custGeom>
            <a:solidFill>
              <a:srgbClr val="D2D2D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56" name="object 10">
              <a:extLst>
                <a:ext uri="{FF2B5EF4-FFF2-40B4-BE49-F238E27FC236}">
                  <a16:creationId xmlns:a16="http://schemas.microsoft.com/office/drawing/2014/main" id="{9CDD2C6F-C39C-909A-95C9-9972DB466304}"/>
                </a:ext>
              </a:extLst>
            </p:cNvPr>
            <p:cNvSpPr/>
            <p:nvPr/>
          </p:nvSpPr>
          <p:spPr>
            <a:xfrm>
              <a:off x="10634601" y="1545461"/>
              <a:ext cx="358775" cy="297180"/>
            </a:xfrm>
            <a:custGeom>
              <a:avLst/>
              <a:gdLst/>
              <a:ahLst/>
              <a:cxnLst/>
              <a:rect l="l" t="t" r="r" b="b"/>
              <a:pathLst>
                <a:path w="358775" h="297180">
                  <a:moveTo>
                    <a:pt x="223109" y="0"/>
                  </a:moveTo>
                  <a:lnTo>
                    <a:pt x="176085" y="3794"/>
                  </a:lnTo>
                  <a:lnTo>
                    <a:pt x="131477" y="14778"/>
                  </a:lnTo>
                  <a:lnTo>
                    <a:pt x="89883" y="32356"/>
                  </a:lnTo>
                  <a:lnTo>
                    <a:pt x="51898" y="55931"/>
                  </a:lnTo>
                  <a:lnTo>
                    <a:pt x="18119" y="84905"/>
                  </a:lnTo>
                  <a:lnTo>
                    <a:pt x="0" y="106028"/>
                  </a:lnTo>
                  <a:lnTo>
                    <a:pt x="223305" y="297062"/>
                  </a:lnTo>
                  <a:lnTo>
                    <a:pt x="358275" y="33564"/>
                  </a:lnTo>
                  <a:lnTo>
                    <a:pt x="356329" y="32356"/>
                  </a:lnTo>
                  <a:lnTo>
                    <a:pt x="314736" y="14778"/>
                  </a:lnTo>
                  <a:lnTo>
                    <a:pt x="270130" y="3794"/>
                  </a:lnTo>
                  <a:lnTo>
                    <a:pt x="223109" y="0"/>
                  </a:lnTo>
                  <a:close/>
                </a:path>
              </a:pathLst>
            </a:custGeom>
            <a:solidFill>
              <a:srgbClr val="E6CDB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57" name="object 11">
              <a:extLst>
                <a:ext uri="{FF2B5EF4-FFF2-40B4-BE49-F238E27FC236}">
                  <a16:creationId xmlns:a16="http://schemas.microsoft.com/office/drawing/2014/main" id="{6106C4C2-E470-AD81-96A4-DC0595D0E6BC}"/>
                </a:ext>
              </a:extLst>
            </p:cNvPr>
            <p:cNvSpPr/>
            <p:nvPr/>
          </p:nvSpPr>
          <p:spPr>
            <a:xfrm>
              <a:off x="10857902" y="1568295"/>
              <a:ext cx="290195" cy="546735"/>
            </a:xfrm>
            <a:custGeom>
              <a:avLst/>
              <a:gdLst/>
              <a:ahLst/>
              <a:cxnLst/>
              <a:rect l="l" t="t" r="r" b="b"/>
              <a:pathLst>
                <a:path w="290195" h="546735">
                  <a:moveTo>
                    <a:pt x="110498" y="0"/>
                  </a:moveTo>
                  <a:lnTo>
                    <a:pt x="0" y="274228"/>
                  </a:lnTo>
                  <a:lnTo>
                    <a:pt x="74300" y="546378"/>
                  </a:lnTo>
                  <a:lnTo>
                    <a:pt x="91434" y="542159"/>
                  </a:lnTo>
                  <a:lnTo>
                    <a:pt x="133027" y="524581"/>
                  </a:lnTo>
                  <a:lnTo>
                    <a:pt x="171011" y="501006"/>
                  </a:lnTo>
                  <a:lnTo>
                    <a:pt x="204788" y="472031"/>
                  </a:lnTo>
                  <a:lnTo>
                    <a:pt x="233763" y="438254"/>
                  </a:lnTo>
                  <a:lnTo>
                    <a:pt x="257337" y="400270"/>
                  </a:lnTo>
                  <a:lnTo>
                    <a:pt x="274915" y="358677"/>
                  </a:lnTo>
                  <a:lnTo>
                    <a:pt x="285900" y="314072"/>
                  </a:lnTo>
                  <a:lnTo>
                    <a:pt x="289694" y="267051"/>
                  </a:lnTo>
                  <a:lnTo>
                    <a:pt x="285900" y="220030"/>
                  </a:lnTo>
                  <a:lnTo>
                    <a:pt x="274915" y="175424"/>
                  </a:lnTo>
                  <a:lnTo>
                    <a:pt x="257337" y="133831"/>
                  </a:lnTo>
                  <a:lnTo>
                    <a:pt x="233763" y="95848"/>
                  </a:lnTo>
                  <a:lnTo>
                    <a:pt x="204788" y="62070"/>
                  </a:lnTo>
                  <a:lnTo>
                    <a:pt x="171011" y="33096"/>
                  </a:lnTo>
                  <a:lnTo>
                    <a:pt x="133027" y="9521"/>
                  </a:lnTo>
                  <a:lnTo>
                    <a:pt x="110498" y="0"/>
                  </a:lnTo>
                  <a:close/>
                </a:path>
              </a:pathLst>
            </a:custGeom>
            <a:solidFill>
              <a:srgbClr val="92929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pic>
          <p:nvPicPr>
            <p:cNvPr id="158" name="object 12">
              <a:extLst>
                <a:ext uri="{FF2B5EF4-FFF2-40B4-BE49-F238E27FC236}">
                  <a16:creationId xmlns:a16="http://schemas.microsoft.com/office/drawing/2014/main" id="{739ED9FA-A600-1EFC-5E45-831D1C5478C6}"/>
                </a:ext>
              </a:extLst>
            </p:cNvPr>
            <p:cNvPicPr/>
            <p:nvPr/>
          </p:nvPicPr>
          <p:blipFill>
            <a:blip r:embed="rId16" cstate="print"/>
            <a:stretch>
              <a:fillRect/>
            </a:stretch>
          </p:blipFill>
          <p:spPr>
            <a:xfrm>
              <a:off x="10899257" y="1568038"/>
              <a:ext cx="175784" cy="199949"/>
            </a:xfrm>
            <a:prstGeom prst="rect">
              <a:avLst/>
            </a:prstGeom>
          </p:spPr>
        </p:pic>
        <p:sp>
          <p:nvSpPr>
            <p:cNvPr id="159" name="object 13">
              <a:extLst>
                <a:ext uri="{FF2B5EF4-FFF2-40B4-BE49-F238E27FC236}">
                  <a16:creationId xmlns:a16="http://schemas.microsoft.com/office/drawing/2014/main" id="{030556D4-C0BD-0F25-6F25-DF9A0A3EDF11}"/>
                </a:ext>
              </a:extLst>
            </p:cNvPr>
            <p:cNvSpPr/>
            <p:nvPr/>
          </p:nvSpPr>
          <p:spPr>
            <a:xfrm>
              <a:off x="10714867" y="1698462"/>
              <a:ext cx="279400" cy="279400"/>
            </a:xfrm>
            <a:custGeom>
              <a:avLst/>
              <a:gdLst/>
              <a:ahLst/>
              <a:cxnLst/>
              <a:rect l="l" t="t" r="r" b="b"/>
              <a:pathLst>
                <a:path w="279400" h="279400">
                  <a:moveTo>
                    <a:pt x="139461" y="0"/>
                  </a:moveTo>
                  <a:lnTo>
                    <a:pt x="95380" y="7109"/>
                  </a:lnTo>
                  <a:lnTo>
                    <a:pt x="57096" y="26907"/>
                  </a:lnTo>
                  <a:lnTo>
                    <a:pt x="26907" y="57096"/>
                  </a:lnTo>
                  <a:lnTo>
                    <a:pt x="7109" y="95380"/>
                  </a:lnTo>
                  <a:lnTo>
                    <a:pt x="0" y="139461"/>
                  </a:lnTo>
                  <a:lnTo>
                    <a:pt x="7109" y="183542"/>
                  </a:lnTo>
                  <a:lnTo>
                    <a:pt x="26907" y="221826"/>
                  </a:lnTo>
                  <a:lnTo>
                    <a:pt x="57096" y="252015"/>
                  </a:lnTo>
                  <a:lnTo>
                    <a:pt x="95380" y="271813"/>
                  </a:lnTo>
                  <a:lnTo>
                    <a:pt x="139461" y="278923"/>
                  </a:lnTo>
                  <a:lnTo>
                    <a:pt x="183542" y="271813"/>
                  </a:lnTo>
                  <a:lnTo>
                    <a:pt x="221826" y="252015"/>
                  </a:lnTo>
                  <a:lnTo>
                    <a:pt x="252015" y="221826"/>
                  </a:lnTo>
                  <a:lnTo>
                    <a:pt x="271813" y="183542"/>
                  </a:lnTo>
                  <a:lnTo>
                    <a:pt x="278923" y="139461"/>
                  </a:lnTo>
                  <a:lnTo>
                    <a:pt x="271813" y="95380"/>
                  </a:lnTo>
                  <a:lnTo>
                    <a:pt x="252015" y="57096"/>
                  </a:lnTo>
                  <a:lnTo>
                    <a:pt x="221826" y="26907"/>
                  </a:lnTo>
                  <a:lnTo>
                    <a:pt x="183542" y="7109"/>
                  </a:lnTo>
                  <a:lnTo>
                    <a:pt x="139461"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60" name="object 14">
              <a:extLst>
                <a:ext uri="{FF2B5EF4-FFF2-40B4-BE49-F238E27FC236}">
                  <a16:creationId xmlns:a16="http://schemas.microsoft.com/office/drawing/2014/main" id="{F9C3FFAF-751C-F8DE-E6D0-D3C785A249FF}"/>
                </a:ext>
              </a:extLst>
            </p:cNvPr>
            <p:cNvSpPr/>
            <p:nvPr/>
          </p:nvSpPr>
          <p:spPr>
            <a:xfrm>
              <a:off x="11022494" y="1543769"/>
              <a:ext cx="407670" cy="92710"/>
            </a:xfrm>
            <a:custGeom>
              <a:avLst/>
              <a:gdLst/>
              <a:ahLst/>
              <a:cxnLst/>
              <a:rect l="l" t="t" r="r" b="b"/>
              <a:pathLst>
                <a:path w="407670" h="92710">
                  <a:moveTo>
                    <a:pt x="0" y="92426"/>
                  </a:moveTo>
                  <a:lnTo>
                    <a:pt x="92426" y="0"/>
                  </a:lnTo>
                  <a:lnTo>
                    <a:pt x="407369"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61" name="object 15">
              <a:extLst>
                <a:ext uri="{FF2B5EF4-FFF2-40B4-BE49-F238E27FC236}">
                  <a16:creationId xmlns:a16="http://schemas.microsoft.com/office/drawing/2014/main" id="{D0F31BD1-5432-66D7-E6BE-8F86C5A0F24D}"/>
                </a:ext>
              </a:extLst>
            </p:cNvPr>
            <p:cNvSpPr/>
            <p:nvPr/>
          </p:nvSpPr>
          <p:spPr>
            <a:xfrm>
              <a:off x="11116634" y="1441713"/>
              <a:ext cx="114935" cy="0"/>
            </a:xfrm>
            <a:custGeom>
              <a:avLst/>
              <a:gdLst/>
              <a:ahLst/>
              <a:cxnLst/>
              <a:rect l="l" t="t" r="r" b="b"/>
              <a:pathLst>
                <a:path w="114934">
                  <a:moveTo>
                    <a:pt x="0" y="0"/>
                  </a:moveTo>
                  <a:lnTo>
                    <a:pt x="114897"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62" name="object 16">
              <a:extLst>
                <a:ext uri="{FF2B5EF4-FFF2-40B4-BE49-F238E27FC236}">
                  <a16:creationId xmlns:a16="http://schemas.microsoft.com/office/drawing/2014/main" id="{81C48D71-311B-436F-1D9D-B7C52F82F439}"/>
                </a:ext>
              </a:extLst>
            </p:cNvPr>
            <p:cNvSpPr/>
            <p:nvPr/>
          </p:nvSpPr>
          <p:spPr>
            <a:xfrm>
              <a:off x="11259127" y="1440429"/>
              <a:ext cx="138430" cy="0"/>
            </a:xfrm>
            <a:custGeom>
              <a:avLst/>
              <a:gdLst/>
              <a:ahLst/>
              <a:cxnLst/>
              <a:rect l="l" t="t" r="r" b="b"/>
              <a:pathLst>
                <a:path w="138429">
                  <a:moveTo>
                    <a:pt x="0" y="0"/>
                  </a:moveTo>
                  <a:lnTo>
                    <a:pt x="137995"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63" name="object 17">
              <a:extLst>
                <a:ext uri="{FF2B5EF4-FFF2-40B4-BE49-F238E27FC236}">
                  <a16:creationId xmlns:a16="http://schemas.microsoft.com/office/drawing/2014/main" id="{F8CF468C-BC48-9770-2FF9-F2C3D311EEC5}"/>
                </a:ext>
              </a:extLst>
            </p:cNvPr>
            <p:cNvSpPr/>
            <p:nvPr/>
          </p:nvSpPr>
          <p:spPr>
            <a:xfrm>
              <a:off x="11115350" y="1476372"/>
              <a:ext cx="239395" cy="0"/>
            </a:xfrm>
            <a:custGeom>
              <a:avLst/>
              <a:gdLst/>
              <a:ahLst/>
              <a:cxnLst/>
              <a:rect l="l" t="t" r="r" b="b"/>
              <a:pathLst>
                <a:path w="239395">
                  <a:moveTo>
                    <a:pt x="0" y="0"/>
                  </a:moveTo>
                  <a:lnTo>
                    <a:pt x="238767"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64" name="object 18">
              <a:extLst>
                <a:ext uri="{FF2B5EF4-FFF2-40B4-BE49-F238E27FC236}">
                  <a16:creationId xmlns:a16="http://schemas.microsoft.com/office/drawing/2014/main" id="{BDAA574D-5E7A-648D-5A21-53093707F25F}"/>
                </a:ext>
              </a:extLst>
            </p:cNvPr>
            <p:cNvSpPr/>
            <p:nvPr/>
          </p:nvSpPr>
          <p:spPr>
            <a:xfrm>
              <a:off x="11115350" y="1512959"/>
              <a:ext cx="280035" cy="0"/>
            </a:xfrm>
            <a:custGeom>
              <a:avLst/>
              <a:gdLst/>
              <a:ahLst/>
              <a:cxnLst/>
              <a:rect l="l" t="t" r="r" b="b"/>
              <a:pathLst>
                <a:path w="280034">
                  <a:moveTo>
                    <a:pt x="0" y="0"/>
                  </a:moveTo>
                  <a:lnTo>
                    <a:pt x="279855"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65" name="object 19">
              <a:extLst>
                <a:ext uri="{FF2B5EF4-FFF2-40B4-BE49-F238E27FC236}">
                  <a16:creationId xmlns:a16="http://schemas.microsoft.com/office/drawing/2014/main" id="{3AD97DCE-C858-DF19-6A25-F3FE94BD9B21}"/>
                </a:ext>
              </a:extLst>
            </p:cNvPr>
            <p:cNvSpPr/>
            <p:nvPr/>
          </p:nvSpPr>
          <p:spPr>
            <a:xfrm>
              <a:off x="10391333" y="1489851"/>
              <a:ext cx="280035" cy="0"/>
            </a:xfrm>
            <a:custGeom>
              <a:avLst/>
              <a:gdLst/>
              <a:ahLst/>
              <a:cxnLst/>
              <a:rect l="l" t="t" r="r" b="b"/>
              <a:pathLst>
                <a:path w="280034">
                  <a:moveTo>
                    <a:pt x="0" y="0"/>
                  </a:moveTo>
                  <a:lnTo>
                    <a:pt x="279855"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66" name="object 20">
              <a:extLst>
                <a:ext uri="{FF2B5EF4-FFF2-40B4-BE49-F238E27FC236}">
                  <a16:creationId xmlns:a16="http://schemas.microsoft.com/office/drawing/2014/main" id="{292D8E40-B751-0EE1-DFD3-C3BE16DA3081}"/>
                </a:ext>
              </a:extLst>
            </p:cNvPr>
            <p:cNvSpPr/>
            <p:nvPr/>
          </p:nvSpPr>
          <p:spPr>
            <a:xfrm>
              <a:off x="10313029" y="1854428"/>
              <a:ext cx="328930" cy="0"/>
            </a:xfrm>
            <a:custGeom>
              <a:avLst/>
              <a:gdLst/>
              <a:ahLst/>
              <a:cxnLst/>
              <a:rect l="l" t="t" r="r" b="b"/>
              <a:pathLst>
                <a:path w="328929">
                  <a:moveTo>
                    <a:pt x="328628" y="0"/>
                  </a:moveTo>
                  <a:lnTo>
                    <a:pt x="0"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67" name="object 21">
              <a:extLst>
                <a:ext uri="{FF2B5EF4-FFF2-40B4-BE49-F238E27FC236}">
                  <a16:creationId xmlns:a16="http://schemas.microsoft.com/office/drawing/2014/main" id="{44BB32B6-BFA2-B9BE-0A37-15E845E6712C}"/>
                </a:ext>
              </a:extLst>
            </p:cNvPr>
            <p:cNvSpPr/>
            <p:nvPr/>
          </p:nvSpPr>
          <p:spPr>
            <a:xfrm>
              <a:off x="10313882" y="1734615"/>
              <a:ext cx="104775" cy="0"/>
            </a:xfrm>
            <a:custGeom>
              <a:avLst/>
              <a:gdLst/>
              <a:ahLst/>
              <a:cxnLst/>
              <a:rect l="l" t="t" r="r" b="b"/>
              <a:pathLst>
                <a:path w="104775">
                  <a:moveTo>
                    <a:pt x="0" y="0"/>
                  </a:moveTo>
                  <a:lnTo>
                    <a:pt x="104405"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68" name="object 22">
              <a:extLst>
                <a:ext uri="{FF2B5EF4-FFF2-40B4-BE49-F238E27FC236}">
                  <a16:creationId xmlns:a16="http://schemas.microsoft.com/office/drawing/2014/main" id="{A5A6FE6E-025E-FF02-0252-B9DACCB49316}"/>
                </a:ext>
              </a:extLst>
            </p:cNvPr>
            <p:cNvSpPr/>
            <p:nvPr/>
          </p:nvSpPr>
          <p:spPr>
            <a:xfrm>
              <a:off x="10313882" y="1768847"/>
              <a:ext cx="176530" cy="0"/>
            </a:xfrm>
            <a:custGeom>
              <a:avLst/>
              <a:gdLst/>
              <a:ahLst/>
              <a:cxnLst/>
              <a:rect l="l" t="t" r="r" b="b"/>
              <a:pathLst>
                <a:path w="176529">
                  <a:moveTo>
                    <a:pt x="0" y="0"/>
                  </a:moveTo>
                  <a:lnTo>
                    <a:pt x="176298" y="0"/>
                  </a:lnTo>
                </a:path>
              </a:pathLst>
            </a:custGeom>
            <a:ln w="11675">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69" name="object 23">
              <a:extLst>
                <a:ext uri="{FF2B5EF4-FFF2-40B4-BE49-F238E27FC236}">
                  <a16:creationId xmlns:a16="http://schemas.microsoft.com/office/drawing/2014/main" id="{971FD77D-1E34-D267-57B7-A3C9DB3CCAFB}"/>
                </a:ext>
              </a:extLst>
            </p:cNvPr>
            <p:cNvSpPr/>
            <p:nvPr/>
          </p:nvSpPr>
          <p:spPr>
            <a:xfrm>
              <a:off x="10313882" y="1810781"/>
              <a:ext cx="176530" cy="0"/>
            </a:xfrm>
            <a:custGeom>
              <a:avLst/>
              <a:gdLst/>
              <a:ahLst/>
              <a:cxnLst/>
              <a:rect l="l" t="t" r="r" b="b"/>
              <a:pathLst>
                <a:path w="176529">
                  <a:moveTo>
                    <a:pt x="0" y="0"/>
                  </a:moveTo>
                  <a:lnTo>
                    <a:pt x="176298" y="0"/>
                  </a:lnTo>
                </a:path>
              </a:pathLst>
            </a:custGeom>
            <a:ln w="11675">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70" name="object 24">
              <a:extLst>
                <a:ext uri="{FF2B5EF4-FFF2-40B4-BE49-F238E27FC236}">
                  <a16:creationId xmlns:a16="http://schemas.microsoft.com/office/drawing/2014/main" id="{5AC8EFB3-F778-B8A6-44D7-41CDC1486A92}"/>
                </a:ext>
              </a:extLst>
            </p:cNvPr>
            <p:cNvSpPr/>
            <p:nvPr/>
          </p:nvSpPr>
          <p:spPr>
            <a:xfrm>
              <a:off x="10439687" y="1734615"/>
              <a:ext cx="104775" cy="0"/>
            </a:xfrm>
            <a:custGeom>
              <a:avLst/>
              <a:gdLst/>
              <a:ahLst/>
              <a:cxnLst/>
              <a:rect l="l" t="t" r="r" b="b"/>
              <a:pathLst>
                <a:path w="104775">
                  <a:moveTo>
                    <a:pt x="0" y="0"/>
                  </a:moveTo>
                  <a:lnTo>
                    <a:pt x="104405" y="0"/>
                  </a:lnTo>
                </a:path>
              </a:pathLst>
            </a:custGeom>
            <a:ln w="8984">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71" name="object 25">
              <a:extLst>
                <a:ext uri="{FF2B5EF4-FFF2-40B4-BE49-F238E27FC236}">
                  <a16:creationId xmlns:a16="http://schemas.microsoft.com/office/drawing/2014/main" id="{383857C3-B54C-86C5-1DCF-755504F679D1}"/>
                </a:ext>
              </a:extLst>
            </p:cNvPr>
            <p:cNvSpPr/>
            <p:nvPr/>
          </p:nvSpPr>
          <p:spPr>
            <a:xfrm>
              <a:off x="10390049" y="1528364"/>
              <a:ext cx="390525" cy="80010"/>
            </a:xfrm>
            <a:custGeom>
              <a:avLst/>
              <a:gdLst/>
              <a:ahLst/>
              <a:cxnLst/>
              <a:rect l="l" t="t" r="r" b="b"/>
              <a:pathLst>
                <a:path w="390525" h="80009">
                  <a:moveTo>
                    <a:pt x="390249" y="79589"/>
                  </a:moveTo>
                  <a:lnTo>
                    <a:pt x="326063" y="0"/>
                  </a:lnTo>
                  <a:lnTo>
                    <a:pt x="0" y="0"/>
                  </a:lnTo>
                </a:path>
              </a:pathLst>
            </a:custGeom>
            <a:ln w="11675">
              <a:solidFill>
                <a:srgbClr val="1A1A1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72" name="object 26">
              <a:extLst>
                <a:ext uri="{FF2B5EF4-FFF2-40B4-BE49-F238E27FC236}">
                  <a16:creationId xmlns:a16="http://schemas.microsoft.com/office/drawing/2014/main" id="{C553DBD6-1780-DED1-557E-84E704255FE2}"/>
                </a:ext>
              </a:extLst>
            </p:cNvPr>
            <p:cNvSpPr/>
            <p:nvPr/>
          </p:nvSpPr>
          <p:spPr>
            <a:xfrm>
              <a:off x="10242786" y="2270878"/>
              <a:ext cx="452755" cy="0"/>
            </a:xfrm>
            <a:custGeom>
              <a:avLst/>
              <a:gdLst/>
              <a:ahLst/>
              <a:cxnLst/>
              <a:rect l="l" t="t" r="r" b="b"/>
              <a:pathLst>
                <a:path w="452754">
                  <a:moveTo>
                    <a:pt x="0" y="0"/>
                  </a:moveTo>
                  <a:lnTo>
                    <a:pt x="452761"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73" name="object 27">
              <a:extLst>
                <a:ext uri="{FF2B5EF4-FFF2-40B4-BE49-F238E27FC236}">
                  <a16:creationId xmlns:a16="http://schemas.microsoft.com/office/drawing/2014/main" id="{3B35CF33-7403-61BA-1683-8470C63A5217}"/>
                </a:ext>
              </a:extLst>
            </p:cNvPr>
            <p:cNvSpPr/>
            <p:nvPr/>
          </p:nvSpPr>
          <p:spPr>
            <a:xfrm>
              <a:off x="10250042" y="2326023"/>
              <a:ext cx="1021715" cy="0"/>
            </a:xfrm>
            <a:custGeom>
              <a:avLst/>
              <a:gdLst/>
              <a:ahLst/>
              <a:cxnLst/>
              <a:rect l="l" t="t" r="r" b="b"/>
              <a:pathLst>
                <a:path w="1021715">
                  <a:moveTo>
                    <a:pt x="0" y="0"/>
                  </a:moveTo>
                  <a:lnTo>
                    <a:pt x="1021623"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74" name="object 28">
              <a:extLst>
                <a:ext uri="{FF2B5EF4-FFF2-40B4-BE49-F238E27FC236}">
                  <a16:creationId xmlns:a16="http://schemas.microsoft.com/office/drawing/2014/main" id="{8EE28DCA-19A7-BB13-E4EE-AE777A714446}"/>
                </a:ext>
              </a:extLst>
            </p:cNvPr>
            <p:cNvSpPr/>
            <p:nvPr/>
          </p:nvSpPr>
          <p:spPr>
            <a:xfrm>
              <a:off x="10268908" y="2437763"/>
              <a:ext cx="1021715" cy="0"/>
            </a:xfrm>
            <a:custGeom>
              <a:avLst/>
              <a:gdLst/>
              <a:ahLst/>
              <a:cxnLst/>
              <a:rect l="l" t="t" r="r" b="b"/>
              <a:pathLst>
                <a:path w="1021715">
                  <a:moveTo>
                    <a:pt x="0" y="0"/>
                  </a:moveTo>
                  <a:lnTo>
                    <a:pt x="1021623"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75" name="object 29">
              <a:extLst>
                <a:ext uri="{FF2B5EF4-FFF2-40B4-BE49-F238E27FC236}">
                  <a16:creationId xmlns:a16="http://schemas.microsoft.com/office/drawing/2014/main" id="{361AE48D-C027-2812-E8EA-948186604DC2}"/>
                </a:ext>
              </a:extLst>
            </p:cNvPr>
            <p:cNvSpPr/>
            <p:nvPr/>
          </p:nvSpPr>
          <p:spPr>
            <a:xfrm>
              <a:off x="10258750" y="2384070"/>
              <a:ext cx="701040" cy="0"/>
            </a:xfrm>
            <a:custGeom>
              <a:avLst/>
              <a:gdLst/>
              <a:ahLst/>
              <a:cxnLst/>
              <a:rect l="l" t="t" r="r" b="b"/>
              <a:pathLst>
                <a:path w="701040">
                  <a:moveTo>
                    <a:pt x="0" y="0"/>
                  </a:moveTo>
                  <a:lnTo>
                    <a:pt x="700921"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76" name="object 30">
              <a:extLst>
                <a:ext uri="{FF2B5EF4-FFF2-40B4-BE49-F238E27FC236}">
                  <a16:creationId xmlns:a16="http://schemas.microsoft.com/office/drawing/2014/main" id="{A612B382-D63F-8210-BB6B-04ADD15E621C}"/>
                </a:ext>
              </a:extLst>
            </p:cNvPr>
            <p:cNvSpPr/>
            <p:nvPr/>
          </p:nvSpPr>
          <p:spPr>
            <a:xfrm>
              <a:off x="10998849" y="2384070"/>
              <a:ext cx="520065" cy="0"/>
            </a:xfrm>
            <a:custGeom>
              <a:avLst/>
              <a:gdLst/>
              <a:ahLst/>
              <a:cxnLst/>
              <a:rect l="l" t="t" r="r" b="b"/>
              <a:pathLst>
                <a:path w="520065">
                  <a:moveTo>
                    <a:pt x="0" y="0"/>
                  </a:moveTo>
                  <a:lnTo>
                    <a:pt x="519523"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77" name="object 31">
              <a:extLst>
                <a:ext uri="{FF2B5EF4-FFF2-40B4-BE49-F238E27FC236}">
                  <a16:creationId xmlns:a16="http://schemas.microsoft.com/office/drawing/2014/main" id="{9B82D09B-165D-E7B3-AFCF-2C0D1EB98149}"/>
                </a:ext>
              </a:extLst>
            </p:cNvPr>
            <p:cNvSpPr/>
            <p:nvPr/>
          </p:nvSpPr>
          <p:spPr>
            <a:xfrm>
              <a:off x="11046012" y="2270878"/>
              <a:ext cx="453390" cy="0"/>
            </a:xfrm>
            <a:custGeom>
              <a:avLst/>
              <a:gdLst/>
              <a:ahLst/>
              <a:cxnLst/>
              <a:rect l="l" t="t" r="r" b="b"/>
              <a:pathLst>
                <a:path w="453390">
                  <a:moveTo>
                    <a:pt x="0" y="0"/>
                  </a:moveTo>
                  <a:lnTo>
                    <a:pt x="452771"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78" name="object 32">
              <a:extLst>
                <a:ext uri="{FF2B5EF4-FFF2-40B4-BE49-F238E27FC236}">
                  <a16:creationId xmlns:a16="http://schemas.microsoft.com/office/drawing/2014/main" id="{F57F8393-A94E-3FF6-59FA-1E9EB6245CBD}"/>
                </a:ext>
              </a:extLst>
            </p:cNvPr>
            <p:cNvSpPr/>
            <p:nvPr/>
          </p:nvSpPr>
          <p:spPr>
            <a:xfrm>
              <a:off x="10736912" y="2270878"/>
              <a:ext cx="231775" cy="0"/>
            </a:xfrm>
            <a:custGeom>
              <a:avLst/>
              <a:gdLst/>
              <a:ahLst/>
              <a:cxnLst/>
              <a:rect l="l" t="t" r="r" b="b"/>
              <a:pathLst>
                <a:path w="231775">
                  <a:moveTo>
                    <a:pt x="0" y="0"/>
                  </a:moveTo>
                  <a:lnTo>
                    <a:pt x="231458" y="0"/>
                  </a:lnTo>
                </a:path>
              </a:pathLst>
            </a:custGeom>
            <a:ln w="15235">
              <a:solidFill>
                <a:srgbClr val="232538"/>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grpSp>
      <p:grpSp>
        <p:nvGrpSpPr>
          <p:cNvPr id="179" name="object 239">
            <a:extLst>
              <a:ext uri="{FF2B5EF4-FFF2-40B4-BE49-F238E27FC236}">
                <a16:creationId xmlns:a16="http://schemas.microsoft.com/office/drawing/2014/main" id="{97F0B039-5CFC-1C13-D97B-BDD1792E4A1E}"/>
              </a:ext>
            </a:extLst>
          </p:cNvPr>
          <p:cNvGrpSpPr/>
          <p:nvPr/>
        </p:nvGrpSpPr>
        <p:grpSpPr>
          <a:xfrm>
            <a:off x="7197236" y="2745967"/>
            <a:ext cx="473236" cy="290393"/>
            <a:chOff x="13785192" y="2219618"/>
            <a:chExt cx="1797685" cy="1103117"/>
          </a:xfrm>
        </p:grpSpPr>
        <p:sp>
          <p:nvSpPr>
            <p:cNvPr id="180" name="object 240">
              <a:extLst>
                <a:ext uri="{FF2B5EF4-FFF2-40B4-BE49-F238E27FC236}">
                  <a16:creationId xmlns:a16="http://schemas.microsoft.com/office/drawing/2014/main" id="{4FB30A05-4CC6-DDDF-27B6-518F53637F51}"/>
                </a:ext>
              </a:extLst>
            </p:cNvPr>
            <p:cNvSpPr/>
            <p:nvPr/>
          </p:nvSpPr>
          <p:spPr>
            <a:xfrm>
              <a:off x="13785192" y="2351185"/>
              <a:ext cx="1797685" cy="971550"/>
            </a:xfrm>
            <a:custGeom>
              <a:avLst/>
              <a:gdLst/>
              <a:ahLst/>
              <a:cxnLst/>
              <a:rect l="l" t="t" r="r" b="b"/>
              <a:pathLst>
                <a:path w="1797684" h="971550">
                  <a:moveTo>
                    <a:pt x="0" y="971185"/>
                  </a:moveTo>
                  <a:lnTo>
                    <a:pt x="1797285" y="971185"/>
                  </a:lnTo>
                  <a:lnTo>
                    <a:pt x="1797285" y="0"/>
                  </a:lnTo>
                  <a:lnTo>
                    <a:pt x="0" y="0"/>
                  </a:lnTo>
                  <a:lnTo>
                    <a:pt x="0" y="971185"/>
                  </a:lnTo>
                  <a:close/>
                </a:path>
              </a:pathLst>
            </a:custGeom>
            <a:solidFill>
              <a:srgbClr val="D2DA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81" name="object 241">
              <a:extLst>
                <a:ext uri="{FF2B5EF4-FFF2-40B4-BE49-F238E27FC236}">
                  <a16:creationId xmlns:a16="http://schemas.microsoft.com/office/drawing/2014/main" id="{D5B00DC8-BEA7-D15C-B93F-69FFF7543E50}"/>
                </a:ext>
              </a:extLst>
            </p:cNvPr>
            <p:cNvSpPr/>
            <p:nvPr/>
          </p:nvSpPr>
          <p:spPr>
            <a:xfrm>
              <a:off x="13785192" y="2219618"/>
              <a:ext cx="1797685" cy="132080"/>
            </a:xfrm>
            <a:custGeom>
              <a:avLst/>
              <a:gdLst/>
              <a:ahLst/>
              <a:cxnLst/>
              <a:rect l="l" t="t" r="r" b="b"/>
              <a:pathLst>
                <a:path w="1797684" h="132080">
                  <a:moveTo>
                    <a:pt x="1797285" y="0"/>
                  </a:moveTo>
                  <a:lnTo>
                    <a:pt x="0" y="0"/>
                  </a:lnTo>
                  <a:lnTo>
                    <a:pt x="0" y="131566"/>
                  </a:lnTo>
                  <a:lnTo>
                    <a:pt x="1797285" y="131566"/>
                  </a:lnTo>
                  <a:lnTo>
                    <a:pt x="1797285" y="0"/>
                  </a:lnTo>
                  <a:close/>
                </a:path>
              </a:pathLst>
            </a:custGeom>
            <a:solidFill>
              <a:srgbClr val="233A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82" name="object 242">
              <a:extLst>
                <a:ext uri="{FF2B5EF4-FFF2-40B4-BE49-F238E27FC236}">
                  <a16:creationId xmlns:a16="http://schemas.microsoft.com/office/drawing/2014/main" id="{4684B7C1-350A-BB55-060A-29F35FD41FFD}"/>
                </a:ext>
              </a:extLst>
            </p:cNvPr>
            <p:cNvSpPr/>
            <p:nvPr/>
          </p:nvSpPr>
          <p:spPr>
            <a:xfrm>
              <a:off x="15261882" y="2256973"/>
              <a:ext cx="234315" cy="57150"/>
            </a:xfrm>
            <a:custGeom>
              <a:avLst/>
              <a:gdLst/>
              <a:ahLst/>
              <a:cxnLst/>
              <a:rect l="l" t="t" r="r" b="b"/>
              <a:pathLst>
                <a:path w="234315" h="57150">
                  <a:moveTo>
                    <a:pt x="56959" y="28486"/>
                  </a:moveTo>
                  <a:lnTo>
                    <a:pt x="54711" y="17386"/>
                  </a:lnTo>
                  <a:lnTo>
                    <a:pt x="48615" y="8331"/>
                  </a:lnTo>
                  <a:lnTo>
                    <a:pt x="39560" y="2235"/>
                  </a:lnTo>
                  <a:lnTo>
                    <a:pt x="28473" y="0"/>
                  </a:lnTo>
                  <a:lnTo>
                    <a:pt x="17386" y="2235"/>
                  </a:lnTo>
                  <a:lnTo>
                    <a:pt x="8331" y="8331"/>
                  </a:lnTo>
                  <a:lnTo>
                    <a:pt x="2235" y="17386"/>
                  </a:lnTo>
                  <a:lnTo>
                    <a:pt x="0" y="28486"/>
                  </a:lnTo>
                  <a:lnTo>
                    <a:pt x="2235" y="39547"/>
                  </a:lnTo>
                  <a:lnTo>
                    <a:pt x="8331" y="48590"/>
                  </a:lnTo>
                  <a:lnTo>
                    <a:pt x="17386" y="54686"/>
                  </a:lnTo>
                  <a:lnTo>
                    <a:pt x="28473" y="56921"/>
                  </a:lnTo>
                  <a:lnTo>
                    <a:pt x="39560" y="54686"/>
                  </a:lnTo>
                  <a:lnTo>
                    <a:pt x="48615" y="48590"/>
                  </a:lnTo>
                  <a:lnTo>
                    <a:pt x="54711" y="39547"/>
                  </a:lnTo>
                  <a:lnTo>
                    <a:pt x="56959" y="28486"/>
                  </a:lnTo>
                  <a:close/>
                </a:path>
                <a:path w="234315" h="57150">
                  <a:moveTo>
                    <a:pt x="145529" y="28486"/>
                  </a:moveTo>
                  <a:lnTo>
                    <a:pt x="143294" y="17386"/>
                  </a:lnTo>
                  <a:lnTo>
                    <a:pt x="137198" y="8331"/>
                  </a:lnTo>
                  <a:lnTo>
                    <a:pt x="128143" y="2235"/>
                  </a:lnTo>
                  <a:lnTo>
                    <a:pt x="117043" y="0"/>
                  </a:lnTo>
                  <a:lnTo>
                    <a:pt x="105968" y="2235"/>
                  </a:lnTo>
                  <a:lnTo>
                    <a:pt x="96926" y="8331"/>
                  </a:lnTo>
                  <a:lnTo>
                    <a:pt x="90817" y="17386"/>
                  </a:lnTo>
                  <a:lnTo>
                    <a:pt x="88582" y="28486"/>
                  </a:lnTo>
                  <a:lnTo>
                    <a:pt x="90817" y="39547"/>
                  </a:lnTo>
                  <a:lnTo>
                    <a:pt x="96926" y="48590"/>
                  </a:lnTo>
                  <a:lnTo>
                    <a:pt x="105968" y="54686"/>
                  </a:lnTo>
                  <a:lnTo>
                    <a:pt x="117043" y="56921"/>
                  </a:lnTo>
                  <a:lnTo>
                    <a:pt x="128143" y="54686"/>
                  </a:lnTo>
                  <a:lnTo>
                    <a:pt x="137198" y="48590"/>
                  </a:lnTo>
                  <a:lnTo>
                    <a:pt x="143294" y="39547"/>
                  </a:lnTo>
                  <a:lnTo>
                    <a:pt x="145529" y="28486"/>
                  </a:lnTo>
                  <a:close/>
                </a:path>
                <a:path w="234315" h="57150">
                  <a:moveTo>
                    <a:pt x="234137" y="28486"/>
                  </a:moveTo>
                  <a:lnTo>
                    <a:pt x="231889" y="17386"/>
                  </a:lnTo>
                  <a:lnTo>
                    <a:pt x="225780" y="8331"/>
                  </a:lnTo>
                  <a:lnTo>
                    <a:pt x="216725" y="2235"/>
                  </a:lnTo>
                  <a:lnTo>
                    <a:pt x="205651" y="0"/>
                  </a:lnTo>
                  <a:lnTo>
                    <a:pt x="194564" y="2235"/>
                  </a:lnTo>
                  <a:lnTo>
                    <a:pt x="185521" y="8331"/>
                  </a:lnTo>
                  <a:lnTo>
                    <a:pt x="179412" y="17386"/>
                  </a:lnTo>
                  <a:lnTo>
                    <a:pt x="177177" y="28486"/>
                  </a:lnTo>
                  <a:lnTo>
                    <a:pt x="179412" y="39547"/>
                  </a:lnTo>
                  <a:lnTo>
                    <a:pt x="185521" y="48590"/>
                  </a:lnTo>
                  <a:lnTo>
                    <a:pt x="194564" y="54686"/>
                  </a:lnTo>
                  <a:lnTo>
                    <a:pt x="205651" y="56921"/>
                  </a:lnTo>
                  <a:lnTo>
                    <a:pt x="216725" y="54686"/>
                  </a:lnTo>
                  <a:lnTo>
                    <a:pt x="225780" y="48590"/>
                  </a:lnTo>
                  <a:lnTo>
                    <a:pt x="231889" y="39547"/>
                  </a:lnTo>
                  <a:lnTo>
                    <a:pt x="234137" y="28486"/>
                  </a:lnTo>
                  <a:close/>
                </a:path>
              </a:pathLst>
            </a:custGeom>
            <a:solidFill>
              <a:srgbClr val="D2DA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83" name="object 243">
              <a:extLst>
                <a:ext uri="{FF2B5EF4-FFF2-40B4-BE49-F238E27FC236}">
                  <a16:creationId xmlns:a16="http://schemas.microsoft.com/office/drawing/2014/main" id="{F1AED201-DED8-C504-FB6D-D6A4F4A359F3}"/>
                </a:ext>
              </a:extLst>
            </p:cNvPr>
            <p:cNvSpPr/>
            <p:nvPr/>
          </p:nvSpPr>
          <p:spPr>
            <a:xfrm>
              <a:off x="13857609" y="2417371"/>
              <a:ext cx="1271270" cy="812800"/>
            </a:xfrm>
            <a:custGeom>
              <a:avLst/>
              <a:gdLst/>
              <a:ahLst/>
              <a:cxnLst/>
              <a:rect l="l" t="t" r="r" b="b"/>
              <a:pathLst>
                <a:path w="1271269" h="812800">
                  <a:moveTo>
                    <a:pt x="1271196" y="0"/>
                  </a:moveTo>
                  <a:lnTo>
                    <a:pt x="0" y="0"/>
                  </a:lnTo>
                  <a:lnTo>
                    <a:pt x="0" y="812383"/>
                  </a:lnTo>
                  <a:lnTo>
                    <a:pt x="1271196" y="812383"/>
                  </a:lnTo>
                  <a:lnTo>
                    <a:pt x="1271196"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84" name="object 246">
              <a:extLst>
                <a:ext uri="{FF2B5EF4-FFF2-40B4-BE49-F238E27FC236}">
                  <a16:creationId xmlns:a16="http://schemas.microsoft.com/office/drawing/2014/main" id="{9AE4CA97-2EA1-A9EA-F6F2-E92FF921B6EB}"/>
                </a:ext>
              </a:extLst>
            </p:cNvPr>
            <p:cNvSpPr/>
            <p:nvPr/>
          </p:nvSpPr>
          <p:spPr>
            <a:xfrm>
              <a:off x="15235975" y="2421675"/>
              <a:ext cx="274320" cy="147320"/>
            </a:xfrm>
            <a:custGeom>
              <a:avLst/>
              <a:gdLst/>
              <a:ahLst/>
              <a:cxnLst/>
              <a:rect l="l" t="t" r="r" b="b"/>
              <a:pathLst>
                <a:path w="274319" h="147319">
                  <a:moveTo>
                    <a:pt x="274064" y="0"/>
                  </a:moveTo>
                  <a:lnTo>
                    <a:pt x="0" y="0"/>
                  </a:lnTo>
                  <a:lnTo>
                    <a:pt x="0" y="146969"/>
                  </a:lnTo>
                  <a:lnTo>
                    <a:pt x="274064" y="146969"/>
                  </a:lnTo>
                  <a:lnTo>
                    <a:pt x="274064"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85" name="object 247">
              <a:extLst>
                <a:ext uri="{FF2B5EF4-FFF2-40B4-BE49-F238E27FC236}">
                  <a16:creationId xmlns:a16="http://schemas.microsoft.com/office/drawing/2014/main" id="{E324A69F-7854-8A3C-707D-E507154C930B}"/>
                </a:ext>
              </a:extLst>
            </p:cNvPr>
            <p:cNvSpPr/>
            <p:nvPr/>
          </p:nvSpPr>
          <p:spPr>
            <a:xfrm>
              <a:off x="15235974" y="2582741"/>
              <a:ext cx="241935" cy="76835"/>
            </a:xfrm>
            <a:custGeom>
              <a:avLst/>
              <a:gdLst/>
              <a:ahLst/>
              <a:cxnLst/>
              <a:rect l="l" t="t" r="r" b="b"/>
              <a:pathLst>
                <a:path w="241934" h="76835">
                  <a:moveTo>
                    <a:pt x="104470" y="60858"/>
                  </a:moveTo>
                  <a:lnTo>
                    <a:pt x="0" y="60858"/>
                  </a:lnTo>
                  <a:lnTo>
                    <a:pt x="0" y="76568"/>
                  </a:lnTo>
                  <a:lnTo>
                    <a:pt x="104470" y="76568"/>
                  </a:lnTo>
                  <a:lnTo>
                    <a:pt x="104470" y="60858"/>
                  </a:lnTo>
                  <a:close/>
                </a:path>
                <a:path w="241934" h="76835">
                  <a:moveTo>
                    <a:pt x="240969" y="0"/>
                  </a:moveTo>
                  <a:lnTo>
                    <a:pt x="0" y="0"/>
                  </a:lnTo>
                  <a:lnTo>
                    <a:pt x="0" y="15709"/>
                  </a:lnTo>
                  <a:lnTo>
                    <a:pt x="240969" y="15709"/>
                  </a:lnTo>
                  <a:lnTo>
                    <a:pt x="240969" y="0"/>
                  </a:lnTo>
                  <a:close/>
                </a:path>
                <a:path w="241934" h="76835">
                  <a:moveTo>
                    <a:pt x="241617" y="30111"/>
                  </a:moveTo>
                  <a:lnTo>
                    <a:pt x="0" y="30111"/>
                  </a:lnTo>
                  <a:lnTo>
                    <a:pt x="0" y="45859"/>
                  </a:lnTo>
                  <a:lnTo>
                    <a:pt x="241617" y="45859"/>
                  </a:lnTo>
                  <a:lnTo>
                    <a:pt x="241617" y="30111"/>
                  </a:lnTo>
                  <a:close/>
                </a:path>
              </a:pathLst>
            </a:custGeom>
            <a:solidFill>
              <a:srgbClr val="C0C1C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86" name="object 248">
              <a:extLst>
                <a:ext uri="{FF2B5EF4-FFF2-40B4-BE49-F238E27FC236}">
                  <a16:creationId xmlns:a16="http://schemas.microsoft.com/office/drawing/2014/main" id="{6EA15CB1-D7BE-BB81-EC1B-20A8ECBBBECE}"/>
                </a:ext>
              </a:extLst>
            </p:cNvPr>
            <p:cNvSpPr/>
            <p:nvPr/>
          </p:nvSpPr>
          <p:spPr>
            <a:xfrm>
              <a:off x="15235975" y="2706933"/>
              <a:ext cx="274320" cy="147320"/>
            </a:xfrm>
            <a:custGeom>
              <a:avLst/>
              <a:gdLst/>
              <a:ahLst/>
              <a:cxnLst/>
              <a:rect l="l" t="t" r="r" b="b"/>
              <a:pathLst>
                <a:path w="274319" h="147319">
                  <a:moveTo>
                    <a:pt x="274064" y="0"/>
                  </a:moveTo>
                  <a:lnTo>
                    <a:pt x="0" y="0"/>
                  </a:lnTo>
                  <a:lnTo>
                    <a:pt x="0" y="146969"/>
                  </a:lnTo>
                  <a:lnTo>
                    <a:pt x="274064" y="146969"/>
                  </a:lnTo>
                  <a:lnTo>
                    <a:pt x="274064"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87" name="object 249">
              <a:extLst>
                <a:ext uri="{FF2B5EF4-FFF2-40B4-BE49-F238E27FC236}">
                  <a16:creationId xmlns:a16="http://schemas.microsoft.com/office/drawing/2014/main" id="{789FB3A2-1762-0B7C-7D5A-47D76FEB2AA9}"/>
                </a:ext>
              </a:extLst>
            </p:cNvPr>
            <p:cNvSpPr/>
            <p:nvPr/>
          </p:nvSpPr>
          <p:spPr>
            <a:xfrm>
              <a:off x="15235974" y="2867945"/>
              <a:ext cx="241935" cy="76835"/>
            </a:xfrm>
            <a:custGeom>
              <a:avLst/>
              <a:gdLst/>
              <a:ahLst/>
              <a:cxnLst/>
              <a:rect l="l" t="t" r="r" b="b"/>
              <a:pathLst>
                <a:path w="241934" h="76835">
                  <a:moveTo>
                    <a:pt x="104470" y="60858"/>
                  </a:moveTo>
                  <a:lnTo>
                    <a:pt x="0" y="60858"/>
                  </a:lnTo>
                  <a:lnTo>
                    <a:pt x="0" y="76606"/>
                  </a:lnTo>
                  <a:lnTo>
                    <a:pt x="104470" y="76606"/>
                  </a:lnTo>
                  <a:lnTo>
                    <a:pt x="104470" y="60858"/>
                  </a:lnTo>
                  <a:close/>
                </a:path>
                <a:path w="241934" h="76835">
                  <a:moveTo>
                    <a:pt x="240969" y="0"/>
                  </a:moveTo>
                  <a:lnTo>
                    <a:pt x="0" y="0"/>
                  </a:lnTo>
                  <a:lnTo>
                    <a:pt x="0" y="15748"/>
                  </a:lnTo>
                  <a:lnTo>
                    <a:pt x="240969" y="15748"/>
                  </a:lnTo>
                  <a:lnTo>
                    <a:pt x="240969" y="0"/>
                  </a:lnTo>
                  <a:close/>
                </a:path>
                <a:path w="241934" h="76835">
                  <a:moveTo>
                    <a:pt x="241617" y="30111"/>
                  </a:moveTo>
                  <a:lnTo>
                    <a:pt x="0" y="30111"/>
                  </a:lnTo>
                  <a:lnTo>
                    <a:pt x="0" y="45808"/>
                  </a:lnTo>
                  <a:lnTo>
                    <a:pt x="241617" y="45808"/>
                  </a:lnTo>
                  <a:lnTo>
                    <a:pt x="241617" y="30111"/>
                  </a:lnTo>
                  <a:close/>
                </a:path>
              </a:pathLst>
            </a:custGeom>
            <a:solidFill>
              <a:srgbClr val="C0C1C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88" name="object 250">
              <a:extLst>
                <a:ext uri="{FF2B5EF4-FFF2-40B4-BE49-F238E27FC236}">
                  <a16:creationId xmlns:a16="http://schemas.microsoft.com/office/drawing/2014/main" id="{6BB0AD62-4C5D-A445-66C7-1E6CDD3A6ED1}"/>
                </a:ext>
              </a:extLst>
            </p:cNvPr>
            <p:cNvSpPr/>
            <p:nvPr/>
          </p:nvSpPr>
          <p:spPr>
            <a:xfrm>
              <a:off x="15235975" y="2992139"/>
              <a:ext cx="274320" cy="147320"/>
            </a:xfrm>
            <a:custGeom>
              <a:avLst/>
              <a:gdLst/>
              <a:ahLst/>
              <a:cxnLst/>
              <a:rect l="l" t="t" r="r" b="b"/>
              <a:pathLst>
                <a:path w="274319" h="147319">
                  <a:moveTo>
                    <a:pt x="274064" y="0"/>
                  </a:moveTo>
                  <a:lnTo>
                    <a:pt x="0" y="0"/>
                  </a:lnTo>
                  <a:lnTo>
                    <a:pt x="0" y="147011"/>
                  </a:lnTo>
                  <a:lnTo>
                    <a:pt x="274064" y="147011"/>
                  </a:lnTo>
                  <a:lnTo>
                    <a:pt x="274064" y="0"/>
                  </a:lnTo>
                  <a:close/>
                </a:path>
              </a:pathLst>
            </a:custGeom>
            <a:solidFill>
              <a:srgbClr val="DE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sp>
          <p:nvSpPr>
            <p:cNvPr id="189" name="object 251">
              <a:extLst>
                <a:ext uri="{FF2B5EF4-FFF2-40B4-BE49-F238E27FC236}">
                  <a16:creationId xmlns:a16="http://schemas.microsoft.com/office/drawing/2014/main" id="{9EAB2FFE-432B-C040-39A1-52601895BB45}"/>
                </a:ext>
              </a:extLst>
            </p:cNvPr>
            <p:cNvSpPr/>
            <p:nvPr/>
          </p:nvSpPr>
          <p:spPr>
            <a:xfrm>
              <a:off x="15235974" y="3153200"/>
              <a:ext cx="241935" cy="76835"/>
            </a:xfrm>
            <a:custGeom>
              <a:avLst/>
              <a:gdLst/>
              <a:ahLst/>
              <a:cxnLst/>
              <a:rect l="l" t="t" r="r" b="b"/>
              <a:pathLst>
                <a:path w="241934" h="76835">
                  <a:moveTo>
                    <a:pt x="104470" y="60858"/>
                  </a:moveTo>
                  <a:lnTo>
                    <a:pt x="0" y="60858"/>
                  </a:lnTo>
                  <a:lnTo>
                    <a:pt x="0" y="76555"/>
                  </a:lnTo>
                  <a:lnTo>
                    <a:pt x="104470" y="76555"/>
                  </a:lnTo>
                  <a:lnTo>
                    <a:pt x="104470" y="60858"/>
                  </a:lnTo>
                  <a:close/>
                </a:path>
                <a:path w="241934" h="76835">
                  <a:moveTo>
                    <a:pt x="240969" y="0"/>
                  </a:moveTo>
                  <a:lnTo>
                    <a:pt x="0" y="0"/>
                  </a:lnTo>
                  <a:lnTo>
                    <a:pt x="0" y="15659"/>
                  </a:lnTo>
                  <a:lnTo>
                    <a:pt x="240969" y="15659"/>
                  </a:lnTo>
                  <a:lnTo>
                    <a:pt x="240969" y="0"/>
                  </a:lnTo>
                  <a:close/>
                </a:path>
                <a:path w="241934" h="76835">
                  <a:moveTo>
                    <a:pt x="241617" y="30099"/>
                  </a:moveTo>
                  <a:lnTo>
                    <a:pt x="0" y="30099"/>
                  </a:lnTo>
                  <a:lnTo>
                    <a:pt x="0" y="45808"/>
                  </a:lnTo>
                  <a:lnTo>
                    <a:pt x="241617" y="45808"/>
                  </a:lnTo>
                  <a:lnTo>
                    <a:pt x="241617" y="30099"/>
                  </a:lnTo>
                  <a:close/>
                </a:path>
              </a:pathLst>
            </a:custGeom>
            <a:solidFill>
              <a:srgbClr val="C0C1C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Display"/>
                <a:ea typeface="+mn-ea"/>
                <a:cs typeface="+mn-cs"/>
              </a:endParaRPr>
            </a:p>
          </p:txBody>
        </p:sp>
      </p:grpSp>
      <p:sp>
        <p:nvSpPr>
          <p:cNvPr id="190" name="Rectangle 189">
            <a:extLst>
              <a:ext uri="{FF2B5EF4-FFF2-40B4-BE49-F238E27FC236}">
                <a16:creationId xmlns:a16="http://schemas.microsoft.com/office/drawing/2014/main" id="{3E180862-F372-1BAD-21B8-49DEECED2118}"/>
              </a:ext>
            </a:extLst>
          </p:cNvPr>
          <p:cNvSpPr/>
          <p:nvPr/>
        </p:nvSpPr>
        <p:spPr>
          <a:xfrm>
            <a:off x="2252512" y="2340520"/>
            <a:ext cx="2659427" cy="3584968"/>
          </a:xfrm>
          <a:prstGeom prst="rect">
            <a:avLst/>
          </a:prstGeom>
          <a:solidFill>
            <a:schemeClr val="accent2">
              <a:lumMod val="20000"/>
              <a:lumOff val="80000"/>
              <a:alpha val="65000"/>
            </a:schemeClr>
          </a:solidFill>
          <a:ln w="3175" cap="flat" cmpd="sng" algn="ctr">
            <a:solidFill>
              <a:sysClr val="window" lastClr="FFFFFF">
                <a:lumMod val="75000"/>
              </a:sysClr>
            </a:solidFill>
            <a:prstDash val="solid"/>
          </a:ln>
          <a:effectLst/>
        </p:spPr>
        <p:txBody>
          <a:bodyPr lIns="36000" tIns="36000" rIns="36000" bIns="36000" rtlCol="0" anchor="t"/>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1100" b="1" i="0" u="none" strike="noStrike" kern="0" cap="none" spc="0" normalizeH="0" baseline="0" noProof="0">
                <a:ln>
                  <a:noFill/>
                </a:ln>
                <a:solidFill>
                  <a:prstClr val="black"/>
                </a:solidFill>
                <a:effectLst/>
                <a:uLnTx/>
                <a:uFillTx/>
                <a:latin typeface="Calibri" panose="020F0502020204030204"/>
                <a:ea typeface="Open Sans" panose="020B0606030504020204" pitchFamily="34" charset="0"/>
                <a:cs typeface="Open Sans" panose="020B0606030504020204" pitchFamily="34" charset="0"/>
              </a:rPr>
              <a:t>EXTRACTION VALIDATION</a:t>
            </a:r>
          </a:p>
        </p:txBody>
      </p:sp>
      <p:grpSp>
        <p:nvGrpSpPr>
          <p:cNvPr id="191" name="Group 190">
            <a:extLst>
              <a:ext uri="{FF2B5EF4-FFF2-40B4-BE49-F238E27FC236}">
                <a16:creationId xmlns:a16="http://schemas.microsoft.com/office/drawing/2014/main" id="{BC3FB794-5803-5A21-7FAE-DA8A6395A7FF}"/>
              </a:ext>
            </a:extLst>
          </p:cNvPr>
          <p:cNvGrpSpPr/>
          <p:nvPr/>
        </p:nvGrpSpPr>
        <p:grpSpPr>
          <a:xfrm>
            <a:off x="2387548" y="2899851"/>
            <a:ext cx="1080000" cy="2695094"/>
            <a:chOff x="2805082" y="2344363"/>
            <a:chExt cx="1080000" cy="2695094"/>
          </a:xfrm>
          <a:solidFill>
            <a:sysClr val="window" lastClr="FFFFFF">
              <a:lumMod val="95000"/>
            </a:sysClr>
          </a:solidFill>
        </p:grpSpPr>
        <p:sp>
          <p:nvSpPr>
            <p:cNvPr id="192" name="Rectangle 191">
              <a:extLst>
                <a:ext uri="{FF2B5EF4-FFF2-40B4-BE49-F238E27FC236}">
                  <a16:creationId xmlns:a16="http://schemas.microsoft.com/office/drawing/2014/main" id="{A2725352-89A3-8DE3-4136-A924FFA699E8}"/>
                </a:ext>
              </a:extLst>
            </p:cNvPr>
            <p:cNvSpPr/>
            <p:nvPr/>
          </p:nvSpPr>
          <p:spPr>
            <a:xfrm>
              <a:off x="2805082" y="3475911"/>
              <a:ext cx="1080000" cy="432000"/>
            </a:xfrm>
            <a:prstGeom prst="rect">
              <a:avLst/>
            </a:prstGeom>
            <a:grpFill/>
            <a:ln w="3175" cap="flat" cmpd="sng" algn="ctr">
              <a:solidFill>
                <a:sysClr val="window" lastClr="FFFFFF">
                  <a:lumMod val="75000"/>
                </a:sysClr>
              </a:solidFill>
              <a:prstDash val="solid"/>
            </a:ln>
            <a:effectLst/>
          </p:spPr>
          <p:txBody>
            <a:bodyPr lIns="36000" tIns="36000" rIns="36000" b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Vector PDF Layout Coordinates</a:t>
              </a:r>
            </a:p>
          </p:txBody>
        </p:sp>
        <p:sp>
          <p:nvSpPr>
            <p:cNvPr id="193" name="Rectangle 192">
              <a:extLst>
                <a:ext uri="{FF2B5EF4-FFF2-40B4-BE49-F238E27FC236}">
                  <a16:creationId xmlns:a16="http://schemas.microsoft.com/office/drawing/2014/main" id="{55E10BCF-B1C3-220D-6D99-6C3BCA3CA77A}"/>
                </a:ext>
              </a:extLst>
            </p:cNvPr>
            <p:cNvSpPr/>
            <p:nvPr/>
          </p:nvSpPr>
          <p:spPr>
            <a:xfrm>
              <a:off x="2805082" y="4607457"/>
              <a:ext cx="1080000" cy="432000"/>
            </a:xfrm>
            <a:prstGeom prst="rect">
              <a:avLst/>
            </a:prstGeom>
            <a:grpFill/>
            <a:ln w="3175" cap="flat" cmpd="sng" algn="ctr">
              <a:solidFill>
                <a:sysClr val="window" lastClr="FFFFFF">
                  <a:lumMod val="75000"/>
                </a:sysClr>
              </a:solidFill>
              <a:prstDash val="solid"/>
            </a:ln>
            <a:effectLst/>
          </p:spPr>
          <p:txBody>
            <a:bodyPr lIns="36000" tIns="36000" rIns="36000" b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Image Binary Raw Canvases</a:t>
              </a:r>
            </a:p>
          </p:txBody>
        </p:sp>
        <p:sp>
          <p:nvSpPr>
            <p:cNvPr id="194" name="Rectangle 193">
              <a:extLst>
                <a:ext uri="{FF2B5EF4-FFF2-40B4-BE49-F238E27FC236}">
                  <a16:creationId xmlns:a16="http://schemas.microsoft.com/office/drawing/2014/main" id="{3CBF911B-2785-55F3-4F11-20F8ACE111DC}"/>
                </a:ext>
              </a:extLst>
            </p:cNvPr>
            <p:cNvSpPr/>
            <p:nvPr/>
          </p:nvSpPr>
          <p:spPr>
            <a:xfrm>
              <a:off x="2805082" y="2344363"/>
              <a:ext cx="1080000" cy="432000"/>
            </a:xfrm>
            <a:prstGeom prst="rect">
              <a:avLst/>
            </a:prstGeom>
            <a:grpFill/>
            <a:ln w="3175" cap="flat" cmpd="sng" algn="ctr">
              <a:solidFill>
                <a:sysClr val="window" lastClr="FFFFFF">
                  <a:lumMod val="75000"/>
                </a:sysClr>
              </a:solidFill>
              <a:prstDash val="solid"/>
            </a:ln>
            <a:effectLst/>
          </p:spPr>
          <p:txBody>
            <a:bodyPr lIns="36000" tIns="36000" rIns="36000" b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Slide Region Segmenter</a:t>
              </a:r>
            </a:p>
          </p:txBody>
        </p:sp>
        <p:sp>
          <p:nvSpPr>
            <p:cNvPr id="195" name="Rectangle 194">
              <a:extLst>
                <a:ext uri="{FF2B5EF4-FFF2-40B4-BE49-F238E27FC236}">
                  <a16:creationId xmlns:a16="http://schemas.microsoft.com/office/drawing/2014/main" id="{369614DC-36BD-B35C-EBD8-11D65772AE6D}"/>
                </a:ext>
              </a:extLst>
            </p:cNvPr>
            <p:cNvSpPr/>
            <p:nvPr/>
          </p:nvSpPr>
          <p:spPr>
            <a:xfrm>
              <a:off x="2805082" y="2910137"/>
              <a:ext cx="1080000" cy="432000"/>
            </a:xfrm>
            <a:prstGeom prst="rect">
              <a:avLst/>
            </a:prstGeom>
            <a:grpFill/>
            <a:ln w="3175" cap="flat" cmpd="sng" algn="ctr">
              <a:solidFill>
                <a:sysClr val="window" lastClr="FFFFFF">
                  <a:lumMod val="75000"/>
                </a:sysClr>
              </a:solidFill>
              <a:prstDash val="solid"/>
            </a:ln>
            <a:effectLst/>
          </p:spPr>
          <p:txBody>
            <a:bodyPr lIns="36000" tIns="36000" rIns="36000" b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EasyOCR Bounding Box</a:t>
              </a:r>
            </a:p>
          </p:txBody>
        </p:sp>
        <p:sp>
          <p:nvSpPr>
            <p:cNvPr id="196" name="Rectangle 195">
              <a:extLst>
                <a:ext uri="{FF2B5EF4-FFF2-40B4-BE49-F238E27FC236}">
                  <a16:creationId xmlns:a16="http://schemas.microsoft.com/office/drawing/2014/main" id="{848D4286-7446-D89E-C068-53D7F35718B3}"/>
                </a:ext>
              </a:extLst>
            </p:cNvPr>
            <p:cNvSpPr/>
            <p:nvPr/>
          </p:nvSpPr>
          <p:spPr>
            <a:xfrm>
              <a:off x="2805082" y="4041685"/>
              <a:ext cx="1080000" cy="432000"/>
            </a:xfrm>
            <a:prstGeom prst="rect">
              <a:avLst/>
            </a:prstGeom>
            <a:grpFill/>
            <a:ln w="3175" cap="flat" cmpd="sng" algn="ctr">
              <a:solidFill>
                <a:sysClr val="window" lastClr="FFFFFF">
                  <a:lumMod val="75000"/>
                </a:sysClr>
              </a:solidFill>
              <a:prstDash val="solid"/>
            </a:ln>
            <a:effectLst/>
          </p:spPr>
          <p:txBody>
            <a:bodyPr lIns="36000" tIns="36000" rIns="36000" b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XML Shape Structures &amp; Styles</a:t>
              </a:r>
            </a:p>
          </p:txBody>
        </p:sp>
      </p:grpSp>
      <p:cxnSp>
        <p:nvCxnSpPr>
          <p:cNvPr id="197" name="Connector: Elbow 96">
            <a:extLst>
              <a:ext uri="{FF2B5EF4-FFF2-40B4-BE49-F238E27FC236}">
                <a16:creationId xmlns:a16="http://schemas.microsoft.com/office/drawing/2014/main" id="{0F84256C-EE8D-D615-B4F9-38C8A39D15FE}"/>
              </a:ext>
            </a:extLst>
          </p:cNvPr>
          <p:cNvCxnSpPr>
            <a:cxnSpLocks/>
            <a:stCxn id="194" idx="3"/>
          </p:cNvCxnSpPr>
          <p:nvPr/>
        </p:nvCxnSpPr>
        <p:spPr>
          <a:xfrm>
            <a:off x="3467548" y="3115851"/>
            <a:ext cx="235187" cy="1131548"/>
          </a:xfrm>
          <a:prstGeom prst="bentConnector3">
            <a:avLst/>
          </a:prstGeom>
          <a:ln w="9525">
            <a:solidFill>
              <a:schemeClr val="tx1">
                <a:lumMod val="75000"/>
                <a:lumOff val="25000"/>
              </a:schemeClr>
            </a:solidFill>
            <a:tailEnd type="triangle"/>
          </a:ln>
        </p:spPr>
        <p:style>
          <a:lnRef idx="1">
            <a:schemeClr val="dk1"/>
          </a:lnRef>
          <a:fillRef idx="0">
            <a:schemeClr val="dk1"/>
          </a:fillRef>
          <a:effectRef idx="0">
            <a:schemeClr val="dk1"/>
          </a:effectRef>
          <a:fontRef idx="minor">
            <a:schemeClr val="tx1"/>
          </a:fontRef>
        </p:style>
      </p:cxnSp>
      <p:cxnSp>
        <p:nvCxnSpPr>
          <p:cNvPr id="198" name="Connector: Elbow 97">
            <a:extLst>
              <a:ext uri="{FF2B5EF4-FFF2-40B4-BE49-F238E27FC236}">
                <a16:creationId xmlns:a16="http://schemas.microsoft.com/office/drawing/2014/main" id="{BE5D784D-F406-C998-3C77-C30384279C08}"/>
              </a:ext>
            </a:extLst>
          </p:cNvPr>
          <p:cNvCxnSpPr>
            <a:cxnSpLocks/>
            <a:stCxn id="195" idx="3"/>
          </p:cNvCxnSpPr>
          <p:nvPr/>
        </p:nvCxnSpPr>
        <p:spPr>
          <a:xfrm>
            <a:off x="3467548" y="3681625"/>
            <a:ext cx="235187" cy="565774"/>
          </a:xfrm>
          <a:prstGeom prst="bentConnector3">
            <a:avLst>
              <a:gd name="adj1" fmla="val 50000"/>
            </a:avLst>
          </a:prstGeom>
          <a:noFill/>
          <a:ln w="9525" cap="flat" cmpd="sng" algn="ctr">
            <a:solidFill>
              <a:schemeClr val="tx1">
                <a:lumMod val="75000"/>
                <a:lumOff val="25000"/>
              </a:schemeClr>
            </a:solidFill>
            <a:prstDash val="solid"/>
            <a:tailEnd type="triangle"/>
          </a:ln>
          <a:effectLst/>
        </p:spPr>
      </p:cxnSp>
      <p:cxnSp>
        <p:nvCxnSpPr>
          <p:cNvPr id="199" name="Connector: Elbow 98">
            <a:extLst>
              <a:ext uri="{FF2B5EF4-FFF2-40B4-BE49-F238E27FC236}">
                <a16:creationId xmlns:a16="http://schemas.microsoft.com/office/drawing/2014/main" id="{D2826AD5-DE29-9C9E-0794-1A6721772E60}"/>
              </a:ext>
            </a:extLst>
          </p:cNvPr>
          <p:cNvCxnSpPr>
            <a:cxnSpLocks/>
            <a:stCxn id="196" idx="3"/>
          </p:cNvCxnSpPr>
          <p:nvPr/>
        </p:nvCxnSpPr>
        <p:spPr>
          <a:xfrm flipV="1">
            <a:off x="3467548" y="4247399"/>
            <a:ext cx="235187" cy="565774"/>
          </a:xfrm>
          <a:prstGeom prst="bentConnector3">
            <a:avLst>
              <a:gd name="adj1" fmla="val 50000"/>
            </a:avLst>
          </a:prstGeom>
          <a:noFill/>
          <a:ln w="9525" cap="flat" cmpd="sng" algn="ctr">
            <a:solidFill>
              <a:schemeClr val="tx1">
                <a:lumMod val="75000"/>
                <a:lumOff val="25000"/>
              </a:schemeClr>
            </a:solidFill>
            <a:prstDash val="solid"/>
            <a:tailEnd type="triangle"/>
          </a:ln>
          <a:effectLst/>
        </p:spPr>
      </p:cxnSp>
      <p:cxnSp>
        <p:nvCxnSpPr>
          <p:cNvPr id="200" name="Connector: Elbow 99">
            <a:extLst>
              <a:ext uri="{FF2B5EF4-FFF2-40B4-BE49-F238E27FC236}">
                <a16:creationId xmlns:a16="http://schemas.microsoft.com/office/drawing/2014/main" id="{74C6FD7E-5FAD-C420-5452-AF0A7B032465}"/>
              </a:ext>
            </a:extLst>
          </p:cNvPr>
          <p:cNvCxnSpPr>
            <a:cxnSpLocks/>
            <a:stCxn id="193" idx="3"/>
          </p:cNvCxnSpPr>
          <p:nvPr/>
        </p:nvCxnSpPr>
        <p:spPr>
          <a:xfrm flipV="1">
            <a:off x="3467548" y="4247399"/>
            <a:ext cx="235187" cy="1131546"/>
          </a:xfrm>
          <a:prstGeom prst="bentConnector3">
            <a:avLst>
              <a:gd name="adj1" fmla="val 50000"/>
            </a:avLst>
          </a:prstGeom>
          <a:noFill/>
          <a:ln w="9525" cap="flat" cmpd="sng" algn="ctr">
            <a:solidFill>
              <a:schemeClr val="tx1">
                <a:lumMod val="75000"/>
                <a:lumOff val="25000"/>
              </a:schemeClr>
            </a:solidFill>
            <a:prstDash val="solid"/>
            <a:tailEnd type="triangle"/>
          </a:ln>
          <a:effectLst/>
        </p:spPr>
      </p:cxnSp>
      <p:cxnSp>
        <p:nvCxnSpPr>
          <p:cNvPr id="201" name="Straight Arrow Connector 200">
            <a:extLst>
              <a:ext uri="{FF2B5EF4-FFF2-40B4-BE49-F238E27FC236}">
                <a16:creationId xmlns:a16="http://schemas.microsoft.com/office/drawing/2014/main" id="{9C6C3D6A-EA31-D7CE-C8EF-ED1AE494C3E5}"/>
              </a:ext>
            </a:extLst>
          </p:cNvPr>
          <p:cNvCxnSpPr>
            <a:cxnSpLocks/>
            <a:stCxn id="192" idx="3"/>
          </p:cNvCxnSpPr>
          <p:nvPr/>
        </p:nvCxnSpPr>
        <p:spPr>
          <a:xfrm>
            <a:off x="3467548" y="4247399"/>
            <a:ext cx="235187" cy="0"/>
          </a:xfrm>
          <a:prstGeom prst="straightConnector1">
            <a:avLst/>
          </a:prstGeom>
          <a:noFill/>
          <a:ln w="9525" cap="flat" cmpd="sng" algn="ctr">
            <a:solidFill>
              <a:schemeClr val="tx1">
                <a:lumMod val="75000"/>
                <a:lumOff val="25000"/>
              </a:schemeClr>
            </a:solidFill>
            <a:prstDash val="solid"/>
            <a:tailEnd type="triangle"/>
          </a:ln>
          <a:effectLst/>
        </p:spPr>
      </p:cxnSp>
      <p:sp>
        <p:nvSpPr>
          <p:cNvPr id="202" name="Rounded Rectangle 720">
            <a:extLst>
              <a:ext uri="{FF2B5EF4-FFF2-40B4-BE49-F238E27FC236}">
                <a16:creationId xmlns:a16="http://schemas.microsoft.com/office/drawing/2014/main" id="{0038A9BE-C900-CE61-070E-D0924169E0B3}"/>
              </a:ext>
            </a:extLst>
          </p:cNvPr>
          <p:cNvSpPr/>
          <p:nvPr/>
        </p:nvSpPr>
        <p:spPr>
          <a:xfrm>
            <a:off x="10584446" y="3352943"/>
            <a:ext cx="1074847" cy="569330"/>
          </a:xfrm>
          <a:prstGeom prst="rect">
            <a:avLst/>
          </a:prstGeom>
          <a:solidFill>
            <a:schemeClr val="accent6">
              <a:lumMod val="20000"/>
              <a:lumOff val="80000"/>
            </a:schemeClr>
          </a:solidFill>
          <a:ln w="9525" cap="flat" cmpd="sng" algn="ctr">
            <a:solidFill>
              <a:sysClr val="window" lastClr="FFFFFF">
                <a:lumMod val="85000"/>
              </a:sysClr>
            </a:solidFill>
            <a:prstDash val="solid"/>
          </a:ln>
          <a:effectLst/>
        </p:spPr>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Export unified JSON schema</a:t>
            </a:r>
          </a:p>
        </p:txBody>
      </p:sp>
      <p:sp>
        <p:nvSpPr>
          <p:cNvPr id="203" name="Rounded Rectangle 720">
            <a:extLst>
              <a:ext uri="{FF2B5EF4-FFF2-40B4-BE49-F238E27FC236}">
                <a16:creationId xmlns:a16="http://schemas.microsoft.com/office/drawing/2014/main" id="{E3604614-FF6D-DCF8-986A-57AFA9EBF564}"/>
              </a:ext>
            </a:extLst>
          </p:cNvPr>
          <p:cNvSpPr/>
          <p:nvPr/>
        </p:nvSpPr>
        <p:spPr>
          <a:xfrm>
            <a:off x="10602427" y="4310544"/>
            <a:ext cx="1074847" cy="569330"/>
          </a:xfrm>
          <a:prstGeom prst="rect">
            <a:avLst/>
          </a:prstGeom>
          <a:solidFill>
            <a:schemeClr val="accent6">
              <a:lumMod val="20000"/>
              <a:lumOff val="80000"/>
            </a:schemeClr>
          </a:solidFill>
          <a:ln w="9525" cap="flat" cmpd="sng" algn="ctr">
            <a:solidFill>
              <a:sysClr val="window" lastClr="FFFFFF">
                <a:lumMod val="85000"/>
              </a:sysClr>
            </a:solidFill>
            <a:prstDash val="solid"/>
          </a:ln>
          <a:effectLst/>
        </p:spPr>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Export unified JSON schema</a:t>
            </a:r>
          </a:p>
        </p:txBody>
      </p:sp>
      <p:sp>
        <p:nvSpPr>
          <p:cNvPr id="204" name="Rounded Rectangle 720">
            <a:extLst>
              <a:ext uri="{FF2B5EF4-FFF2-40B4-BE49-F238E27FC236}">
                <a16:creationId xmlns:a16="http://schemas.microsoft.com/office/drawing/2014/main" id="{9BE926DE-A247-C74F-849D-782531369649}"/>
              </a:ext>
            </a:extLst>
          </p:cNvPr>
          <p:cNvSpPr/>
          <p:nvPr/>
        </p:nvSpPr>
        <p:spPr>
          <a:xfrm>
            <a:off x="10583669" y="5131193"/>
            <a:ext cx="1076400" cy="694724"/>
          </a:xfrm>
          <a:prstGeom prst="rect">
            <a:avLst/>
          </a:prstGeom>
          <a:solidFill>
            <a:schemeClr val="accent6">
              <a:lumMod val="20000"/>
              <a:lumOff val="80000"/>
            </a:schemeClr>
          </a:solidFill>
          <a:ln w="9525" cap="flat" cmpd="sng" algn="ctr">
            <a:solidFill>
              <a:sysClr val="window" lastClr="FFFFFF">
                <a:lumMod val="85000"/>
              </a:sysClr>
            </a:solidFill>
            <a:prstDash val="solid"/>
          </a:ln>
          <a:effectLst/>
        </p:spPr>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Export structured outline Markdown</a:t>
            </a:r>
          </a:p>
        </p:txBody>
      </p:sp>
      <p:sp>
        <p:nvSpPr>
          <p:cNvPr id="205" name="Arrow: Down 162">
            <a:extLst>
              <a:ext uri="{FF2B5EF4-FFF2-40B4-BE49-F238E27FC236}">
                <a16:creationId xmlns:a16="http://schemas.microsoft.com/office/drawing/2014/main" id="{17EA50D8-AC9E-762F-1655-1FC6ADFF4519}"/>
              </a:ext>
            </a:extLst>
          </p:cNvPr>
          <p:cNvSpPr/>
          <p:nvPr/>
        </p:nvSpPr>
        <p:spPr bwMode="gray">
          <a:xfrm rot="16200000">
            <a:off x="5057783" y="3909675"/>
            <a:ext cx="180000" cy="180000"/>
          </a:xfrm>
          <a:prstGeom prst="downArrow">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AU" sz="1600" b="1" i="0" u="none" strike="noStrike" kern="0" cap="none" spc="0" normalizeH="0" baseline="0" noProof="0">
              <a:ln>
                <a:noFill/>
              </a:ln>
              <a:solidFill>
                <a:prstClr val="white"/>
              </a:solidFill>
              <a:effectLst/>
              <a:uLnTx/>
              <a:uFillTx/>
              <a:latin typeface="Open Sans Light"/>
              <a:ea typeface="+mn-ea"/>
              <a:cs typeface="+mn-cs"/>
            </a:endParaRPr>
          </a:p>
        </p:txBody>
      </p:sp>
      <p:sp>
        <p:nvSpPr>
          <p:cNvPr id="206" name="Arrow: Down 198">
            <a:extLst>
              <a:ext uri="{FF2B5EF4-FFF2-40B4-BE49-F238E27FC236}">
                <a16:creationId xmlns:a16="http://schemas.microsoft.com/office/drawing/2014/main" id="{7C7CEF78-54D5-DC98-CD17-78903E79D1E1}"/>
              </a:ext>
            </a:extLst>
          </p:cNvPr>
          <p:cNvSpPr/>
          <p:nvPr/>
        </p:nvSpPr>
        <p:spPr bwMode="gray">
          <a:xfrm rot="16200000">
            <a:off x="1904672" y="3909674"/>
            <a:ext cx="180000" cy="180000"/>
          </a:xfrm>
          <a:prstGeom prst="downArrow">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AU" sz="1600" b="1" i="0" u="none" strike="noStrike" kern="0" cap="none" spc="0" normalizeH="0" baseline="0" noProof="0">
              <a:ln>
                <a:noFill/>
              </a:ln>
              <a:solidFill>
                <a:prstClr val="white"/>
              </a:solidFill>
              <a:effectLst/>
              <a:uLnTx/>
              <a:uFillTx/>
              <a:latin typeface="Open Sans Light"/>
              <a:ea typeface="+mn-ea"/>
              <a:cs typeface="+mn-cs"/>
            </a:endParaRPr>
          </a:p>
        </p:txBody>
      </p:sp>
      <p:sp>
        <p:nvSpPr>
          <p:cNvPr id="207" name="Arrow: Down 199">
            <a:extLst>
              <a:ext uri="{FF2B5EF4-FFF2-40B4-BE49-F238E27FC236}">
                <a16:creationId xmlns:a16="http://schemas.microsoft.com/office/drawing/2014/main" id="{CC6C9C55-452A-F546-3942-36F6930032BE}"/>
              </a:ext>
            </a:extLst>
          </p:cNvPr>
          <p:cNvSpPr/>
          <p:nvPr/>
        </p:nvSpPr>
        <p:spPr bwMode="gray">
          <a:xfrm rot="16200000">
            <a:off x="8756845" y="3894127"/>
            <a:ext cx="180000" cy="180000"/>
          </a:xfrm>
          <a:prstGeom prst="downArrow">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AU" sz="1600" b="1" i="0" u="none" strike="noStrike" kern="0" cap="none" spc="0" normalizeH="0" baseline="0" noProof="0">
              <a:ln>
                <a:noFill/>
              </a:ln>
              <a:solidFill>
                <a:prstClr val="white"/>
              </a:solidFill>
              <a:effectLst/>
              <a:uLnTx/>
              <a:uFillTx/>
              <a:latin typeface="Open Sans Light"/>
              <a:ea typeface="+mn-ea"/>
              <a:cs typeface="+mn-cs"/>
            </a:endParaRPr>
          </a:p>
        </p:txBody>
      </p:sp>
      <p:sp>
        <p:nvSpPr>
          <p:cNvPr id="208" name="Arrow: Down 200">
            <a:extLst>
              <a:ext uri="{FF2B5EF4-FFF2-40B4-BE49-F238E27FC236}">
                <a16:creationId xmlns:a16="http://schemas.microsoft.com/office/drawing/2014/main" id="{77E0D259-50A2-0BE8-79FF-015C2703479E}"/>
              </a:ext>
            </a:extLst>
          </p:cNvPr>
          <p:cNvSpPr/>
          <p:nvPr/>
        </p:nvSpPr>
        <p:spPr bwMode="gray">
          <a:xfrm rot="16200000">
            <a:off x="10375011" y="3547608"/>
            <a:ext cx="180000" cy="180000"/>
          </a:xfrm>
          <a:prstGeom prst="downArrow">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AU" sz="1600" b="1" i="0" u="none" strike="noStrike" kern="0" cap="none" spc="0" normalizeH="0" baseline="0" noProof="0">
              <a:ln>
                <a:noFill/>
              </a:ln>
              <a:solidFill>
                <a:prstClr val="white"/>
              </a:solidFill>
              <a:effectLst/>
              <a:uLnTx/>
              <a:uFillTx/>
              <a:latin typeface="Open Sans Light"/>
              <a:ea typeface="+mn-ea"/>
              <a:cs typeface="+mn-cs"/>
            </a:endParaRPr>
          </a:p>
        </p:txBody>
      </p:sp>
      <p:sp>
        <p:nvSpPr>
          <p:cNvPr id="209" name="Rectangle 208">
            <a:extLst>
              <a:ext uri="{FF2B5EF4-FFF2-40B4-BE49-F238E27FC236}">
                <a16:creationId xmlns:a16="http://schemas.microsoft.com/office/drawing/2014/main" id="{055C0EDF-874C-8C35-8FF5-CE87AC49738A}"/>
              </a:ext>
            </a:extLst>
          </p:cNvPr>
          <p:cNvSpPr/>
          <p:nvPr/>
        </p:nvSpPr>
        <p:spPr>
          <a:xfrm>
            <a:off x="3726778" y="3887399"/>
            <a:ext cx="1080000" cy="720000"/>
          </a:xfrm>
          <a:prstGeom prst="rect">
            <a:avLst/>
          </a:prstGeom>
          <a:solidFill>
            <a:sysClr val="window" lastClr="FFFFFF">
              <a:lumMod val="95000"/>
            </a:sysClr>
          </a:solidFill>
          <a:ln w="19050" cap="flat" cmpd="sng" algn="ctr">
            <a:solidFill>
              <a:schemeClr val="tx1">
                <a:lumMod val="50000"/>
                <a:lumOff val="50000"/>
              </a:schemeClr>
            </a:solidFill>
            <a:prstDash val="solid"/>
          </a:ln>
          <a:effectLst/>
        </p:spPr>
        <p:txBody>
          <a:bodyPr lIns="36000" tIns="36000" rIns="36000" b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Raw Geometries</a:t>
            </a:r>
          </a:p>
        </p:txBody>
      </p:sp>
      <p:sp>
        <p:nvSpPr>
          <p:cNvPr id="210" name="Rectangle 209">
            <a:extLst>
              <a:ext uri="{FF2B5EF4-FFF2-40B4-BE49-F238E27FC236}">
                <a16:creationId xmlns:a16="http://schemas.microsoft.com/office/drawing/2014/main" id="{B7ED7326-0B92-69D7-BCCF-34F88AE288E6}"/>
              </a:ext>
            </a:extLst>
          </p:cNvPr>
          <p:cNvSpPr/>
          <p:nvPr/>
        </p:nvSpPr>
        <p:spPr>
          <a:xfrm>
            <a:off x="5557520" y="3133479"/>
            <a:ext cx="2778217" cy="444587"/>
          </a:xfrm>
          <a:prstGeom prst="rect">
            <a:avLst/>
          </a:prstGeom>
          <a:solidFill>
            <a:sysClr val="window" lastClr="FFFFFF">
              <a:lumMod val="95000"/>
            </a:sysClr>
          </a:solidFill>
          <a:ln w="3175" cap="flat" cmpd="sng" algn="ctr">
            <a:solidFill>
              <a:sysClr val="window" lastClr="FFFFFF">
                <a:lumMod val="75000"/>
              </a:sysClr>
            </a:solidFill>
            <a:prstDash val="solid"/>
          </a:ln>
          <a:effectLst/>
        </p:spPr>
        <p:txBody>
          <a:bodyPr lIns="36000" tIns="36000" rIns="36000" b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Topologically sort flowchart nodes</a:t>
            </a:r>
          </a:p>
        </p:txBody>
      </p:sp>
      <p:sp>
        <p:nvSpPr>
          <p:cNvPr id="211" name="Arrow: Down 236">
            <a:extLst>
              <a:ext uri="{FF2B5EF4-FFF2-40B4-BE49-F238E27FC236}">
                <a16:creationId xmlns:a16="http://schemas.microsoft.com/office/drawing/2014/main" id="{DAFD720F-8DD5-B86E-D451-BBA75DE66497}"/>
              </a:ext>
            </a:extLst>
          </p:cNvPr>
          <p:cNvSpPr/>
          <p:nvPr/>
        </p:nvSpPr>
        <p:spPr bwMode="gray">
          <a:xfrm>
            <a:off x="6860264" y="3616561"/>
            <a:ext cx="185214" cy="144000"/>
          </a:xfrm>
          <a:prstGeom prst="downArrow">
            <a:avLst/>
          </a:prstGeom>
          <a:solidFill>
            <a:schemeClr val="tx1">
              <a:lumMod val="85000"/>
              <a:lumOff val="15000"/>
            </a:schemeClr>
          </a:solidFill>
          <a:ln w="9525"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AU" sz="1600" b="1" i="0" u="none" strike="noStrike" kern="0" cap="none" spc="0" normalizeH="0" baseline="0" noProof="0">
              <a:ln>
                <a:noFill/>
              </a:ln>
              <a:solidFill>
                <a:prstClr val="white"/>
              </a:solidFill>
              <a:effectLst/>
              <a:uLnTx/>
              <a:uFillTx/>
              <a:latin typeface="Open Sans Light"/>
              <a:ea typeface="+mn-ea"/>
              <a:cs typeface="+mn-cs"/>
            </a:endParaRPr>
          </a:p>
        </p:txBody>
      </p:sp>
      <p:sp>
        <p:nvSpPr>
          <p:cNvPr id="212" name="Arrow: Down 237">
            <a:extLst>
              <a:ext uri="{FF2B5EF4-FFF2-40B4-BE49-F238E27FC236}">
                <a16:creationId xmlns:a16="http://schemas.microsoft.com/office/drawing/2014/main" id="{E89AEFAD-9859-C84C-9582-AB1E46FDD187}"/>
              </a:ext>
            </a:extLst>
          </p:cNvPr>
          <p:cNvSpPr/>
          <p:nvPr/>
        </p:nvSpPr>
        <p:spPr bwMode="gray">
          <a:xfrm>
            <a:off x="6860264" y="5056912"/>
            <a:ext cx="185214" cy="144000"/>
          </a:xfrm>
          <a:prstGeom prst="downArrow">
            <a:avLst/>
          </a:prstGeom>
          <a:solidFill>
            <a:schemeClr val="tx1">
              <a:lumMod val="85000"/>
              <a:lumOff val="15000"/>
            </a:schemeClr>
          </a:solidFill>
          <a:ln w="9525"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AU" sz="1600" b="1" i="0" u="none" strike="noStrike" kern="0" cap="none" spc="0" normalizeH="0" baseline="0" noProof="0">
              <a:ln>
                <a:noFill/>
              </a:ln>
              <a:solidFill>
                <a:prstClr val="white"/>
              </a:solidFill>
              <a:effectLst/>
              <a:uLnTx/>
              <a:uFillTx/>
              <a:latin typeface="Open Sans Light"/>
              <a:ea typeface="+mn-ea"/>
              <a:cs typeface="+mn-cs"/>
            </a:endParaRPr>
          </a:p>
        </p:txBody>
      </p:sp>
      <p:sp>
        <p:nvSpPr>
          <p:cNvPr id="213" name="Rectangle 212">
            <a:extLst>
              <a:ext uri="{FF2B5EF4-FFF2-40B4-BE49-F238E27FC236}">
                <a16:creationId xmlns:a16="http://schemas.microsoft.com/office/drawing/2014/main" id="{1B29C2F7-571E-95BA-F383-B01ECAC4CEAA}"/>
              </a:ext>
            </a:extLst>
          </p:cNvPr>
          <p:cNvSpPr/>
          <p:nvPr/>
        </p:nvSpPr>
        <p:spPr>
          <a:xfrm>
            <a:off x="5557520" y="5242272"/>
            <a:ext cx="2778217" cy="514736"/>
          </a:xfrm>
          <a:prstGeom prst="rect">
            <a:avLst/>
          </a:prstGeom>
          <a:solidFill>
            <a:sysClr val="window" lastClr="FFFFFF">
              <a:lumMod val="95000"/>
            </a:sysClr>
          </a:solidFill>
          <a:ln w="3175" cap="flat" cmpd="sng" algn="ctr">
            <a:solidFill>
              <a:sysClr val="window" lastClr="FFFFFF">
                <a:lumMod val="75000"/>
              </a:sysClr>
            </a:solidFill>
            <a:prstDash val="solid"/>
          </a:ln>
          <a:effectLst/>
        </p:spPr>
        <p:txBody>
          <a:bodyPr lIns="36000" tIns="36000" rIns="36000" b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Correct OCR numeric substitutions</a:t>
            </a:r>
          </a:p>
        </p:txBody>
      </p:sp>
      <p:sp>
        <p:nvSpPr>
          <p:cNvPr id="214" name="Rectangle 213">
            <a:extLst>
              <a:ext uri="{FF2B5EF4-FFF2-40B4-BE49-F238E27FC236}">
                <a16:creationId xmlns:a16="http://schemas.microsoft.com/office/drawing/2014/main" id="{A5372B12-3F5E-2D7F-96AA-53A978C2B166}"/>
              </a:ext>
            </a:extLst>
          </p:cNvPr>
          <p:cNvSpPr/>
          <p:nvPr/>
        </p:nvSpPr>
        <p:spPr>
          <a:xfrm>
            <a:off x="5554352" y="3793672"/>
            <a:ext cx="2778217" cy="444587"/>
          </a:xfrm>
          <a:prstGeom prst="rect">
            <a:avLst/>
          </a:prstGeom>
          <a:solidFill>
            <a:sysClr val="window" lastClr="FFFFFF">
              <a:lumMod val="95000"/>
            </a:sysClr>
          </a:solidFill>
          <a:ln w="3175" cap="flat" cmpd="sng" algn="ctr">
            <a:solidFill>
              <a:sysClr val="window" lastClr="FFFFFF">
                <a:lumMod val="75000"/>
              </a:sysClr>
            </a:solidFill>
            <a:prstDash val="solid"/>
          </a:ln>
          <a:effectLst/>
        </p:spPr>
        <p:txBody>
          <a:bodyPr lIns="36000" tIns="36000" rIns="36000" bIns="3600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000000"/>
              </a:buClr>
              <a:buSzTx/>
              <a:buFontTx/>
              <a:buNone/>
              <a:tabLst/>
              <a:defRPr/>
            </a:pPr>
            <a:r>
              <a:rPr kumimoji="0" lang="en-AU" sz="900" b="1" i="0" u="none" strike="noStrike" kern="0" cap="none" spc="0" normalizeH="0" baseline="0" noProof="0">
                <a:ln>
                  <a:noFill/>
                </a:ln>
                <a:solidFill>
                  <a:srgbClr val="353A3F"/>
                </a:solidFill>
                <a:effectLst/>
                <a:uLnTx/>
                <a:uFillTx/>
                <a:latin typeface="Calibri" panose="020F0502020204030204"/>
                <a:ea typeface="Open Sans" panose="020B0606030504020204" pitchFamily="34" charset="0"/>
                <a:cs typeface="Open Sans" panose="020B0606030504020204" pitchFamily="34" charset="0"/>
              </a:rPr>
              <a:t>Reconstruct table grid spans &amp; borders</a:t>
            </a:r>
          </a:p>
        </p:txBody>
      </p:sp>
      <p:sp>
        <p:nvSpPr>
          <p:cNvPr id="215" name="Arrow: Down 163">
            <a:extLst>
              <a:ext uri="{FF2B5EF4-FFF2-40B4-BE49-F238E27FC236}">
                <a16:creationId xmlns:a16="http://schemas.microsoft.com/office/drawing/2014/main" id="{2173D0E5-1414-DB81-DFAC-3A9743C3612F}"/>
              </a:ext>
            </a:extLst>
          </p:cNvPr>
          <p:cNvSpPr/>
          <p:nvPr/>
        </p:nvSpPr>
        <p:spPr bwMode="gray">
          <a:xfrm rot="16200000">
            <a:off x="10375011" y="4505200"/>
            <a:ext cx="180000" cy="180000"/>
          </a:xfrm>
          <a:prstGeom prst="downArrow">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AU" sz="1600" b="1" i="0" u="none" strike="noStrike" kern="0" cap="none" spc="0" normalizeH="0" baseline="0" noProof="0">
              <a:ln>
                <a:noFill/>
              </a:ln>
              <a:solidFill>
                <a:prstClr val="white"/>
              </a:solidFill>
              <a:effectLst/>
              <a:uLnTx/>
              <a:uFillTx/>
              <a:latin typeface="Open Sans Light"/>
              <a:ea typeface="+mn-ea"/>
              <a:cs typeface="+mn-cs"/>
            </a:endParaRPr>
          </a:p>
        </p:txBody>
      </p:sp>
      <p:sp>
        <p:nvSpPr>
          <p:cNvPr id="216" name="Arrow: Down 207">
            <a:extLst>
              <a:ext uri="{FF2B5EF4-FFF2-40B4-BE49-F238E27FC236}">
                <a16:creationId xmlns:a16="http://schemas.microsoft.com/office/drawing/2014/main" id="{1934A2CF-54A9-75C2-FE7C-CFF5F9DFF09F}"/>
              </a:ext>
            </a:extLst>
          </p:cNvPr>
          <p:cNvSpPr/>
          <p:nvPr/>
        </p:nvSpPr>
        <p:spPr bwMode="gray">
          <a:xfrm rot="16200000">
            <a:off x="10350613" y="5403328"/>
            <a:ext cx="180000" cy="180000"/>
          </a:xfrm>
          <a:prstGeom prst="downArrow">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AU" sz="1600" b="1" i="0" u="none" strike="noStrike" kern="0" cap="none" spc="0" normalizeH="0" baseline="0" noProof="0">
              <a:ln>
                <a:noFill/>
              </a:ln>
              <a:solidFill>
                <a:prstClr val="white"/>
              </a:solidFill>
              <a:effectLst/>
              <a:uLnTx/>
              <a:uFillTx/>
              <a:latin typeface="Open Sans Light"/>
              <a:ea typeface="+mn-ea"/>
              <a:cs typeface="+mn-cs"/>
            </a:endParaRPr>
          </a:p>
        </p:txBody>
      </p:sp>
      <p:sp>
        <p:nvSpPr>
          <p:cNvPr id="217" name="Arrow: Down 14">
            <a:extLst>
              <a:ext uri="{FF2B5EF4-FFF2-40B4-BE49-F238E27FC236}">
                <a16:creationId xmlns:a16="http://schemas.microsoft.com/office/drawing/2014/main" id="{6A508121-5B97-F2EA-A73F-DF4B11CDDC9B}"/>
              </a:ext>
            </a:extLst>
          </p:cNvPr>
          <p:cNvSpPr/>
          <p:nvPr/>
        </p:nvSpPr>
        <p:spPr bwMode="gray">
          <a:xfrm>
            <a:off x="6850853" y="4306809"/>
            <a:ext cx="185214" cy="144000"/>
          </a:xfrm>
          <a:prstGeom prst="downArrow">
            <a:avLst/>
          </a:prstGeom>
          <a:solidFill>
            <a:schemeClr val="tx1">
              <a:lumMod val="85000"/>
              <a:lumOff val="15000"/>
            </a:schemeClr>
          </a:solidFill>
          <a:ln w="9525"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AU" sz="1600" b="1" i="0" u="none" strike="noStrike" kern="0" cap="none" spc="0" normalizeH="0" baseline="0" noProof="0">
              <a:ln>
                <a:noFill/>
              </a:ln>
              <a:solidFill>
                <a:prstClr val="white"/>
              </a:solidFill>
              <a:effectLst/>
              <a:uLnTx/>
              <a:uFillTx/>
              <a:latin typeface="Open Sans Light"/>
              <a:ea typeface="+mn-ea"/>
              <a:cs typeface="+mn-cs"/>
            </a:endParaRPr>
          </a:p>
        </p:txBody>
      </p:sp>
    </p:spTree>
    <p:extLst>
      <p:ext uri="{BB962C8B-B14F-4D97-AF65-F5344CB8AC3E}">
        <p14:creationId xmlns:p14="http://schemas.microsoft.com/office/powerpoint/2010/main" val="2487232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908BE-3817-7F9A-64D2-F0EEFAE234BB}"/>
              </a:ext>
            </a:extLst>
          </p:cNvPr>
          <p:cNvSpPr>
            <a:spLocks noGrp="1"/>
          </p:cNvSpPr>
          <p:nvPr>
            <p:ph type="title"/>
          </p:nvPr>
        </p:nvSpPr>
        <p:spPr/>
        <p:txBody>
          <a:bodyPr/>
          <a:lstStyle/>
          <a:p>
            <a:r>
              <a:rPr lang="en-AU" noProof="0"/>
              <a:t>AetherMind Document Ingestion – Data Inputs and outputs</a:t>
            </a:r>
          </a:p>
        </p:txBody>
      </p:sp>
      <p:sp>
        <p:nvSpPr>
          <p:cNvPr id="3" name="Text Placeholder 2">
            <a:extLst>
              <a:ext uri="{FF2B5EF4-FFF2-40B4-BE49-F238E27FC236}">
                <a16:creationId xmlns:a16="http://schemas.microsoft.com/office/drawing/2014/main" id="{B117943A-F056-71F3-9D7E-B118860433E7}"/>
              </a:ext>
            </a:extLst>
          </p:cNvPr>
          <p:cNvSpPr>
            <a:spLocks noGrp="1"/>
          </p:cNvSpPr>
          <p:nvPr>
            <p:ph type="body" sz="quarter" idx="10"/>
          </p:nvPr>
        </p:nvSpPr>
        <p:spPr/>
        <p:txBody>
          <a:bodyPr/>
          <a:lstStyle/>
          <a:p>
            <a:r>
              <a:rPr lang="en-AU" noProof="0"/>
              <a:t>The AetherMind Platform consumes raw native slides, vector PDFs, and scanned images, converting them into structured reconstruction blueprints, GFM tables, and Mermaid process charts.</a:t>
            </a:r>
          </a:p>
        </p:txBody>
      </p:sp>
      <p:sp>
        <p:nvSpPr>
          <p:cNvPr id="5" name="TextBox 4">
            <a:extLst>
              <a:ext uri="{FF2B5EF4-FFF2-40B4-BE49-F238E27FC236}">
                <a16:creationId xmlns:a16="http://schemas.microsoft.com/office/drawing/2014/main" id="{07CEE507-8154-37FA-3534-422D4066BE4E}"/>
              </a:ext>
            </a:extLst>
          </p:cNvPr>
          <p:cNvSpPr txBox="1"/>
          <p:nvPr/>
        </p:nvSpPr>
        <p:spPr>
          <a:xfrm>
            <a:off x="5134255" y="3176848"/>
            <a:ext cx="2730912"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AetherMind Processing Hub</a:t>
            </a:r>
          </a:p>
        </p:txBody>
      </p:sp>
      <p:pic>
        <p:nvPicPr>
          <p:cNvPr id="6" name="Picture 5" descr="layout_analysis_mockup_1782196997197.jpg"/>
          <p:cNvPicPr>
            <a:picLocks noChangeAspect="1"/>
          </p:cNvPicPr>
          <p:nvPr/>
        </p:nvPicPr>
        <p:blipFill>
          <a:blip r:embed="rId3"/>
          <a:stretch>
            <a:fillRect/>
          </a:stretch>
        </p:blipFill>
        <p:spPr>
          <a:xfrm>
            <a:off x="1044298" y="1409318"/>
            <a:ext cx="9766800" cy="4704611"/>
          </a:xfrm>
          <a:prstGeom prst="rect">
            <a:avLst/>
          </a:prstGeom>
        </p:spPr>
      </p:pic>
    </p:spTree>
    <p:extLst>
      <p:ext uri="{BB962C8B-B14F-4D97-AF65-F5344CB8AC3E}">
        <p14:creationId xmlns:p14="http://schemas.microsoft.com/office/powerpoint/2010/main" val="874590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BA7CF-E26C-B87B-7699-00B562634A7E}"/>
              </a:ext>
            </a:extLst>
          </p:cNvPr>
          <p:cNvSpPr>
            <a:spLocks noGrp="1"/>
          </p:cNvSpPr>
          <p:nvPr>
            <p:ph type="title"/>
          </p:nvPr>
        </p:nvSpPr>
        <p:spPr/>
        <p:txBody>
          <a:bodyPr/>
          <a:lstStyle/>
          <a:p>
            <a:r>
              <a:rPr lang="en-AU" noProof="0"/>
              <a:t>Feature Deep Dive – Extraction &amp; OCR Layer</a:t>
            </a:r>
          </a:p>
        </p:txBody>
      </p:sp>
      <p:sp>
        <p:nvSpPr>
          <p:cNvPr id="3" name="Text Placeholder 2">
            <a:extLst>
              <a:ext uri="{FF2B5EF4-FFF2-40B4-BE49-F238E27FC236}">
                <a16:creationId xmlns:a16="http://schemas.microsoft.com/office/drawing/2014/main" id="{51C1E85D-1CF4-7098-0FBE-9738D0EAE9C1}"/>
              </a:ext>
            </a:extLst>
          </p:cNvPr>
          <p:cNvSpPr>
            <a:spLocks noGrp="1"/>
          </p:cNvSpPr>
          <p:nvPr>
            <p:ph type="body" sz="quarter" idx="10"/>
          </p:nvPr>
        </p:nvSpPr>
        <p:spPr/>
        <p:txBody>
          <a:bodyPr/>
          <a:lstStyle/>
          <a:p>
            <a:r>
              <a:rPr lang="en-AU" noProof="0"/>
              <a:t>AetherMind incorporates specialized extractors and multi-stage OCR to capture lossless document content.</a:t>
            </a:r>
          </a:p>
        </p:txBody>
      </p:sp>
      <p:sp>
        <p:nvSpPr>
          <p:cNvPr id="7" name="TextBox 6">
            <a:extLst>
              <a:ext uri="{FF2B5EF4-FFF2-40B4-BE49-F238E27FC236}">
                <a16:creationId xmlns:a16="http://schemas.microsoft.com/office/drawing/2014/main" id="{2599FF73-5BDE-00E2-F287-EAAFFBF4B83C}"/>
              </a:ext>
            </a:extLst>
          </p:cNvPr>
          <p:cNvSpPr txBox="1"/>
          <p:nvPr/>
        </p:nvSpPr>
        <p:spPr>
          <a:xfrm>
            <a:off x="535748" y="1433655"/>
            <a:ext cx="3059619" cy="892552"/>
          </a:xfrm>
          <a:prstGeom prst="rect">
            <a:avLst/>
          </a:prstGeom>
          <a:noFill/>
        </p:spPr>
        <p:txBody>
          <a:bodyPr wrap="square" rtlCol="0">
            <a:spAutoFit/>
          </a:bodyPr>
          <a:lstStyle/>
          <a:p>
            <a:r>
              <a:t>Format-Specific Extractors</a:t>
            </a:r>
          </a:p>
          <a:p>
            <a:r>
              <a:t>PPTExtractor decodes native presentation slides (shape XMLs, coordinates, and connectors). PDFExtractor decodes PDF grids and text blocks using PyMuPDF.</a:t>
            </a:r>
          </a:p>
        </p:txBody>
      </p:sp>
      <p:sp>
        <p:nvSpPr>
          <p:cNvPr id="8" name="TextBox 7">
            <a:extLst>
              <a:ext uri="{FF2B5EF4-FFF2-40B4-BE49-F238E27FC236}">
                <a16:creationId xmlns:a16="http://schemas.microsoft.com/office/drawing/2014/main" id="{0E302B55-4463-7969-DC6A-9F9AF2C3E333}"/>
              </a:ext>
            </a:extLst>
          </p:cNvPr>
          <p:cNvSpPr txBox="1"/>
          <p:nvPr/>
        </p:nvSpPr>
        <p:spPr>
          <a:xfrm>
            <a:off x="535748" y="2869930"/>
            <a:ext cx="3059619"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86BC24"/>
                </a:solidFill>
                <a:effectLst/>
                <a:uLnTx/>
                <a:uFillTx/>
                <a:latin typeface="Open Sans" panose="020B0606030504020204" pitchFamily="34" charset="0"/>
                <a:ea typeface="Open Sans" panose="020B0606030504020204" pitchFamily="34" charset="0"/>
                <a:cs typeface="Open Sans" panose="020B0606030504020204" pitchFamily="34" charset="0"/>
              </a:rPr>
              <a:t>Slide Region Segmenter</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SlideRegionDetector trims application headers/chrome to isolate slides, calculating scale normalization factors to maintain visual dimensions.igned to the correct Functional Location.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7794A403-E346-B135-9FA5-B2379E747A24}"/>
              </a:ext>
            </a:extLst>
          </p:cNvPr>
          <p:cNvSpPr txBox="1"/>
          <p:nvPr/>
        </p:nvSpPr>
        <p:spPr>
          <a:xfrm>
            <a:off x="535748" y="4544873"/>
            <a:ext cx="3059619" cy="892552"/>
          </a:xfrm>
          <a:prstGeom prst="rect">
            <a:avLst/>
          </a:prstGeom>
          <a:noFill/>
        </p:spPr>
        <p:txBody>
          <a:bodyPr wrap="square" rtlCol="0">
            <a:spAutoFit/>
          </a:bodyPr>
          <a:lstStyle/>
          <a:p>
            <a:r>
              <a:t>Multi-Stage OCR Engine</a:t>
            </a:r>
          </a:p>
          <a:p>
            <a:r>
              <a:t>Runs EasyOCR on cropped page boundaries, merges inline text runs, deduplicates overlapping bounding boxes, and filters out UI chrome noise.</a:t>
            </a:r>
          </a:p>
        </p:txBody>
      </p:sp>
      <p:pic>
        <p:nvPicPr>
          <p:cNvPr id="24" name="Picture 23" descr="aethermind_ocr_crop_1782196850799.jpg"/>
          <p:cNvPicPr>
            <a:picLocks noChangeAspect="1"/>
          </p:cNvPicPr>
          <p:nvPr/>
        </p:nvPicPr>
        <p:blipFill>
          <a:blip r:embed="rId5"/>
          <a:stretch>
            <a:fillRect/>
          </a:stretch>
        </p:blipFill>
        <p:spPr>
          <a:xfrm>
            <a:off x="3653733" y="1285118"/>
            <a:ext cx="7065818" cy="4006446"/>
          </a:xfrm>
          <a:prstGeom prst="rect">
            <a:avLst/>
          </a:prstGeom>
        </p:spPr>
      </p:pic>
      <p:pic>
        <p:nvPicPr>
          <p:cNvPr id="25" name="Picture 24" descr="aethermind_ocr_crop_1782196850799.jpg"/>
          <p:cNvPicPr>
            <a:picLocks noChangeAspect="1"/>
          </p:cNvPicPr>
          <p:nvPr/>
        </p:nvPicPr>
        <p:blipFill>
          <a:blip r:embed="rId5"/>
          <a:stretch>
            <a:fillRect/>
          </a:stretch>
        </p:blipFill>
        <p:spPr>
          <a:xfrm>
            <a:off x="4066025" y="1970525"/>
            <a:ext cx="7065818" cy="4006446"/>
          </a:xfrm>
          <a:prstGeom prst="rect">
            <a:avLst/>
          </a:prstGeom>
        </p:spPr>
      </p:pic>
      <p:pic>
        <p:nvPicPr>
          <p:cNvPr id="26" name="Picture 25" descr="aethermind_ocr_crop_1782196850799.jpg"/>
          <p:cNvPicPr>
            <a:picLocks noChangeAspect="1"/>
          </p:cNvPicPr>
          <p:nvPr/>
        </p:nvPicPr>
        <p:blipFill>
          <a:blip r:embed="rId5"/>
          <a:stretch>
            <a:fillRect/>
          </a:stretch>
        </p:blipFill>
        <p:spPr>
          <a:xfrm>
            <a:off x="4536683" y="2655932"/>
            <a:ext cx="7065818" cy="4006446"/>
          </a:xfrm>
          <a:prstGeom prst="rect">
            <a:avLst/>
          </a:prstGeom>
        </p:spPr>
      </p:pic>
    </p:spTree>
    <p:extLst>
      <p:ext uri="{BB962C8B-B14F-4D97-AF65-F5344CB8AC3E}">
        <p14:creationId xmlns:p14="http://schemas.microsoft.com/office/powerpoint/2010/main" val="504511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270F0-AF6C-D5A0-0DF0-F1E1A9BE77ED}"/>
              </a:ext>
            </a:extLst>
          </p:cNvPr>
          <p:cNvSpPr>
            <a:spLocks noGrp="1"/>
          </p:cNvSpPr>
          <p:nvPr>
            <p:ph type="title"/>
          </p:nvPr>
        </p:nvSpPr>
        <p:spPr/>
        <p:txBody>
          <a:bodyPr/>
          <a:lstStyle/>
          <a:p>
            <a:r>
              <a:rPr lang="en-AU" noProof="0"/>
              <a:t>Feature Deep Dive – Analysis &amp; Reconstruction</a:t>
            </a:r>
          </a:p>
        </p:txBody>
      </p:sp>
      <p:sp>
        <p:nvSpPr>
          <p:cNvPr id="3" name="Text Placeholder 2">
            <a:extLst>
              <a:ext uri="{FF2B5EF4-FFF2-40B4-BE49-F238E27FC236}">
                <a16:creationId xmlns:a16="http://schemas.microsoft.com/office/drawing/2014/main" id="{E0B98689-2223-98E2-1EEA-BD6C55C87244}"/>
              </a:ext>
            </a:extLst>
          </p:cNvPr>
          <p:cNvSpPr>
            <a:spLocks noGrp="1"/>
          </p:cNvSpPr>
          <p:nvPr>
            <p:ph type="body" sz="quarter" idx="10"/>
          </p:nvPr>
        </p:nvSpPr>
        <p:spPr/>
        <p:txBody>
          <a:bodyPr/>
          <a:lstStyle/>
          <a:p>
            <a:r>
              <a:rPr lang="en-AU" noProof="0"/>
              <a:t>AetherMind implements intelligent relationship mapping and rendering engines to reconstruct visual layouts.ed where applicable.</a:t>
            </a:r>
          </a:p>
          <a:p>
            <a:endParaRPr lang="en-AU" noProof="0"/>
          </a:p>
          <a:p>
            <a:endParaRPr lang="en-AU" noProof="0"/>
          </a:p>
        </p:txBody>
      </p:sp>
      <p:sp>
        <p:nvSpPr>
          <p:cNvPr id="8" name="TextBox 7">
            <a:extLst>
              <a:ext uri="{FF2B5EF4-FFF2-40B4-BE49-F238E27FC236}">
                <a16:creationId xmlns:a16="http://schemas.microsoft.com/office/drawing/2014/main" id="{DC9D2E9F-9AD6-F4E4-2CFC-2D288E46A3CA}"/>
              </a:ext>
            </a:extLst>
          </p:cNvPr>
          <p:cNvSpPr txBox="1"/>
          <p:nvPr/>
        </p:nvSpPr>
        <p:spPr>
          <a:xfrm>
            <a:off x="535748" y="1433655"/>
            <a:ext cx="3059619" cy="1354217"/>
          </a:xfrm>
          <a:prstGeom prst="rect">
            <a:avLst/>
          </a:prstGeom>
          <a:noFill/>
        </p:spPr>
        <p:txBody>
          <a:bodyPr wrap="square" rtlCol="0">
            <a:spAutoFit/>
          </a:bodyPr>
          <a:lstStyle/>
          <a:p>
            <a:r>
              <a:t>Table &amp; Diagram Analysis</a:t>
            </a:r>
          </a:p>
          <a:p>
            <a:r>
              <a:t>Clusters OCR text positions by vertical/horizontal grids to assemble table spans and cell borders. Traces flowchart connectors to output Mermaid.js.</a:t>
            </a:r>
          </a:p>
        </p:txBody>
      </p:sp>
      <p:sp>
        <p:nvSpPr>
          <p:cNvPr id="9" name="TextBox 8">
            <a:extLst>
              <a:ext uri="{FF2B5EF4-FFF2-40B4-BE49-F238E27FC236}">
                <a16:creationId xmlns:a16="http://schemas.microsoft.com/office/drawing/2014/main" id="{492BB91F-6BEC-2D7B-6393-95B9845CC274}"/>
              </a:ext>
            </a:extLst>
          </p:cNvPr>
          <p:cNvSpPr txBox="1"/>
          <p:nvPr/>
        </p:nvSpPr>
        <p:spPr>
          <a:xfrm>
            <a:off x="535748" y="2869930"/>
            <a:ext cx="3059619" cy="1661993"/>
          </a:xfrm>
          <a:prstGeom prst="rect">
            <a:avLst/>
          </a:prstGeom>
          <a:noFill/>
        </p:spPr>
        <p:txBody>
          <a:bodyPr wrap="square" rtlCol="0">
            <a:spAutoFit/>
          </a:bodyPr>
          <a:lstStyle/>
          <a:p>
            <a:r>
              <a:t>Deterministic FormRenderer</a:t>
            </a:r>
          </a:p>
          <a:p>
            <a:r>
              <a:t>Reconstructs extracted JSON elements (shapes, lines, checkboxes, tables, alignments) programmatically using Pillow and PyMuPDF drawing interfaces.</a:t>
            </a:r>
          </a:p>
        </p:txBody>
      </p:sp>
      <p:sp>
        <p:nvSpPr>
          <p:cNvPr id="10" name="TextBox 9">
            <a:extLst>
              <a:ext uri="{FF2B5EF4-FFF2-40B4-BE49-F238E27FC236}">
                <a16:creationId xmlns:a16="http://schemas.microsoft.com/office/drawing/2014/main" id="{F0F2D585-9F19-9221-AE33-FFACF87A76F7}"/>
              </a:ext>
            </a:extLst>
          </p:cNvPr>
          <p:cNvSpPr txBox="1"/>
          <p:nvPr/>
        </p:nvSpPr>
        <p:spPr>
          <a:xfrm>
            <a:off x="535748" y="4544873"/>
            <a:ext cx="3059619" cy="892552"/>
          </a:xfrm>
          <a:prstGeom prst="rect">
            <a:avLst/>
          </a:prstGeom>
          <a:noFill/>
        </p:spPr>
        <p:txBody>
          <a:bodyPr wrap="square" rtlCol="0">
            <a:spAutoFit/>
          </a:bodyPr>
          <a:lstStyle/>
          <a:p>
            <a:r>
              <a:t>Closed-Loop Validation</a:t>
            </a:r>
          </a:p>
          <a:p>
            <a:r>
              <a:t>Runs visual validations between reconstructed outputs and original slides, calculating Structural Similarity (SSIM) and boundary overlap ratios.</a:t>
            </a:r>
          </a:p>
        </p:txBody>
      </p:sp>
      <p:pic>
        <p:nvPicPr>
          <p:cNvPr id="24" name="Picture 23" descr="validation_audit_mockup_1782197033827.jpg"/>
          <p:cNvPicPr>
            <a:picLocks noChangeAspect="1"/>
          </p:cNvPicPr>
          <p:nvPr/>
        </p:nvPicPr>
        <p:blipFill>
          <a:blip r:embed="rId5"/>
          <a:stretch>
            <a:fillRect/>
          </a:stretch>
        </p:blipFill>
        <p:spPr>
          <a:xfrm>
            <a:off x="3687135" y="1221004"/>
            <a:ext cx="7065818" cy="4006446"/>
          </a:xfrm>
          <a:prstGeom prst="rect">
            <a:avLst/>
          </a:prstGeom>
        </p:spPr>
      </p:pic>
      <p:pic>
        <p:nvPicPr>
          <p:cNvPr id="25" name="Picture 24" descr="validation_audit_mockup_1782197033827.jpg"/>
          <p:cNvPicPr>
            <a:picLocks noChangeAspect="1"/>
          </p:cNvPicPr>
          <p:nvPr/>
        </p:nvPicPr>
        <p:blipFill>
          <a:blip r:embed="rId5"/>
          <a:stretch>
            <a:fillRect/>
          </a:stretch>
        </p:blipFill>
        <p:spPr>
          <a:xfrm>
            <a:off x="4050300" y="1813871"/>
            <a:ext cx="7065818" cy="4006446"/>
          </a:xfrm>
          <a:prstGeom prst="rect">
            <a:avLst/>
          </a:prstGeom>
        </p:spPr>
      </p:pic>
      <p:pic>
        <p:nvPicPr>
          <p:cNvPr id="26" name="Picture 25" descr="validation_audit_mockup_1782197033827.jpg"/>
          <p:cNvPicPr>
            <a:picLocks noChangeAspect="1"/>
          </p:cNvPicPr>
          <p:nvPr/>
        </p:nvPicPr>
        <p:blipFill>
          <a:blip r:embed="rId5"/>
          <a:stretch>
            <a:fillRect/>
          </a:stretch>
        </p:blipFill>
        <p:spPr>
          <a:xfrm>
            <a:off x="4413465" y="2406738"/>
            <a:ext cx="7065818" cy="4006446"/>
          </a:xfrm>
          <a:prstGeom prst="rect">
            <a:avLst/>
          </a:prstGeom>
        </p:spPr>
      </p:pic>
    </p:spTree>
    <p:extLst>
      <p:ext uri="{BB962C8B-B14F-4D97-AF65-F5344CB8AC3E}">
        <p14:creationId xmlns:p14="http://schemas.microsoft.com/office/powerpoint/2010/main" val="348426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958E9-A2D6-ABE5-B436-A1A4557A5ED4}"/>
              </a:ext>
            </a:extLst>
          </p:cNvPr>
          <p:cNvSpPr>
            <a:spLocks noGrp="1"/>
          </p:cNvSpPr>
          <p:nvPr>
            <p:ph type="title"/>
          </p:nvPr>
        </p:nvSpPr>
        <p:spPr/>
        <p:txBody>
          <a:bodyPr/>
          <a:lstStyle/>
          <a:p>
            <a:r>
              <a:rPr lang="en-AU" noProof="0"/>
              <a:t>Feature Deep Dive – Models &amp; Codebase</a:t>
            </a:r>
          </a:p>
        </p:txBody>
      </p:sp>
      <p:sp>
        <p:nvSpPr>
          <p:cNvPr id="3" name="Text Placeholder 2">
            <a:extLst>
              <a:ext uri="{FF2B5EF4-FFF2-40B4-BE49-F238E27FC236}">
                <a16:creationId xmlns:a16="http://schemas.microsoft.com/office/drawing/2014/main" id="{CB12AD0D-A9E4-CF77-C87C-E56A420099D8}"/>
              </a:ext>
            </a:extLst>
          </p:cNvPr>
          <p:cNvSpPr>
            <a:spLocks noGrp="1"/>
          </p:cNvSpPr>
          <p:nvPr>
            <p:ph type="body" sz="quarter" idx="10"/>
          </p:nvPr>
        </p:nvSpPr>
        <p:spPr/>
        <p:txBody>
          <a:bodyPr/>
          <a:lstStyle/>
          <a:p>
            <a:r>
              <a:rPr lang="en-AU" noProof="0"/>
              <a:t>AetherMind enforces strict schema validation and codebase boundaries to ensure execution safety.</a:t>
            </a:r>
          </a:p>
        </p:txBody>
      </p:sp>
      <p:sp>
        <p:nvSpPr>
          <p:cNvPr id="5" name="TextBox 4">
            <a:extLst>
              <a:ext uri="{FF2B5EF4-FFF2-40B4-BE49-F238E27FC236}">
                <a16:creationId xmlns:a16="http://schemas.microsoft.com/office/drawing/2014/main" id="{D16D257A-25F7-D21D-122B-BBA801EA2B0B}"/>
              </a:ext>
            </a:extLst>
          </p:cNvPr>
          <p:cNvSpPr txBox="1"/>
          <p:nvPr/>
        </p:nvSpPr>
        <p:spPr>
          <a:xfrm>
            <a:off x="615763" y="1582134"/>
            <a:ext cx="3059619" cy="13542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86BC24"/>
                </a:solidFill>
                <a:effectLst/>
                <a:uLnTx/>
                <a:uFillTx/>
                <a:latin typeface="Open Sans" panose="020B0606030504020204" pitchFamily="34" charset="0"/>
                <a:ea typeface="Open Sans" panose="020B0606030504020204" pitchFamily="34" charset="0"/>
                <a:cs typeface="Open Sans" panose="020B0606030504020204" pitchFamily="34" charset="0"/>
              </a:rPr>
              <a:t>Modular Code Tree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Used to upload data files if manually extracted.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Used to refresh data if integrated to live data source (e.g. Native XML/PDF).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0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Application configuration like Document Health Criteria.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000" b="0" i="1"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6" name="Picture 5" descr="codebase_tree_mockup_1782197016908.jpg"/>
          <p:cNvPicPr>
            <a:picLocks noChangeAspect="1"/>
          </p:cNvPicPr>
          <p:nvPr/>
        </p:nvPicPr>
        <p:blipFill>
          <a:blip r:embed="rId3"/>
          <a:stretch>
            <a:fillRect/>
          </a:stretch>
        </p:blipFill>
        <p:spPr>
          <a:xfrm>
            <a:off x="3947808" y="1582134"/>
            <a:ext cx="7772400" cy="4407091"/>
          </a:xfrm>
          <a:prstGeom prst="rect">
            <a:avLst/>
          </a:prstGeom>
        </p:spPr>
      </p:pic>
    </p:spTree>
    <p:extLst>
      <p:ext uri="{BB962C8B-B14F-4D97-AF65-F5344CB8AC3E}">
        <p14:creationId xmlns:p14="http://schemas.microsoft.com/office/powerpoint/2010/main" val="3240312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4">
            <a:extLst>
              <a:ext uri="{FF2B5EF4-FFF2-40B4-BE49-F238E27FC236}">
                <a16:creationId xmlns:a16="http://schemas.microsoft.com/office/drawing/2014/main" id="{647B3E88-24CC-8A89-C898-B69607510223}"/>
              </a:ext>
            </a:extLst>
          </p:cNvPr>
          <p:cNvSpPr txBox="1">
            <a:spLocks/>
          </p:cNvSpPr>
          <p:nvPr/>
        </p:nvSpPr>
        <p:spPr>
          <a:xfrm>
            <a:off x="47244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7F8B1424-5229-4ADE-9591-B73642DEC3A8}" type="slidenum">
              <a:rPr kumimoji="0" lang="en-IN" sz="10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IN" sz="10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4" name="Title 2">
            <a:extLst>
              <a:ext uri="{FF2B5EF4-FFF2-40B4-BE49-F238E27FC236}">
                <a16:creationId xmlns:a16="http://schemas.microsoft.com/office/drawing/2014/main" id="{79F60FC9-7FD3-F5BB-C740-D924CDBC76C9}"/>
              </a:ext>
            </a:extLst>
          </p:cNvPr>
          <p:cNvSpPr txBox="1">
            <a:spLocks/>
          </p:cNvSpPr>
          <p:nvPr/>
        </p:nvSpPr>
        <p:spPr>
          <a:xfrm>
            <a:off x="701490" y="290533"/>
            <a:ext cx="10268117" cy="442887"/>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046A38"/>
                </a:solidFill>
                <a:effectLst/>
                <a:uLnTx/>
                <a:uFillTx/>
                <a:latin typeface="Aptos Black" panose="020B0004020202020204" pitchFamily="34" charset="0"/>
                <a:ea typeface="ADLaM Display" panose="02010000000000000000" pitchFamily="2" charset="0"/>
                <a:cs typeface="ADLaM Display" panose="02010000000000000000" pitchFamily="2" charset="0"/>
              </a:rPr>
              <a:t>AI-Powered Layout-Aware Document Extraction </a:t>
            </a:r>
            <a:r>
              <a:rPr kumimoji="0" lang="en-US" sz="2800" b="1" i="0" u="none" strike="noStrike" kern="1200" cap="none" spc="0" normalizeH="0" baseline="0" noProof="0" dirty="0" err="1">
                <a:ln>
                  <a:noFill/>
                </a:ln>
                <a:solidFill>
                  <a:srgbClr val="046A38"/>
                </a:solidFill>
                <a:effectLst/>
                <a:uLnTx/>
                <a:uFillTx/>
                <a:latin typeface="Aptos Black" panose="020B0004020202020204" pitchFamily="34" charset="0"/>
                <a:ea typeface="ADLaM Display" panose="02010000000000000000" pitchFamily="2" charset="0"/>
                <a:cs typeface="ADLaM Display" panose="02010000000000000000" pitchFamily="2" charset="0"/>
              </a:rPr>
              <a:t>Optimisation</a:t>
            </a:r>
            <a:r>
              <a:rPr kumimoji="0" lang="en-US" sz="2800" b="1" i="0" u="none" strike="noStrike" kern="1200" cap="none" spc="0" normalizeH="0" baseline="0" noProof="0" dirty="0">
                <a:ln>
                  <a:noFill/>
                </a:ln>
                <a:solidFill>
                  <a:srgbClr val="046A38"/>
                </a:solidFill>
                <a:effectLst/>
                <a:uLnTx/>
                <a:uFillTx/>
                <a:latin typeface="Aptos Black" panose="020B0004020202020204" pitchFamily="34" charset="0"/>
                <a:ea typeface="ADLaM Display" panose="02010000000000000000" pitchFamily="2" charset="0"/>
                <a:cs typeface="ADLaM Display" panose="02010000000000000000" pitchFamily="2" charset="0"/>
              </a:rPr>
              <a:t> </a:t>
            </a:r>
            <a:r>
              <a:rPr kumimoji="0" lang="en-US" sz="2800" b="1" i="0" u="none" strike="noStrike" kern="1200" cap="none" spc="0" normalizeH="0" baseline="0" noProof="0" dirty="0">
                <a:ln>
                  <a:noFill/>
                </a:ln>
                <a:effectLst/>
                <a:uLnTx/>
                <a:uFillTx/>
                <a:latin typeface="Aptos Black" panose="020B0004020202020204" pitchFamily="34" charset="0"/>
                <a:ea typeface="ADLaM Display" panose="02010000000000000000" pitchFamily="2" charset="0"/>
                <a:cs typeface="ADLaM Display" panose="02010000000000000000" pitchFamily="2" charset="0"/>
              </a:rPr>
              <a:t>· Snapshot</a:t>
            </a:r>
          </a:p>
        </p:txBody>
      </p:sp>
      <p:pic>
        <p:nvPicPr>
          <p:cNvPr id="25" name="Graphic 24">
            <a:extLst>
              <a:ext uri="{FF2B5EF4-FFF2-40B4-BE49-F238E27FC236}">
                <a16:creationId xmlns:a16="http://schemas.microsoft.com/office/drawing/2014/main" id="{E203FE35-3F1B-20FA-B1D9-3F8C438300C3}"/>
              </a:ext>
            </a:extLst>
          </p:cNvPr>
          <p:cNvPicPr>
            <a:picLocks noChangeAspect="1"/>
          </p:cNvPicPr>
          <p:nvPr/>
        </p:nvPicPr>
        <p:blipFill>
          <a:blip cstate="screen">
            <a:alphaModFix amt="22000"/>
            <a:extLst>
              <a:ext uri="{28A0092B-C50C-407E-A947-70E740481C1C}">
                <a14:useLocalDpi xmlns:a14="http://schemas.microsoft.com/office/drawing/2010/main"/>
              </a:ext>
              <a:ext uri="{96DAC541-7B7A-43D3-8B79-37D633B846F1}">
                <asvg:svgBlip xmlns:asvg="http://schemas.microsoft.com/office/drawing/2016/SVG/main" r:embed="rId2"/>
              </a:ext>
            </a:extLst>
          </a:blip>
          <a:srcRect l="61474" r="12111"/>
          <a:stretch/>
        </p:blipFill>
        <p:spPr>
          <a:xfrm>
            <a:off x="11728617" y="4792739"/>
            <a:ext cx="341841" cy="1292662"/>
          </a:xfrm>
          <a:prstGeom prst="rect">
            <a:avLst/>
          </a:prstGeom>
        </p:spPr>
      </p:pic>
      <p:sp>
        <p:nvSpPr>
          <p:cNvPr id="26" name="Slide Number Placeholder 4">
            <a:extLst>
              <a:ext uri="{FF2B5EF4-FFF2-40B4-BE49-F238E27FC236}">
                <a16:creationId xmlns:a16="http://schemas.microsoft.com/office/drawing/2014/main" id="{654B0B43-2874-7D2F-437D-4C3934CD8CB8}"/>
              </a:ext>
            </a:extLst>
          </p:cNvPr>
          <p:cNvSpPr txBox="1">
            <a:spLocks/>
          </p:cNvSpPr>
          <p:nvPr/>
        </p:nvSpPr>
        <p:spPr>
          <a:xfrm>
            <a:off x="4724400"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7F8B1424-5229-4ADE-9591-B73642DEC3A8}" type="slidenum">
              <a:rPr kumimoji="0" lang="en-IN" sz="10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IN" sz="10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7" name="Shape 2">
            <a:extLst>
              <a:ext uri="{FF2B5EF4-FFF2-40B4-BE49-F238E27FC236}">
                <a16:creationId xmlns:a16="http://schemas.microsoft.com/office/drawing/2014/main" id="{D981F2DD-40B2-695B-F935-600E2E104240}"/>
              </a:ext>
            </a:extLst>
          </p:cNvPr>
          <p:cNvSpPr/>
          <p:nvPr/>
        </p:nvSpPr>
        <p:spPr>
          <a:xfrm>
            <a:off x="365760" y="999959"/>
            <a:ext cx="3008376" cy="2505456"/>
          </a:xfrm>
          <a:prstGeom prst="rect">
            <a:avLst/>
          </a:prstGeom>
          <a:solidFill>
            <a:srgbClr val="F1F5F9"/>
          </a:solidFill>
          <a:ln/>
          <a:effectLst>
            <a:outerShdw blurRad="101600" dist="25400" dir="5400000" algn="bl" rotWithShape="0">
              <a:srgbClr val="0F2A47">
                <a:alpha val="10000"/>
              </a:srgbClr>
            </a:outerShdw>
          </a:effectLst>
        </p:spPr>
        <p:txBody>
          <a:bodyPr/>
          <a:lstStyle/>
          <a:p>
            <a:endParaRPr lang="en-US">
              <a:latin typeface="Aptos" panose="020B0004020202020204" pitchFamily="34" charset="0"/>
            </a:endParaRPr>
          </a:p>
        </p:txBody>
      </p:sp>
      <p:sp>
        <p:nvSpPr>
          <p:cNvPr id="28" name="Shape 3">
            <a:extLst>
              <a:ext uri="{FF2B5EF4-FFF2-40B4-BE49-F238E27FC236}">
                <a16:creationId xmlns:a16="http://schemas.microsoft.com/office/drawing/2014/main" id="{68BE0BA5-BD1F-413A-4412-16C2D58FB59A}"/>
              </a:ext>
            </a:extLst>
          </p:cNvPr>
          <p:cNvSpPr/>
          <p:nvPr/>
        </p:nvSpPr>
        <p:spPr>
          <a:xfrm>
            <a:off x="365760" y="999956"/>
            <a:ext cx="82296" cy="2505456"/>
          </a:xfrm>
          <a:prstGeom prst="rect">
            <a:avLst/>
          </a:prstGeom>
          <a:solidFill>
            <a:schemeClr val="accent4"/>
          </a:solidFill>
          <a:ln/>
        </p:spPr>
        <p:txBody>
          <a:bodyPr/>
          <a:lstStyle/>
          <a:p>
            <a:endParaRPr lang="en-US">
              <a:latin typeface="Aptos" panose="020B0004020202020204" pitchFamily="34" charset="0"/>
            </a:endParaRPr>
          </a:p>
        </p:txBody>
      </p:sp>
      <p:sp>
        <p:nvSpPr>
          <p:cNvPr id="29" name="Shape 4">
            <a:extLst>
              <a:ext uri="{FF2B5EF4-FFF2-40B4-BE49-F238E27FC236}">
                <a16:creationId xmlns:a16="http://schemas.microsoft.com/office/drawing/2014/main" id="{5EB3A8AD-19B4-FB9E-C693-27FA69D0C17F}"/>
              </a:ext>
            </a:extLst>
          </p:cNvPr>
          <p:cNvSpPr/>
          <p:nvPr/>
        </p:nvSpPr>
        <p:spPr>
          <a:xfrm>
            <a:off x="702183" y="1105555"/>
            <a:ext cx="502920" cy="502920"/>
          </a:xfrm>
          <a:prstGeom prst="ellipse">
            <a:avLst/>
          </a:prstGeom>
          <a:solidFill>
            <a:schemeClr val="accent4"/>
          </a:solidFill>
          <a:ln/>
        </p:spPr>
        <p:txBody>
          <a:bodyPr/>
          <a:lstStyle/>
          <a:p>
            <a:endParaRPr lang="en-US">
              <a:latin typeface="Aptos" panose="020B0004020202020204" pitchFamily="34" charset="0"/>
            </a:endParaRPr>
          </a:p>
        </p:txBody>
      </p:sp>
      <p:sp>
        <p:nvSpPr>
          <p:cNvPr id="30" name="Text 5">
            <a:extLst>
              <a:ext uri="{FF2B5EF4-FFF2-40B4-BE49-F238E27FC236}">
                <a16:creationId xmlns:a16="http://schemas.microsoft.com/office/drawing/2014/main" id="{F2FFDFC1-60C1-E91E-CE2D-C6D9121DB4F3}"/>
              </a:ext>
            </a:extLst>
          </p:cNvPr>
          <p:cNvSpPr/>
          <p:nvPr/>
        </p:nvSpPr>
        <p:spPr>
          <a:xfrm>
            <a:off x="713232" y="1105555"/>
            <a:ext cx="502920" cy="502920"/>
          </a:xfrm>
          <a:prstGeom prst="rect">
            <a:avLst/>
          </a:prstGeom>
          <a:noFill/>
          <a:ln/>
        </p:spPr>
        <p:txBody>
          <a:bodyPr wrap="square" lIns="0" tIns="0" rIns="0" bIns="0" rtlCol="0" anchor="ctr"/>
          <a:lstStyle/>
          <a:p>
            <a:pPr marL="0" indent="0" algn="ctr">
              <a:buNone/>
            </a:pPr>
            <a:r>
              <a:rPr lang="en-US" sz="1300" b="1">
                <a:solidFill>
                  <a:srgbClr val="FFFFFF"/>
                </a:solidFill>
                <a:latin typeface="Aptos" panose="020B0004020202020204" pitchFamily="34" charset="0"/>
                <a:ea typeface="Calibri" pitchFamily="34" charset="-122"/>
                <a:cs typeface="Calibri" pitchFamily="34" charset="-120"/>
              </a:rPr>
              <a:t>01</a:t>
            </a:r>
            <a:endParaRPr lang="en-US" sz="1300">
              <a:latin typeface="Aptos" panose="020B0004020202020204" pitchFamily="34" charset="0"/>
            </a:endParaRPr>
          </a:p>
        </p:txBody>
      </p:sp>
      <p:sp>
        <p:nvSpPr>
          <p:cNvPr id="31" name="Text 6">
            <a:extLst>
              <a:ext uri="{FF2B5EF4-FFF2-40B4-BE49-F238E27FC236}">
                <a16:creationId xmlns:a16="http://schemas.microsoft.com/office/drawing/2014/main" id="{7DEA676A-2A9C-8D19-9A56-190B2C7CE87F}"/>
              </a:ext>
            </a:extLst>
          </p:cNvPr>
          <p:cNvSpPr/>
          <p:nvPr/>
        </p:nvSpPr>
        <p:spPr>
          <a:xfrm>
            <a:off x="1325880" y="1105555"/>
            <a:ext cx="4526280" cy="292608"/>
          </a:xfrm>
          <a:prstGeom prst="rect">
            <a:avLst/>
          </a:prstGeom>
          <a:noFill/>
          <a:ln/>
        </p:spPr>
        <p:txBody>
          <a:bodyPr wrap="square" lIns="0" tIns="0" rIns="0" bIns="0" rtlCol="0" anchor="ctr"/>
          <a:lstStyle/>
          <a:p>
            <a:pPr marL="0" indent="0" algn="l">
              <a:buNone/>
            </a:pPr>
            <a:r>
              <a:rPr lang="en-US" sz="1500" b="1" kern="0">
                <a:solidFill>
                  <a:schemeClr val="accent4"/>
                </a:solidFill>
                <a:latin typeface="Aptos" panose="020B0004020202020204" pitchFamily="34" charset="0"/>
                <a:ea typeface="Calibri" pitchFamily="34" charset="-122"/>
                <a:cs typeface="Calibri" pitchFamily="34" charset="-120"/>
              </a:rPr>
              <a:t>OVERVIEW</a:t>
            </a:r>
            <a:endParaRPr lang="en-US" sz="1500" b="1">
              <a:solidFill>
                <a:schemeClr val="accent4"/>
              </a:solidFill>
              <a:latin typeface="Aptos" panose="020B0004020202020204" pitchFamily="34" charset="0"/>
            </a:endParaRPr>
          </a:p>
        </p:txBody>
      </p:sp>
      <p:sp>
        <p:nvSpPr>
          <p:cNvPr id="33" name="Text 8">
            <a:extLst>
              <a:ext uri="{FF2B5EF4-FFF2-40B4-BE49-F238E27FC236}">
                <a16:creationId xmlns:a16="http://schemas.microsoft.com/office/drawing/2014/main" id="{1D223118-3331-4D31-5092-EE283EC8F56B}"/>
              </a:ext>
            </a:extLst>
          </p:cNvPr>
          <p:cNvSpPr/>
          <p:nvPr/>
        </p:nvSpPr>
        <p:spPr>
          <a:xfrm>
            <a:off x="713232" y="1683853"/>
            <a:ext cx="2434558" cy="1444752"/>
          </a:xfrm>
          <a:prstGeom prst="rect">
            <a:avLst/>
          </a:prstGeom>
          <a:noFill/>
          <a:ln/>
        </p:spPr>
        <p:txBody>
          <a:bodyPr wrap="square" lIns="0" tIns="0" rIns="0" bIns="0" rtlCol="0" anchor="t"/>
          <a:lstStyle/>
          <a:p>
            <a:r>
              <a:t>Document extraction in enterprise pipelines is challenging because visual, spatial, and semantic structures are lost in raw text dumps. AetherMind extracts, cleans, and structures layout coordinates and graphics, enabling downstream LLMs to reconstruct slides near-identically.</a:t>
            </a:r>
          </a:p>
        </p:txBody>
      </p:sp>
      <p:sp>
        <p:nvSpPr>
          <p:cNvPr id="34" name="Shape 9">
            <a:extLst>
              <a:ext uri="{FF2B5EF4-FFF2-40B4-BE49-F238E27FC236}">
                <a16:creationId xmlns:a16="http://schemas.microsoft.com/office/drawing/2014/main" id="{8054B07D-6FC1-B492-B846-3A84F2CC7D43}"/>
              </a:ext>
            </a:extLst>
          </p:cNvPr>
          <p:cNvSpPr/>
          <p:nvPr/>
        </p:nvSpPr>
        <p:spPr>
          <a:xfrm>
            <a:off x="3543300" y="999958"/>
            <a:ext cx="3008376" cy="2505456"/>
          </a:xfrm>
          <a:prstGeom prst="rect">
            <a:avLst/>
          </a:prstGeom>
          <a:solidFill>
            <a:srgbClr val="F1F5F9"/>
          </a:solidFill>
          <a:ln/>
          <a:effectLst>
            <a:outerShdw blurRad="101600" dist="25400" dir="5400000" algn="bl" rotWithShape="0">
              <a:srgbClr val="0F2A47">
                <a:alpha val="10000"/>
              </a:srgbClr>
            </a:outerShdw>
          </a:effectLst>
        </p:spPr>
        <p:txBody>
          <a:bodyPr/>
          <a:lstStyle/>
          <a:p>
            <a:endParaRPr lang="en-US">
              <a:latin typeface="Aptos" panose="020B0004020202020204" pitchFamily="34" charset="0"/>
            </a:endParaRPr>
          </a:p>
        </p:txBody>
      </p:sp>
      <p:sp>
        <p:nvSpPr>
          <p:cNvPr id="35" name="Shape 10">
            <a:extLst>
              <a:ext uri="{FF2B5EF4-FFF2-40B4-BE49-F238E27FC236}">
                <a16:creationId xmlns:a16="http://schemas.microsoft.com/office/drawing/2014/main" id="{54D500E1-83EB-51AC-7B48-170A95763055}"/>
              </a:ext>
            </a:extLst>
          </p:cNvPr>
          <p:cNvSpPr/>
          <p:nvPr/>
        </p:nvSpPr>
        <p:spPr>
          <a:xfrm>
            <a:off x="3543300" y="999958"/>
            <a:ext cx="82296" cy="2505456"/>
          </a:xfrm>
          <a:prstGeom prst="rect">
            <a:avLst/>
          </a:prstGeom>
          <a:solidFill>
            <a:schemeClr val="accent3"/>
          </a:solidFill>
          <a:ln/>
        </p:spPr>
        <p:txBody>
          <a:bodyPr/>
          <a:lstStyle/>
          <a:p>
            <a:endParaRPr lang="en-US">
              <a:latin typeface="Aptos" panose="020B0004020202020204" pitchFamily="34" charset="0"/>
            </a:endParaRPr>
          </a:p>
        </p:txBody>
      </p:sp>
      <p:sp>
        <p:nvSpPr>
          <p:cNvPr id="36" name="Shape 11">
            <a:extLst>
              <a:ext uri="{FF2B5EF4-FFF2-40B4-BE49-F238E27FC236}">
                <a16:creationId xmlns:a16="http://schemas.microsoft.com/office/drawing/2014/main" id="{B3755314-1192-773F-4A61-42B9445728D7}"/>
              </a:ext>
            </a:extLst>
          </p:cNvPr>
          <p:cNvSpPr/>
          <p:nvPr/>
        </p:nvSpPr>
        <p:spPr>
          <a:xfrm>
            <a:off x="3890772" y="1105555"/>
            <a:ext cx="502920" cy="502920"/>
          </a:xfrm>
          <a:prstGeom prst="ellipse">
            <a:avLst/>
          </a:prstGeom>
          <a:solidFill>
            <a:schemeClr val="accent3"/>
          </a:solidFill>
          <a:ln/>
        </p:spPr>
        <p:txBody>
          <a:bodyPr/>
          <a:lstStyle/>
          <a:p>
            <a:endParaRPr lang="en-US">
              <a:latin typeface="Aptos" panose="020B0004020202020204" pitchFamily="34" charset="0"/>
            </a:endParaRPr>
          </a:p>
        </p:txBody>
      </p:sp>
      <p:sp>
        <p:nvSpPr>
          <p:cNvPr id="37" name="Text 12">
            <a:extLst>
              <a:ext uri="{FF2B5EF4-FFF2-40B4-BE49-F238E27FC236}">
                <a16:creationId xmlns:a16="http://schemas.microsoft.com/office/drawing/2014/main" id="{75B212EE-79CE-ECA5-DF5A-D35BFD4CC04E}"/>
              </a:ext>
            </a:extLst>
          </p:cNvPr>
          <p:cNvSpPr/>
          <p:nvPr/>
        </p:nvSpPr>
        <p:spPr>
          <a:xfrm>
            <a:off x="3890772" y="1105555"/>
            <a:ext cx="502920" cy="502920"/>
          </a:xfrm>
          <a:prstGeom prst="rect">
            <a:avLst/>
          </a:prstGeom>
          <a:noFill/>
          <a:ln/>
        </p:spPr>
        <p:txBody>
          <a:bodyPr wrap="square" lIns="0" tIns="0" rIns="0" bIns="0" rtlCol="0" anchor="ctr"/>
          <a:lstStyle/>
          <a:p>
            <a:pPr marL="0" indent="0" algn="ctr">
              <a:buNone/>
            </a:pPr>
            <a:r>
              <a:rPr lang="en-US" sz="1300" b="1">
                <a:solidFill>
                  <a:srgbClr val="FFFFFF"/>
                </a:solidFill>
                <a:latin typeface="Aptos" panose="020B0004020202020204" pitchFamily="34" charset="0"/>
                <a:ea typeface="Calibri" pitchFamily="34" charset="-122"/>
                <a:cs typeface="Calibri" pitchFamily="34" charset="-120"/>
              </a:rPr>
              <a:t>02</a:t>
            </a:r>
            <a:endParaRPr lang="en-US" sz="1300">
              <a:latin typeface="Aptos" panose="020B0004020202020204" pitchFamily="34" charset="0"/>
            </a:endParaRPr>
          </a:p>
        </p:txBody>
      </p:sp>
      <p:sp>
        <p:nvSpPr>
          <p:cNvPr id="39" name="Text 13">
            <a:extLst>
              <a:ext uri="{FF2B5EF4-FFF2-40B4-BE49-F238E27FC236}">
                <a16:creationId xmlns:a16="http://schemas.microsoft.com/office/drawing/2014/main" id="{BFC29F85-A513-B6AC-52F2-C114070CE3A3}"/>
              </a:ext>
            </a:extLst>
          </p:cNvPr>
          <p:cNvSpPr/>
          <p:nvPr/>
        </p:nvSpPr>
        <p:spPr>
          <a:xfrm>
            <a:off x="4503420" y="1105555"/>
            <a:ext cx="4526280" cy="292608"/>
          </a:xfrm>
          <a:prstGeom prst="rect">
            <a:avLst/>
          </a:prstGeom>
          <a:noFill/>
          <a:ln/>
        </p:spPr>
        <p:txBody>
          <a:bodyPr wrap="square" lIns="0" tIns="0" rIns="0" bIns="0" rtlCol="0" anchor="ctr"/>
          <a:lstStyle/>
          <a:p>
            <a:r>
              <a:t>HOW IT WORKS</a:t>
            </a:r>
          </a:p>
        </p:txBody>
      </p:sp>
      <p:sp>
        <p:nvSpPr>
          <p:cNvPr id="41" name="Text 15">
            <a:extLst>
              <a:ext uri="{FF2B5EF4-FFF2-40B4-BE49-F238E27FC236}">
                <a16:creationId xmlns:a16="http://schemas.microsoft.com/office/drawing/2014/main" id="{21DB4880-F4CD-EB40-EC09-BBD13AA8C534}"/>
              </a:ext>
            </a:extLst>
          </p:cNvPr>
          <p:cNvSpPr/>
          <p:nvPr/>
        </p:nvSpPr>
        <p:spPr>
          <a:xfrm>
            <a:off x="3890772" y="1683853"/>
            <a:ext cx="2459736" cy="1444752"/>
          </a:xfrm>
          <a:prstGeom prst="rect">
            <a:avLst/>
          </a:prstGeom>
          <a:noFill/>
          <a:ln/>
        </p:spPr>
        <p:txBody>
          <a:bodyPr wrap="square" lIns="0" tIns="0" rIns="0" bIns="0" rtlCol="0" anchor="t"/>
          <a:lstStyle/>
          <a:p>
            <a:r>
              <a:t>It uses AI to automate layout analysis, cleans spatial geometries, and maps structural elements. It then uses specialized agents to model slide archetypes and reading orders to plan high-fidelity reconstructions.</a:t>
            </a:r>
          </a:p>
        </p:txBody>
      </p:sp>
      <p:sp>
        <p:nvSpPr>
          <p:cNvPr id="42" name="Shape 16">
            <a:extLst>
              <a:ext uri="{FF2B5EF4-FFF2-40B4-BE49-F238E27FC236}">
                <a16:creationId xmlns:a16="http://schemas.microsoft.com/office/drawing/2014/main" id="{FE2E181E-ABFA-CC08-BF1A-60C5B215A682}"/>
              </a:ext>
            </a:extLst>
          </p:cNvPr>
          <p:cNvSpPr/>
          <p:nvPr/>
        </p:nvSpPr>
        <p:spPr>
          <a:xfrm>
            <a:off x="365760" y="3562043"/>
            <a:ext cx="3008376" cy="2792205"/>
          </a:xfrm>
          <a:prstGeom prst="rect">
            <a:avLst/>
          </a:prstGeom>
          <a:solidFill>
            <a:srgbClr val="F1F5F9"/>
          </a:solidFill>
          <a:ln/>
          <a:effectLst>
            <a:outerShdw blurRad="101600" dist="25400" dir="5400000" algn="bl" rotWithShape="0">
              <a:srgbClr val="0F2A47">
                <a:alpha val="10000"/>
              </a:srgbClr>
            </a:outerShdw>
          </a:effectLst>
        </p:spPr>
        <p:txBody>
          <a:bodyPr/>
          <a:lstStyle/>
          <a:p>
            <a:endParaRPr lang="en-US">
              <a:latin typeface="Aptos" panose="020B0004020202020204" pitchFamily="34" charset="0"/>
            </a:endParaRPr>
          </a:p>
        </p:txBody>
      </p:sp>
      <p:sp>
        <p:nvSpPr>
          <p:cNvPr id="43" name="Shape 17">
            <a:extLst>
              <a:ext uri="{FF2B5EF4-FFF2-40B4-BE49-F238E27FC236}">
                <a16:creationId xmlns:a16="http://schemas.microsoft.com/office/drawing/2014/main" id="{93A0E560-45E1-C281-1AF3-126FE3F18175}"/>
              </a:ext>
            </a:extLst>
          </p:cNvPr>
          <p:cNvSpPr/>
          <p:nvPr/>
        </p:nvSpPr>
        <p:spPr>
          <a:xfrm>
            <a:off x="365760" y="3562043"/>
            <a:ext cx="82296" cy="2792205"/>
          </a:xfrm>
          <a:prstGeom prst="rect">
            <a:avLst/>
          </a:prstGeom>
          <a:solidFill>
            <a:schemeClr val="accent2"/>
          </a:solidFill>
          <a:ln/>
        </p:spPr>
        <p:txBody>
          <a:bodyPr/>
          <a:lstStyle/>
          <a:p>
            <a:endParaRPr lang="en-US">
              <a:latin typeface="Aptos" panose="020B0004020202020204" pitchFamily="34" charset="0"/>
            </a:endParaRPr>
          </a:p>
        </p:txBody>
      </p:sp>
      <p:sp>
        <p:nvSpPr>
          <p:cNvPr id="44" name="Shape 18">
            <a:extLst>
              <a:ext uri="{FF2B5EF4-FFF2-40B4-BE49-F238E27FC236}">
                <a16:creationId xmlns:a16="http://schemas.microsoft.com/office/drawing/2014/main" id="{12CAB495-F7E0-44B0-2EF4-231EFCF0F239}"/>
              </a:ext>
            </a:extLst>
          </p:cNvPr>
          <p:cNvSpPr/>
          <p:nvPr/>
        </p:nvSpPr>
        <p:spPr>
          <a:xfrm>
            <a:off x="702183" y="3631722"/>
            <a:ext cx="502920" cy="502920"/>
          </a:xfrm>
          <a:prstGeom prst="ellipse">
            <a:avLst/>
          </a:prstGeom>
          <a:solidFill>
            <a:schemeClr val="accent2"/>
          </a:solidFill>
          <a:ln/>
        </p:spPr>
        <p:txBody>
          <a:bodyPr/>
          <a:lstStyle/>
          <a:p>
            <a:endParaRPr lang="en-US">
              <a:latin typeface="Aptos" panose="020B0004020202020204" pitchFamily="34" charset="0"/>
            </a:endParaRPr>
          </a:p>
        </p:txBody>
      </p:sp>
      <p:sp>
        <p:nvSpPr>
          <p:cNvPr id="45" name="Text 19">
            <a:extLst>
              <a:ext uri="{FF2B5EF4-FFF2-40B4-BE49-F238E27FC236}">
                <a16:creationId xmlns:a16="http://schemas.microsoft.com/office/drawing/2014/main" id="{C0B86EF6-C84D-DA3F-9802-0F2A86727B8F}"/>
              </a:ext>
            </a:extLst>
          </p:cNvPr>
          <p:cNvSpPr/>
          <p:nvPr/>
        </p:nvSpPr>
        <p:spPr>
          <a:xfrm>
            <a:off x="713232" y="3631722"/>
            <a:ext cx="502920" cy="502920"/>
          </a:xfrm>
          <a:prstGeom prst="rect">
            <a:avLst/>
          </a:prstGeom>
          <a:noFill/>
          <a:ln/>
        </p:spPr>
        <p:txBody>
          <a:bodyPr wrap="square" lIns="0" tIns="0" rIns="0" bIns="0" rtlCol="0" anchor="ctr"/>
          <a:lstStyle/>
          <a:p>
            <a:pPr marL="0" indent="0" algn="ctr">
              <a:buNone/>
            </a:pPr>
            <a:r>
              <a:rPr lang="en-US" sz="1300" b="1">
                <a:solidFill>
                  <a:srgbClr val="FFFFFF"/>
                </a:solidFill>
                <a:latin typeface="Aptos" panose="020B0004020202020204" pitchFamily="34" charset="0"/>
                <a:ea typeface="Calibri" pitchFamily="34" charset="-122"/>
                <a:cs typeface="Calibri" pitchFamily="34" charset="-120"/>
              </a:rPr>
              <a:t>04</a:t>
            </a:r>
            <a:endParaRPr lang="en-US" sz="1300">
              <a:latin typeface="Aptos" panose="020B0004020202020204" pitchFamily="34" charset="0"/>
            </a:endParaRPr>
          </a:p>
        </p:txBody>
      </p:sp>
      <p:sp>
        <p:nvSpPr>
          <p:cNvPr id="46" name="Text 20">
            <a:extLst>
              <a:ext uri="{FF2B5EF4-FFF2-40B4-BE49-F238E27FC236}">
                <a16:creationId xmlns:a16="http://schemas.microsoft.com/office/drawing/2014/main" id="{75585675-8651-3FE4-30BE-8443F16CE594}"/>
              </a:ext>
            </a:extLst>
          </p:cNvPr>
          <p:cNvSpPr/>
          <p:nvPr/>
        </p:nvSpPr>
        <p:spPr>
          <a:xfrm>
            <a:off x="1325880" y="3631722"/>
            <a:ext cx="4526280" cy="292608"/>
          </a:xfrm>
          <a:prstGeom prst="rect">
            <a:avLst/>
          </a:prstGeom>
          <a:noFill/>
          <a:ln/>
        </p:spPr>
        <p:txBody>
          <a:bodyPr wrap="square" lIns="0" tIns="0" rIns="0" bIns="0" rtlCol="0" anchor="ctr"/>
          <a:lstStyle/>
          <a:p>
            <a:pPr marL="0" indent="0" algn="l">
              <a:buNone/>
            </a:pPr>
            <a:r>
              <a:rPr lang="en-US" sz="1500" b="1" kern="0">
                <a:solidFill>
                  <a:schemeClr val="accent2"/>
                </a:solidFill>
                <a:latin typeface="Aptos" panose="020B0004020202020204" pitchFamily="34" charset="0"/>
                <a:ea typeface="Calibri" pitchFamily="34" charset="-122"/>
                <a:cs typeface="Calibri" pitchFamily="34" charset="-120"/>
              </a:rPr>
              <a:t>IMPACT</a:t>
            </a:r>
            <a:endParaRPr lang="en-US" sz="1500">
              <a:solidFill>
                <a:schemeClr val="accent2"/>
              </a:solidFill>
              <a:latin typeface="Aptos" panose="020B0004020202020204" pitchFamily="34" charset="0"/>
            </a:endParaRPr>
          </a:p>
        </p:txBody>
      </p:sp>
      <p:sp>
        <p:nvSpPr>
          <p:cNvPr id="48" name="Text 22">
            <a:extLst>
              <a:ext uri="{FF2B5EF4-FFF2-40B4-BE49-F238E27FC236}">
                <a16:creationId xmlns:a16="http://schemas.microsoft.com/office/drawing/2014/main" id="{05CFA82A-3CCF-ED19-B779-4956C34E6E11}"/>
              </a:ext>
            </a:extLst>
          </p:cNvPr>
          <p:cNvSpPr/>
          <p:nvPr/>
        </p:nvSpPr>
        <p:spPr>
          <a:xfrm>
            <a:off x="713232" y="4217365"/>
            <a:ext cx="2459736" cy="1444752"/>
          </a:xfrm>
          <a:prstGeom prst="rect">
            <a:avLst/>
          </a:prstGeom>
          <a:noFill/>
          <a:ln/>
        </p:spPr>
        <p:txBody>
          <a:bodyPr wrap="square" lIns="0" tIns="0" rIns="0" bIns="0" rtlCol="0" anchor="t"/>
          <a:lstStyle/>
          <a:p>
            <a:r>
              <a:t>Preserves Slide Geometry</a:t>
            </a:r>
          </a:p>
          <a:p>
            <a:r>
              <a:t>Improves Downstream RAG</a:t>
            </a:r>
          </a:p>
          <a:p>
            <a:r>
              <a:t>Lowers Manual Audit Costs</a:t>
            </a:r>
          </a:p>
          <a:p>
            <a:r>
              <a:t>Accelerates Data Ingestion</a:t>
            </a:r>
          </a:p>
          <a:p>
            <a:r>
              <a:t>Enhances Document Intelligence</a:t>
            </a:r>
          </a:p>
          <a:p/>
          <a:p>
            <a:r>
              <a:t>Example: In enterprise environments, it reduced audit times and improved extraction accuracy.</a:t>
            </a:r>
          </a:p>
        </p:txBody>
      </p:sp>
      <p:sp>
        <p:nvSpPr>
          <p:cNvPr id="49" name="Shape 23">
            <a:extLst>
              <a:ext uri="{FF2B5EF4-FFF2-40B4-BE49-F238E27FC236}">
                <a16:creationId xmlns:a16="http://schemas.microsoft.com/office/drawing/2014/main" id="{A9D4D867-D79F-68C0-6518-599F82F35DAA}"/>
              </a:ext>
            </a:extLst>
          </p:cNvPr>
          <p:cNvSpPr/>
          <p:nvPr/>
        </p:nvSpPr>
        <p:spPr>
          <a:xfrm>
            <a:off x="3543300" y="3569575"/>
            <a:ext cx="3008376" cy="2792205"/>
          </a:xfrm>
          <a:prstGeom prst="rect">
            <a:avLst/>
          </a:prstGeom>
          <a:solidFill>
            <a:srgbClr val="F1F5F9"/>
          </a:solidFill>
          <a:ln/>
          <a:effectLst>
            <a:outerShdw blurRad="101600" dist="25400" dir="5400000" algn="bl" rotWithShape="0">
              <a:srgbClr val="0F2A47">
                <a:alpha val="10000"/>
              </a:srgbClr>
            </a:outerShdw>
          </a:effectLst>
        </p:spPr>
        <p:txBody>
          <a:bodyPr/>
          <a:lstStyle/>
          <a:p>
            <a:endParaRPr lang="en-US">
              <a:latin typeface="Aptos" panose="020B0004020202020204" pitchFamily="34" charset="0"/>
            </a:endParaRPr>
          </a:p>
        </p:txBody>
      </p:sp>
      <p:sp>
        <p:nvSpPr>
          <p:cNvPr id="50" name="Shape 24">
            <a:extLst>
              <a:ext uri="{FF2B5EF4-FFF2-40B4-BE49-F238E27FC236}">
                <a16:creationId xmlns:a16="http://schemas.microsoft.com/office/drawing/2014/main" id="{6ACA0D72-B892-7EA4-1B3B-4CDC61F38D8D}"/>
              </a:ext>
            </a:extLst>
          </p:cNvPr>
          <p:cNvSpPr/>
          <p:nvPr/>
        </p:nvSpPr>
        <p:spPr>
          <a:xfrm>
            <a:off x="3543300" y="3569575"/>
            <a:ext cx="82296" cy="2792205"/>
          </a:xfrm>
          <a:prstGeom prst="rect">
            <a:avLst/>
          </a:prstGeom>
          <a:solidFill>
            <a:schemeClr val="accent1"/>
          </a:solidFill>
          <a:ln/>
        </p:spPr>
        <p:txBody>
          <a:bodyPr/>
          <a:lstStyle/>
          <a:p>
            <a:endParaRPr lang="en-US">
              <a:latin typeface="Aptos" panose="020B0004020202020204" pitchFamily="34" charset="0"/>
            </a:endParaRPr>
          </a:p>
        </p:txBody>
      </p:sp>
      <p:sp>
        <p:nvSpPr>
          <p:cNvPr id="51" name="Shape 25">
            <a:extLst>
              <a:ext uri="{FF2B5EF4-FFF2-40B4-BE49-F238E27FC236}">
                <a16:creationId xmlns:a16="http://schemas.microsoft.com/office/drawing/2014/main" id="{23D08699-1EA9-C31E-35F4-1BD96622E7A6}"/>
              </a:ext>
            </a:extLst>
          </p:cNvPr>
          <p:cNvSpPr/>
          <p:nvPr/>
        </p:nvSpPr>
        <p:spPr>
          <a:xfrm>
            <a:off x="3890772" y="3639254"/>
            <a:ext cx="502920" cy="502920"/>
          </a:xfrm>
          <a:prstGeom prst="ellipse">
            <a:avLst/>
          </a:prstGeom>
          <a:solidFill>
            <a:schemeClr val="accent1"/>
          </a:solidFill>
          <a:ln/>
        </p:spPr>
        <p:txBody>
          <a:bodyPr/>
          <a:lstStyle/>
          <a:p>
            <a:endParaRPr lang="en-US">
              <a:latin typeface="Aptos" panose="020B0004020202020204" pitchFamily="34" charset="0"/>
            </a:endParaRPr>
          </a:p>
        </p:txBody>
      </p:sp>
      <p:sp>
        <p:nvSpPr>
          <p:cNvPr id="52" name="Text 26">
            <a:extLst>
              <a:ext uri="{FF2B5EF4-FFF2-40B4-BE49-F238E27FC236}">
                <a16:creationId xmlns:a16="http://schemas.microsoft.com/office/drawing/2014/main" id="{ACD89F7D-339C-591F-8E5B-DDD224BEBAD3}"/>
              </a:ext>
            </a:extLst>
          </p:cNvPr>
          <p:cNvSpPr/>
          <p:nvPr/>
        </p:nvSpPr>
        <p:spPr>
          <a:xfrm>
            <a:off x="3890772" y="3639254"/>
            <a:ext cx="502920" cy="502920"/>
          </a:xfrm>
          <a:prstGeom prst="rect">
            <a:avLst/>
          </a:prstGeom>
          <a:noFill/>
          <a:ln/>
        </p:spPr>
        <p:txBody>
          <a:bodyPr wrap="square" lIns="0" tIns="0" rIns="0" bIns="0" rtlCol="0" anchor="ctr"/>
          <a:lstStyle/>
          <a:p>
            <a:pPr marL="0" indent="0" algn="ctr">
              <a:buNone/>
            </a:pPr>
            <a:r>
              <a:rPr lang="en-US" sz="1300" b="1">
                <a:solidFill>
                  <a:srgbClr val="FFFFFF"/>
                </a:solidFill>
                <a:latin typeface="Aptos" panose="020B0004020202020204" pitchFamily="34" charset="0"/>
                <a:ea typeface="Calibri" pitchFamily="34" charset="-122"/>
                <a:cs typeface="Calibri" pitchFamily="34" charset="-120"/>
              </a:rPr>
              <a:t>05</a:t>
            </a:r>
            <a:endParaRPr lang="en-US" sz="1300">
              <a:latin typeface="Aptos" panose="020B0004020202020204" pitchFamily="34" charset="0"/>
            </a:endParaRPr>
          </a:p>
        </p:txBody>
      </p:sp>
      <p:sp>
        <p:nvSpPr>
          <p:cNvPr id="53" name="Text 27">
            <a:extLst>
              <a:ext uri="{FF2B5EF4-FFF2-40B4-BE49-F238E27FC236}">
                <a16:creationId xmlns:a16="http://schemas.microsoft.com/office/drawing/2014/main" id="{09B943C2-9E15-11A2-6913-3DFD0BED1BF4}"/>
              </a:ext>
            </a:extLst>
          </p:cNvPr>
          <p:cNvSpPr/>
          <p:nvPr/>
        </p:nvSpPr>
        <p:spPr>
          <a:xfrm>
            <a:off x="4503420" y="3639254"/>
            <a:ext cx="4526280" cy="292608"/>
          </a:xfrm>
          <a:prstGeom prst="rect">
            <a:avLst/>
          </a:prstGeom>
          <a:noFill/>
          <a:ln/>
        </p:spPr>
        <p:txBody>
          <a:bodyPr wrap="square" lIns="0" tIns="0" rIns="0" bIns="0" rtlCol="0" anchor="ctr"/>
          <a:lstStyle/>
          <a:p>
            <a:pPr marL="0" indent="0" algn="l">
              <a:buNone/>
            </a:pPr>
            <a:r>
              <a:rPr lang="en-US" sz="1500" b="1" kern="0">
                <a:solidFill>
                  <a:schemeClr val="accent1"/>
                </a:solidFill>
                <a:latin typeface="Aptos" panose="020B0004020202020204" pitchFamily="34" charset="0"/>
                <a:ea typeface="Calibri" pitchFamily="34" charset="-122"/>
                <a:cs typeface="Calibri" pitchFamily="34" charset="-120"/>
              </a:rPr>
              <a:t>WHERE IT FITS</a:t>
            </a:r>
            <a:endParaRPr lang="en-US" sz="1500">
              <a:solidFill>
                <a:schemeClr val="accent1"/>
              </a:solidFill>
              <a:latin typeface="Aptos" panose="020B0004020202020204" pitchFamily="34" charset="0"/>
            </a:endParaRPr>
          </a:p>
        </p:txBody>
      </p:sp>
      <p:sp>
        <p:nvSpPr>
          <p:cNvPr id="58" name="Text 29">
            <a:extLst>
              <a:ext uri="{FF2B5EF4-FFF2-40B4-BE49-F238E27FC236}">
                <a16:creationId xmlns:a16="http://schemas.microsoft.com/office/drawing/2014/main" id="{F611E9B6-A906-539A-0BC3-814C0E3BF4F5}"/>
              </a:ext>
            </a:extLst>
          </p:cNvPr>
          <p:cNvSpPr/>
          <p:nvPr/>
        </p:nvSpPr>
        <p:spPr>
          <a:xfrm>
            <a:off x="3890772" y="4224897"/>
            <a:ext cx="2459736" cy="1444752"/>
          </a:xfrm>
          <a:prstGeom prst="rect">
            <a:avLst/>
          </a:prstGeom>
          <a:noFill/>
          <a:ln/>
        </p:spPr>
        <p:txBody>
          <a:bodyPr wrap="square" lIns="0" tIns="0" rIns="0" bIns="0" rtlCol="0" anchor="t"/>
          <a:lstStyle/>
          <a:p>
            <a:r>
              <a:t>Used in enterprise forms, presentations, and document-heavy industries across layout parsing and AI verification teams.</a:t>
            </a:r>
          </a:p>
          <a:p/>
          <a:p>
            <a:r>
              <a:t>Differentiator: Combines multi-agent orchestrated workflows with deterministic rendering to validate and reconstruct document layouts.</a:t>
            </a:r>
          </a:p>
        </p:txBody>
      </p:sp>
      <p:sp>
        <p:nvSpPr>
          <p:cNvPr id="59" name="Text 30">
            <a:extLst>
              <a:ext uri="{FF2B5EF4-FFF2-40B4-BE49-F238E27FC236}">
                <a16:creationId xmlns:a16="http://schemas.microsoft.com/office/drawing/2014/main" id="{6A40F46D-A184-6B59-0A4A-98C83CEA1811}"/>
              </a:ext>
            </a:extLst>
          </p:cNvPr>
          <p:cNvSpPr/>
          <p:nvPr/>
        </p:nvSpPr>
        <p:spPr>
          <a:xfrm>
            <a:off x="357269" y="703411"/>
            <a:ext cx="11247120" cy="228600"/>
          </a:xfrm>
          <a:prstGeom prst="rect">
            <a:avLst/>
          </a:prstGeom>
          <a:noFill/>
          <a:ln/>
        </p:spPr>
        <p:txBody>
          <a:bodyPr wrap="square" lIns="0" tIns="0" rIns="0" bIns="0" rtlCol="0" anchor="ctr"/>
          <a:lstStyle/>
          <a:p>
            <a:r>
              <a:t>AetherMind extraction snapshot. Details the raw geometry parsing, multi-agent annotation, rendering, and visual quality audit flow.</a:t>
            </a:r>
          </a:p>
        </p:txBody>
      </p:sp>
      <p:pic>
        <p:nvPicPr>
          <p:cNvPr id="61" name="Graphic 60" descr="Puzzle pieces with solid fill">
            <a:extLst>
              <a:ext uri="{FF2B5EF4-FFF2-40B4-BE49-F238E27FC236}">
                <a16:creationId xmlns:a16="http://schemas.microsoft.com/office/drawing/2014/main" id="{AA00BC4F-C685-B2FC-BD09-914AEF0B47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81095" y="3562044"/>
            <a:ext cx="352541" cy="352541"/>
          </a:xfrm>
          <a:prstGeom prst="rect">
            <a:avLst/>
          </a:prstGeom>
        </p:spPr>
      </p:pic>
      <p:pic>
        <p:nvPicPr>
          <p:cNvPr id="63" name="Graphic 62" descr="Shield Tick with solid fill">
            <a:extLst>
              <a:ext uri="{FF2B5EF4-FFF2-40B4-BE49-F238E27FC236}">
                <a16:creationId xmlns:a16="http://schemas.microsoft.com/office/drawing/2014/main" id="{78E57948-3827-0A70-AFDB-9A6A34198A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3210" y="3554512"/>
            <a:ext cx="352541" cy="352541"/>
          </a:xfrm>
          <a:prstGeom prst="rect">
            <a:avLst/>
          </a:prstGeom>
        </p:spPr>
      </p:pic>
      <p:pic>
        <p:nvPicPr>
          <p:cNvPr id="66" name="Graphic 65" descr="Gears with solid fill">
            <a:extLst>
              <a:ext uri="{FF2B5EF4-FFF2-40B4-BE49-F238E27FC236}">
                <a16:creationId xmlns:a16="http://schemas.microsoft.com/office/drawing/2014/main" id="{8BF9CB45-7FAA-F17F-482E-ED7D2E2421D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81095" y="1028345"/>
            <a:ext cx="352541" cy="352541"/>
          </a:xfrm>
          <a:prstGeom prst="rect">
            <a:avLst/>
          </a:prstGeom>
        </p:spPr>
      </p:pic>
      <p:pic>
        <p:nvPicPr>
          <p:cNvPr id="69" name="Graphic 68" descr="Clipboard with solid fill">
            <a:extLst>
              <a:ext uri="{FF2B5EF4-FFF2-40B4-BE49-F238E27FC236}">
                <a16:creationId xmlns:a16="http://schemas.microsoft.com/office/drawing/2014/main" id="{558D246D-6163-AB5B-EC21-A89BC3FD59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93210" y="1028345"/>
            <a:ext cx="352541" cy="352541"/>
          </a:xfrm>
          <a:prstGeom prst="rect">
            <a:avLst/>
          </a:prstGeom>
        </p:spPr>
      </p:pic>
      <p:sp>
        <p:nvSpPr>
          <p:cNvPr id="54" name="Shape 9">
            <a:extLst>
              <a:ext uri="{FF2B5EF4-FFF2-40B4-BE49-F238E27FC236}">
                <a16:creationId xmlns:a16="http://schemas.microsoft.com/office/drawing/2014/main" id="{F5BF5429-F2A0-520A-E961-5C66FD6400D3}"/>
              </a:ext>
            </a:extLst>
          </p:cNvPr>
          <p:cNvSpPr/>
          <p:nvPr/>
        </p:nvSpPr>
        <p:spPr>
          <a:xfrm>
            <a:off x="6720839" y="999956"/>
            <a:ext cx="4883549" cy="5354292"/>
          </a:xfrm>
          <a:prstGeom prst="rect">
            <a:avLst/>
          </a:prstGeom>
          <a:solidFill>
            <a:srgbClr val="F1F5F9"/>
          </a:solidFill>
          <a:ln/>
          <a:effectLst>
            <a:outerShdw blurRad="101600" dist="25400" dir="5400000" algn="bl" rotWithShape="0">
              <a:srgbClr val="0F2A47">
                <a:alpha val="10000"/>
              </a:srgbClr>
            </a:outerShdw>
          </a:effectLst>
        </p:spPr>
        <p:txBody>
          <a:bodyPr/>
          <a:lstStyle/>
          <a:p>
            <a:endParaRPr lang="en-US">
              <a:latin typeface="Aptos" panose="020B0004020202020204" pitchFamily="34" charset="0"/>
            </a:endParaRPr>
          </a:p>
        </p:txBody>
      </p:sp>
      <p:sp>
        <p:nvSpPr>
          <p:cNvPr id="55" name="Shape 10">
            <a:extLst>
              <a:ext uri="{FF2B5EF4-FFF2-40B4-BE49-F238E27FC236}">
                <a16:creationId xmlns:a16="http://schemas.microsoft.com/office/drawing/2014/main" id="{AB57EFBF-A2A4-D1ED-FD4E-FE2E07F139D9}"/>
              </a:ext>
            </a:extLst>
          </p:cNvPr>
          <p:cNvSpPr/>
          <p:nvPr/>
        </p:nvSpPr>
        <p:spPr>
          <a:xfrm>
            <a:off x="6720840" y="999956"/>
            <a:ext cx="82296" cy="5358384"/>
          </a:xfrm>
          <a:prstGeom prst="rect">
            <a:avLst/>
          </a:prstGeom>
          <a:solidFill>
            <a:schemeClr val="accent6"/>
          </a:solidFill>
          <a:ln/>
        </p:spPr>
        <p:txBody>
          <a:bodyPr/>
          <a:lstStyle/>
          <a:p>
            <a:endParaRPr lang="en-US" dirty="0">
              <a:latin typeface="Aptos" panose="020B0004020202020204" pitchFamily="34" charset="0"/>
            </a:endParaRPr>
          </a:p>
        </p:txBody>
      </p:sp>
      <p:sp>
        <p:nvSpPr>
          <p:cNvPr id="56" name="Shape 4">
            <a:extLst>
              <a:ext uri="{FF2B5EF4-FFF2-40B4-BE49-F238E27FC236}">
                <a16:creationId xmlns:a16="http://schemas.microsoft.com/office/drawing/2014/main" id="{782CF681-D2A2-A984-B483-0A0326D964EF}"/>
              </a:ext>
            </a:extLst>
          </p:cNvPr>
          <p:cNvSpPr/>
          <p:nvPr/>
        </p:nvSpPr>
        <p:spPr>
          <a:xfrm>
            <a:off x="6920481" y="1105555"/>
            <a:ext cx="502920" cy="502920"/>
          </a:xfrm>
          <a:prstGeom prst="ellipse">
            <a:avLst/>
          </a:prstGeom>
          <a:solidFill>
            <a:schemeClr val="accent6"/>
          </a:solidFill>
          <a:ln/>
        </p:spPr>
        <p:txBody>
          <a:bodyPr/>
          <a:lstStyle/>
          <a:p>
            <a:endParaRPr lang="en-US">
              <a:latin typeface="Aptos" panose="020B0004020202020204" pitchFamily="34" charset="0"/>
            </a:endParaRPr>
          </a:p>
        </p:txBody>
      </p:sp>
      <p:sp>
        <p:nvSpPr>
          <p:cNvPr id="57" name="Text 5">
            <a:extLst>
              <a:ext uri="{FF2B5EF4-FFF2-40B4-BE49-F238E27FC236}">
                <a16:creationId xmlns:a16="http://schemas.microsoft.com/office/drawing/2014/main" id="{188977A4-28B8-EC10-CAC8-22E9A180CC6F}"/>
              </a:ext>
            </a:extLst>
          </p:cNvPr>
          <p:cNvSpPr/>
          <p:nvPr/>
        </p:nvSpPr>
        <p:spPr>
          <a:xfrm>
            <a:off x="6931530" y="1105555"/>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anose="020B0004020202020204" pitchFamily="34" charset="0"/>
                <a:ea typeface="Calibri" pitchFamily="34" charset="-122"/>
                <a:cs typeface="Calibri" pitchFamily="34" charset="-120"/>
              </a:rPr>
              <a:t>03</a:t>
            </a:r>
            <a:endParaRPr lang="en-US" sz="1300" dirty="0">
              <a:latin typeface="Aptos" panose="020B0004020202020204" pitchFamily="34" charset="0"/>
            </a:endParaRPr>
          </a:p>
        </p:txBody>
      </p:sp>
      <p:sp>
        <p:nvSpPr>
          <p:cNvPr id="60" name="Text 6">
            <a:extLst>
              <a:ext uri="{FF2B5EF4-FFF2-40B4-BE49-F238E27FC236}">
                <a16:creationId xmlns:a16="http://schemas.microsoft.com/office/drawing/2014/main" id="{10604D13-D070-E109-7EDD-267E4E4265DF}"/>
              </a:ext>
            </a:extLst>
          </p:cNvPr>
          <p:cNvSpPr/>
          <p:nvPr/>
        </p:nvSpPr>
        <p:spPr>
          <a:xfrm>
            <a:off x="7544178" y="1105555"/>
            <a:ext cx="4526280" cy="292608"/>
          </a:xfrm>
          <a:prstGeom prst="rect">
            <a:avLst/>
          </a:prstGeom>
          <a:noFill/>
          <a:ln/>
        </p:spPr>
        <p:txBody>
          <a:bodyPr wrap="square" lIns="0" tIns="0" rIns="0" bIns="0" rtlCol="0" anchor="ctr"/>
          <a:lstStyle/>
          <a:p>
            <a:r>
              <a:t>WORKFLOW</a:t>
            </a:r>
          </a:p>
        </p:txBody>
      </p:sp>
      <p:pic>
        <p:nvPicPr>
          <p:cNvPr id="62" name="Graphic 61">
            <a:extLst>
              <a:ext uri="{FF2B5EF4-FFF2-40B4-BE49-F238E27FC236}">
                <a16:creationId xmlns:a16="http://schemas.microsoft.com/office/drawing/2014/main" id="{55C71FD6-ED76-CE77-502D-4AFEEC868E3D}"/>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1240333" y="1028345"/>
            <a:ext cx="352541" cy="352541"/>
          </a:xfrm>
          <a:prstGeom prst="rect">
            <a:avLst/>
          </a:prstGeom>
        </p:spPr>
      </p:pic>
      <p:sp>
        <p:nvSpPr>
          <p:cNvPr id="64" name="Pentagon 98">
            <a:extLst>
              <a:ext uri="{FF2B5EF4-FFF2-40B4-BE49-F238E27FC236}">
                <a16:creationId xmlns:a16="http://schemas.microsoft.com/office/drawing/2014/main" id="{5F78CDA4-885D-CA8B-EB15-B82E0E57ACA9}"/>
              </a:ext>
            </a:extLst>
          </p:cNvPr>
          <p:cNvSpPr/>
          <p:nvPr/>
        </p:nvSpPr>
        <p:spPr bwMode="gray">
          <a:xfrm rot="5400000">
            <a:off x="9077127" y="54290"/>
            <a:ext cx="361472" cy="3423489"/>
          </a:xfrm>
          <a:prstGeom prst="homePlate">
            <a:avLst/>
          </a:prstGeom>
          <a:solidFill>
            <a:schemeClr val="accent6"/>
          </a:solidFill>
        </p:spPr>
        <p:txBody>
          <a:bodyPr vert="vert270"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t>OCR &amp; Document Ingestion</a:t>
            </a:r>
          </a:p>
        </p:txBody>
      </p:sp>
      <p:sp>
        <p:nvSpPr>
          <p:cNvPr id="65" name="Chevron 99">
            <a:extLst>
              <a:ext uri="{FF2B5EF4-FFF2-40B4-BE49-F238E27FC236}">
                <a16:creationId xmlns:a16="http://schemas.microsoft.com/office/drawing/2014/main" id="{C5686757-5EBC-DF69-40E3-E94002C317EC}"/>
              </a:ext>
            </a:extLst>
          </p:cNvPr>
          <p:cNvSpPr/>
          <p:nvPr/>
        </p:nvSpPr>
        <p:spPr bwMode="gray">
          <a:xfrm rot="5400000">
            <a:off x="9077127" y="989261"/>
            <a:ext cx="361472" cy="3423489"/>
          </a:xfrm>
          <a:prstGeom prst="homePlate">
            <a:avLst/>
          </a:prstGeom>
          <a:solidFill>
            <a:schemeClr val="accent6"/>
          </a:solidFill>
        </p:spPr>
        <p:txBody>
          <a:bodyPr vert="vert270"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050" b="1" i="1" u="none" strike="noStrike" kern="1200" cap="none" spc="0" normalizeH="0" baseline="0" noProof="0" dirty="0">
                <a:ln>
                  <a:noFill/>
                </a:ln>
                <a:solidFill>
                  <a:prstClr val="white"/>
                </a:solidFill>
                <a:effectLst/>
                <a:uLnTx/>
                <a:uFillTx/>
                <a:latin typeface="+mj-lt"/>
                <a:ea typeface="+mn-ea"/>
                <a:cs typeface="+mn-cs"/>
              </a:rPr>
              <a:t>Lossless Geometry Extraction</a:t>
            </a:r>
            <a:endParaRPr kumimoji="0" lang="en-IN" sz="1050" b="1" i="1" u="none" strike="noStrike" kern="1200" cap="none" spc="0" normalizeH="0" baseline="0" noProof="0" dirty="0">
              <a:ln>
                <a:noFill/>
              </a:ln>
              <a:solidFill>
                <a:prstClr val="white"/>
              </a:solidFill>
              <a:effectLst/>
              <a:uLnTx/>
              <a:uFillTx/>
              <a:latin typeface="+mj-lt"/>
              <a:ea typeface="+mn-ea"/>
              <a:cs typeface="+mn-cs"/>
            </a:endParaRPr>
          </a:p>
        </p:txBody>
      </p:sp>
      <p:sp>
        <p:nvSpPr>
          <p:cNvPr id="67" name="Chevron 100">
            <a:extLst>
              <a:ext uri="{FF2B5EF4-FFF2-40B4-BE49-F238E27FC236}">
                <a16:creationId xmlns:a16="http://schemas.microsoft.com/office/drawing/2014/main" id="{44CB8144-FB36-6D07-97E7-6F34AF1C0236}"/>
              </a:ext>
            </a:extLst>
          </p:cNvPr>
          <p:cNvSpPr/>
          <p:nvPr/>
        </p:nvSpPr>
        <p:spPr bwMode="gray">
          <a:xfrm rot="5400000">
            <a:off x="9077127" y="1924232"/>
            <a:ext cx="361472" cy="3423489"/>
          </a:xfrm>
          <a:prstGeom prst="homePlate">
            <a:avLst/>
          </a:prstGeom>
          <a:solidFill>
            <a:schemeClr val="accent6"/>
          </a:solidFill>
        </p:spPr>
        <p:txBody>
          <a:bodyPr vert="vert270"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050" b="1" i="1" u="none" strike="noStrike" kern="1200" cap="none" spc="0" normalizeH="0" baseline="0" noProof="0" dirty="0">
                <a:ln>
                  <a:noFill/>
                </a:ln>
                <a:solidFill>
                  <a:prstClr val="white"/>
                </a:solidFill>
                <a:effectLst/>
                <a:uLnTx/>
                <a:uFillTx/>
                <a:latin typeface="+mj-lt"/>
                <a:ea typeface="+mn-ea"/>
                <a:cs typeface="+mn-cs"/>
              </a:rPr>
              <a:t>Multi-Agent Layout Analysis</a:t>
            </a:r>
          </a:p>
        </p:txBody>
      </p:sp>
      <p:sp>
        <p:nvSpPr>
          <p:cNvPr id="68" name="Chevron 101">
            <a:extLst>
              <a:ext uri="{FF2B5EF4-FFF2-40B4-BE49-F238E27FC236}">
                <a16:creationId xmlns:a16="http://schemas.microsoft.com/office/drawing/2014/main" id="{744E65D3-47A1-C17B-6DB6-4C122210E300}"/>
              </a:ext>
            </a:extLst>
          </p:cNvPr>
          <p:cNvSpPr/>
          <p:nvPr/>
        </p:nvSpPr>
        <p:spPr bwMode="gray">
          <a:xfrm rot="5400000">
            <a:off x="9077127" y="2859203"/>
            <a:ext cx="361472" cy="3423489"/>
          </a:xfrm>
          <a:prstGeom prst="homePlate">
            <a:avLst/>
          </a:prstGeom>
          <a:solidFill>
            <a:schemeClr val="accent6"/>
          </a:solidFill>
        </p:spPr>
        <p:txBody>
          <a:bodyPr vert="vert270"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1050" b="1" i="1" u="none" strike="noStrike" kern="1200" cap="none" spc="0" normalizeH="0" baseline="0" noProof="0" dirty="0">
                <a:ln>
                  <a:noFill/>
                </a:ln>
                <a:solidFill>
                  <a:prstClr val="white"/>
                </a:solidFill>
                <a:effectLst/>
                <a:uLnTx/>
                <a:uFillTx/>
                <a:latin typeface="+mj-lt"/>
                <a:ea typeface="+mn-ea"/>
                <a:cs typeface="+mn-cs"/>
              </a:rPr>
              <a:t>Deterministic Rendering</a:t>
            </a:r>
          </a:p>
        </p:txBody>
      </p:sp>
      <p:sp>
        <p:nvSpPr>
          <p:cNvPr id="70" name="Chevron 102">
            <a:extLst>
              <a:ext uri="{FF2B5EF4-FFF2-40B4-BE49-F238E27FC236}">
                <a16:creationId xmlns:a16="http://schemas.microsoft.com/office/drawing/2014/main" id="{0E47E165-D067-380A-337D-D3530CCF81E7}"/>
              </a:ext>
            </a:extLst>
          </p:cNvPr>
          <p:cNvSpPr/>
          <p:nvPr/>
        </p:nvSpPr>
        <p:spPr bwMode="gray">
          <a:xfrm rot="5400000">
            <a:off x="9077127" y="3794174"/>
            <a:ext cx="361472" cy="2900000"/>
          </a:xfrm>
          <a:prstGeom prst="homePlate">
            <a:avLst/>
          </a:prstGeom>
          <a:solidFill>
            <a:schemeClr val="accent6"/>
          </a:solidFill>
        </p:spPr>
        <p:txBody>
          <a:bodyPr vert="vert270"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t>Visual Rendering &amp; Validation</a:t>
            </a:r>
          </a:p>
        </p:txBody>
      </p:sp>
      <p:sp>
        <p:nvSpPr>
          <p:cNvPr id="71" name="TextBox 54">
            <a:extLst>
              <a:ext uri="{FF2B5EF4-FFF2-40B4-BE49-F238E27FC236}">
                <a16:creationId xmlns:a16="http://schemas.microsoft.com/office/drawing/2014/main" id="{7E5E1637-A380-19AD-EA4C-1C37D6926E09}"/>
              </a:ext>
            </a:extLst>
          </p:cNvPr>
          <p:cNvSpPr txBox="1"/>
          <p:nvPr/>
        </p:nvSpPr>
        <p:spPr>
          <a:xfrm>
            <a:off x="7963526" y="2036422"/>
            <a:ext cx="2588675" cy="394197"/>
          </a:xfrm>
          <a:prstGeom prst="rect">
            <a:avLst/>
          </a:prstGeom>
          <a:noFill/>
        </p:spPr>
        <p:txBody>
          <a:bodyPr vert="horz"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t>AI processes raw document streams, correcting layout geometries and text alignments</a:t>
            </a:r>
          </a:p>
        </p:txBody>
      </p:sp>
      <p:sp>
        <p:nvSpPr>
          <p:cNvPr id="72" name="TextBox 55">
            <a:extLst>
              <a:ext uri="{FF2B5EF4-FFF2-40B4-BE49-F238E27FC236}">
                <a16:creationId xmlns:a16="http://schemas.microsoft.com/office/drawing/2014/main" id="{14113F32-E0E8-2B86-16EA-C018571BDD91}"/>
              </a:ext>
            </a:extLst>
          </p:cNvPr>
          <p:cNvSpPr txBox="1"/>
          <p:nvPr/>
        </p:nvSpPr>
        <p:spPr>
          <a:xfrm>
            <a:off x="7963526" y="2971393"/>
            <a:ext cx="2588675" cy="394197"/>
          </a:xfrm>
          <a:prstGeom prst="rect">
            <a:avLst/>
          </a:prstGeom>
          <a:noFill/>
        </p:spPr>
        <p:txBody>
          <a:bodyPr vert="horz"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t>Extracts hidden layout patterns from raw PowerPoint/PDF files</a:t>
            </a:r>
          </a:p>
        </p:txBody>
      </p:sp>
      <p:sp>
        <p:nvSpPr>
          <p:cNvPr id="73" name="TextBox 56">
            <a:extLst>
              <a:ext uri="{FF2B5EF4-FFF2-40B4-BE49-F238E27FC236}">
                <a16:creationId xmlns:a16="http://schemas.microsoft.com/office/drawing/2014/main" id="{4C5F5F3A-7CE7-F6F5-35A9-6ED1E99CED06}"/>
              </a:ext>
            </a:extLst>
          </p:cNvPr>
          <p:cNvSpPr txBox="1"/>
          <p:nvPr/>
        </p:nvSpPr>
        <p:spPr>
          <a:xfrm>
            <a:off x="7963526" y="3906364"/>
            <a:ext cx="2588675" cy="394197"/>
          </a:xfrm>
          <a:prstGeom prst="rect">
            <a:avLst/>
          </a:prstGeom>
          <a:noFill/>
        </p:spPr>
        <p:txBody>
          <a:bodyPr vert="horz"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t>Deduces topological reading paths and diagram connector networks</a:t>
            </a:r>
          </a:p>
        </p:txBody>
      </p:sp>
      <p:sp>
        <p:nvSpPr>
          <p:cNvPr id="74" name="TextBox 57">
            <a:extLst>
              <a:ext uri="{FF2B5EF4-FFF2-40B4-BE49-F238E27FC236}">
                <a16:creationId xmlns:a16="http://schemas.microsoft.com/office/drawing/2014/main" id="{4ADB8943-510A-FDB9-2083-7763638B8155}"/>
              </a:ext>
            </a:extLst>
          </p:cNvPr>
          <p:cNvSpPr txBox="1"/>
          <p:nvPr/>
        </p:nvSpPr>
        <p:spPr>
          <a:xfrm>
            <a:off x="7963526" y="4841335"/>
            <a:ext cx="2588675" cy="394197"/>
          </a:xfrm>
          <a:prstGeom prst="rect">
            <a:avLst/>
          </a:prstGeom>
          <a:noFill/>
        </p:spPr>
        <p:txBody>
          <a:bodyPr vert="horz"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t>Generates structured JSON blueprints containing coordinates, typography, and styles</a:t>
            </a:r>
          </a:p>
        </p:txBody>
      </p:sp>
      <p:sp>
        <p:nvSpPr>
          <p:cNvPr id="75" name="TextBox 58">
            <a:extLst>
              <a:ext uri="{FF2B5EF4-FFF2-40B4-BE49-F238E27FC236}">
                <a16:creationId xmlns:a16="http://schemas.microsoft.com/office/drawing/2014/main" id="{E8666514-C81D-7D64-E906-0ECA0277579F}"/>
              </a:ext>
            </a:extLst>
          </p:cNvPr>
          <p:cNvSpPr txBox="1"/>
          <p:nvPr/>
        </p:nvSpPr>
        <p:spPr>
          <a:xfrm>
            <a:off x="7963526" y="5776306"/>
            <a:ext cx="2588675" cy="394197"/>
          </a:xfrm>
          <a:prstGeom prst="rect">
            <a:avLst/>
          </a:prstGeom>
          <a:noFill/>
        </p:spPr>
        <p:txBody>
          <a:bodyPr vert="horz"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t>FormRenderer programmatically re-renders slides to verify extraction fidelity</a:t>
            </a:r>
          </a:p>
        </p:txBody>
      </p:sp>
      <p:sp>
        <p:nvSpPr>
          <p:cNvPr id="5" name="TextBox 58">
            <a:extLst>
              <a:ext uri="{FF2B5EF4-FFF2-40B4-BE49-F238E27FC236}">
                <a16:creationId xmlns:a16="http://schemas.microsoft.com/office/drawing/2014/main" id="{6F0E3240-E2FD-3424-FFB7-58B3AB8B14F1}"/>
              </a:ext>
            </a:extLst>
          </p:cNvPr>
          <p:cNvSpPr txBox="1"/>
          <p:nvPr/>
        </p:nvSpPr>
        <p:spPr>
          <a:xfrm>
            <a:off x="6972300" y="6147709"/>
            <a:ext cx="4739715" cy="251364"/>
          </a:xfrm>
          <a:prstGeom prst="rect">
            <a:avLst/>
          </a:prstGeom>
          <a:noFill/>
        </p:spPr>
        <p:txBody>
          <a:bodyPr vert="horz"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t>Human Validation: Operators review and approve extraction reports before downstream delivery</a:t>
            </a:r>
          </a:p>
        </p:txBody>
      </p:sp>
    </p:spTree>
    <p:extLst>
      <p:ext uri="{BB962C8B-B14F-4D97-AF65-F5344CB8AC3E}">
        <p14:creationId xmlns:p14="http://schemas.microsoft.com/office/powerpoint/2010/main" val="2613936311"/>
      </p:ext>
    </p:extLst>
  </p:cSld>
  <p:clrMapOvr>
    <a:masterClrMapping/>
  </p:clrMapOvr>
  <mc:AlternateContent xmlns:mc="http://schemas.openxmlformats.org/markup-compatibility/2006" xmlns:p14="http://schemas.microsoft.com/office/powerpoint/2010/main">
    <mc:Choice Requires="p14">
      <p:transition>
        <p14:rippl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le 2">
            <a:extLst>
              <a:ext uri="{FF2B5EF4-FFF2-40B4-BE49-F238E27FC236}">
                <a16:creationId xmlns:a16="http://schemas.microsoft.com/office/drawing/2014/main" id="{0C269862-2294-44BC-9787-4C464E3E6362}"/>
              </a:ext>
            </a:extLst>
          </p:cNvPr>
          <p:cNvSpPr txBox="1">
            <a:spLocks/>
          </p:cNvSpPr>
          <p:nvPr/>
        </p:nvSpPr>
        <p:spPr bwMode="gray">
          <a:xfrm>
            <a:off x="551688" y="334857"/>
            <a:ext cx="11390734" cy="365760"/>
          </a:xfrm>
          <a:prstGeom prst="rect">
            <a:avLst/>
          </a:prstGeom>
        </p:spPr>
        <p:txBody>
          <a:bodyPr vert="horz" lIns="0" tIns="0" rIns="0" bIns="0" rtlCol="0" anchor="t" anchorCtr="0">
            <a:noAutofit/>
          </a:bodyPr>
          <a:lstStyle>
            <a:lvl1pPr algn="l" defTabSz="1219170" rtl="0" eaLnBrk="1" latinLnBrk="0" hangingPunct="1">
              <a:spcBef>
                <a:spcPct val="0"/>
              </a:spcBef>
              <a:buNone/>
              <a:defRPr sz="2000" b="1" i="0" kern="120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a:defRPr/>
            </a:pPr>
            <a:r>
              <a:rPr kumimoji="0" lang="en-US" sz="2400" b="1" i="0" u="none" strike="noStrike" kern="1200" cap="none" spc="0" normalizeH="0" baseline="0" noProof="0">
                <a:ln>
                  <a:noFill/>
                </a:ln>
                <a:solidFill>
                  <a:sysClr val="windowText" lastClr="000000"/>
                </a:solidFill>
                <a:effectLst/>
                <a:uLnTx/>
                <a:uFillTx/>
                <a:latin typeface="Calibri"/>
                <a:ea typeface="Calibri"/>
                <a:cs typeface="Calibri"/>
              </a:rPr>
              <a:t> AetherMind: Lossless Document Ingestion and Visual Reconstruction Platform</a:t>
            </a:r>
            <a:r>
              <a:rPr lang="en-US" sz="2400">
                <a:solidFill>
                  <a:sysClr val="windowText" lastClr="000000"/>
                </a:solidFill>
                <a:latin typeface="Calibri"/>
                <a:ea typeface="Calibri"/>
                <a:cs typeface="Calibri"/>
              </a:rPr>
              <a:t/>
            </a:r>
            <a:r>
              <a:rPr kumimoji="0" lang="en-US" sz="2400" b="1" i="0" u="none" strike="noStrike" kern="1200" cap="none" spc="0" normalizeH="0" baseline="0" noProof="0">
                <a:ln>
                  <a:noFill/>
                </a:ln>
                <a:solidFill>
                  <a:sysClr val="windowText" lastClr="000000"/>
                </a:solidFill>
                <a:effectLst/>
                <a:uLnTx/>
                <a:uFillTx/>
                <a:latin typeface="Calibri"/>
                <a:ea typeface="Calibri"/>
                <a:cs typeface="Calibri"/>
              </a:rPr>
              <a:t> </a:t>
            </a:r>
            <a:endParaRPr lang="en-US" sz="2400" i="0" u="none" strike="noStrike" kern="1200" cap="none" spc="0" normalizeH="0" baseline="0" noProof="0">
              <a:ln>
                <a:noFill/>
              </a:ln>
              <a:solidFill>
                <a:sysClr val="windowText" lastClr="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7" name="Rectangle 66">
            <a:extLst>
              <a:ext uri="{FF2B5EF4-FFF2-40B4-BE49-F238E27FC236}">
                <a16:creationId xmlns:a16="http://schemas.microsoft.com/office/drawing/2014/main" id="{9D7E253C-4269-219B-4109-0EC33D7E52CE}"/>
              </a:ext>
            </a:extLst>
          </p:cNvPr>
          <p:cNvSpPr/>
          <p:nvPr/>
        </p:nvSpPr>
        <p:spPr bwMode="gray">
          <a:xfrm>
            <a:off x="3223853" y="1203565"/>
            <a:ext cx="5764992" cy="1497382"/>
          </a:xfrm>
          <a:prstGeom prst="rect">
            <a:avLst/>
          </a:prstGeom>
          <a:noFill/>
          <a:ln w="19050" algn="ctr">
            <a:noFill/>
            <a:miter lim="800000"/>
            <a:headEnd/>
            <a:tailEnd/>
          </a:ln>
        </p:spPr>
        <p:txBody>
          <a:bodyPr wrap="square" lIns="0" tIns="0" rIns="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t>Situation</a:t>
            </a:r>
          </a:p>
          <a:p>
            <a:pPr/>
            <a:r>
              <a:t>Document Ingestion data is often incomplete or inconsistent. Layout structures are lost in flat text dumps, destroying the visual semantic alignment of tables and flowcharts.</a:t>
            </a:r>
          </a:p>
          <a:p>
            <a:pPr/>
          </a:p>
          <a:p>
            <a:pPr/>
            <a:r>
              <a:t>Key issues:</a:t>
            </a:r>
          </a:p>
          <a:p>
            <a:pPr/>
            <a:r>
              <a:t>▪ Flat-text engines discard layout geometry, corrupting reading order.</a:t>
            </a:r>
          </a:p>
          <a:p>
            <a:pPr/>
            <a:r>
              <a:t>▪ Table cells collapse, losing row/column spans and data alignments.</a:t>
            </a:r>
          </a:p>
          <a:p>
            <a:pPr/>
            <a:r>
              <a:t>▪ Checkboxes, lines, flowcharts, and drawings are omitted or treated as unparseable blobs.</a:t>
            </a:r>
          </a:p>
          <a:p>
            <a:pPr/>
            <a:r>
              <a:t>▪ Downstream LLMs lose visual context, leading to poor reasoning and retrieval.</a:t>
            </a:r>
          </a:p>
        </p:txBody>
      </p:sp>
      <p:sp>
        <p:nvSpPr>
          <p:cNvPr id="68" name="Rectangle 67">
            <a:extLst>
              <a:ext uri="{FF2B5EF4-FFF2-40B4-BE49-F238E27FC236}">
                <a16:creationId xmlns:a16="http://schemas.microsoft.com/office/drawing/2014/main" id="{1A9490E4-38CD-7165-9E1E-BEF5B58837D8}"/>
              </a:ext>
            </a:extLst>
          </p:cNvPr>
          <p:cNvSpPr/>
          <p:nvPr/>
        </p:nvSpPr>
        <p:spPr bwMode="gray">
          <a:xfrm>
            <a:off x="478637" y="1356188"/>
            <a:ext cx="2627615" cy="5058679"/>
          </a:xfrm>
          <a:prstGeom prst="rect">
            <a:avLst/>
          </a:prstGeom>
          <a:solidFill>
            <a:srgbClr val="F9F9F9"/>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60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69" name="Straight Connector 68">
            <a:extLst>
              <a:ext uri="{FF2B5EF4-FFF2-40B4-BE49-F238E27FC236}">
                <a16:creationId xmlns:a16="http://schemas.microsoft.com/office/drawing/2014/main" id="{666797B1-7762-6625-AB60-DDD62764B337}"/>
              </a:ext>
            </a:extLst>
          </p:cNvPr>
          <p:cNvCxnSpPr>
            <a:cxnSpLocks/>
          </p:cNvCxnSpPr>
          <p:nvPr/>
        </p:nvCxnSpPr>
        <p:spPr>
          <a:xfrm>
            <a:off x="3130166" y="1329309"/>
            <a:ext cx="0" cy="5045745"/>
          </a:xfrm>
          <a:prstGeom prst="line">
            <a:avLst/>
          </a:prstGeom>
          <a:noFill/>
          <a:ln w="12700" cap="rnd" cmpd="sng" algn="ctr">
            <a:solidFill>
              <a:srgbClr val="86BC25"/>
            </a:solidFill>
            <a:prstDash val="solid"/>
          </a:ln>
          <a:effectLst/>
        </p:spPr>
      </p:cxnSp>
      <p:sp>
        <p:nvSpPr>
          <p:cNvPr id="70" name="Rectangle 69">
            <a:extLst>
              <a:ext uri="{FF2B5EF4-FFF2-40B4-BE49-F238E27FC236}">
                <a16:creationId xmlns:a16="http://schemas.microsoft.com/office/drawing/2014/main" id="{E0903EA5-0F0C-F535-9545-A088D43551F0}"/>
              </a:ext>
            </a:extLst>
          </p:cNvPr>
          <p:cNvSpPr/>
          <p:nvPr/>
        </p:nvSpPr>
        <p:spPr bwMode="gray">
          <a:xfrm>
            <a:off x="3221225" y="2813159"/>
            <a:ext cx="5883816" cy="3962461"/>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t>The identified layout geometry is mapped and reconstructed using the cleaned coordinate structure</a:t>
            </a:r>
          </a:p>
          <a:p>
            <a:pPr lvl="1"/>
            <a:r>
              <a:t>Solution Approach</a:t>
            </a:r>
          </a:p>
          <a:p>
            <a:pPr/>
            <a:r>
              <a:t>Multi-Agent Ingestion &amp; Coordinate Mapping</a:t>
            </a:r>
          </a:p>
          <a:p>
            <a:pPr/>
            <a:r>
              <a:t>Gen AI reviews source documents, layout outlines and visual properties to align spatial grids and create a trusted single source of truth</a:t>
            </a:r>
          </a:p>
          <a:p>
            <a:pPr/>
            <a:r>
              <a:t>OCR Post-Processing &amp; Deduplication</a:t>
            </a:r>
          </a:p>
          <a:p>
            <a:pPr/>
            <a:r>
              <a:t>Runs OCRPostProcessor to clean character typos, correct numeric errors, and merge adjacent fragments.</a:t>
            </a:r>
          </a:p>
          <a:p>
            <a:pPr/>
            <a:r>
              <a:t>Table &amp; Diagram Structural Reasoners</a:t>
            </a:r>
          </a:p>
          <a:p>
            <a:pPr/>
            <a:r>
              <a:t>From historical layout patterns, extraction fidelity is validated using closed-loop SSIM and boundary overlap analysis. Document health dashboards help to classify documents by risk and layout density.</a:t>
            </a:r>
          </a:p>
          <a:p>
            <a:pPr/>
            <a:r>
              <a:t>Deterministic Page Re-rendering</a:t>
            </a:r>
          </a:p>
          <a:p>
            <a:pPr/>
            <a:r>
              <a:t>FormRenderer reconstructs shapes, lines, borders, and alignments programmatically using Pillow and PyMuPDF.</a:t>
            </a:r>
          </a:p>
          <a:p>
            <a:pPr/>
            <a:r>
              <a:t>Visual comparison loop validates layout coordinates and generates high-fidelity rendering benchmarks.</a:t>
            </a:r>
          </a:p>
          <a:p>
            <a:pPr/>
            <a:r>
              <a:t>Calculates Structural Similarity (SSIM) and layout overlap metrics, automatically auditing and logging extraction errors for downstream LLM prompts.</a:t>
            </a:r>
          </a:p>
          <a:p>
            <a:pPr/>
            <a:r>
              <a:t>Human Validation and Governance</a:t>
            </a:r>
          </a:p>
          <a:p>
            <a:pPr/>
            <a:r>
              <a:t>All the components and decisions can be reviewed and validated by validation auditors</a:t>
            </a:r>
          </a:p>
          <a:p>
            <a:pPr/>
            <a:r>
              <a:t>Historic decisions and versioning for auditing and traceability.</a:t>
            </a:r>
          </a:p>
        </p:txBody>
      </p:sp>
      <p:grpSp>
        <p:nvGrpSpPr>
          <p:cNvPr id="71" name="Graphic 4">
            <a:extLst>
              <a:ext uri="{FF2B5EF4-FFF2-40B4-BE49-F238E27FC236}">
                <a16:creationId xmlns:a16="http://schemas.microsoft.com/office/drawing/2014/main" id="{C0F8F2AF-F15E-5411-C829-7577BAFB3D0E}"/>
              </a:ext>
            </a:extLst>
          </p:cNvPr>
          <p:cNvGrpSpPr/>
          <p:nvPr/>
        </p:nvGrpSpPr>
        <p:grpSpPr>
          <a:xfrm>
            <a:off x="11406382" y="1337433"/>
            <a:ext cx="362309" cy="361971"/>
            <a:chOff x="1515054" y="3339623"/>
            <a:chExt cx="362309" cy="361971"/>
          </a:xfrm>
          <a:solidFill>
            <a:srgbClr val="86BC25"/>
          </a:solidFill>
        </p:grpSpPr>
        <p:sp>
          <p:nvSpPr>
            <p:cNvPr id="72" name="Graphic 4">
              <a:extLst>
                <a:ext uri="{FF2B5EF4-FFF2-40B4-BE49-F238E27FC236}">
                  <a16:creationId xmlns:a16="http://schemas.microsoft.com/office/drawing/2014/main" id="{4906E9E1-97C4-1BEF-0B0C-930EE683BE14}"/>
                </a:ext>
              </a:extLst>
            </p:cNvPr>
            <p:cNvSpPr/>
            <p:nvPr/>
          </p:nvSpPr>
          <p:spPr>
            <a:xfrm>
              <a:off x="1515054" y="3339623"/>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1305 h 361971"/>
                <a:gd name="connsiteX10" fmla="*/ 349529 w 362309"/>
                <a:gd name="connsiteY10" fmla="*/ 181305 h 361971"/>
                <a:gd name="connsiteX11" fmla="*/ 180835 w 362309"/>
                <a:gd name="connsiteY11" fmla="*/ 349204 h 361971"/>
                <a:gd name="connsiteX12" fmla="*/ 180835 w 362309"/>
                <a:gd name="connsiteY12"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0518" y="0"/>
                    <a:pt x="180835" y="0"/>
                  </a:cubicBezTo>
                  <a:close/>
                  <a:moveTo>
                    <a:pt x="180835" y="349204"/>
                  </a:moveTo>
                  <a:cubicBezTo>
                    <a:pt x="87542" y="349204"/>
                    <a:pt x="12780" y="273873"/>
                    <a:pt x="12780" y="180667"/>
                  </a:cubicBezTo>
                  <a:cubicBezTo>
                    <a:pt x="12780" y="87461"/>
                    <a:pt x="88181" y="12768"/>
                    <a:pt x="180835" y="12768"/>
                  </a:cubicBezTo>
                  <a:cubicBezTo>
                    <a:pt x="274128" y="12768"/>
                    <a:pt x="349529" y="88099"/>
                    <a:pt x="349529" y="181305"/>
                  </a:cubicBezTo>
                  <a:lnTo>
                    <a:pt x="349529" y="181305"/>
                  </a:lnTo>
                  <a:cubicBezTo>
                    <a:pt x="348891" y="273873"/>
                    <a:pt x="273489" y="349204"/>
                    <a:pt x="180835" y="349204"/>
                  </a:cubicBezTo>
                  <a:lnTo>
                    <a:pt x="180835" y="3492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3" name="Graphic 4">
              <a:extLst>
                <a:ext uri="{FF2B5EF4-FFF2-40B4-BE49-F238E27FC236}">
                  <a16:creationId xmlns:a16="http://schemas.microsoft.com/office/drawing/2014/main" id="{2652B612-9D25-6D5C-9E30-E27C9D247A5A}"/>
                </a:ext>
              </a:extLst>
            </p:cNvPr>
            <p:cNvSpPr/>
            <p:nvPr/>
          </p:nvSpPr>
          <p:spPr>
            <a:xfrm>
              <a:off x="1655387" y="3442979"/>
              <a:ext cx="81466" cy="93909"/>
            </a:xfrm>
            <a:custGeom>
              <a:avLst/>
              <a:gdLst>
                <a:gd name="connsiteX0" fmla="*/ 9191 w 81466"/>
                <a:gd name="connsiteY0" fmla="*/ 65819 h 93909"/>
                <a:gd name="connsiteX1" fmla="*/ 16859 w 81466"/>
                <a:gd name="connsiteY1" fmla="*/ 87525 h 93909"/>
                <a:gd name="connsiteX2" fmla="*/ 23249 w 81466"/>
                <a:gd name="connsiteY2" fmla="*/ 93909 h 93909"/>
                <a:gd name="connsiteX3" fmla="*/ 57754 w 81466"/>
                <a:gd name="connsiteY3" fmla="*/ 93909 h 93909"/>
                <a:gd name="connsiteX4" fmla="*/ 64144 w 81466"/>
                <a:gd name="connsiteY4" fmla="*/ 87525 h 93909"/>
                <a:gd name="connsiteX5" fmla="*/ 71812 w 81466"/>
                <a:gd name="connsiteY5" fmla="*/ 65819 h 93909"/>
                <a:gd name="connsiteX6" fmla="*/ 81397 w 81466"/>
                <a:gd name="connsiteY6" fmla="*/ 39007 h 93909"/>
                <a:gd name="connsiteX7" fmla="*/ 39224 w 81466"/>
                <a:gd name="connsiteY7" fmla="*/ 64 h 93909"/>
                <a:gd name="connsiteX8" fmla="*/ 245 w 81466"/>
                <a:gd name="connsiteY8" fmla="*/ 39007 h 93909"/>
                <a:gd name="connsiteX9" fmla="*/ 9191 w 81466"/>
                <a:gd name="connsiteY9" fmla="*/ 65819 h 93909"/>
                <a:gd name="connsiteX10" fmla="*/ 40501 w 81466"/>
                <a:gd name="connsiteY10" fmla="*/ 11555 h 93909"/>
                <a:gd name="connsiteX11" fmla="*/ 68617 w 81466"/>
                <a:gd name="connsiteY11" fmla="*/ 37730 h 93909"/>
                <a:gd name="connsiteX12" fmla="*/ 68617 w 81466"/>
                <a:gd name="connsiteY12" fmla="*/ 39007 h 93909"/>
                <a:gd name="connsiteX13" fmla="*/ 61588 w 81466"/>
                <a:gd name="connsiteY13" fmla="*/ 58158 h 93909"/>
                <a:gd name="connsiteX14" fmla="*/ 51364 w 81466"/>
                <a:gd name="connsiteY14" fmla="*/ 81141 h 93909"/>
                <a:gd name="connsiteX15" fmla="*/ 29000 w 81466"/>
                <a:gd name="connsiteY15" fmla="*/ 81141 h 93909"/>
                <a:gd name="connsiteX16" fmla="*/ 18776 w 81466"/>
                <a:gd name="connsiteY16" fmla="*/ 58158 h 93909"/>
                <a:gd name="connsiteX17" fmla="*/ 11747 w 81466"/>
                <a:gd name="connsiteY17" fmla="*/ 39007 h 93909"/>
                <a:gd name="connsiteX18" fmla="*/ 38585 w 81466"/>
                <a:gd name="connsiteY18" fmla="*/ 12194 h 93909"/>
                <a:gd name="connsiteX19" fmla="*/ 40501 w 81466"/>
                <a:gd name="connsiteY19" fmla="*/ 11555 h 9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1466" h="93909">
                  <a:moveTo>
                    <a:pt x="9191" y="65819"/>
                  </a:moveTo>
                  <a:cubicBezTo>
                    <a:pt x="14303" y="71565"/>
                    <a:pt x="17498" y="79864"/>
                    <a:pt x="16859" y="87525"/>
                  </a:cubicBezTo>
                  <a:cubicBezTo>
                    <a:pt x="16859" y="91355"/>
                    <a:pt x="19415" y="93909"/>
                    <a:pt x="23249" y="93909"/>
                  </a:cubicBezTo>
                  <a:lnTo>
                    <a:pt x="57754" y="93909"/>
                  </a:lnTo>
                  <a:cubicBezTo>
                    <a:pt x="61588" y="93909"/>
                    <a:pt x="64144" y="91355"/>
                    <a:pt x="64144" y="87525"/>
                  </a:cubicBezTo>
                  <a:cubicBezTo>
                    <a:pt x="63505" y="79226"/>
                    <a:pt x="66700" y="71565"/>
                    <a:pt x="71812" y="65819"/>
                  </a:cubicBezTo>
                  <a:cubicBezTo>
                    <a:pt x="78202" y="58158"/>
                    <a:pt x="82036" y="48583"/>
                    <a:pt x="81397" y="39007"/>
                  </a:cubicBezTo>
                  <a:cubicBezTo>
                    <a:pt x="80758" y="16663"/>
                    <a:pt x="61588" y="-1212"/>
                    <a:pt x="39224" y="64"/>
                  </a:cubicBezTo>
                  <a:cubicBezTo>
                    <a:pt x="18137" y="703"/>
                    <a:pt x="884" y="17939"/>
                    <a:pt x="245" y="39007"/>
                  </a:cubicBezTo>
                  <a:cubicBezTo>
                    <a:pt x="-1033" y="48583"/>
                    <a:pt x="2801" y="58158"/>
                    <a:pt x="9191" y="65819"/>
                  </a:cubicBezTo>
                  <a:close/>
                  <a:moveTo>
                    <a:pt x="40501" y="11555"/>
                  </a:moveTo>
                  <a:cubicBezTo>
                    <a:pt x="55198" y="10917"/>
                    <a:pt x="67978" y="22408"/>
                    <a:pt x="68617" y="37730"/>
                  </a:cubicBezTo>
                  <a:cubicBezTo>
                    <a:pt x="68617" y="38368"/>
                    <a:pt x="68617" y="38368"/>
                    <a:pt x="68617" y="39007"/>
                  </a:cubicBezTo>
                  <a:cubicBezTo>
                    <a:pt x="69256" y="46029"/>
                    <a:pt x="66700" y="53051"/>
                    <a:pt x="61588" y="58158"/>
                  </a:cubicBezTo>
                  <a:cubicBezTo>
                    <a:pt x="55837" y="64542"/>
                    <a:pt x="52642" y="72842"/>
                    <a:pt x="51364" y="81141"/>
                  </a:cubicBezTo>
                  <a:lnTo>
                    <a:pt x="29000" y="81141"/>
                  </a:lnTo>
                  <a:cubicBezTo>
                    <a:pt x="28361" y="72842"/>
                    <a:pt x="24527" y="64542"/>
                    <a:pt x="18776" y="58158"/>
                  </a:cubicBezTo>
                  <a:cubicBezTo>
                    <a:pt x="13664" y="53051"/>
                    <a:pt x="11747" y="46029"/>
                    <a:pt x="11747" y="39007"/>
                  </a:cubicBezTo>
                  <a:cubicBezTo>
                    <a:pt x="11747" y="24323"/>
                    <a:pt x="23888" y="12194"/>
                    <a:pt x="38585" y="12194"/>
                  </a:cubicBezTo>
                  <a:cubicBezTo>
                    <a:pt x="39862" y="11555"/>
                    <a:pt x="39862" y="11555"/>
                    <a:pt x="40501" y="1155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4" name="Graphic 4">
              <a:extLst>
                <a:ext uri="{FF2B5EF4-FFF2-40B4-BE49-F238E27FC236}">
                  <a16:creationId xmlns:a16="http://schemas.microsoft.com/office/drawing/2014/main" id="{C9A69C32-8C74-049C-705D-A5768984FFB6}"/>
                </a:ext>
              </a:extLst>
            </p:cNvPr>
            <p:cNvSpPr/>
            <p:nvPr/>
          </p:nvSpPr>
          <p:spPr>
            <a:xfrm>
              <a:off x="1672885" y="3542634"/>
              <a:ext cx="45368" cy="12767"/>
            </a:xfrm>
            <a:custGeom>
              <a:avLst/>
              <a:gdLst>
                <a:gd name="connsiteX0" fmla="*/ 38979 w 45368"/>
                <a:gd name="connsiteY0" fmla="*/ 0 h 12767"/>
                <a:gd name="connsiteX1" fmla="*/ 6390 w 45368"/>
                <a:gd name="connsiteY1" fmla="*/ 0 h 12767"/>
                <a:gd name="connsiteX2" fmla="*/ 0 w 45368"/>
                <a:gd name="connsiteY2" fmla="*/ 6384 h 12767"/>
                <a:gd name="connsiteX3" fmla="*/ 6390 w 45368"/>
                <a:gd name="connsiteY3" fmla="*/ 12768 h 12767"/>
                <a:gd name="connsiteX4" fmla="*/ 38979 w 45368"/>
                <a:gd name="connsiteY4" fmla="*/ 12768 h 12767"/>
                <a:gd name="connsiteX5" fmla="*/ 45369 w 45368"/>
                <a:gd name="connsiteY5" fmla="*/ 6384 h 12767"/>
                <a:gd name="connsiteX6" fmla="*/ 38979 w 45368"/>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68" h="12767">
                  <a:moveTo>
                    <a:pt x="38979" y="0"/>
                  </a:moveTo>
                  <a:lnTo>
                    <a:pt x="6390" y="0"/>
                  </a:lnTo>
                  <a:cubicBezTo>
                    <a:pt x="2556" y="0"/>
                    <a:pt x="0" y="2554"/>
                    <a:pt x="0" y="6384"/>
                  </a:cubicBezTo>
                  <a:cubicBezTo>
                    <a:pt x="0" y="10215"/>
                    <a:pt x="2556" y="12768"/>
                    <a:pt x="6390" y="12768"/>
                  </a:cubicBezTo>
                  <a:lnTo>
                    <a:pt x="38979" y="12768"/>
                  </a:lnTo>
                  <a:cubicBezTo>
                    <a:pt x="42813" y="12768"/>
                    <a:pt x="45369" y="10215"/>
                    <a:pt x="45369" y="6384"/>
                  </a:cubicBezTo>
                  <a:cubicBezTo>
                    <a:pt x="45369" y="2554"/>
                    <a:pt x="42813" y="0"/>
                    <a:pt x="38979"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5" name="Graphic 4">
              <a:extLst>
                <a:ext uri="{FF2B5EF4-FFF2-40B4-BE49-F238E27FC236}">
                  <a16:creationId xmlns:a16="http://schemas.microsoft.com/office/drawing/2014/main" id="{5A36FB70-1423-4822-1F58-DA6723979A6D}"/>
                </a:ext>
              </a:extLst>
            </p:cNvPr>
            <p:cNvSpPr/>
            <p:nvPr/>
          </p:nvSpPr>
          <p:spPr>
            <a:xfrm>
              <a:off x="1689499" y="3399633"/>
              <a:ext cx="12779" cy="26812"/>
            </a:xfrm>
            <a:custGeom>
              <a:avLst/>
              <a:gdLst>
                <a:gd name="connsiteX0" fmla="*/ 6390 w 12779"/>
                <a:gd name="connsiteY0" fmla="*/ 26812 h 26812"/>
                <a:gd name="connsiteX1" fmla="*/ 12780 w 12779"/>
                <a:gd name="connsiteY1" fmla="*/ 20428 h 26812"/>
                <a:gd name="connsiteX2" fmla="*/ 12780 w 12779"/>
                <a:gd name="connsiteY2" fmla="*/ 6384 h 26812"/>
                <a:gd name="connsiteX3" fmla="*/ 6390 w 12779"/>
                <a:gd name="connsiteY3" fmla="*/ 0 h 26812"/>
                <a:gd name="connsiteX4" fmla="*/ 0 w 12779"/>
                <a:gd name="connsiteY4" fmla="*/ 6384 h 26812"/>
                <a:gd name="connsiteX5" fmla="*/ 0 w 12779"/>
                <a:gd name="connsiteY5" fmla="*/ 20428 h 26812"/>
                <a:gd name="connsiteX6" fmla="*/ 6390 w 12779"/>
                <a:gd name="connsiteY6" fmla="*/ 26812 h 26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79" h="26812">
                  <a:moveTo>
                    <a:pt x="6390" y="26812"/>
                  </a:moveTo>
                  <a:cubicBezTo>
                    <a:pt x="10224" y="26812"/>
                    <a:pt x="12780" y="24259"/>
                    <a:pt x="12780" y="20428"/>
                  </a:cubicBezTo>
                  <a:lnTo>
                    <a:pt x="12780" y="6384"/>
                  </a:lnTo>
                  <a:cubicBezTo>
                    <a:pt x="12780" y="2553"/>
                    <a:pt x="10224" y="0"/>
                    <a:pt x="6390" y="0"/>
                  </a:cubicBezTo>
                  <a:cubicBezTo>
                    <a:pt x="2556" y="0"/>
                    <a:pt x="0" y="2553"/>
                    <a:pt x="0" y="6384"/>
                  </a:cubicBezTo>
                  <a:lnTo>
                    <a:pt x="0" y="20428"/>
                  </a:lnTo>
                  <a:cubicBezTo>
                    <a:pt x="0" y="24259"/>
                    <a:pt x="2556" y="26812"/>
                    <a:pt x="6390" y="2681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6" name="Graphic 4">
              <a:extLst>
                <a:ext uri="{FF2B5EF4-FFF2-40B4-BE49-F238E27FC236}">
                  <a16:creationId xmlns:a16="http://schemas.microsoft.com/office/drawing/2014/main" id="{260C1F83-CBB6-F4B6-4EDA-04FF1544B04A}"/>
                </a:ext>
              </a:extLst>
            </p:cNvPr>
            <p:cNvSpPr/>
            <p:nvPr/>
          </p:nvSpPr>
          <p:spPr>
            <a:xfrm>
              <a:off x="1628994" y="3431752"/>
              <a:ext cx="25999" cy="21505"/>
            </a:xfrm>
            <a:custGeom>
              <a:avLst/>
              <a:gdLst>
                <a:gd name="connsiteX0" fmla="*/ 16414 w 25999"/>
                <a:gd name="connsiteY0" fmla="*/ 20229 h 21505"/>
                <a:gd name="connsiteX1" fmla="*/ 19609 w 25999"/>
                <a:gd name="connsiteY1" fmla="*/ 21506 h 21505"/>
                <a:gd name="connsiteX2" fmla="*/ 25999 w 25999"/>
                <a:gd name="connsiteY2" fmla="*/ 15122 h 21505"/>
                <a:gd name="connsiteX3" fmla="*/ 22804 w 25999"/>
                <a:gd name="connsiteY3" fmla="*/ 9377 h 21505"/>
                <a:gd name="connsiteX4" fmla="*/ 10024 w 25999"/>
                <a:gd name="connsiteY4" fmla="*/ 1077 h 21505"/>
                <a:gd name="connsiteX5" fmla="*/ 1078 w 25999"/>
                <a:gd name="connsiteY5" fmla="*/ 2993 h 21505"/>
                <a:gd name="connsiteX6" fmla="*/ 2995 w 25999"/>
                <a:gd name="connsiteY6" fmla="*/ 11930 h 21505"/>
                <a:gd name="connsiteX7" fmla="*/ 2995 w 25999"/>
                <a:gd name="connsiteY7" fmla="*/ 11930 h 21505"/>
                <a:gd name="connsiteX8" fmla="*/ 16414 w 25999"/>
                <a:gd name="connsiteY8" fmla="*/ 20229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99" h="21505">
                  <a:moveTo>
                    <a:pt x="16414" y="20229"/>
                  </a:moveTo>
                  <a:cubicBezTo>
                    <a:pt x="17692" y="20868"/>
                    <a:pt x="18970" y="21506"/>
                    <a:pt x="19609" y="21506"/>
                  </a:cubicBezTo>
                  <a:cubicBezTo>
                    <a:pt x="23443" y="21506"/>
                    <a:pt x="25999" y="18953"/>
                    <a:pt x="25999" y="15122"/>
                  </a:cubicBezTo>
                  <a:cubicBezTo>
                    <a:pt x="25999" y="13207"/>
                    <a:pt x="24721" y="10653"/>
                    <a:pt x="22804" y="9377"/>
                  </a:cubicBezTo>
                  <a:lnTo>
                    <a:pt x="10024" y="1077"/>
                  </a:lnTo>
                  <a:cubicBezTo>
                    <a:pt x="6829" y="-838"/>
                    <a:pt x="2995" y="-199"/>
                    <a:pt x="1078" y="2993"/>
                  </a:cubicBezTo>
                  <a:cubicBezTo>
                    <a:pt x="-839" y="6185"/>
                    <a:pt x="-200" y="10015"/>
                    <a:pt x="2995" y="11930"/>
                  </a:cubicBezTo>
                  <a:lnTo>
                    <a:pt x="2995" y="11930"/>
                  </a:lnTo>
                  <a:lnTo>
                    <a:pt x="16414" y="20229"/>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7" name="Graphic 4">
              <a:extLst>
                <a:ext uri="{FF2B5EF4-FFF2-40B4-BE49-F238E27FC236}">
                  <a16:creationId xmlns:a16="http://schemas.microsoft.com/office/drawing/2014/main" id="{01C0BEF5-269E-7698-EAD3-3CDBCD1137A3}"/>
                </a:ext>
              </a:extLst>
            </p:cNvPr>
            <p:cNvSpPr/>
            <p:nvPr/>
          </p:nvSpPr>
          <p:spPr>
            <a:xfrm>
              <a:off x="1617932" y="3490924"/>
              <a:ext cx="28115" cy="12767"/>
            </a:xfrm>
            <a:custGeom>
              <a:avLst/>
              <a:gdLst>
                <a:gd name="connsiteX0" fmla="*/ 21726 w 28115"/>
                <a:gd name="connsiteY0" fmla="*/ 12768 h 12767"/>
                <a:gd name="connsiteX1" fmla="*/ 28116 w 28115"/>
                <a:gd name="connsiteY1" fmla="*/ 6384 h 12767"/>
                <a:gd name="connsiteX2" fmla="*/ 21726 w 28115"/>
                <a:gd name="connsiteY2" fmla="*/ 0 h 12767"/>
                <a:gd name="connsiteX3" fmla="*/ 6390 w 28115"/>
                <a:gd name="connsiteY3" fmla="*/ 0 h 12767"/>
                <a:gd name="connsiteX4" fmla="*/ 0 w 28115"/>
                <a:gd name="connsiteY4" fmla="*/ 6384 h 12767"/>
                <a:gd name="connsiteX5" fmla="*/ 6390 w 28115"/>
                <a:gd name="connsiteY5" fmla="*/ 12768 h 12767"/>
                <a:gd name="connsiteX6" fmla="*/ 21726 w 28115"/>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12768"/>
                  </a:moveTo>
                  <a:cubicBezTo>
                    <a:pt x="25560" y="12768"/>
                    <a:pt x="28116" y="10214"/>
                    <a:pt x="28116" y="6384"/>
                  </a:cubicBezTo>
                  <a:cubicBezTo>
                    <a:pt x="28116" y="2553"/>
                    <a:pt x="25560" y="0"/>
                    <a:pt x="21726" y="0"/>
                  </a:cubicBezTo>
                  <a:lnTo>
                    <a:pt x="6390" y="0"/>
                  </a:lnTo>
                  <a:cubicBezTo>
                    <a:pt x="2556" y="0"/>
                    <a:pt x="0" y="2553"/>
                    <a:pt x="0" y="6384"/>
                  </a:cubicBezTo>
                  <a:cubicBezTo>
                    <a:pt x="0" y="10214"/>
                    <a:pt x="2556" y="12768"/>
                    <a:pt x="6390" y="12768"/>
                  </a:cubicBezTo>
                  <a:lnTo>
                    <a:pt x="21726" y="127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8" name="Graphic 4">
              <a:extLst>
                <a:ext uri="{FF2B5EF4-FFF2-40B4-BE49-F238E27FC236}">
                  <a16:creationId xmlns:a16="http://schemas.microsoft.com/office/drawing/2014/main" id="{F9D584BB-5DD9-8497-E64E-4AF68CB431CC}"/>
                </a:ext>
              </a:extLst>
            </p:cNvPr>
            <p:cNvSpPr/>
            <p:nvPr/>
          </p:nvSpPr>
          <p:spPr>
            <a:xfrm>
              <a:off x="1735706" y="3431752"/>
              <a:ext cx="25799" cy="21505"/>
            </a:xfrm>
            <a:custGeom>
              <a:avLst/>
              <a:gdLst>
                <a:gd name="connsiteX0" fmla="*/ 6829 w 25799"/>
                <a:gd name="connsiteY0" fmla="*/ 21506 h 21505"/>
                <a:gd name="connsiteX1" fmla="*/ 10024 w 25799"/>
                <a:gd name="connsiteY1" fmla="*/ 20229 h 21505"/>
                <a:gd name="connsiteX2" fmla="*/ 22804 w 25799"/>
                <a:gd name="connsiteY2" fmla="*/ 11930 h 21505"/>
                <a:gd name="connsiteX3" fmla="*/ 24721 w 25799"/>
                <a:gd name="connsiteY3" fmla="*/ 2993 h 21505"/>
                <a:gd name="connsiteX4" fmla="*/ 15775 w 25799"/>
                <a:gd name="connsiteY4" fmla="*/ 1077 h 21505"/>
                <a:gd name="connsiteX5" fmla="*/ 2995 w 25799"/>
                <a:gd name="connsiteY5" fmla="*/ 9377 h 21505"/>
                <a:gd name="connsiteX6" fmla="*/ 1078 w 25799"/>
                <a:gd name="connsiteY6" fmla="*/ 18314 h 21505"/>
                <a:gd name="connsiteX7" fmla="*/ 6829 w 25799"/>
                <a:gd name="connsiteY7" fmla="*/ 21506 h 21505"/>
                <a:gd name="connsiteX8" fmla="*/ 6829 w 25799"/>
                <a:gd name="connsiteY8" fmla="*/ 21506 h 2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99" h="21505">
                  <a:moveTo>
                    <a:pt x="6829" y="21506"/>
                  </a:moveTo>
                  <a:cubicBezTo>
                    <a:pt x="8107" y="21506"/>
                    <a:pt x="9385" y="20868"/>
                    <a:pt x="10024" y="20229"/>
                  </a:cubicBezTo>
                  <a:lnTo>
                    <a:pt x="22804" y="11930"/>
                  </a:lnTo>
                  <a:cubicBezTo>
                    <a:pt x="25999" y="10015"/>
                    <a:pt x="26638" y="6185"/>
                    <a:pt x="24721" y="2993"/>
                  </a:cubicBezTo>
                  <a:cubicBezTo>
                    <a:pt x="22804" y="-199"/>
                    <a:pt x="18970" y="-838"/>
                    <a:pt x="15775" y="1077"/>
                  </a:cubicBezTo>
                  <a:lnTo>
                    <a:pt x="2995" y="9377"/>
                  </a:lnTo>
                  <a:cubicBezTo>
                    <a:pt x="-200" y="11292"/>
                    <a:pt x="-839" y="15122"/>
                    <a:pt x="1078" y="18314"/>
                  </a:cubicBezTo>
                  <a:cubicBezTo>
                    <a:pt x="2356" y="20229"/>
                    <a:pt x="4912" y="21506"/>
                    <a:pt x="6829" y="21506"/>
                  </a:cubicBezTo>
                  <a:lnTo>
                    <a:pt x="6829" y="2150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9" name="Graphic 4">
              <a:extLst>
                <a:ext uri="{FF2B5EF4-FFF2-40B4-BE49-F238E27FC236}">
                  <a16:creationId xmlns:a16="http://schemas.microsoft.com/office/drawing/2014/main" id="{E0CD5299-7D3C-F3B3-08A5-7A6792A9CF91}"/>
                </a:ext>
              </a:extLst>
            </p:cNvPr>
            <p:cNvSpPr/>
            <p:nvPr/>
          </p:nvSpPr>
          <p:spPr>
            <a:xfrm>
              <a:off x="1745091" y="3490924"/>
              <a:ext cx="28115" cy="12767"/>
            </a:xfrm>
            <a:custGeom>
              <a:avLst/>
              <a:gdLst>
                <a:gd name="connsiteX0" fmla="*/ 21726 w 28115"/>
                <a:gd name="connsiteY0" fmla="*/ 0 h 12767"/>
                <a:gd name="connsiteX1" fmla="*/ 6390 w 28115"/>
                <a:gd name="connsiteY1" fmla="*/ 0 h 12767"/>
                <a:gd name="connsiteX2" fmla="*/ 0 w 28115"/>
                <a:gd name="connsiteY2" fmla="*/ 6384 h 12767"/>
                <a:gd name="connsiteX3" fmla="*/ 6390 w 28115"/>
                <a:gd name="connsiteY3" fmla="*/ 12768 h 12767"/>
                <a:gd name="connsiteX4" fmla="*/ 21726 w 28115"/>
                <a:gd name="connsiteY4" fmla="*/ 12768 h 12767"/>
                <a:gd name="connsiteX5" fmla="*/ 28116 w 28115"/>
                <a:gd name="connsiteY5" fmla="*/ 6384 h 12767"/>
                <a:gd name="connsiteX6" fmla="*/ 21726 w 28115"/>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5" h="12767">
                  <a:moveTo>
                    <a:pt x="21726" y="0"/>
                  </a:moveTo>
                  <a:lnTo>
                    <a:pt x="6390" y="0"/>
                  </a:lnTo>
                  <a:cubicBezTo>
                    <a:pt x="2556" y="0"/>
                    <a:pt x="0" y="2553"/>
                    <a:pt x="0" y="6384"/>
                  </a:cubicBezTo>
                  <a:cubicBezTo>
                    <a:pt x="0" y="10214"/>
                    <a:pt x="2556" y="12768"/>
                    <a:pt x="6390" y="12768"/>
                  </a:cubicBezTo>
                  <a:lnTo>
                    <a:pt x="21726" y="12768"/>
                  </a:lnTo>
                  <a:cubicBezTo>
                    <a:pt x="25560" y="12768"/>
                    <a:pt x="28116" y="10214"/>
                    <a:pt x="28116" y="6384"/>
                  </a:cubicBezTo>
                  <a:cubicBezTo>
                    <a:pt x="28116" y="2553"/>
                    <a:pt x="25560" y="0"/>
                    <a:pt x="21726"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0" name="Graphic 4">
              <a:extLst>
                <a:ext uri="{FF2B5EF4-FFF2-40B4-BE49-F238E27FC236}">
                  <a16:creationId xmlns:a16="http://schemas.microsoft.com/office/drawing/2014/main" id="{015E0E23-89BB-9ACF-ADC0-D3ADEB624527}"/>
                </a:ext>
              </a:extLst>
            </p:cNvPr>
            <p:cNvSpPr/>
            <p:nvPr/>
          </p:nvSpPr>
          <p:spPr>
            <a:xfrm>
              <a:off x="1620488" y="3563701"/>
              <a:ext cx="150802" cy="77884"/>
            </a:xfrm>
            <a:custGeom>
              <a:avLst/>
              <a:gdLst>
                <a:gd name="connsiteX0" fmla="*/ 94571 w 150802"/>
                <a:gd name="connsiteY0" fmla="*/ 0 h 77884"/>
                <a:gd name="connsiteX1" fmla="*/ 56231 w 150802"/>
                <a:gd name="connsiteY1" fmla="*/ 0 h 77884"/>
                <a:gd name="connsiteX2" fmla="*/ 0 w 150802"/>
                <a:gd name="connsiteY2" fmla="*/ 60010 h 77884"/>
                <a:gd name="connsiteX3" fmla="*/ 0 w 150802"/>
                <a:gd name="connsiteY3" fmla="*/ 71501 h 77884"/>
                <a:gd name="connsiteX4" fmla="*/ 6390 w 150802"/>
                <a:gd name="connsiteY4" fmla="*/ 77885 h 77884"/>
                <a:gd name="connsiteX5" fmla="*/ 12780 w 150802"/>
                <a:gd name="connsiteY5" fmla="*/ 71501 h 77884"/>
                <a:gd name="connsiteX6" fmla="*/ 12780 w 150802"/>
                <a:gd name="connsiteY6" fmla="*/ 60010 h 77884"/>
                <a:gd name="connsiteX7" fmla="*/ 56231 w 150802"/>
                <a:gd name="connsiteY7" fmla="*/ 12768 h 77884"/>
                <a:gd name="connsiteX8" fmla="*/ 94571 w 150802"/>
                <a:gd name="connsiteY8" fmla="*/ 12768 h 77884"/>
                <a:gd name="connsiteX9" fmla="*/ 138023 w 150802"/>
                <a:gd name="connsiteY9" fmla="*/ 60010 h 77884"/>
                <a:gd name="connsiteX10" fmla="*/ 138023 w 150802"/>
                <a:gd name="connsiteY10" fmla="*/ 71501 h 77884"/>
                <a:gd name="connsiteX11" fmla="*/ 144413 w 150802"/>
                <a:gd name="connsiteY11" fmla="*/ 77885 h 77884"/>
                <a:gd name="connsiteX12" fmla="*/ 150803 w 150802"/>
                <a:gd name="connsiteY12" fmla="*/ 71501 h 77884"/>
                <a:gd name="connsiteX13" fmla="*/ 150803 w 150802"/>
                <a:gd name="connsiteY13" fmla="*/ 60010 h 77884"/>
                <a:gd name="connsiteX14" fmla="*/ 94571 w 150802"/>
                <a:gd name="connsiteY14" fmla="*/ 0 h 7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802" h="77884">
                  <a:moveTo>
                    <a:pt x="94571" y="0"/>
                  </a:moveTo>
                  <a:lnTo>
                    <a:pt x="56231" y="0"/>
                  </a:lnTo>
                  <a:cubicBezTo>
                    <a:pt x="24921" y="0"/>
                    <a:pt x="0" y="26813"/>
                    <a:pt x="0" y="60010"/>
                  </a:cubicBezTo>
                  <a:lnTo>
                    <a:pt x="0" y="71501"/>
                  </a:lnTo>
                  <a:cubicBezTo>
                    <a:pt x="0" y="75331"/>
                    <a:pt x="2556" y="77885"/>
                    <a:pt x="6390" y="77885"/>
                  </a:cubicBezTo>
                  <a:cubicBezTo>
                    <a:pt x="10224" y="77885"/>
                    <a:pt x="12780" y="75331"/>
                    <a:pt x="12780" y="71501"/>
                  </a:cubicBezTo>
                  <a:lnTo>
                    <a:pt x="12780" y="60010"/>
                  </a:lnTo>
                  <a:cubicBezTo>
                    <a:pt x="12780" y="33835"/>
                    <a:pt x="31950" y="12768"/>
                    <a:pt x="56231" y="12768"/>
                  </a:cubicBezTo>
                  <a:lnTo>
                    <a:pt x="94571" y="12768"/>
                  </a:lnTo>
                  <a:cubicBezTo>
                    <a:pt x="118853" y="12768"/>
                    <a:pt x="138023" y="33835"/>
                    <a:pt x="138023" y="60010"/>
                  </a:cubicBezTo>
                  <a:lnTo>
                    <a:pt x="138023" y="71501"/>
                  </a:lnTo>
                  <a:cubicBezTo>
                    <a:pt x="138023" y="75331"/>
                    <a:pt x="140579" y="77885"/>
                    <a:pt x="144413" y="77885"/>
                  </a:cubicBezTo>
                  <a:cubicBezTo>
                    <a:pt x="148246" y="77885"/>
                    <a:pt x="150803" y="75331"/>
                    <a:pt x="150803" y="71501"/>
                  </a:cubicBezTo>
                  <a:lnTo>
                    <a:pt x="150803" y="60010"/>
                  </a:lnTo>
                  <a:cubicBezTo>
                    <a:pt x="150803" y="26813"/>
                    <a:pt x="125243" y="0"/>
                    <a:pt x="94571"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grpSp>
        <p:nvGrpSpPr>
          <p:cNvPr id="81" name="Graphic 4">
            <a:extLst>
              <a:ext uri="{FF2B5EF4-FFF2-40B4-BE49-F238E27FC236}">
                <a16:creationId xmlns:a16="http://schemas.microsoft.com/office/drawing/2014/main" id="{AFEE10C2-B790-8096-6486-DAFEDF5ABBCA}"/>
              </a:ext>
            </a:extLst>
          </p:cNvPr>
          <p:cNvGrpSpPr/>
          <p:nvPr/>
        </p:nvGrpSpPr>
        <p:grpSpPr>
          <a:xfrm>
            <a:off x="8628255" y="3020624"/>
            <a:ext cx="271984" cy="271727"/>
            <a:chOff x="2559808" y="1402723"/>
            <a:chExt cx="362313" cy="361971"/>
          </a:xfrm>
          <a:solidFill>
            <a:srgbClr val="86BC25"/>
          </a:solidFill>
        </p:grpSpPr>
        <p:sp>
          <p:nvSpPr>
            <p:cNvPr id="82" name="Graphic 4">
              <a:extLst>
                <a:ext uri="{FF2B5EF4-FFF2-40B4-BE49-F238E27FC236}">
                  <a16:creationId xmlns:a16="http://schemas.microsoft.com/office/drawing/2014/main" id="{8A6D2992-E960-4B36-16BF-D69C6DE6E8AD}"/>
                </a:ext>
              </a:extLst>
            </p:cNvPr>
            <p:cNvSpPr/>
            <p:nvPr/>
          </p:nvSpPr>
          <p:spPr>
            <a:xfrm>
              <a:off x="2559808"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09 w 362313"/>
                <a:gd name="connsiteY3" fmla="*/ 181305 h 361971"/>
                <a:gd name="connsiteX4" fmla="*/ 362309 w 362313"/>
                <a:gd name="connsiteY4" fmla="*/ 181305 h 361971"/>
                <a:gd name="connsiteX5" fmla="*/ 181474 w 362313"/>
                <a:gd name="connsiteY5" fmla="*/ 0 h 361971"/>
                <a:gd name="connsiteX6" fmla="*/ 181474 w 362313"/>
                <a:gd name="connsiteY6" fmla="*/ 348565 h 361971"/>
                <a:gd name="connsiteX7" fmla="*/ 12780 w 362313"/>
                <a:gd name="connsiteY7" fmla="*/ 180667 h 361971"/>
                <a:gd name="connsiteX8" fmla="*/ 181474 w 362313"/>
                <a:gd name="connsiteY8" fmla="*/ 12130 h 361971"/>
                <a:gd name="connsiteX9" fmla="*/ 350168 w 362313"/>
                <a:gd name="connsiteY9" fmla="*/ 180028 h 361971"/>
                <a:gd name="connsiteX10" fmla="*/ 350168 w 362313"/>
                <a:gd name="connsiteY10" fmla="*/ 180028 h 361971"/>
                <a:gd name="connsiteX11" fmla="*/ 181474 w 362313"/>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09" y="280895"/>
                    <a:pt x="362309" y="181305"/>
                  </a:cubicBezTo>
                  <a:cubicBezTo>
                    <a:pt x="362309" y="181305"/>
                    <a:pt x="362309" y="181305"/>
                    <a:pt x="362309" y="181305"/>
                  </a:cubicBezTo>
                  <a:cubicBezTo>
                    <a:pt x="362948" y="80438"/>
                    <a:pt x="281796" y="0"/>
                    <a:pt x="181474" y="0"/>
                  </a:cubicBezTo>
                  <a:close/>
                  <a:moveTo>
                    <a:pt x="181474" y="348565"/>
                  </a:moveTo>
                  <a:cubicBezTo>
                    <a:pt x="88181" y="348565"/>
                    <a:pt x="12780" y="273234"/>
                    <a:pt x="12780" y="180667"/>
                  </a:cubicBezTo>
                  <a:cubicBezTo>
                    <a:pt x="12780" y="88099"/>
                    <a:pt x="88820" y="12130"/>
                    <a:pt x="181474" y="12130"/>
                  </a:cubicBezTo>
                  <a:cubicBezTo>
                    <a:pt x="274128" y="12130"/>
                    <a:pt x="350168" y="87461"/>
                    <a:pt x="350168" y="180028"/>
                  </a:cubicBezTo>
                  <a:cubicBezTo>
                    <a:pt x="350168" y="180028"/>
                    <a:pt x="350168" y="180028"/>
                    <a:pt x="350168" y="180028"/>
                  </a:cubicBezTo>
                  <a:cubicBezTo>
                    <a:pt x="350168" y="273234"/>
                    <a:pt x="274767"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3" name="Graphic 4">
              <a:extLst>
                <a:ext uri="{FF2B5EF4-FFF2-40B4-BE49-F238E27FC236}">
                  <a16:creationId xmlns:a16="http://schemas.microsoft.com/office/drawing/2014/main" id="{173A169A-FD50-F647-B50B-26F0B43038E2}"/>
                </a:ext>
              </a:extLst>
            </p:cNvPr>
            <p:cNvSpPr/>
            <p:nvPr/>
          </p:nvSpPr>
          <p:spPr>
            <a:xfrm>
              <a:off x="2621152" y="1569595"/>
              <a:ext cx="136744" cy="133175"/>
            </a:xfrm>
            <a:custGeom>
              <a:avLst/>
              <a:gdLst>
                <a:gd name="connsiteX0" fmla="*/ 127160 w 136744"/>
                <a:gd name="connsiteY0" fmla="*/ 54014 h 133175"/>
                <a:gd name="connsiteX1" fmla="*/ 122687 w 136744"/>
                <a:gd name="connsiteY1" fmla="*/ 49545 h 133175"/>
                <a:gd name="connsiteX2" fmla="*/ 123965 w 136744"/>
                <a:gd name="connsiteY2" fmla="*/ 43161 h 133175"/>
                <a:gd name="connsiteX3" fmla="*/ 123965 w 136744"/>
                <a:gd name="connsiteY3" fmla="*/ 26563 h 133175"/>
                <a:gd name="connsiteX4" fmla="*/ 107990 w 136744"/>
                <a:gd name="connsiteY4" fmla="*/ 20817 h 133175"/>
                <a:gd name="connsiteX5" fmla="*/ 102239 w 136744"/>
                <a:gd name="connsiteY5" fmla="*/ 20179 h 133175"/>
                <a:gd name="connsiteX6" fmla="*/ 99683 w 136744"/>
                <a:gd name="connsiteY6" fmla="*/ 14433 h 133175"/>
                <a:gd name="connsiteX7" fmla="*/ 90098 w 136744"/>
                <a:gd name="connsiteY7" fmla="*/ 1027 h 133175"/>
                <a:gd name="connsiteX8" fmla="*/ 74123 w 136744"/>
                <a:gd name="connsiteY8" fmla="*/ 5496 h 133175"/>
                <a:gd name="connsiteX9" fmla="*/ 69011 w 136744"/>
                <a:gd name="connsiteY9" fmla="*/ 8688 h 133175"/>
                <a:gd name="connsiteX10" fmla="*/ 63899 w 136744"/>
                <a:gd name="connsiteY10" fmla="*/ 5496 h 133175"/>
                <a:gd name="connsiteX11" fmla="*/ 47925 w 136744"/>
                <a:gd name="connsiteY11" fmla="*/ 388 h 133175"/>
                <a:gd name="connsiteX12" fmla="*/ 37701 w 136744"/>
                <a:gd name="connsiteY12" fmla="*/ 13795 h 133175"/>
                <a:gd name="connsiteX13" fmla="*/ 35145 w 136744"/>
                <a:gd name="connsiteY13" fmla="*/ 19540 h 133175"/>
                <a:gd name="connsiteX14" fmla="*/ 28755 w 136744"/>
                <a:gd name="connsiteY14" fmla="*/ 20179 h 133175"/>
                <a:gd name="connsiteX15" fmla="*/ 10863 w 136744"/>
                <a:gd name="connsiteY15" fmla="*/ 30393 h 133175"/>
                <a:gd name="connsiteX16" fmla="*/ 12780 w 136744"/>
                <a:gd name="connsiteY16" fmla="*/ 42523 h 133175"/>
                <a:gd name="connsiteX17" fmla="*/ 14058 w 136744"/>
                <a:gd name="connsiteY17" fmla="*/ 48268 h 133175"/>
                <a:gd name="connsiteX18" fmla="*/ 9585 w 136744"/>
                <a:gd name="connsiteY18" fmla="*/ 52099 h 133175"/>
                <a:gd name="connsiteX19" fmla="*/ 0 w 136744"/>
                <a:gd name="connsiteY19" fmla="*/ 65505 h 133175"/>
                <a:gd name="connsiteX20" fmla="*/ 9585 w 136744"/>
                <a:gd name="connsiteY20" fmla="*/ 78911 h 133175"/>
                <a:gd name="connsiteX21" fmla="*/ 14058 w 136744"/>
                <a:gd name="connsiteY21" fmla="*/ 83380 h 133175"/>
                <a:gd name="connsiteX22" fmla="*/ 12780 w 136744"/>
                <a:gd name="connsiteY22" fmla="*/ 89764 h 133175"/>
                <a:gd name="connsiteX23" fmla="*/ 12780 w 136744"/>
                <a:gd name="connsiteY23" fmla="*/ 106362 h 133175"/>
                <a:gd name="connsiteX24" fmla="*/ 28755 w 136744"/>
                <a:gd name="connsiteY24" fmla="*/ 112108 h 133175"/>
                <a:gd name="connsiteX25" fmla="*/ 34506 w 136744"/>
                <a:gd name="connsiteY25" fmla="*/ 112746 h 133175"/>
                <a:gd name="connsiteX26" fmla="*/ 37062 w 136744"/>
                <a:gd name="connsiteY26" fmla="*/ 118492 h 133175"/>
                <a:gd name="connsiteX27" fmla="*/ 46646 w 136744"/>
                <a:gd name="connsiteY27" fmla="*/ 131898 h 133175"/>
                <a:gd name="connsiteX28" fmla="*/ 62621 w 136744"/>
                <a:gd name="connsiteY28" fmla="*/ 127430 h 133175"/>
                <a:gd name="connsiteX29" fmla="*/ 67733 w 136744"/>
                <a:gd name="connsiteY29" fmla="*/ 124238 h 133175"/>
                <a:gd name="connsiteX30" fmla="*/ 72845 w 136744"/>
                <a:gd name="connsiteY30" fmla="*/ 127430 h 133175"/>
                <a:gd name="connsiteX31" fmla="*/ 85625 w 136744"/>
                <a:gd name="connsiteY31" fmla="*/ 133175 h 133175"/>
                <a:gd name="connsiteX32" fmla="*/ 89459 w 136744"/>
                <a:gd name="connsiteY32" fmla="*/ 132537 h 133175"/>
                <a:gd name="connsiteX33" fmla="*/ 99683 w 136744"/>
                <a:gd name="connsiteY33" fmla="*/ 119130 h 133175"/>
                <a:gd name="connsiteX34" fmla="*/ 102239 w 136744"/>
                <a:gd name="connsiteY34" fmla="*/ 114023 h 133175"/>
                <a:gd name="connsiteX35" fmla="*/ 108629 w 136744"/>
                <a:gd name="connsiteY35" fmla="*/ 113385 h 133175"/>
                <a:gd name="connsiteX36" fmla="*/ 126521 w 136744"/>
                <a:gd name="connsiteY36" fmla="*/ 103170 h 133175"/>
                <a:gd name="connsiteX37" fmla="*/ 124604 w 136744"/>
                <a:gd name="connsiteY37" fmla="*/ 91041 h 133175"/>
                <a:gd name="connsiteX38" fmla="*/ 123326 w 136744"/>
                <a:gd name="connsiteY38" fmla="*/ 85295 h 133175"/>
                <a:gd name="connsiteX39" fmla="*/ 127160 w 136744"/>
                <a:gd name="connsiteY39" fmla="*/ 81465 h 133175"/>
                <a:gd name="connsiteX40" fmla="*/ 136745 w 136744"/>
                <a:gd name="connsiteY40" fmla="*/ 68058 h 133175"/>
                <a:gd name="connsiteX41" fmla="*/ 127160 w 136744"/>
                <a:gd name="connsiteY41" fmla="*/ 54014 h 133175"/>
                <a:gd name="connsiteX42" fmla="*/ 119492 w 136744"/>
                <a:gd name="connsiteY42" fmla="*/ 71250 h 133175"/>
                <a:gd name="connsiteX43" fmla="*/ 110546 w 136744"/>
                <a:gd name="connsiteY43" fmla="*/ 81465 h 133175"/>
                <a:gd name="connsiteX44" fmla="*/ 111824 w 136744"/>
                <a:gd name="connsiteY44" fmla="*/ 94871 h 133175"/>
                <a:gd name="connsiteX45" fmla="*/ 113102 w 136744"/>
                <a:gd name="connsiteY45" fmla="*/ 99978 h 133175"/>
                <a:gd name="connsiteX46" fmla="*/ 107351 w 136744"/>
                <a:gd name="connsiteY46" fmla="*/ 100617 h 133175"/>
                <a:gd name="connsiteX47" fmla="*/ 93932 w 136744"/>
                <a:gd name="connsiteY47" fmla="*/ 103809 h 133175"/>
                <a:gd name="connsiteX48" fmla="*/ 86903 w 136744"/>
                <a:gd name="connsiteY48" fmla="*/ 115300 h 133175"/>
                <a:gd name="connsiteX49" fmla="*/ 84347 w 136744"/>
                <a:gd name="connsiteY49" fmla="*/ 121046 h 133175"/>
                <a:gd name="connsiteX50" fmla="*/ 79235 w 136744"/>
                <a:gd name="connsiteY50" fmla="*/ 117854 h 133175"/>
                <a:gd name="connsiteX51" fmla="*/ 67094 w 136744"/>
                <a:gd name="connsiteY51" fmla="*/ 112108 h 133175"/>
                <a:gd name="connsiteX52" fmla="*/ 67094 w 136744"/>
                <a:gd name="connsiteY52" fmla="*/ 112108 h 133175"/>
                <a:gd name="connsiteX53" fmla="*/ 54314 w 136744"/>
                <a:gd name="connsiteY53" fmla="*/ 117215 h 133175"/>
                <a:gd name="connsiteX54" fmla="*/ 49841 w 136744"/>
                <a:gd name="connsiteY54" fmla="*/ 119769 h 133175"/>
                <a:gd name="connsiteX55" fmla="*/ 47925 w 136744"/>
                <a:gd name="connsiteY55" fmla="*/ 114662 h 133175"/>
                <a:gd name="connsiteX56" fmla="*/ 40896 w 136744"/>
                <a:gd name="connsiteY56" fmla="*/ 102532 h 133175"/>
                <a:gd name="connsiteX57" fmla="*/ 27477 w 136744"/>
                <a:gd name="connsiteY57" fmla="*/ 99340 h 133175"/>
                <a:gd name="connsiteX58" fmla="*/ 21726 w 136744"/>
                <a:gd name="connsiteY58" fmla="*/ 99340 h 133175"/>
                <a:gd name="connsiteX59" fmla="*/ 23004 w 136744"/>
                <a:gd name="connsiteY59" fmla="*/ 94233 h 133175"/>
                <a:gd name="connsiteX60" fmla="*/ 15975 w 136744"/>
                <a:gd name="connsiteY60" fmla="*/ 69974 h 133175"/>
                <a:gd name="connsiteX61" fmla="*/ 15336 w 136744"/>
                <a:gd name="connsiteY61" fmla="*/ 69335 h 133175"/>
                <a:gd name="connsiteX62" fmla="*/ 11502 w 136744"/>
                <a:gd name="connsiteY62" fmla="*/ 65505 h 133175"/>
                <a:gd name="connsiteX63" fmla="*/ 15975 w 136744"/>
                <a:gd name="connsiteY63" fmla="*/ 61674 h 133175"/>
                <a:gd name="connsiteX64" fmla="*/ 24921 w 136744"/>
                <a:gd name="connsiteY64" fmla="*/ 51460 h 133175"/>
                <a:gd name="connsiteX65" fmla="*/ 23643 w 136744"/>
                <a:gd name="connsiteY65" fmla="*/ 38054 h 133175"/>
                <a:gd name="connsiteX66" fmla="*/ 22365 w 136744"/>
                <a:gd name="connsiteY66" fmla="*/ 32308 h 133175"/>
                <a:gd name="connsiteX67" fmla="*/ 28116 w 136744"/>
                <a:gd name="connsiteY67" fmla="*/ 31670 h 133175"/>
                <a:gd name="connsiteX68" fmla="*/ 41535 w 136744"/>
                <a:gd name="connsiteY68" fmla="*/ 29116 h 133175"/>
                <a:gd name="connsiteX69" fmla="*/ 48563 w 136744"/>
                <a:gd name="connsiteY69" fmla="*/ 17625 h 133175"/>
                <a:gd name="connsiteX70" fmla="*/ 51119 w 136744"/>
                <a:gd name="connsiteY70" fmla="*/ 11879 h 133175"/>
                <a:gd name="connsiteX71" fmla="*/ 56231 w 136744"/>
                <a:gd name="connsiteY71" fmla="*/ 15071 h 133175"/>
                <a:gd name="connsiteX72" fmla="*/ 68372 w 136744"/>
                <a:gd name="connsiteY72" fmla="*/ 20817 h 133175"/>
                <a:gd name="connsiteX73" fmla="*/ 81152 w 136744"/>
                <a:gd name="connsiteY73" fmla="*/ 15710 h 133175"/>
                <a:gd name="connsiteX74" fmla="*/ 85625 w 136744"/>
                <a:gd name="connsiteY74" fmla="*/ 13156 h 133175"/>
                <a:gd name="connsiteX75" fmla="*/ 87542 w 136744"/>
                <a:gd name="connsiteY75" fmla="*/ 18263 h 133175"/>
                <a:gd name="connsiteX76" fmla="*/ 94571 w 136744"/>
                <a:gd name="connsiteY76" fmla="*/ 30393 h 133175"/>
                <a:gd name="connsiteX77" fmla="*/ 107990 w 136744"/>
                <a:gd name="connsiteY77" fmla="*/ 33585 h 133175"/>
                <a:gd name="connsiteX78" fmla="*/ 113741 w 136744"/>
                <a:gd name="connsiteY78" fmla="*/ 34223 h 133175"/>
                <a:gd name="connsiteX79" fmla="*/ 112463 w 136744"/>
                <a:gd name="connsiteY79" fmla="*/ 39331 h 133175"/>
                <a:gd name="connsiteX80" fmla="*/ 111185 w 136744"/>
                <a:gd name="connsiteY80" fmla="*/ 53375 h 133175"/>
                <a:gd name="connsiteX81" fmla="*/ 120131 w 136744"/>
                <a:gd name="connsiteY81" fmla="*/ 64228 h 133175"/>
                <a:gd name="connsiteX82" fmla="*/ 123965 w 136744"/>
                <a:gd name="connsiteY82" fmla="*/ 68058 h 133175"/>
                <a:gd name="connsiteX83" fmla="*/ 119492 w 136744"/>
                <a:gd name="connsiteY83" fmla="*/ 71250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6744" h="133175">
                  <a:moveTo>
                    <a:pt x="127160" y="54014"/>
                  </a:moveTo>
                  <a:cubicBezTo>
                    <a:pt x="125243" y="52737"/>
                    <a:pt x="123965" y="51460"/>
                    <a:pt x="122687" y="49545"/>
                  </a:cubicBezTo>
                  <a:cubicBezTo>
                    <a:pt x="122687" y="47630"/>
                    <a:pt x="123326" y="45076"/>
                    <a:pt x="123965" y="43161"/>
                  </a:cubicBezTo>
                  <a:cubicBezTo>
                    <a:pt x="126521" y="38054"/>
                    <a:pt x="126521" y="31670"/>
                    <a:pt x="123965" y="26563"/>
                  </a:cubicBezTo>
                  <a:cubicBezTo>
                    <a:pt x="120131" y="22094"/>
                    <a:pt x="113741" y="20179"/>
                    <a:pt x="107990" y="20817"/>
                  </a:cubicBezTo>
                  <a:cubicBezTo>
                    <a:pt x="106073" y="20817"/>
                    <a:pt x="104156" y="20817"/>
                    <a:pt x="102239" y="20179"/>
                  </a:cubicBezTo>
                  <a:cubicBezTo>
                    <a:pt x="100961" y="18263"/>
                    <a:pt x="100322" y="16348"/>
                    <a:pt x="99683" y="14433"/>
                  </a:cubicBezTo>
                  <a:cubicBezTo>
                    <a:pt x="97766" y="9326"/>
                    <a:pt x="95849" y="2942"/>
                    <a:pt x="90098" y="1027"/>
                  </a:cubicBezTo>
                  <a:cubicBezTo>
                    <a:pt x="84347" y="-250"/>
                    <a:pt x="78596" y="1665"/>
                    <a:pt x="74123" y="5496"/>
                  </a:cubicBezTo>
                  <a:cubicBezTo>
                    <a:pt x="72206" y="6772"/>
                    <a:pt x="70928" y="8049"/>
                    <a:pt x="69011" y="8688"/>
                  </a:cubicBezTo>
                  <a:cubicBezTo>
                    <a:pt x="67094" y="8049"/>
                    <a:pt x="65177" y="6772"/>
                    <a:pt x="63899" y="5496"/>
                  </a:cubicBezTo>
                  <a:cubicBezTo>
                    <a:pt x="59426" y="1027"/>
                    <a:pt x="53675" y="-888"/>
                    <a:pt x="47925" y="388"/>
                  </a:cubicBezTo>
                  <a:cubicBezTo>
                    <a:pt x="41535" y="2304"/>
                    <a:pt x="39617" y="8688"/>
                    <a:pt x="37701" y="13795"/>
                  </a:cubicBezTo>
                  <a:cubicBezTo>
                    <a:pt x="37062" y="15710"/>
                    <a:pt x="36423" y="17625"/>
                    <a:pt x="35145" y="19540"/>
                  </a:cubicBezTo>
                  <a:cubicBezTo>
                    <a:pt x="33228" y="20179"/>
                    <a:pt x="30672" y="20179"/>
                    <a:pt x="28755" y="20179"/>
                  </a:cubicBezTo>
                  <a:cubicBezTo>
                    <a:pt x="21087" y="17625"/>
                    <a:pt x="12780" y="22094"/>
                    <a:pt x="10863" y="30393"/>
                  </a:cubicBezTo>
                  <a:cubicBezTo>
                    <a:pt x="9585" y="34223"/>
                    <a:pt x="10224" y="38692"/>
                    <a:pt x="12780" y="42523"/>
                  </a:cubicBezTo>
                  <a:cubicBezTo>
                    <a:pt x="13419" y="44438"/>
                    <a:pt x="14058" y="46353"/>
                    <a:pt x="14058" y="48268"/>
                  </a:cubicBezTo>
                  <a:cubicBezTo>
                    <a:pt x="12780" y="49545"/>
                    <a:pt x="10863" y="51460"/>
                    <a:pt x="9585" y="52099"/>
                  </a:cubicBezTo>
                  <a:cubicBezTo>
                    <a:pt x="5112" y="55290"/>
                    <a:pt x="0" y="59121"/>
                    <a:pt x="0" y="65505"/>
                  </a:cubicBezTo>
                  <a:cubicBezTo>
                    <a:pt x="0" y="71889"/>
                    <a:pt x="5112" y="75719"/>
                    <a:pt x="9585" y="78911"/>
                  </a:cubicBezTo>
                  <a:cubicBezTo>
                    <a:pt x="11502" y="80188"/>
                    <a:pt x="12780" y="81465"/>
                    <a:pt x="14058" y="83380"/>
                  </a:cubicBezTo>
                  <a:cubicBezTo>
                    <a:pt x="14058" y="85295"/>
                    <a:pt x="13419" y="87849"/>
                    <a:pt x="12780" y="89764"/>
                  </a:cubicBezTo>
                  <a:cubicBezTo>
                    <a:pt x="10224" y="94871"/>
                    <a:pt x="10224" y="101255"/>
                    <a:pt x="12780" y="106362"/>
                  </a:cubicBezTo>
                  <a:cubicBezTo>
                    <a:pt x="16614" y="110831"/>
                    <a:pt x="23004" y="112746"/>
                    <a:pt x="28755" y="112108"/>
                  </a:cubicBezTo>
                  <a:cubicBezTo>
                    <a:pt x="30672" y="112108"/>
                    <a:pt x="32589" y="112108"/>
                    <a:pt x="34506" y="112746"/>
                  </a:cubicBezTo>
                  <a:cubicBezTo>
                    <a:pt x="35783" y="114662"/>
                    <a:pt x="36423" y="116577"/>
                    <a:pt x="37062" y="118492"/>
                  </a:cubicBezTo>
                  <a:cubicBezTo>
                    <a:pt x="38978" y="123599"/>
                    <a:pt x="40896" y="129983"/>
                    <a:pt x="46646" y="131898"/>
                  </a:cubicBezTo>
                  <a:cubicBezTo>
                    <a:pt x="52397" y="133175"/>
                    <a:pt x="58148" y="131260"/>
                    <a:pt x="62621" y="127430"/>
                  </a:cubicBezTo>
                  <a:cubicBezTo>
                    <a:pt x="64538" y="126153"/>
                    <a:pt x="65816" y="124876"/>
                    <a:pt x="67733" y="124238"/>
                  </a:cubicBezTo>
                  <a:cubicBezTo>
                    <a:pt x="69650" y="124876"/>
                    <a:pt x="71567" y="126153"/>
                    <a:pt x="72845" y="127430"/>
                  </a:cubicBezTo>
                  <a:cubicBezTo>
                    <a:pt x="76679" y="130622"/>
                    <a:pt x="81152" y="132537"/>
                    <a:pt x="85625" y="133175"/>
                  </a:cubicBezTo>
                  <a:cubicBezTo>
                    <a:pt x="86903" y="133175"/>
                    <a:pt x="88181"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938"/>
                    <a:pt x="124604" y="111470"/>
                    <a:pt x="126521" y="103170"/>
                  </a:cubicBezTo>
                  <a:cubicBezTo>
                    <a:pt x="127799" y="99340"/>
                    <a:pt x="127160" y="94871"/>
                    <a:pt x="124604" y="91041"/>
                  </a:cubicBezTo>
                  <a:cubicBezTo>
                    <a:pt x="123965" y="89126"/>
                    <a:pt x="123326" y="87210"/>
                    <a:pt x="123326" y="85295"/>
                  </a:cubicBezTo>
                  <a:cubicBezTo>
                    <a:pt x="124604" y="84018"/>
                    <a:pt x="125882" y="82742"/>
                    <a:pt x="127160" y="81465"/>
                  </a:cubicBezTo>
                  <a:cubicBezTo>
                    <a:pt x="131633" y="78273"/>
                    <a:pt x="136745" y="74442"/>
                    <a:pt x="136745" y="68058"/>
                  </a:cubicBezTo>
                  <a:cubicBezTo>
                    <a:pt x="136745" y="61674"/>
                    <a:pt x="131633" y="57206"/>
                    <a:pt x="127160" y="54014"/>
                  </a:cubicBezTo>
                  <a:close/>
                  <a:moveTo>
                    <a:pt x="119492" y="71250"/>
                  </a:moveTo>
                  <a:cubicBezTo>
                    <a:pt x="115658" y="73804"/>
                    <a:pt x="112463" y="76996"/>
                    <a:pt x="110546" y="81465"/>
                  </a:cubicBezTo>
                  <a:cubicBezTo>
                    <a:pt x="109268" y="85934"/>
                    <a:pt x="109907" y="91041"/>
                    <a:pt x="111824" y="94871"/>
                  </a:cubicBezTo>
                  <a:cubicBezTo>
                    <a:pt x="112463" y="96786"/>
                    <a:pt x="112463" y="98702"/>
                    <a:pt x="113102" y="99978"/>
                  </a:cubicBezTo>
                  <a:cubicBezTo>
                    <a:pt x="111185" y="99978"/>
                    <a:pt x="109268" y="100617"/>
                    <a:pt x="107351" y="100617"/>
                  </a:cubicBezTo>
                  <a:cubicBezTo>
                    <a:pt x="102878" y="99978"/>
                    <a:pt x="97766" y="101255"/>
                    <a:pt x="93932" y="103809"/>
                  </a:cubicBezTo>
                  <a:cubicBezTo>
                    <a:pt x="90737" y="107001"/>
                    <a:pt x="88181" y="110831"/>
                    <a:pt x="86903" y="115300"/>
                  </a:cubicBezTo>
                  <a:cubicBezTo>
                    <a:pt x="86264" y="117215"/>
                    <a:pt x="85625" y="119130"/>
                    <a:pt x="84347" y="121046"/>
                  </a:cubicBezTo>
                  <a:cubicBezTo>
                    <a:pt x="82430" y="120407"/>
                    <a:pt x="81152" y="119130"/>
                    <a:pt x="79235" y="117854"/>
                  </a:cubicBezTo>
                  <a:cubicBezTo>
                    <a:pt x="76040" y="114662"/>
                    <a:pt x="71567" y="112746"/>
                    <a:pt x="67094" y="112108"/>
                  </a:cubicBezTo>
                  <a:lnTo>
                    <a:pt x="67094" y="112108"/>
                  </a:lnTo>
                  <a:cubicBezTo>
                    <a:pt x="62621" y="112746"/>
                    <a:pt x="58148" y="114662"/>
                    <a:pt x="54314" y="117215"/>
                  </a:cubicBezTo>
                  <a:cubicBezTo>
                    <a:pt x="53036" y="118492"/>
                    <a:pt x="51119" y="119130"/>
                    <a:pt x="49841" y="119769"/>
                  </a:cubicBezTo>
                  <a:cubicBezTo>
                    <a:pt x="49202" y="117854"/>
                    <a:pt x="48563" y="116577"/>
                    <a:pt x="47925" y="114662"/>
                  </a:cubicBezTo>
                  <a:cubicBezTo>
                    <a:pt x="46646" y="110193"/>
                    <a:pt x="44730" y="105724"/>
                    <a:pt x="40896" y="102532"/>
                  </a:cubicBezTo>
                  <a:cubicBezTo>
                    <a:pt x="37062" y="99978"/>
                    <a:pt x="32589" y="99340"/>
                    <a:pt x="27477" y="99340"/>
                  </a:cubicBezTo>
                  <a:cubicBezTo>
                    <a:pt x="25560" y="99340"/>
                    <a:pt x="23004" y="99340"/>
                    <a:pt x="21726" y="99340"/>
                  </a:cubicBezTo>
                  <a:cubicBezTo>
                    <a:pt x="22365" y="97425"/>
                    <a:pt x="22365" y="95510"/>
                    <a:pt x="23004" y="94233"/>
                  </a:cubicBezTo>
                  <a:cubicBezTo>
                    <a:pt x="27477" y="85934"/>
                    <a:pt x="24921" y="75081"/>
                    <a:pt x="15975" y="69974"/>
                  </a:cubicBezTo>
                  <a:cubicBezTo>
                    <a:pt x="15975" y="69974"/>
                    <a:pt x="15336" y="69974"/>
                    <a:pt x="15336" y="69335"/>
                  </a:cubicBezTo>
                  <a:cubicBezTo>
                    <a:pt x="14058" y="68058"/>
                    <a:pt x="12780" y="66782"/>
                    <a:pt x="11502" y="65505"/>
                  </a:cubicBezTo>
                  <a:cubicBezTo>
                    <a:pt x="12780" y="64228"/>
                    <a:pt x="14058" y="62951"/>
                    <a:pt x="15975" y="61674"/>
                  </a:cubicBezTo>
                  <a:cubicBezTo>
                    <a:pt x="19809" y="59121"/>
                    <a:pt x="23004" y="55929"/>
                    <a:pt x="24921" y="51460"/>
                  </a:cubicBezTo>
                  <a:cubicBezTo>
                    <a:pt x="26199" y="46991"/>
                    <a:pt x="25560" y="41884"/>
                    <a:pt x="23643" y="38054"/>
                  </a:cubicBezTo>
                  <a:cubicBezTo>
                    <a:pt x="23004" y="36139"/>
                    <a:pt x="22365" y="34223"/>
                    <a:pt x="22365" y="32308"/>
                  </a:cubicBezTo>
                  <a:cubicBezTo>
                    <a:pt x="24282" y="32308"/>
                    <a:pt x="26199" y="32308"/>
                    <a:pt x="28116" y="31670"/>
                  </a:cubicBezTo>
                  <a:cubicBezTo>
                    <a:pt x="32589" y="32308"/>
                    <a:pt x="37701" y="31031"/>
                    <a:pt x="41535" y="29116"/>
                  </a:cubicBezTo>
                  <a:cubicBezTo>
                    <a:pt x="44730" y="25924"/>
                    <a:pt x="47285" y="22094"/>
                    <a:pt x="48563" y="17625"/>
                  </a:cubicBezTo>
                  <a:cubicBezTo>
                    <a:pt x="49202" y="15710"/>
                    <a:pt x="49841" y="13795"/>
                    <a:pt x="51119" y="11879"/>
                  </a:cubicBezTo>
                  <a:cubicBezTo>
                    <a:pt x="53036" y="12518"/>
                    <a:pt x="54314" y="13795"/>
                    <a:pt x="56231" y="15071"/>
                  </a:cubicBezTo>
                  <a:cubicBezTo>
                    <a:pt x="59426" y="18263"/>
                    <a:pt x="63899" y="20179"/>
                    <a:pt x="68372" y="20817"/>
                  </a:cubicBezTo>
                  <a:cubicBezTo>
                    <a:pt x="72845" y="20179"/>
                    <a:pt x="77318" y="18263"/>
                    <a:pt x="81152" y="15710"/>
                  </a:cubicBezTo>
                  <a:cubicBezTo>
                    <a:pt x="82430" y="14433"/>
                    <a:pt x="84347" y="13795"/>
                    <a:pt x="85625" y="13156"/>
                  </a:cubicBezTo>
                  <a:cubicBezTo>
                    <a:pt x="86264" y="15071"/>
                    <a:pt x="86903" y="16348"/>
                    <a:pt x="87542" y="18263"/>
                  </a:cubicBezTo>
                  <a:cubicBezTo>
                    <a:pt x="88820" y="22732"/>
                    <a:pt x="90737" y="27201"/>
                    <a:pt x="94571" y="30393"/>
                  </a:cubicBezTo>
                  <a:cubicBezTo>
                    <a:pt x="98405" y="32947"/>
                    <a:pt x="102878" y="33585"/>
                    <a:pt x="107990" y="33585"/>
                  </a:cubicBezTo>
                  <a:cubicBezTo>
                    <a:pt x="109907" y="33585"/>
                    <a:pt x="112463" y="33585"/>
                    <a:pt x="113741" y="34223"/>
                  </a:cubicBezTo>
                  <a:cubicBezTo>
                    <a:pt x="113102" y="36139"/>
                    <a:pt x="113102" y="38054"/>
                    <a:pt x="112463" y="39331"/>
                  </a:cubicBezTo>
                  <a:cubicBezTo>
                    <a:pt x="110546" y="43799"/>
                    <a:pt x="109907" y="48268"/>
                    <a:pt x="111185" y="53375"/>
                  </a:cubicBezTo>
                  <a:cubicBezTo>
                    <a:pt x="113102" y="57844"/>
                    <a:pt x="116297" y="61674"/>
                    <a:pt x="120131" y="64228"/>
                  </a:cubicBezTo>
                  <a:cubicBezTo>
                    <a:pt x="121409" y="65505"/>
                    <a:pt x="123326" y="66782"/>
                    <a:pt x="123965" y="68058"/>
                  </a:cubicBezTo>
                  <a:cubicBezTo>
                    <a:pt x="122048" y="68697"/>
                    <a:pt x="120770" y="69974"/>
                    <a:pt x="119492" y="7125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4" name="Graphic 4">
              <a:extLst>
                <a:ext uri="{FF2B5EF4-FFF2-40B4-BE49-F238E27FC236}">
                  <a16:creationId xmlns:a16="http://schemas.microsoft.com/office/drawing/2014/main" id="{6E1756A5-7DC3-8399-6FD6-14E1DA295A6B}"/>
                </a:ext>
              </a:extLst>
            </p:cNvPr>
            <p:cNvSpPr/>
            <p:nvPr/>
          </p:nvSpPr>
          <p:spPr>
            <a:xfrm>
              <a:off x="2662886" y="1611148"/>
              <a:ext cx="50682" cy="50765"/>
            </a:xfrm>
            <a:custGeom>
              <a:avLst/>
              <a:gdLst>
                <a:gd name="connsiteX0" fmla="*/ 37501 w 50682"/>
                <a:gd name="connsiteY0" fmla="*/ 2885 h 50765"/>
                <a:gd name="connsiteX1" fmla="*/ 2995 w 50682"/>
                <a:gd name="connsiteY1" fmla="*/ 13738 h 50765"/>
                <a:gd name="connsiteX2" fmla="*/ 1078 w 50682"/>
                <a:gd name="connsiteY2" fmla="*/ 32890 h 50765"/>
                <a:gd name="connsiteX3" fmla="*/ 25360 w 50682"/>
                <a:gd name="connsiteY3" fmla="*/ 50765 h 50765"/>
                <a:gd name="connsiteX4" fmla="*/ 33028 w 50682"/>
                <a:gd name="connsiteY4" fmla="*/ 49488 h 50765"/>
                <a:gd name="connsiteX5" fmla="*/ 49642 w 50682"/>
                <a:gd name="connsiteY5" fmla="*/ 17568 h 50765"/>
                <a:gd name="connsiteX6" fmla="*/ 37501 w 50682"/>
                <a:gd name="connsiteY6" fmla="*/ 2885 h 50765"/>
                <a:gd name="connsiteX7" fmla="*/ 37501 w 50682"/>
                <a:gd name="connsiteY7" fmla="*/ 2885 h 50765"/>
                <a:gd name="connsiteX8" fmla="*/ 29194 w 50682"/>
                <a:gd name="connsiteY8" fmla="*/ 37359 h 50765"/>
                <a:gd name="connsiteX9" fmla="*/ 13219 w 50682"/>
                <a:gd name="connsiteY9" fmla="*/ 29059 h 50765"/>
                <a:gd name="connsiteX10" fmla="*/ 22165 w 50682"/>
                <a:gd name="connsiteY10" fmla="*/ 13099 h 50765"/>
                <a:gd name="connsiteX11" fmla="*/ 25360 w 50682"/>
                <a:gd name="connsiteY11" fmla="*/ 12461 h 50765"/>
                <a:gd name="connsiteX12" fmla="*/ 37501 w 50682"/>
                <a:gd name="connsiteY12" fmla="*/ 21399 h 50765"/>
                <a:gd name="connsiteX13" fmla="*/ 29194 w 50682"/>
                <a:gd name="connsiteY13" fmla="*/ 37359 h 50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682" h="50765">
                  <a:moveTo>
                    <a:pt x="37501" y="2885"/>
                  </a:moveTo>
                  <a:cubicBezTo>
                    <a:pt x="25360" y="-3499"/>
                    <a:pt x="10024" y="970"/>
                    <a:pt x="2995" y="13738"/>
                  </a:cubicBezTo>
                  <a:cubicBezTo>
                    <a:pt x="-200" y="19483"/>
                    <a:pt x="-839" y="26506"/>
                    <a:pt x="1078" y="32890"/>
                  </a:cubicBezTo>
                  <a:cubicBezTo>
                    <a:pt x="4273" y="43743"/>
                    <a:pt x="14497" y="50765"/>
                    <a:pt x="25360" y="50765"/>
                  </a:cubicBezTo>
                  <a:cubicBezTo>
                    <a:pt x="27916" y="50765"/>
                    <a:pt x="30472" y="50127"/>
                    <a:pt x="33028" y="49488"/>
                  </a:cubicBezTo>
                  <a:cubicBezTo>
                    <a:pt x="46447" y="45019"/>
                    <a:pt x="53476" y="30975"/>
                    <a:pt x="49642" y="17568"/>
                  </a:cubicBezTo>
                  <a:cubicBezTo>
                    <a:pt x="47725" y="10546"/>
                    <a:pt x="43252" y="5439"/>
                    <a:pt x="37501" y="2885"/>
                  </a:cubicBezTo>
                  <a:lnTo>
                    <a:pt x="37501" y="2885"/>
                  </a:lnTo>
                  <a:close/>
                  <a:moveTo>
                    <a:pt x="29194" y="37359"/>
                  </a:moveTo>
                  <a:cubicBezTo>
                    <a:pt x="22804" y="39274"/>
                    <a:pt x="15775" y="35443"/>
                    <a:pt x="13219" y="29059"/>
                  </a:cubicBezTo>
                  <a:cubicBezTo>
                    <a:pt x="11302" y="22037"/>
                    <a:pt x="15136" y="15015"/>
                    <a:pt x="22165" y="13099"/>
                  </a:cubicBezTo>
                  <a:cubicBezTo>
                    <a:pt x="23443" y="12461"/>
                    <a:pt x="24721" y="12461"/>
                    <a:pt x="25360" y="12461"/>
                  </a:cubicBezTo>
                  <a:cubicBezTo>
                    <a:pt x="31111" y="12461"/>
                    <a:pt x="35584" y="16291"/>
                    <a:pt x="37501" y="21399"/>
                  </a:cubicBezTo>
                  <a:cubicBezTo>
                    <a:pt x="39418" y="27783"/>
                    <a:pt x="36223" y="34805"/>
                    <a:pt x="29194" y="37359"/>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5" name="Graphic 4">
              <a:extLst>
                <a:ext uri="{FF2B5EF4-FFF2-40B4-BE49-F238E27FC236}">
                  <a16:creationId xmlns:a16="http://schemas.microsoft.com/office/drawing/2014/main" id="{6DC9EC9E-0820-D2BA-38E3-2BC1CC869DE8}"/>
                </a:ext>
              </a:extLst>
            </p:cNvPr>
            <p:cNvSpPr/>
            <p:nvPr/>
          </p:nvSpPr>
          <p:spPr>
            <a:xfrm>
              <a:off x="2725947" y="1463621"/>
              <a:ext cx="138022" cy="133175"/>
            </a:xfrm>
            <a:custGeom>
              <a:avLst/>
              <a:gdLst>
                <a:gd name="connsiteX0" fmla="*/ 128438 w 138022"/>
                <a:gd name="connsiteY0" fmla="*/ 54014 h 133175"/>
                <a:gd name="connsiteX1" fmla="*/ 123326 w 138022"/>
                <a:gd name="connsiteY1" fmla="*/ 49545 h 133175"/>
                <a:gd name="connsiteX2" fmla="*/ 124604 w 138022"/>
                <a:gd name="connsiteY2" fmla="*/ 43161 h 133175"/>
                <a:gd name="connsiteX3" fmla="*/ 120770 w 138022"/>
                <a:gd name="connsiteY3" fmla="*/ 22732 h 133175"/>
                <a:gd name="connsiteX4" fmla="*/ 108629 w 138022"/>
                <a:gd name="connsiteY4" fmla="*/ 20817 h 133175"/>
                <a:gd name="connsiteX5" fmla="*/ 102878 w 138022"/>
                <a:gd name="connsiteY5" fmla="*/ 20179 h 133175"/>
                <a:gd name="connsiteX6" fmla="*/ 100322 w 138022"/>
                <a:gd name="connsiteY6" fmla="*/ 14433 h 133175"/>
                <a:gd name="connsiteX7" fmla="*/ 90737 w 138022"/>
                <a:gd name="connsiteY7" fmla="*/ 1027 h 133175"/>
                <a:gd name="connsiteX8" fmla="*/ 74762 w 138022"/>
                <a:gd name="connsiteY8" fmla="*/ 5495 h 133175"/>
                <a:gd name="connsiteX9" fmla="*/ 66455 w 138022"/>
                <a:gd name="connsiteY9" fmla="*/ 8049 h 133175"/>
                <a:gd name="connsiteX10" fmla="*/ 63899 w 138022"/>
                <a:gd name="connsiteY10" fmla="*/ 5495 h 133175"/>
                <a:gd name="connsiteX11" fmla="*/ 47925 w 138022"/>
                <a:gd name="connsiteY11" fmla="*/ 388 h 133175"/>
                <a:gd name="connsiteX12" fmla="*/ 37701 w 138022"/>
                <a:gd name="connsiteY12" fmla="*/ 13795 h 133175"/>
                <a:gd name="connsiteX13" fmla="*/ 35145 w 138022"/>
                <a:gd name="connsiteY13" fmla="*/ 19540 h 133175"/>
                <a:gd name="connsiteX14" fmla="*/ 28755 w 138022"/>
                <a:gd name="connsiteY14" fmla="*/ 20179 h 133175"/>
                <a:gd name="connsiteX15" fmla="*/ 10863 w 138022"/>
                <a:gd name="connsiteY15" fmla="*/ 30393 h 133175"/>
                <a:gd name="connsiteX16" fmla="*/ 12780 w 138022"/>
                <a:gd name="connsiteY16" fmla="*/ 42523 h 133175"/>
                <a:gd name="connsiteX17" fmla="*/ 14058 w 138022"/>
                <a:gd name="connsiteY17" fmla="*/ 48268 h 133175"/>
                <a:gd name="connsiteX18" fmla="*/ 9585 w 138022"/>
                <a:gd name="connsiteY18" fmla="*/ 52099 h 133175"/>
                <a:gd name="connsiteX19" fmla="*/ 0 w 138022"/>
                <a:gd name="connsiteY19" fmla="*/ 65505 h 133175"/>
                <a:gd name="connsiteX20" fmla="*/ 9585 w 138022"/>
                <a:gd name="connsiteY20" fmla="*/ 78911 h 133175"/>
                <a:gd name="connsiteX21" fmla="*/ 14697 w 138022"/>
                <a:gd name="connsiteY21" fmla="*/ 83380 h 133175"/>
                <a:gd name="connsiteX22" fmla="*/ 13419 w 138022"/>
                <a:gd name="connsiteY22" fmla="*/ 89764 h 133175"/>
                <a:gd name="connsiteX23" fmla="*/ 17253 w 138022"/>
                <a:gd name="connsiteY23" fmla="*/ 110193 h 133175"/>
                <a:gd name="connsiteX24" fmla="*/ 29394 w 138022"/>
                <a:gd name="connsiteY24" fmla="*/ 112108 h 133175"/>
                <a:gd name="connsiteX25" fmla="*/ 35145 w 138022"/>
                <a:gd name="connsiteY25" fmla="*/ 112746 h 133175"/>
                <a:gd name="connsiteX26" fmla="*/ 37701 w 138022"/>
                <a:gd name="connsiteY26" fmla="*/ 118492 h 133175"/>
                <a:gd name="connsiteX27" fmla="*/ 47285 w 138022"/>
                <a:gd name="connsiteY27" fmla="*/ 131898 h 133175"/>
                <a:gd name="connsiteX28" fmla="*/ 63260 w 138022"/>
                <a:gd name="connsiteY28" fmla="*/ 127430 h 133175"/>
                <a:gd name="connsiteX29" fmla="*/ 68372 w 138022"/>
                <a:gd name="connsiteY29" fmla="*/ 124238 h 133175"/>
                <a:gd name="connsiteX30" fmla="*/ 73484 w 138022"/>
                <a:gd name="connsiteY30" fmla="*/ 127430 h 133175"/>
                <a:gd name="connsiteX31" fmla="*/ 86264 w 138022"/>
                <a:gd name="connsiteY31" fmla="*/ 133175 h 133175"/>
                <a:gd name="connsiteX32" fmla="*/ 89459 w 138022"/>
                <a:gd name="connsiteY32" fmla="*/ 132537 h 133175"/>
                <a:gd name="connsiteX33" fmla="*/ 99683 w 138022"/>
                <a:gd name="connsiteY33" fmla="*/ 119130 h 133175"/>
                <a:gd name="connsiteX34" fmla="*/ 102239 w 138022"/>
                <a:gd name="connsiteY34" fmla="*/ 114023 h 133175"/>
                <a:gd name="connsiteX35" fmla="*/ 108629 w 138022"/>
                <a:gd name="connsiteY35" fmla="*/ 113385 h 133175"/>
                <a:gd name="connsiteX36" fmla="*/ 126521 w 138022"/>
                <a:gd name="connsiteY36" fmla="*/ 103170 h 133175"/>
                <a:gd name="connsiteX37" fmla="*/ 125243 w 138022"/>
                <a:gd name="connsiteY37" fmla="*/ 91679 h 133175"/>
                <a:gd name="connsiteX38" fmla="*/ 123965 w 138022"/>
                <a:gd name="connsiteY38" fmla="*/ 85934 h 133175"/>
                <a:gd name="connsiteX39" fmla="*/ 128438 w 138022"/>
                <a:gd name="connsiteY39" fmla="*/ 82103 h 133175"/>
                <a:gd name="connsiteX40" fmla="*/ 138023 w 138022"/>
                <a:gd name="connsiteY40" fmla="*/ 68697 h 133175"/>
                <a:gd name="connsiteX41" fmla="*/ 128438 w 138022"/>
                <a:gd name="connsiteY41" fmla="*/ 54014 h 133175"/>
                <a:gd name="connsiteX42" fmla="*/ 120131 w 138022"/>
                <a:gd name="connsiteY42" fmla="*/ 71251 h 133175"/>
                <a:gd name="connsiteX43" fmla="*/ 111824 w 138022"/>
                <a:gd name="connsiteY43" fmla="*/ 94233 h 133175"/>
                <a:gd name="connsiteX44" fmla="*/ 112463 w 138022"/>
                <a:gd name="connsiteY44" fmla="*/ 94871 h 133175"/>
                <a:gd name="connsiteX45" fmla="*/ 113741 w 138022"/>
                <a:gd name="connsiteY45" fmla="*/ 100617 h 133175"/>
                <a:gd name="connsiteX46" fmla="*/ 107990 w 138022"/>
                <a:gd name="connsiteY46" fmla="*/ 101255 h 133175"/>
                <a:gd name="connsiteX47" fmla="*/ 94571 w 138022"/>
                <a:gd name="connsiteY47" fmla="*/ 103809 h 133175"/>
                <a:gd name="connsiteX48" fmla="*/ 87542 w 138022"/>
                <a:gd name="connsiteY48" fmla="*/ 115300 h 133175"/>
                <a:gd name="connsiteX49" fmla="*/ 84986 w 138022"/>
                <a:gd name="connsiteY49" fmla="*/ 120407 h 133175"/>
                <a:gd name="connsiteX50" fmla="*/ 79874 w 138022"/>
                <a:gd name="connsiteY50" fmla="*/ 117215 h 133175"/>
                <a:gd name="connsiteX51" fmla="*/ 67733 w 138022"/>
                <a:gd name="connsiteY51" fmla="*/ 111470 h 133175"/>
                <a:gd name="connsiteX52" fmla="*/ 67733 w 138022"/>
                <a:gd name="connsiteY52" fmla="*/ 111470 h 133175"/>
                <a:gd name="connsiteX53" fmla="*/ 54954 w 138022"/>
                <a:gd name="connsiteY53" fmla="*/ 116577 h 133175"/>
                <a:gd name="connsiteX54" fmla="*/ 50480 w 138022"/>
                <a:gd name="connsiteY54" fmla="*/ 119130 h 133175"/>
                <a:gd name="connsiteX55" fmla="*/ 48564 w 138022"/>
                <a:gd name="connsiteY55" fmla="*/ 114023 h 133175"/>
                <a:gd name="connsiteX56" fmla="*/ 29394 w 138022"/>
                <a:gd name="connsiteY56" fmla="*/ 98702 h 133175"/>
                <a:gd name="connsiteX57" fmla="*/ 28116 w 138022"/>
                <a:gd name="connsiteY57" fmla="*/ 98702 h 133175"/>
                <a:gd name="connsiteX58" fmla="*/ 22365 w 138022"/>
                <a:gd name="connsiteY58" fmla="*/ 98702 h 133175"/>
                <a:gd name="connsiteX59" fmla="*/ 23643 w 138022"/>
                <a:gd name="connsiteY59" fmla="*/ 92956 h 133175"/>
                <a:gd name="connsiteX60" fmla="*/ 16614 w 138022"/>
                <a:gd name="connsiteY60" fmla="*/ 68697 h 133175"/>
                <a:gd name="connsiteX61" fmla="*/ 15975 w 138022"/>
                <a:gd name="connsiteY61" fmla="*/ 68059 h 133175"/>
                <a:gd name="connsiteX62" fmla="*/ 12141 w 138022"/>
                <a:gd name="connsiteY62" fmla="*/ 64228 h 133175"/>
                <a:gd name="connsiteX63" fmla="*/ 16614 w 138022"/>
                <a:gd name="connsiteY63" fmla="*/ 60398 h 133175"/>
                <a:gd name="connsiteX64" fmla="*/ 25560 w 138022"/>
                <a:gd name="connsiteY64" fmla="*/ 50183 h 133175"/>
                <a:gd name="connsiteX65" fmla="*/ 24282 w 138022"/>
                <a:gd name="connsiteY65" fmla="*/ 36777 h 133175"/>
                <a:gd name="connsiteX66" fmla="*/ 23004 w 138022"/>
                <a:gd name="connsiteY66" fmla="*/ 31031 h 133175"/>
                <a:gd name="connsiteX67" fmla="*/ 28755 w 138022"/>
                <a:gd name="connsiteY67" fmla="*/ 31031 h 133175"/>
                <a:gd name="connsiteX68" fmla="*/ 42174 w 138022"/>
                <a:gd name="connsiteY68" fmla="*/ 28478 h 133175"/>
                <a:gd name="connsiteX69" fmla="*/ 49202 w 138022"/>
                <a:gd name="connsiteY69" fmla="*/ 16987 h 133175"/>
                <a:gd name="connsiteX70" fmla="*/ 51759 w 138022"/>
                <a:gd name="connsiteY70" fmla="*/ 11879 h 133175"/>
                <a:gd name="connsiteX71" fmla="*/ 56870 w 138022"/>
                <a:gd name="connsiteY71" fmla="*/ 15071 h 133175"/>
                <a:gd name="connsiteX72" fmla="*/ 69011 w 138022"/>
                <a:gd name="connsiteY72" fmla="*/ 20817 h 133175"/>
                <a:gd name="connsiteX73" fmla="*/ 81791 w 138022"/>
                <a:gd name="connsiteY73" fmla="*/ 15710 h 133175"/>
                <a:gd name="connsiteX74" fmla="*/ 86264 w 138022"/>
                <a:gd name="connsiteY74" fmla="*/ 13156 h 133175"/>
                <a:gd name="connsiteX75" fmla="*/ 88181 w 138022"/>
                <a:gd name="connsiteY75" fmla="*/ 18263 h 133175"/>
                <a:gd name="connsiteX76" fmla="*/ 107351 w 138022"/>
                <a:gd name="connsiteY76" fmla="*/ 33585 h 133175"/>
                <a:gd name="connsiteX77" fmla="*/ 107990 w 138022"/>
                <a:gd name="connsiteY77" fmla="*/ 33585 h 133175"/>
                <a:gd name="connsiteX78" fmla="*/ 113741 w 138022"/>
                <a:gd name="connsiteY78" fmla="*/ 33585 h 133175"/>
                <a:gd name="connsiteX79" fmla="*/ 112463 w 138022"/>
                <a:gd name="connsiteY79" fmla="*/ 38692 h 133175"/>
                <a:gd name="connsiteX80" fmla="*/ 119492 w 138022"/>
                <a:gd name="connsiteY80" fmla="*/ 62951 h 133175"/>
                <a:gd name="connsiteX81" fmla="*/ 120131 w 138022"/>
                <a:gd name="connsiteY81" fmla="*/ 63590 h 133175"/>
                <a:gd name="connsiteX82" fmla="*/ 123965 w 138022"/>
                <a:gd name="connsiteY82" fmla="*/ 67420 h 133175"/>
                <a:gd name="connsiteX83" fmla="*/ 120131 w 138022"/>
                <a:gd name="connsiteY83" fmla="*/ 71251 h 13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8022" h="133175">
                  <a:moveTo>
                    <a:pt x="128438" y="54014"/>
                  </a:moveTo>
                  <a:cubicBezTo>
                    <a:pt x="126521" y="52737"/>
                    <a:pt x="125243" y="51460"/>
                    <a:pt x="123326" y="49545"/>
                  </a:cubicBezTo>
                  <a:cubicBezTo>
                    <a:pt x="123326" y="47630"/>
                    <a:pt x="123965" y="45076"/>
                    <a:pt x="124604" y="43161"/>
                  </a:cubicBezTo>
                  <a:cubicBezTo>
                    <a:pt x="129077" y="36777"/>
                    <a:pt x="127160" y="27201"/>
                    <a:pt x="120770" y="22732"/>
                  </a:cubicBezTo>
                  <a:cubicBezTo>
                    <a:pt x="116936" y="20179"/>
                    <a:pt x="112463" y="19540"/>
                    <a:pt x="108629" y="20817"/>
                  </a:cubicBezTo>
                  <a:cubicBezTo>
                    <a:pt x="106712" y="20817"/>
                    <a:pt x="104795" y="20817"/>
                    <a:pt x="102878" y="20179"/>
                  </a:cubicBezTo>
                  <a:cubicBezTo>
                    <a:pt x="101600" y="18263"/>
                    <a:pt x="100961" y="16348"/>
                    <a:pt x="100322" y="14433"/>
                  </a:cubicBezTo>
                  <a:cubicBezTo>
                    <a:pt x="98405" y="9326"/>
                    <a:pt x="96488" y="2942"/>
                    <a:pt x="90737" y="1027"/>
                  </a:cubicBezTo>
                  <a:cubicBezTo>
                    <a:pt x="84986" y="-250"/>
                    <a:pt x="79235" y="1665"/>
                    <a:pt x="74762" y="5495"/>
                  </a:cubicBezTo>
                  <a:cubicBezTo>
                    <a:pt x="73484" y="8687"/>
                    <a:pt x="69650" y="9326"/>
                    <a:pt x="66455" y="8049"/>
                  </a:cubicBezTo>
                  <a:cubicBezTo>
                    <a:pt x="65177" y="7411"/>
                    <a:pt x="64538" y="6772"/>
                    <a:pt x="63899" y="5495"/>
                  </a:cubicBezTo>
                  <a:cubicBezTo>
                    <a:pt x="59426" y="1027"/>
                    <a:pt x="53675" y="-888"/>
                    <a:pt x="47925" y="388"/>
                  </a:cubicBezTo>
                  <a:cubicBezTo>
                    <a:pt x="41535" y="2304"/>
                    <a:pt x="38979" y="8687"/>
                    <a:pt x="37701" y="13795"/>
                  </a:cubicBezTo>
                  <a:cubicBezTo>
                    <a:pt x="37062" y="15710"/>
                    <a:pt x="36423" y="17625"/>
                    <a:pt x="35145" y="19540"/>
                  </a:cubicBezTo>
                  <a:cubicBezTo>
                    <a:pt x="33228" y="20179"/>
                    <a:pt x="30672" y="20179"/>
                    <a:pt x="28755" y="20179"/>
                  </a:cubicBezTo>
                  <a:cubicBezTo>
                    <a:pt x="21087" y="17625"/>
                    <a:pt x="12780" y="22732"/>
                    <a:pt x="10863" y="30393"/>
                  </a:cubicBezTo>
                  <a:cubicBezTo>
                    <a:pt x="9585" y="34223"/>
                    <a:pt x="10224" y="38692"/>
                    <a:pt x="12780" y="42523"/>
                  </a:cubicBezTo>
                  <a:cubicBezTo>
                    <a:pt x="13419" y="44438"/>
                    <a:pt x="14058" y="46353"/>
                    <a:pt x="14058" y="48268"/>
                  </a:cubicBezTo>
                  <a:cubicBezTo>
                    <a:pt x="12780" y="49545"/>
                    <a:pt x="10863" y="50822"/>
                    <a:pt x="9585" y="52099"/>
                  </a:cubicBezTo>
                  <a:cubicBezTo>
                    <a:pt x="5112" y="55291"/>
                    <a:pt x="0" y="59121"/>
                    <a:pt x="0" y="65505"/>
                  </a:cubicBezTo>
                  <a:cubicBezTo>
                    <a:pt x="0" y="71889"/>
                    <a:pt x="5112" y="75719"/>
                    <a:pt x="9585" y="78911"/>
                  </a:cubicBezTo>
                  <a:cubicBezTo>
                    <a:pt x="11502" y="80188"/>
                    <a:pt x="12780" y="81465"/>
                    <a:pt x="14697" y="83380"/>
                  </a:cubicBezTo>
                  <a:cubicBezTo>
                    <a:pt x="14697" y="85295"/>
                    <a:pt x="14058" y="87849"/>
                    <a:pt x="13419" y="89764"/>
                  </a:cubicBezTo>
                  <a:cubicBezTo>
                    <a:pt x="8946" y="96786"/>
                    <a:pt x="10863" y="105724"/>
                    <a:pt x="17253" y="110193"/>
                  </a:cubicBezTo>
                  <a:cubicBezTo>
                    <a:pt x="20448" y="112746"/>
                    <a:pt x="24921" y="113385"/>
                    <a:pt x="29394" y="112108"/>
                  </a:cubicBezTo>
                  <a:cubicBezTo>
                    <a:pt x="31311" y="112108"/>
                    <a:pt x="33228" y="112108"/>
                    <a:pt x="35145" y="112746"/>
                  </a:cubicBezTo>
                  <a:cubicBezTo>
                    <a:pt x="36423" y="114662"/>
                    <a:pt x="37062" y="116577"/>
                    <a:pt x="37701" y="118492"/>
                  </a:cubicBezTo>
                  <a:cubicBezTo>
                    <a:pt x="39617" y="123599"/>
                    <a:pt x="41535" y="129983"/>
                    <a:pt x="47285" y="131898"/>
                  </a:cubicBezTo>
                  <a:cubicBezTo>
                    <a:pt x="53036" y="133175"/>
                    <a:pt x="58787" y="131260"/>
                    <a:pt x="63260" y="127430"/>
                  </a:cubicBezTo>
                  <a:cubicBezTo>
                    <a:pt x="65177" y="126153"/>
                    <a:pt x="66455" y="124876"/>
                    <a:pt x="68372" y="124238"/>
                  </a:cubicBezTo>
                  <a:cubicBezTo>
                    <a:pt x="70289" y="124876"/>
                    <a:pt x="72206" y="126153"/>
                    <a:pt x="73484" y="127430"/>
                  </a:cubicBezTo>
                  <a:cubicBezTo>
                    <a:pt x="77318" y="130622"/>
                    <a:pt x="81791" y="132537"/>
                    <a:pt x="86264" y="133175"/>
                  </a:cubicBezTo>
                  <a:cubicBezTo>
                    <a:pt x="87542" y="133175"/>
                    <a:pt x="88820" y="133175"/>
                    <a:pt x="89459" y="132537"/>
                  </a:cubicBezTo>
                  <a:cubicBezTo>
                    <a:pt x="95849" y="130622"/>
                    <a:pt x="97766" y="124238"/>
                    <a:pt x="99683" y="119130"/>
                  </a:cubicBezTo>
                  <a:cubicBezTo>
                    <a:pt x="100322" y="117215"/>
                    <a:pt x="100961" y="115300"/>
                    <a:pt x="102239" y="114023"/>
                  </a:cubicBezTo>
                  <a:cubicBezTo>
                    <a:pt x="104156" y="113385"/>
                    <a:pt x="106712" y="113385"/>
                    <a:pt x="108629" y="113385"/>
                  </a:cubicBezTo>
                  <a:cubicBezTo>
                    <a:pt x="116297" y="115300"/>
                    <a:pt x="124604" y="110831"/>
                    <a:pt x="126521" y="103170"/>
                  </a:cubicBezTo>
                  <a:cubicBezTo>
                    <a:pt x="127799" y="99340"/>
                    <a:pt x="127160" y="94871"/>
                    <a:pt x="125243" y="91679"/>
                  </a:cubicBezTo>
                  <a:cubicBezTo>
                    <a:pt x="124604" y="89764"/>
                    <a:pt x="123965" y="87849"/>
                    <a:pt x="123965" y="85934"/>
                  </a:cubicBezTo>
                  <a:cubicBezTo>
                    <a:pt x="125243" y="84657"/>
                    <a:pt x="127160" y="83380"/>
                    <a:pt x="128438" y="82103"/>
                  </a:cubicBezTo>
                  <a:cubicBezTo>
                    <a:pt x="133550" y="79550"/>
                    <a:pt x="137384" y="74443"/>
                    <a:pt x="138023" y="68697"/>
                  </a:cubicBezTo>
                  <a:cubicBezTo>
                    <a:pt x="138023" y="61675"/>
                    <a:pt x="132911" y="57206"/>
                    <a:pt x="128438" y="54014"/>
                  </a:cubicBezTo>
                  <a:close/>
                  <a:moveTo>
                    <a:pt x="120131" y="71251"/>
                  </a:moveTo>
                  <a:cubicBezTo>
                    <a:pt x="111185" y="75081"/>
                    <a:pt x="107990" y="85934"/>
                    <a:pt x="111824" y="94233"/>
                  </a:cubicBezTo>
                  <a:cubicBezTo>
                    <a:pt x="111824" y="94233"/>
                    <a:pt x="111824" y="94871"/>
                    <a:pt x="112463" y="94871"/>
                  </a:cubicBezTo>
                  <a:cubicBezTo>
                    <a:pt x="113102" y="96786"/>
                    <a:pt x="113741" y="98702"/>
                    <a:pt x="113741" y="100617"/>
                  </a:cubicBezTo>
                  <a:cubicBezTo>
                    <a:pt x="111824" y="100617"/>
                    <a:pt x="109907" y="101255"/>
                    <a:pt x="107990" y="101255"/>
                  </a:cubicBezTo>
                  <a:cubicBezTo>
                    <a:pt x="103517" y="100617"/>
                    <a:pt x="98405" y="101894"/>
                    <a:pt x="94571" y="103809"/>
                  </a:cubicBezTo>
                  <a:cubicBezTo>
                    <a:pt x="91376" y="107001"/>
                    <a:pt x="88820" y="110831"/>
                    <a:pt x="87542" y="115300"/>
                  </a:cubicBezTo>
                  <a:cubicBezTo>
                    <a:pt x="86903" y="117215"/>
                    <a:pt x="86264" y="119130"/>
                    <a:pt x="84986" y="120407"/>
                  </a:cubicBezTo>
                  <a:cubicBezTo>
                    <a:pt x="83069" y="119769"/>
                    <a:pt x="81791" y="118492"/>
                    <a:pt x="79874" y="117215"/>
                  </a:cubicBezTo>
                  <a:cubicBezTo>
                    <a:pt x="76679" y="114023"/>
                    <a:pt x="72206" y="112108"/>
                    <a:pt x="67733" y="111470"/>
                  </a:cubicBezTo>
                  <a:lnTo>
                    <a:pt x="67733" y="111470"/>
                  </a:lnTo>
                  <a:cubicBezTo>
                    <a:pt x="63260" y="112108"/>
                    <a:pt x="58787" y="114023"/>
                    <a:pt x="54954" y="116577"/>
                  </a:cubicBezTo>
                  <a:cubicBezTo>
                    <a:pt x="53675" y="117854"/>
                    <a:pt x="51759" y="118492"/>
                    <a:pt x="50480" y="119130"/>
                  </a:cubicBezTo>
                  <a:cubicBezTo>
                    <a:pt x="49841" y="117215"/>
                    <a:pt x="49202" y="115938"/>
                    <a:pt x="48564" y="114023"/>
                  </a:cubicBezTo>
                  <a:cubicBezTo>
                    <a:pt x="47285" y="104447"/>
                    <a:pt x="38979" y="98063"/>
                    <a:pt x="29394" y="98702"/>
                  </a:cubicBezTo>
                  <a:cubicBezTo>
                    <a:pt x="28755" y="98702"/>
                    <a:pt x="28755" y="98702"/>
                    <a:pt x="28116" y="98702"/>
                  </a:cubicBezTo>
                  <a:lnTo>
                    <a:pt x="22365" y="98702"/>
                  </a:lnTo>
                  <a:cubicBezTo>
                    <a:pt x="22365" y="96786"/>
                    <a:pt x="23004" y="94871"/>
                    <a:pt x="23643" y="92956"/>
                  </a:cubicBezTo>
                  <a:cubicBezTo>
                    <a:pt x="28116" y="84657"/>
                    <a:pt x="25560" y="73804"/>
                    <a:pt x="16614" y="68697"/>
                  </a:cubicBezTo>
                  <a:cubicBezTo>
                    <a:pt x="16614" y="68697"/>
                    <a:pt x="15975" y="68697"/>
                    <a:pt x="15975" y="68059"/>
                  </a:cubicBezTo>
                  <a:cubicBezTo>
                    <a:pt x="14697" y="66782"/>
                    <a:pt x="13419" y="65505"/>
                    <a:pt x="12141" y="64228"/>
                  </a:cubicBezTo>
                  <a:cubicBezTo>
                    <a:pt x="13419" y="62951"/>
                    <a:pt x="14697" y="61675"/>
                    <a:pt x="16614" y="60398"/>
                  </a:cubicBezTo>
                  <a:cubicBezTo>
                    <a:pt x="20448" y="57844"/>
                    <a:pt x="23643" y="54652"/>
                    <a:pt x="25560" y="50183"/>
                  </a:cubicBezTo>
                  <a:cubicBezTo>
                    <a:pt x="26838" y="45715"/>
                    <a:pt x="26199" y="40607"/>
                    <a:pt x="24282" y="36777"/>
                  </a:cubicBezTo>
                  <a:cubicBezTo>
                    <a:pt x="23643" y="34862"/>
                    <a:pt x="23004" y="32947"/>
                    <a:pt x="23004" y="31031"/>
                  </a:cubicBezTo>
                  <a:cubicBezTo>
                    <a:pt x="24921" y="31031"/>
                    <a:pt x="26838" y="31031"/>
                    <a:pt x="28755" y="31031"/>
                  </a:cubicBezTo>
                  <a:cubicBezTo>
                    <a:pt x="33228" y="31670"/>
                    <a:pt x="38340" y="30393"/>
                    <a:pt x="42174" y="28478"/>
                  </a:cubicBezTo>
                  <a:cubicBezTo>
                    <a:pt x="45369" y="25286"/>
                    <a:pt x="47925" y="21455"/>
                    <a:pt x="49202" y="16987"/>
                  </a:cubicBezTo>
                  <a:cubicBezTo>
                    <a:pt x="49841" y="15071"/>
                    <a:pt x="50480" y="13156"/>
                    <a:pt x="51759" y="11879"/>
                  </a:cubicBezTo>
                  <a:cubicBezTo>
                    <a:pt x="53675" y="12518"/>
                    <a:pt x="54954" y="13795"/>
                    <a:pt x="56870" y="15071"/>
                  </a:cubicBezTo>
                  <a:cubicBezTo>
                    <a:pt x="60065" y="18263"/>
                    <a:pt x="64538" y="20179"/>
                    <a:pt x="69011" y="20817"/>
                  </a:cubicBezTo>
                  <a:cubicBezTo>
                    <a:pt x="73484" y="20179"/>
                    <a:pt x="77957" y="18263"/>
                    <a:pt x="81791" y="15710"/>
                  </a:cubicBezTo>
                  <a:cubicBezTo>
                    <a:pt x="83069" y="14433"/>
                    <a:pt x="84986" y="13795"/>
                    <a:pt x="86264" y="13156"/>
                  </a:cubicBezTo>
                  <a:cubicBezTo>
                    <a:pt x="86903" y="15071"/>
                    <a:pt x="87542" y="16348"/>
                    <a:pt x="88181" y="18263"/>
                  </a:cubicBezTo>
                  <a:cubicBezTo>
                    <a:pt x="89459" y="27839"/>
                    <a:pt x="97766" y="34862"/>
                    <a:pt x="107351" y="33585"/>
                  </a:cubicBezTo>
                  <a:cubicBezTo>
                    <a:pt x="107351" y="33585"/>
                    <a:pt x="107990" y="33585"/>
                    <a:pt x="107990" y="33585"/>
                  </a:cubicBezTo>
                  <a:cubicBezTo>
                    <a:pt x="109907" y="33585"/>
                    <a:pt x="112463" y="33585"/>
                    <a:pt x="113741" y="33585"/>
                  </a:cubicBezTo>
                  <a:cubicBezTo>
                    <a:pt x="113102" y="35500"/>
                    <a:pt x="113102" y="37415"/>
                    <a:pt x="112463" y="38692"/>
                  </a:cubicBezTo>
                  <a:cubicBezTo>
                    <a:pt x="107990" y="46991"/>
                    <a:pt x="110546" y="57844"/>
                    <a:pt x="119492" y="62951"/>
                  </a:cubicBezTo>
                  <a:cubicBezTo>
                    <a:pt x="119492" y="62951"/>
                    <a:pt x="120131" y="62951"/>
                    <a:pt x="120131" y="63590"/>
                  </a:cubicBezTo>
                  <a:cubicBezTo>
                    <a:pt x="121409" y="64867"/>
                    <a:pt x="122687" y="66143"/>
                    <a:pt x="123965" y="67420"/>
                  </a:cubicBezTo>
                  <a:cubicBezTo>
                    <a:pt x="123326" y="69335"/>
                    <a:pt x="122048" y="69974"/>
                    <a:pt x="120131" y="71251"/>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6" name="Graphic 4">
              <a:extLst>
                <a:ext uri="{FF2B5EF4-FFF2-40B4-BE49-F238E27FC236}">
                  <a16:creationId xmlns:a16="http://schemas.microsoft.com/office/drawing/2014/main" id="{678DE37D-5EE9-F52D-4823-2A7C09827B80}"/>
                </a:ext>
              </a:extLst>
            </p:cNvPr>
            <p:cNvSpPr/>
            <p:nvPr/>
          </p:nvSpPr>
          <p:spPr>
            <a:xfrm>
              <a:off x="2769705" y="1505030"/>
              <a:ext cx="51144" cy="50601"/>
            </a:xfrm>
            <a:custGeom>
              <a:avLst/>
              <a:gdLst>
                <a:gd name="connsiteX0" fmla="*/ 17585 w 51144"/>
                <a:gd name="connsiteY0" fmla="*/ 1114 h 50601"/>
                <a:gd name="connsiteX1" fmla="*/ 2888 w 51144"/>
                <a:gd name="connsiteY1" fmla="*/ 13243 h 50601"/>
                <a:gd name="connsiteX2" fmla="*/ 13751 w 51144"/>
                <a:gd name="connsiteY2" fmla="*/ 47717 h 50601"/>
                <a:gd name="connsiteX3" fmla="*/ 48256 w 51144"/>
                <a:gd name="connsiteY3" fmla="*/ 36864 h 50601"/>
                <a:gd name="connsiteX4" fmla="*/ 37393 w 51144"/>
                <a:gd name="connsiteY4" fmla="*/ 2390 h 50601"/>
                <a:gd name="connsiteX5" fmla="*/ 17585 w 51144"/>
                <a:gd name="connsiteY5" fmla="*/ 1114 h 50601"/>
                <a:gd name="connsiteX6" fmla="*/ 28447 w 51144"/>
                <a:gd name="connsiteY6" fmla="*/ 37502 h 50601"/>
                <a:gd name="connsiteX7" fmla="*/ 13751 w 51144"/>
                <a:gd name="connsiteY7" fmla="*/ 26650 h 50601"/>
                <a:gd name="connsiteX8" fmla="*/ 20780 w 51144"/>
                <a:gd name="connsiteY8" fmla="*/ 13243 h 50601"/>
                <a:gd name="connsiteX9" fmla="*/ 24613 w 51144"/>
                <a:gd name="connsiteY9" fmla="*/ 12605 h 50601"/>
                <a:gd name="connsiteX10" fmla="*/ 36755 w 51144"/>
                <a:gd name="connsiteY10" fmla="*/ 26011 h 50601"/>
                <a:gd name="connsiteX11" fmla="*/ 28447 w 51144"/>
                <a:gd name="connsiteY11" fmla="*/ 37502 h 5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44" h="50601">
                  <a:moveTo>
                    <a:pt x="17585" y="1114"/>
                  </a:moveTo>
                  <a:cubicBezTo>
                    <a:pt x="11195" y="3029"/>
                    <a:pt x="5444" y="7498"/>
                    <a:pt x="2888" y="13243"/>
                  </a:cubicBezTo>
                  <a:cubicBezTo>
                    <a:pt x="-3502" y="26011"/>
                    <a:pt x="971" y="41333"/>
                    <a:pt x="13751" y="47717"/>
                  </a:cubicBezTo>
                  <a:cubicBezTo>
                    <a:pt x="26531" y="54101"/>
                    <a:pt x="41866" y="49632"/>
                    <a:pt x="48256" y="36864"/>
                  </a:cubicBezTo>
                  <a:cubicBezTo>
                    <a:pt x="54646" y="24096"/>
                    <a:pt x="50173" y="8774"/>
                    <a:pt x="37393" y="2390"/>
                  </a:cubicBezTo>
                  <a:cubicBezTo>
                    <a:pt x="31003" y="-163"/>
                    <a:pt x="23975" y="-802"/>
                    <a:pt x="17585" y="1114"/>
                  </a:cubicBezTo>
                  <a:close/>
                  <a:moveTo>
                    <a:pt x="28447" y="37502"/>
                  </a:moveTo>
                  <a:cubicBezTo>
                    <a:pt x="21419" y="38779"/>
                    <a:pt x="15029" y="33672"/>
                    <a:pt x="13751" y="26650"/>
                  </a:cubicBezTo>
                  <a:cubicBezTo>
                    <a:pt x="13112" y="20904"/>
                    <a:pt x="15668" y="15797"/>
                    <a:pt x="20780" y="13243"/>
                  </a:cubicBezTo>
                  <a:cubicBezTo>
                    <a:pt x="22058" y="12605"/>
                    <a:pt x="23336" y="12605"/>
                    <a:pt x="24613" y="12605"/>
                  </a:cubicBezTo>
                  <a:cubicBezTo>
                    <a:pt x="31642" y="13243"/>
                    <a:pt x="36755" y="18989"/>
                    <a:pt x="36755" y="26011"/>
                  </a:cubicBezTo>
                  <a:cubicBezTo>
                    <a:pt x="36755" y="31118"/>
                    <a:pt x="33560" y="35587"/>
                    <a:pt x="28447" y="3750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sp>
        <p:nvSpPr>
          <p:cNvPr id="87" name="Text Placeholder 3">
            <a:extLst>
              <a:ext uri="{FF2B5EF4-FFF2-40B4-BE49-F238E27FC236}">
                <a16:creationId xmlns:a16="http://schemas.microsoft.com/office/drawing/2014/main" id="{F80A95B0-F951-F0DD-C510-F1D450AA8541}"/>
              </a:ext>
            </a:extLst>
          </p:cNvPr>
          <p:cNvSpPr txBox="1">
            <a:spLocks/>
          </p:cNvSpPr>
          <p:nvPr/>
        </p:nvSpPr>
        <p:spPr>
          <a:xfrm>
            <a:off x="655982" y="4707167"/>
            <a:ext cx="2376944" cy="276999"/>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ts val="0"/>
              </a:spcBef>
              <a:spcAft>
                <a:spcPts val="0"/>
              </a:spcAft>
              <a:buClrTx/>
              <a:buSzPct val="100000"/>
              <a:buFont typeface="Arial" panose="020B0604020202020204" pitchFamily="34" charset="0"/>
              <a:buNone/>
              <a:tabLst/>
              <a:defRPr/>
            </a:pPr>
            <a:r>
              <a:rPr kumimoji="0" lang="en-GB" sz="1800" b="1" i="0" u="none" strike="noStrike" kern="1200" cap="none" spc="0" normalizeH="0" baseline="0" noProof="0">
                <a:ln>
                  <a:noFill/>
                </a:ln>
                <a:solidFill>
                  <a:srgbClr val="86BC25"/>
                </a:solidFill>
                <a:effectLst/>
                <a:uLnTx/>
                <a:uFillTx/>
                <a:latin typeface="Calibri" panose="020F0502020204030204" pitchFamily="34" charset="0"/>
                <a:ea typeface="Calibri" panose="020F0502020204030204" pitchFamily="34" charset="0"/>
                <a:cs typeface="Calibri" panose="020F0502020204030204" pitchFamily="34" charset="0"/>
              </a:rPr>
              <a:t>Technology Stack:
- Python &amp; Pydantic
- OpenCV &amp; Scikit-Image
- PyMuPDF (fitz)
- EasyOCR &amp; Vision LLMs </a:t>
            </a:r>
          </a:p>
        </p:txBody>
      </p:sp>
      <p:sp>
        <p:nvSpPr>
          <p:cNvPr id="88" name="Text Placeholder 3">
            <a:extLst>
              <a:ext uri="{FF2B5EF4-FFF2-40B4-BE49-F238E27FC236}">
                <a16:creationId xmlns:a16="http://schemas.microsoft.com/office/drawing/2014/main" id="{5E1826F6-654C-ED8B-0811-65A62DAFB63D}"/>
              </a:ext>
            </a:extLst>
          </p:cNvPr>
          <p:cNvSpPr txBox="1">
            <a:spLocks/>
          </p:cNvSpPr>
          <p:nvPr/>
        </p:nvSpPr>
        <p:spPr>
          <a:xfrm>
            <a:off x="642036" y="1397123"/>
            <a:ext cx="2376944" cy="569387"/>
          </a:xfrm>
          <a:prstGeom prst="rect">
            <a:avLst/>
          </a:prstGeom>
        </p:spPr>
        <p:txBody>
          <a:bodyPr wrap="square" lIns="0" tIns="9144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300"/>
              </a:spcAft>
              <a:buClrTx/>
              <a:buSzPct val="100000"/>
              <a:buFont typeface="Arial" panose="020B0604020202020204" pitchFamily="34" charset="0"/>
              <a:buNone/>
              <a:tabLst/>
              <a:defRPr/>
            </a:pPr>
            <a:r>
              <a:rPr kumimoji="0" lang="en-US" sz="1800" b="1" i="0" u="none" strike="noStrike" kern="1200" cap="none" spc="0" normalizeH="0" baseline="0" noProof="0">
                <a:ln>
                  <a:noFill/>
                </a:ln>
                <a:solidFill>
                  <a:srgbClr val="86BC25"/>
                </a:solidFill>
                <a:effectLst/>
                <a:uLnTx/>
                <a:uFillTx/>
                <a:latin typeface="Calibri" panose="020F0502020204030204" pitchFamily="34" charset="0"/>
                <a:ea typeface="Calibri" panose="020F0502020204030204" pitchFamily="34" charset="0"/>
                <a:cs typeface="Calibri" panose="020F0502020204030204" pitchFamily="34" charset="0"/>
              </a:rPr>
              <a:t>Industry:</a:t>
            </a:r>
          </a:p>
          <a:p>
            <a:pPr marL="0" lvl="1" defTabSz="1217613" eaLnBrk="0" fontAlgn="base" hangingPunct="0">
              <a:spcBef>
                <a:spcPct val="0"/>
              </a:spcBef>
              <a:spcAft>
                <a:spcPts val="300"/>
              </a:spcAft>
              <a:buSzPct val="100000"/>
              <a:defRPr/>
            </a:pPr>
            <a:r>
              <a:rPr lang="en-US" sz="1050">
                <a:solidFill>
                  <a:prstClr val="black"/>
                </a:solidFill>
                <a:latin typeface="Calibri"/>
                <a:ea typeface="Calibri"/>
                <a:cs typeface="Calibri"/>
              </a:rPr>
              <a:t>Enterprise Documents, Forms, Presentations</a:t>
            </a:r>
            <a:endParaRPr lang="en-US" sz="105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9" name="Text Placeholder 3">
            <a:extLst>
              <a:ext uri="{FF2B5EF4-FFF2-40B4-BE49-F238E27FC236}">
                <a16:creationId xmlns:a16="http://schemas.microsoft.com/office/drawing/2014/main" id="{7DEE6CDB-F581-7040-36D6-4FF077230069}"/>
              </a:ext>
            </a:extLst>
          </p:cNvPr>
          <p:cNvSpPr txBox="1">
            <a:spLocks/>
          </p:cNvSpPr>
          <p:nvPr/>
        </p:nvSpPr>
        <p:spPr>
          <a:xfrm>
            <a:off x="642036" y="1875599"/>
            <a:ext cx="2367864" cy="1131079"/>
          </a:xfrm>
          <a:prstGeom prst="rect">
            <a:avLst/>
          </a:prstGeom>
        </p:spPr>
        <p:txBody>
          <a:bodyPr wrap="square" lIns="0" tIns="9144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marR="0" lvl="1" indent="-9525" algn="l" defTabSz="1217613" rtl="0" eaLnBrk="0" fontAlgn="base" latinLnBrk="0" hangingPunct="0">
              <a:lnSpc>
                <a:spcPct val="100000"/>
              </a:lnSpc>
              <a:spcBef>
                <a:spcPct val="0"/>
              </a:spcBef>
              <a:spcAft>
                <a:spcPts val="300"/>
              </a:spcAft>
              <a:buClrTx/>
              <a:buSzPct val="100000"/>
              <a:buFont typeface="Arial" panose="020B0604020202020204" pitchFamily="34" charset="0"/>
              <a:buNone/>
              <a:tabLst/>
              <a:defRPr/>
            </a:pPr>
            <a:r>
              <a:rPr kumimoji="0" lang="en-US" sz="1800" b="1" i="0" u="none" strike="noStrike" kern="1200" cap="none" spc="0" normalizeH="0" baseline="0" noProof="0">
                <a:ln>
                  <a:noFill/>
                </a:ln>
                <a:solidFill>
                  <a:srgbClr val="86BC25"/>
                </a:solidFill>
                <a:effectLst/>
                <a:uLnTx/>
                <a:uFillTx/>
                <a:latin typeface="Calibri" panose="020F0502020204030204" pitchFamily="34" charset="0"/>
                <a:ea typeface="Calibri" panose="020F0502020204030204" pitchFamily="34" charset="0"/>
                <a:cs typeface="Calibri" panose="020F0502020204030204" pitchFamily="34" charset="0"/>
              </a:rPr>
              <a:t>Themes:</a:t>
            </a:r>
          </a:p>
          <a:p>
            <a:pPr marL="171450" lvl="1" indent="-171450" defTabSz="1217613">
              <a:spcBef>
                <a:spcPct val="0"/>
              </a:spcBef>
              <a:spcAft>
                <a:spcPts val="300"/>
              </a:spcAft>
              <a:buSzPct val="100000"/>
              <a:buFont typeface="Arial" panose="020B0604020202020204" pitchFamily="34" charset="0"/>
              <a:buChar char="•"/>
              <a:defRPr/>
            </a:pPr>
            <a:r>
              <a:rPr lang="en-US" sz="1050">
                <a:solidFill>
                  <a:prstClr val="black"/>
                </a:solidFill>
                <a:latin typeface="Open Sans"/>
                <a:ea typeface="+mn-lt"/>
                <a:cs typeface="Open Sans"/>
              </a:rPr>
              <a:t>Layout-Aware Document Extraction</a:t>
            </a:r>
            <a:endParaRPr lang="en-US">
              <a:solidFill>
                <a:prstClr val="black"/>
              </a:solidFill>
            </a:endParaRPr>
          </a:p>
          <a:p>
            <a:pPr marL="171450" lvl="1" indent="-171450" defTabSz="1217613">
              <a:spcBef>
                <a:spcPct val="0"/>
              </a:spcBef>
              <a:spcAft>
                <a:spcPts val="300"/>
              </a:spcAft>
              <a:buSzPct val="100000"/>
              <a:buFont typeface="Arial" panose="020B0604020202020204" pitchFamily="34" charset="0"/>
              <a:buChar char="•"/>
              <a:defRPr/>
            </a:pPr>
            <a:r>
              <a:rPr lang="en-US" sz="1050">
                <a:solidFill>
                  <a:prstClr val="black"/>
                </a:solidFill>
                <a:latin typeface="Open Sans"/>
                <a:ea typeface="Open Sans"/>
                <a:cs typeface="Open Sans"/>
              </a:rPr>
              <a:t>Format Extractoring</a:t>
            </a:r>
            <a:endParaRPr lang="en-US"/>
          </a:p>
          <a:p>
            <a:pPr marL="171450" lvl="1" indent="-171450" defTabSz="1217613">
              <a:spcBef>
                <a:spcPct val="0"/>
              </a:spcBef>
              <a:spcAft>
                <a:spcPts val="300"/>
              </a:spcAft>
              <a:buSzPct val="100000"/>
              <a:buFont typeface="Arial" panose="020B0604020202020204" pitchFamily="34" charset="0"/>
              <a:buChar char="•"/>
              <a:defRPr/>
            </a:pPr>
            <a:r>
              <a:rPr kumimoji="0" lang="en-US" sz="1050" b="0" i="0" u="none" strike="noStrike" kern="1200" cap="none" spc="0" normalizeH="0" baseline="0" noProof="0">
                <a:ln>
                  <a:noFill/>
                </a:ln>
                <a:solidFill>
                  <a:prstClr val="black"/>
                </a:solidFill>
                <a:effectLst/>
                <a:uLnTx/>
                <a:uFillTx/>
                <a:latin typeface="Open Sans"/>
                <a:ea typeface="Open Sans"/>
                <a:cs typeface="Open Sans"/>
              </a:rPr>
              <a:t>Agentic AI</a:t>
            </a:r>
            <a:r>
              <a:rPr lang="en-US" sz="1050">
                <a:solidFill>
                  <a:prstClr val="black"/>
                </a:solidFill>
                <a:ea typeface="Open Sans"/>
                <a:cs typeface="Open Sans"/>
              </a:rPr>
              <a:t> for Planning and Visual Rendering &amp; Validation</a:t>
            </a:r>
            <a:endParaRPr lang="en-US"/>
          </a:p>
        </p:txBody>
      </p:sp>
      <p:sp>
        <p:nvSpPr>
          <p:cNvPr id="90" name="Text Placeholder 1">
            <a:extLst>
              <a:ext uri="{FF2B5EF4-FFF2-40B4-BE49-F238E27FC236}">
                <a16:creationId xmlns:a16="http://schemas.microsoft.com/office/drawing/2014/main" id="{CA8A6565-4B87-79CE-D83B-AC4430D6FA95}"/>
              </a:ext>
            </a:extLst>
          </p:cNvPr>
          <p:cNvSpPr txBox="1">
            <a:spLocks/>
          </p:cNvSpPr>
          <p:nvPr/>
        </p:nvSpPr>
        <p:spPr>
          <a:xfrm>
            <a:off x="551688" y="754871"/>
            <a:ext cx="11390734" cy="454080"/>
          </a:xfrm>
          <a:prstGeom prst="rect">
            <a:avLst/>
          </a:prstGeom>
        </p:spPr>
        <p:txBody>
          <a:bodyPr vert="horz" lIns="0" tIns="0" rIns="0" bIns="0" rtlCol="0" anchor="t">
            <a:noAutofit/>
          </a:bodyPr>
          <a:lstStyle>
            <a:lvl1pPr marL="0" indent="0" algn="l" defTabSz="914400" rtl="0" eaLnBrk="1" latinLnBrk="0" hangingPunct="1">
              <a:spcBef>
                <a:spcPts val="200"/>
              </a:spcBef>
              <a:spcAft>
                <a:spcPts val="1333"/>
              </a:spcAft>
              <a:buSzPct val="100000"/>
              <a:buFontTx/>
              <a:buNone/>
              <a:defRPr lang="en-US" sz="1800" b="0" kern="1200" noProof="0" dirty="0">
                <a:solidFill>
                  <a:schemeClr val="tx1">
                    <a:lumMod val="75000"/>
                    <a:lumOff val="2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t>An enterprise-grade document extraction platform that shifts document ingestion from flat text-only dumps to layout-aware visual blueprints. The solution improves search relevancy, reduces manual audit costs, and increases accuracy across enterprise document pipelines.</a:t>
            </a:r>
          </a:p>
        </p:txBody>
      </p:sp>
      <p:sp>
        <p:nvSpPr>
          <p:cNvPr id="91" name="Rectangle 90">
            <a:extLst>
              <a:ext uri="{FF2B5EF4-FFF2-40B4-BE49-F238E27FC236}">
                <a16:creationId xmlns:a16="http://schemas.microsoft.com/office/drawing/2014/main" id="{6B02AD52-8864-7FBF-F503-CA2AEE58A859}"/>
              </a:ext>
            </a:extLst>
          </p:cNvPr>
          <p:cNvSpPr/>
          <p:nvPr/>
        </p:nvSpPr>
        <p:spPr bwMode="gray">
          <a:xfrm>
            <a:off x="9195184" y="1198654"/>
            <a:ext cx="2774421" cy="1486024"/>
          </a:xfrm>
          <a:prstGeom prst="rect">
            <a:avLst/>
          </a:prstGeom>
          <a:solidFill>
            <a:srgbClr val="FFFFFF">
              <a:lumMod val="95000"/>
              <a:alpha val="50000"/>
            </a:srgbClr>
          </a:solidFill>
          <a:ln w="19050" algn="ctr">
            <a:noFill/>
            <a:miter lim="800000"/>
            <a:headEnd/>
            <a:tailEnd/>
          </a:ln>
        </p:spPr>
        <p:txBody>
          <a:bodyPr wrap="square" lIns="91440" tIns="91440" rIns="91440" bIns="9144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t>Business Impact</a:t>
            </a:r>
          </a:p>
          <a:p>
            <a:pPr/>
            <a:r>
              <a:t>1. Reduces manual form validation audit costs by 95%.</a:t>
            </a:r>
          </a:p>
          <a:p>
            <a:pPr/>
            <a:r>
              <a:t>2. Preserves 100% of spatial layout and cell grid boundary geometry.</a:t>
            </a:r>
          </a:p>
          <a:p>
            <a:pPr/>
            <a:r>
              <a:t>3. Maximizes downstream LLM prompt relevancy, search accuracy, and semantic retrieval.</a:t>
            </a:r>
          </a:p>
        </p:txBody>
      </p:sp>
      <p:sp>
        <p:nvSpPr>
          <p:cNvPr id="96" name="Text Placeholder 3">
            <a:extLst>
              <a:ext uri="{FF2B5EF4-FFF2-40B4-BE49-F238E27FC236}">
                <a16:creationId xmlns:a16="http://schemas.microsoft.com/office/drawing/2014/main" id="{F6ADAC09-AF1E-7565-51F8-D91A77BD5F15}"/>
              </a:ext>
            </a:extLst>
          </p:cNvPr>
          <p:cNvSpPr txBox="1">
            <a:spLocks/>
          </p:cNvSpPr>
          <p:nvPr/>
        </p:nvSpPr>
        <p:spPr>
          <a:xfrm>
            <a:off x="642266" y="2937250"/>
            <a:ext cx="2350208" cy="1985159"/>
          </a:xfrm>
          <a:prstGeom prst="rect">
            <a:avLst/>
          </a:prstGeom>
        </p:spPr>
        <p:txBody>
          <a:bodyPr wrap="square" lIns="0" tIns="9144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t>Features:</a:t>
            </a:r>
          </a:p>
          <a:p>
            <a:pPr/>
            <a:r>
              <a:t>Unified document ingestion data</a:t>
            </a:r>
          </a:p>
          <a:p>
            <a:pPr/>
            <a:r>
              <a:t>AI layout &amp; structural risk insights</a:t>
            </a:r>
          </a:p>
          <a:p>
            <a:pPr/>
            <a:r>
              <a:t>High-fidelity visual reconstruction prompts</a:t>
            </a:r>
          </a:p>
          <a:p>
            <a:pPr/>
            <a:r>
              <a:t>Human-validated execution updates</a:t>
            </a:r>
          </a:p>
          <a:p>
            <a:pPr/>
            <a:r>
              <a:t>Continuous learning &amp; governance</a:t>
            </a:r>
          </a:p>
          <a:p>
            <a:pPr/>
            <a:r>
              <a:t>Pixel-level SSIM accuracy audits</a:t>
            </a:r>
          </a:p>
          <a:p>
            <a:pPr/>
            <a:r>
              <a:t>Automated coordinate scaling and mapping</a:t>
            </a:r>
          </a:p>
        </p:txBody>
      </p:sp>
      <p:sp>
        <p:nvSpPr>
          <p:cNvPr id="12" name="Rectangle 11">
            <a:extLst>
              <a:ext uri="{FF2B5EF4-FFF2-40B4-BE49-F238E27FC236}">
                <a16:creationId xmlns:a16="http://schemas.microsoft.com/office/drawing/2014/main" id="{96F0CDD9-846C-D185-D490-2C6CE4F970AD}"/>
              </a:ext>
            </a:extLst>
          </p:cNvPr>
          <p:cNvSpPr/>
          <p:nvPr/>
        </p:nvSpPr>
        <p:spPr bwMode="gray">
          <a:xfrm>
            <a:off x="3283597" y="3658612"/>
            <a:ext cx="5700967" cy="3072629"/>
          </a:xfrm>
          <a:prstGeom prst="rect">
            <a:avLst/>
          </a:prstGeom>
          <a:noFill/>
          <a:ln w="19050" algn="ctr">
            <a:noFill/>
            <a:miter lim="800000"/>
            <a:headEnd/>
            <a:tailEnd/>
          </a:ln>
        </p:spPr>
        <p:txBody>
          <a:bodyPr wrap="square" lIns="0" tIns="0" rIns="0" bIns="9144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just" defTabSz="1217613">
              <a:spcAft>
                <a:spcPts val="600"/>
              </a:spcAft>
              <a:buFont typeface="Arial"/>
              <a:buChar char="•"/>
              <a:defRPr/>
            </a:pPr>
            <a:endParaRPr lang="en-US" sz="105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descr="python.png">
            <a:extLst>
              <a:ext uri="{FF2B5EF4-FFF2-40B4-BE49-F238E27FC236}">
                <a16:creationId xmlns:a16="http://schemas.microsoft.com/office/drawing/2014/main" id="{C7EC2190-5305-2CAE-FB00-D8D5F6EAEA0B}"/>
              </a:ext>
            </a:extLst>
          </p:cNvPr>
          <p:cNvPicPr>
            <a:picLocks noChangeAspect="1"/>
          </p:cNvPicPr>
          <p:nvPr/>
        </p:nvPicPr>
        <p:blipFill>
          <a:blip r:embed="rId3"/>
          <a:stretch>
            <a:fillRect/>
          </a:stretch>
        </p:blipFill>
        <p:spPr>
          <a:xfrm>
            <a:off x="633906" y="5046279"/>
            <a:ext cx="632530" cy="360000"/>
          </a:xfrm>
          <a:prstGeom prst="rect">
            <a:avLst/>
          </a:prstGeom>
        </p:spPr>
      </p:pic>
      <p:pic>
        <p:nvPicPr>
          <p:cNvPr id="3" name="Picture 2" descr="azure.jpg">
            <a:extLst>
              <a:ext uri="{FF2B5EF4-FFF2-40B4-BE49-F238E27FC236}">
                <a16:creationId xmlns:a16="http://schemas.microsoft.com/office/drawing/2014/main" id="{538A1AD6-2503-E28E-CE74-702FF8F776D2}"/>
              </a:ext>
            </a:extLst>
          </p:cNvPr>
          <p:cNvPicPr>
            <a:picLocks noChangeAspect="1"/>
          </p:cNvPicPr>
          <p:nvPr/>
        </p:nvPicPr>
        <p:blipFill>
          <a:blip r:embed="rId4"/>
          <a:stretch>
            <a:fillRect/>
          </a:stretch>
        </p:blipFill>
        <p:spPr>
          <a:xfrm>
            <a:off x="1226308" y="5046279"/>
            <a:ext cx="514913" cy="360000"/>
          </a:xfrm>
          <a:prstGeom prst="rect">
            <a:avLst/>
          </a:prstGeom>
        </p:spPr>
      </p:pic>
      <p:pic>
        <p:nvPicPr>
          <p:cNvPr id="4" name="Picture 3" descr="react.png">
            <a:extLst>
              <a:ext uri="{FF2B5EF4-FFF2-40B4-BE49-F238E27FC236}">
                <a16:creationId xmlns:a16="http://schemas.microsoft.com/office/drawing/2014/main" id="{99186707-5D7F-9B9E-05BA-E3D3650E37C6}"/>
              </a:ext>
            </a:extLst>
          </p:cNvPr>
          <p:cNvPicPr>
            <a:picLocks noChangeAspect="1"/>
          </p:cNvPicPr>
          <p:nvPr/>
        </p:nvPicPr>
        <p:blipFill>
          <a:blip r:embed="rId5"/>
          <a:stretch>
            <a:fillRect/>
          </a:stretch>
        </p:blipFill>
        <p:spPr>
          <a:xfrm>
            <a:off x="1792444" y="5046279"/>
            <a:ext cx="1159489" cy="360000"/>
          </a:xfrm>
          <a:prstGeom prst="rect">
            <a:avLst/>
          </a:prstGeom>
        </p:spPr>
      </p:pic>
      <p:pic>
        <p:nvPicPr>
          <p:cNvPr id="39" name="Picture 38">
            <a:extLst>
              <a:ext uri="{FF2B5EF4-FFF2-40B4-BE49-F238E27FC236}">
                <a16:creationId xmlns:a16="http://schemas.microsoft.com/office/drawing/2014/main" id="{70400210-B984-2B5B-C245-792F9FEA1FC1}"/>
              </a:ext>
            </a:extLst>
          </p:cNvPr>
          <p:cNvPicPr>
            <a:picLocks noChangeAspect="1"/>
          </p:cNvPicPr>
          <p:nvPr/>
        </p:nvPicPr>
        <p:blipFill>
          <a:blip r:embed="rId16">
            <a:extLst>
              <a:ext uri="{28A0092B-C50C-407E-A947-70E740481C1C}">
                <a14:useLocalDpi xmlns:a14="http://schemas.microsoft.com/office/drawing/2010/main" val="0"/>
              </a:ext>
            </a:extLst>
          </a:blip>
          <a:srcRect/>
          <a:stretch/>
        </p:blipFill>
        <p:spPr>
          <a:xfrm>
            <a:off x="655982" y="5645348"/>
            <a:ext cx="2101952" cy="360000"/>
          </a:xfrm>
          <a:prstGeom prst="rect">
            <a:avLst/>
          </a:prstGeom>
        </p:spPr>
      </p:pic>
      <p:pic>
        <p:nvPicPr>
          <p:cNvPr id="97" name="Picture 96" descr="validation_audit_mockup_1782197033827.jpg"/>
          <p:cNvPicPr>
            <a:picLocks noChangeAspect="1"/>
          </p:cNvPicPr>
          <p:nvPr/>
        </p:nvPicPr>
        <p:blipFill>
          <a:blip r:embed="rId17"/>
          <a:stretch>
            <a:fillRect/>
          </a:stretch>
        </p:blipFill>
        <p:spPr>
          <a:xfrm>
            <a:off x="9192276" y="2715272"/>
            <a:ext cx="2780330" cy="4011942"/>
          </a:xfrm>
          <a:prstGeom prst="rect">
            <a:avLst/>
          </a:prstGeom>
        </p:spPr>
      </p:pic>
    </p:spTree>
    <p:extLst>
      <p:ext uri="{BB962C8B-B14F-4D97-AF65-F5344CB8AC3E}">
        <p14:creationId xmlns:p14="http://schemas.microsoft.com/office/powerpoint/2010/main" val="3439465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2BA07B-8202-A7DF-A2D9-DD6C8B227D2B}"/>
              </a:ext>
            </a:extLst>
          </p:cNvPr>
          <p:cNvSpPr txBox="1"/>
          <p:nvPr/>
        </p:nvSpPr>
        <p:spPr>
          <a:xfrm>
            <a:off x="622263" y="1150000"/>
            <a:ext cx="5075510" cy="2300000"/>
          </a:xfrm>
          <a:prstGeom prst="rect">
            <a:avLst/>
          </a:prstGeom>
          <a:noFill/>
        </p:spPr>
        <p:txBody>
          <a:bodyPr wrap="square" lIns="0" tIns="0" rIns="0" bIns="0" rtlCol="0" anchor="t">
            <a:spAutoFit/>
          </a:bodyPr>
          <a:lstStyle/>
          <a:p>
            <a:pPr/>
            <a:r>
              <a:t>Challenge / Context: Financial and legal institutions ingest thousands of layout-dense PDFs, forms, and presentations daily. Standard parsers strip formatting, collapsing tables and discarding checkboxes. This makes it impossible for automated systems to verify signatures, check inputs, or parse data matrices, forcing slow and expensive manual reviews.</a:t>
            </a:r>
          </a:p>
          <a:p>
            <a:pPr/>
            <a:r>
              <a:t>Downstream LLMs also underperform because crucial visual structure and layout context are lost during ingestion.</a:t>
            </a:r>
          </a:p>
          <a:p>
            <a:pPr/>
            <a:r>
              <a:t>Our solution: AetherMind's multi-agent visual parsing framework. It maps spatial coordinates recursively and uses visual LLMs to transcribe illustrations. Through a closed-loop FormRenderer and SSIM validation engine, it audits extraction accuracy automatically, reducing human review costs by 95%.</a:t>
            </a:r>
          </a:p>
          <a:p>
            <a:pPr/>
            <a:r>
              <a:t> High level overview:</a:t>
            </a:r>
          </a:p>
        </p:txBody>
      </p:sp>
      <p:sp>
        <p:nvSpPr>
          <p:cNvPr id="11" name="Title 2">
            <a:extLst>
              <a:ext uri="{FF2B5EF4-FFF2-40B4-BE49-F238E27FC236}">
                <a16:creationId xmlns:a16="http://schemas.microsoft.com/office/drawing/2014/main" id="{2C7D1CA4-5D38-D4D7-F345-DE4637EA2038}"/>
              </a:ext>
            </a:extLst>
          </p:cNvPr>
          <p:cNvSpPr txBox="1">
            <a:spLocks/>
          </p:cNvSpPr>
          <p:nvPr/>
        </p:nvSpPr>
        <p:spPr bwMode="gray">
          <a:xfrm>
            <a:off x="498431" y="113490"/>
            <a:ext cx="11252200" cy="672005"/>
          </a:xfrm>
          <a:prstGeom prst="rect">
            <a:avLst/>
          </a:prstGeom>
        </p:spPr>
        <p:txBody>
          <a:bodyPr vert="horz" lIns="0" tIns="0" rIns="0" bIns="0" rtlCol="0" anchor="t" anchorCtr="0">
            <a:noAutofit/>
          </a:bodyPr>
          <a:lstStyle>
            <a:lvl1pPr algn="l" defTabSz="1219170" rtl="0" eaLnBrk="1" latinLnBrk="0" hangingPunct="1">
              <a:spcBef>
                <a:spcPct val="0"/>
              </a:spcBef>
              <a:buNone/>
              <a:defRPr sz="2000" b="1" kern="1200">
                <a:solidFill>
                  <a:schemeClr val="tx1"/>
                </a:solidFill>
                <a:latin typeface="+mj-lt"/>
                <a:ea typeface="+mj-ea"/>
                <a:cs typeface="+mj-cs"/>
              </a:defRPr>
            </a:lvl1pPr>
          </a:lstStyle>
          <a:p>
            <a:pPr>
              <a:defRPr/>
            </a:pPr>
            <a:r>
              <a:rPr kumimoji="0" lang="en-US" sz="2000" b="1" i="0" u="none" strike="noStrike" kern="1200" cap="none" spc="0" normalizeH="0" baseline="0" noProof="0">
                <a:ln>
                  <a:noFill/>
                </a:ln>
                <a:solidFill>
                  <a:sysClr val="windowText" lastClr="000000"/>
                </a:solidFill>
                <a:effectLst/>
                <a:uLnTx/>
                <a:uFillTx/>
                <a:latin typeface="Verdana"/>
                <a:ea typeface="Verdana"/>
              </a:rPr>
              <a:t>Case Study : Lossless Layout Ingestion and Visual Reconstruction in Enterprise Forms</a:t>
            </a:r>
            <a:r>
              <a:rPr lang="en-US">
                <a:solidFill>
                  <a:sysClr val="windowText" lastClr="000000"/>
                </a:solidFill>
                <a:latin typeface="Verdana"/>
                <a:ea typeface="Verdana"/>
                <a:cs typeface="+mj-lt"/>
              </a:rPr>
              <a:t/>
            </a:r>
            <a:r>
              <a:rPr kumimoji="0" lang="en-US" sz="2000" b="1" i="0" u="none" strike="noStrike" kern="1200" cap="none" spc="0" normalizeH="0" baseline="0" noProof="0">
                <a:ln>
                  <a:noFill/>
                </a:ln>
                <a:solidFill>
                  <a:sysClr val="windowText" lastClr="000000"/>
                </a:solidFill>
                <a:effectLst/>
                <a:uLnTx/>
                <a:uFillTx/>
                <a:latin typeface="Verdana"/>
                <a:ea typeface="Verdana"/>
                <a:cs typeface="+mj-lt"/>
              </a:rPr>
              <a:t/>
            </a:r>
            <a:r>
              <a:rPr lang="en-US">
                <a:solidFill>
                  <a:sysClr val="windowText" lastClr="000000"/>
                </a:solidFill>
                <a:latin typeface="Verdana"/>
                <a:ea typeface="Verdana"/>
                <a:cs typeface="+mj-lt"/>
              </a:rPr>
              <a:t/>
            </a:r>
            <a:r>
              <a:rPr kumimoji="0" lang="en-US" sz="2000" b="1" i="0" u="none" strike="noStrike" kern="1200" cap="none" spc="0" normalizeH="0" baseline="0" noProof="0">
                <a:ln>
                  <a:noFill/>
                </a:ln>
                <a:solidFill>
                  <a:sysClr val="windowText" lastClr="000000"/>
                </a:solidFill>
                <a:effectLst/>
                <a:uLnTx/>
                <a:uFillTx/>
                <a:latin typeface="Verdana"/>
                <a:ea typeface="Verdana"/>
                <a:cs typeface="+mj-lt"/>
              </a:rPr>
              <a:t/>
            </a:r>
            <a:endParaRPr lang="en-US" sz="2000" i="0" u="none" strike="noStrike" kern="1200" cap="none" spc="0" normalizeH="0" baseline="0" noProof="0">
              <a:ln>
                <a:noFill/>
              </a:ln>
              <a:solidFill>
                <a:sysClr val="windowText" lastClr="000000"/>
              </a:solidFill>
              <a:effectLst/>
              <a:uLnTx/>
              <a:uFillTx/>
              <a:latin typeface="Verdana"/>
              <a:ea typeface="Verdana"/>
              <a:cs typeface="+mj-lt"/>
            </a:endParaRPr>
          </a:p>
        </p:txBody>
      </p:sp>
      <p:sp>
        <p:nvSpPr>
          <p:cNvPr id="12" name="TextBox 11">
            <a:extLst>
              <a:ext uri="{FF2B5EF4-FFF2-40B4-BE49-F238E27FC236}">
                <a16:creationId xmlns:a16="http://schemas.microsoft.com/office/drawing/2014/main" id="{CD82E6B4-4CCB-2F4F-AC52-C32E858FAACE}"/>
              </a:ext>
            </a:extLst>
          </p:cNvPr>
          <p:cNvSpPr txBox="1"/>
          <p:nvPr/>
        </p:nvSpPr>
        <p:spPr>
          <a:xfrm>
            <a:off x="665478" y="5152521"/>
            <a:ext cx="1891543" cy="215444"/>
          </a:xfrm>
          <a:prstGeom prst="rect">
            <a:avLst/>
          </a:prstGeom>
          <a:noFill/>
        </p:spPr>
        <p:txBody>
          <a:bodyPr wrap="none" lIns="0" tIns="0" rIns="0" bIns="0" rtlCol="0">
            <a:spAutoFit/>
          </a:bodyPr>
          <a:lstStyle/>
          <a:p>
            <a:r>
              <a:t>BUSINESS IMPACT</a:t>
            </a:r>
          </a:p>
        </p:txBody>
      </p:sp>
      <p:sp>
        <p:nvSpPr>
          <p:cNvPr id="13" name="TextBox 12">
            <a:extLst>
              <a:ext uri="{FF2B5EF4-FFF2-40B4-BE49-F238E27FC236}">
                <a16:creationId xmlns:a16="http://schemas.microsoft.com/office/drawing/2014/main" id="{5CA0FD85-034F-ED78-107D-490202BD268C}"/>
              </a:ext>
            </a:extLst>
          </p:cNvPr>
          <p:cNvSpPr txBox="1"/>
          <p:nvPr/>
        </p:nvSpPr>
        <p:spPr>
          <a:xfrm>
            <a:off x="6100509" y="4325212"/>
            <a:ext cx="298799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86BC25"/>
                </a:solidFill>
                <a:effectLst/>
                <a:uLnTx/>
                <a:uFillTx/>
                <a:latin typeface="Verdana" panose="020B0604030504040204" pitchFamily="34" charset="0"/>
                <a:ea typeface="Verdana" panose="020B0604030504040204" pitchFamily="34" charset="0"/>
                <a:cs typeface="+mn-cs"/>
              </a:rPr>
              <a:t>AETHERMIND DIFFERENTIATORS</a:t>
            </a:r>
          </a:p>
        </p:txBody>
      </p:sp>
      <p:sp>
        <p:nvSpPr>
          <p:cNvPr id="16" name="TextBox 15">
            <a:extLst>
              <a:ext uri="{FF2B5EF4-FFF2-40B4-BE49-F238E27FC236}">
                <a16:creationId xmlns:a16="http://schemas.microsoft.com/office/drawing/2014/main" id="{C6628425-FB4A-D73A-2EAD-719FCB7D4998}"/>
              </a:ext>
            </a:extLst>
          </p:cNvPr>
          <p:cNvSpPr txBox="1"/>
          <p:nvPr/>
        </p:nvSpPr>
        <p:spPr>
          <a:xfrm>
            <a:off x="548333" y="5373072"/>
            <a:ext cx="5030640" cy="1200329"/>
          </a:xfrm>
          <a:prstGeom prst="rect">
            <a:avLst/>
          </a:prstGeom>
          <a:noFill/>
        </p:spPr>
        <p:txBody>
          <a:bodyPr wrap="square">
            <a:spAutoFit/>
          </a:bodyPr>
          <a:lstStyle/>
          <a:p>
            <a:pPr/>
            <a:r>
              <a:t>1. Reduces manual form validation audit costs by 95%.</a:t>
            </a:r>
          </a:p>
          <a:p>
            <a:pPr/>
            <a:r>
              <a:t>2. Preserves 100% of spatial layout and cell grid boundary geometry.</a:t>
            </a:r>
          </a:p>
          <a:p>
            <a:pPr/>
            <a:r>
              <a:t>3. Maximizes downstream LLM prompt relevancy and search accuracy.</a:t>
            </a:r>
          </a:p>
        </p:txBody>
      </p:sp>
      <p:sp>
        <p:nvSpPr>
          <p:cNvPr id="17" name="TextBox 16">
            <a:extLst>
              <a:ext uri="{FF2B5EF4-FFF2-40B4-BE49-F238E27FC236}">
                <a16:creationId xmlns:a16="http://schemas.microsoft.com/office/drawing/2014/main" id="{55030892-4B47-220A-1B9C-B84570F4DBDD}"/>
              </a:ext>
            </a:extLst>
          </p:cNvPr>
          <p:cNvSpPr txBox="1"/>
          <p:nvPr/>
        </p:nvSpPr>
        <p:spPr>
          <a:xfrm>
            <a:off x="5902054" y="4733941"/>
            <a:ext cx="5664200" cy="1692771"/>
          </a:xfrm>
          <a:prstGeom prst="rect">
            <a:avLst/>
          </a:prstGeom>
          <a:noFill/>
        </p:spPr>
        <p:txBody>
          <a:bodyPr wrap="square" lIns="91440" tIns="45720" rIns="91440" bIns="45720" anchor="t">
            <a:spAutoFit/>
          </a:bodyPr>
          <a:lstStyle>
            <a:defPPr>
              <a:defRPr lang="en-US"/>
            </a:defPPr>
            <a:lvl1pPr marL="171450" indent="-171450">
              <a:buFont typeface="Arial" panose="020B0604020202020204" pitchFamily="34" charset="0"/>
              <a:buChar char="•"/>
              <a:defRPr sz="1200">
                <a:latin typeface="Verdana" panose="020B0604030504040204" pitchFamily="34" charset="0"/>
                <a:ea typeface="Verdana" panose="020B0604030504040204" pitchFamily="34" charset="0"/>
              </a:defRPr>
            </a:lvl1pPr>
          </a:lstStyle>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b="1">
                <a:solidFill>
                  <a:prstClr val="black"/>
                </a:solidFill>
                <a:latin typeface="Verdana"/>
                <a:ea typeface="Verdana"/>
              </a:rPr>
              <a:t>1. Multi-Agent Orchestration mapping slide archetype grids, relational arrow networks, and reading orders.</a:t>
            </a:r>
            <a:r>
              <a:rPr lang="en-US">
                <a:solidFill>
                  <a:prstClr val="black"/>
                </a:solidFill>
                <a:latin typeface="Verdana"/>
                <a:ea typeface="Verdana"/>
              </a:rPr>
              <a:t/>
            </a:r>
          </a:p>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Verdana"/>
                <a:ea typeface="Verdana"/>
                <a:cs typeface="+mn-cs"/>
              </a:rPr>
              <a:t>2. Closed-Loop Visual Validation comparing reconstructed re-renders against original source pages.</a:t>
            </a:r>
            <a:r>
              <a:rPr kumimoji="0" lang="en-US" sz="1200" i="0" u="none" strike="noStrike" kern="1200" cap="none" spc="0" normalizeH="0" baseline="0" noProof="0">
                <a:ln>
                  <a:noFill/>
                </a:ln>
                <a:solidFill>
                  <a:prstClr val="black"/>
                </a:solidFill>
                <a:effectLst/>
                <a:uLnTx/>
                <a:uFillTx/>
                <a:latin typeface="Verdana"/>
                <a:ea typeface="Verdana"/>
                <a:cs typeface="+mn-cs"/>
              </a:rPr>
              <a:t/>
            </a:r>
            <a:r>
              <a:rPr lang="en-US">
                <a:solidFill>
                  <a:prstClr val="black"/>
                </a:solidFill>
                <a:latin typeface="Verdana"/>
                <a:ea typeface="Verdana"/>
              </a:rPr>
              <a:t/>
            </a:r>
            <a:endParaRPr lang="en-US" sz="1200" i="0" u="none" strike="noStrike" kern="1200" cap="none" spc="0" normalizeH="0" baseline="0" noProof="0">
              <a:ln>
                <a:noFill/>
              </a:ln>
              <a:solidFill>
                <a:prstClr val="black"/>
              </a:solidFill>
              <a:effectLst/>
              <a:uLnTx/>
              <a:uFillTx/>
              <a:latin typeface="Verdana"/>
              <a:ea typeface="Verdana"/>
            </a:endParaRPr>
          </a:p>
          <a:p>
            <a:pPr>
              <a:defRPr/>
            </a:pPr>
            <a:r>
              <a:rPr lang="en-US">
                <a:solidFill>
                  <a:prstClr val="black"/>
                </a:solidFill>
                <a:latin typeface="Verdana"/>
                <a:ea typeface="Verdana"/>
              </a:rPr>
              <a:t>3. Deterministic Drawing Engine programmatically rendering PDF shapes and cell borders.</a:t>
            </a:r>
            <a:r>
              <a:rPr lang="en-US" b="1">
                <a:solidFill>
                  <a:prstClr val="black"/>
                </a:solidFill>
                <a:latin typeface="Verdana"/>
                <a:ea typeface="Verdana"/>
              </a:rPr>
              <a:t/>
            </a:r>
            <a:r>
              <a:rPr lang="en-US">
                <a:solidFill>
                  <a:prstClr val="black"/>
                </a:solidFill>
                <a:latin typeface="Verdana"/>
                <a:ea typeface="Verdana"/>
              </a:rPr>
              <a:t/>
            </a:r>
            <a:r>
              <a:rPr kumimoji="0" lang="en-US" b="0" i="0" u="none" strike="noStrike" kern="1200" cap="none" spc="0" normalizeH="0" baseline="0" noProof="0">
                <a:ln>
                  <a:noFill/>
                </a:ln>
                <a:solidFill>
                  <a:prstClr val="black"/>
                </a:solidFill>
                <a:effectLst/>
                <a:uLnTx/>
                <a:uFillTx/>
                <a:latin typeface="Verdana"/>
                <a:ea typeface="Verdana"/>
                <a:cs typeface="+mn-cs"/>
              </a:rPr>
              <a:t/>
            </a:r>
            <a:r>
              <a:rPr lang="en-US">
                <a:solidFill>
                  <a:prstClr val="black"/>
                </a:solidFill>
                <a:latin typeface="Verdana"/>
                <a:ea typeface="Verdana"/>
              </a:rPr>
              <a:t/>
            </a:r>
            <a:r>
              <a:rPr kumimoji="0" lang="en-US" b="0" i="0" u="none" strike="noStrike" kern="1200" cap="none" spc="0" normalizeH="0" baseline="0" noProof="0">
                <a:ln>
                  <a:noFill/>
                </a:ln>
                <a:solidFill>
                  <a:prstClr val="black"/>
                </a:solidFill>
                <a:effectLst/>
                <a:uLnTx/>
                <a:uFillTx/>
                <a:latin typeface="Verdana"/>
                <a:ea typeface="Verdana"/>
                <a:cs typeface="+mn-cs"/>
              </a:rPr>
              <a:t/>
            </a:r>
            <a:r>
              <a:rPr lang="en-US">
                <a:solidFill>
                  <a:prstClr val="black"/>
                </a:solidFill>
                <a:latin typeface="Verdana"/>
                <a:ea typeface="Verdana"/>
              </a:rPr>
              <a:t/>
            </a:r>
          </a:p>
        </p:txBody>
      </p:sp>
      <p:sp>
        <p:nvSpPr>
          <p:cNvPr id="18" name="TextBox 17">
            <a:extLst>
              <a:ext uri="{FF2B5EF4-FFF2-40B4-BE49-F238E27FC236}">
                <a16:creationId xmlns:a16="http://schemas.microsoft.com/office/drawing/2014/main" id="{7147C9DB-2062-5C85-5C57-BD617BED0DB5}"/>
              </a:ext>
            </a:extLst>
          </p:cNvPr>
          <p:cNvSpPr txBox="1"/>
          <p:nvPr/>
        </p:nvSpPr>
        <p:spPr>
          <a:xfrm>
            <a:off x="626829" y="920493"/>
            <a:ext cx="2473434" cy="215444"/>
          </a:xfrm>
          <a:prstGeom prst="rect">
            <a:avLst/>
          </a:prstGeom>
          <a:noFill/>
        </p:spPr>
        <p:txBody>
          <a:bodyPr wrap="none" lIns="0" tIns="0" rIns="0" bIns="0" rtlCol="0">
            <a:spAutoFit/>
          </a:bodyPr>
          <a:lstStyle/>
          <a:p>
            <a:r>
              <a:t>ABOUT THE CASE STUDY</a:t>
            </a:r>
          </a:p>
        </p:txBody>
      </p:sp>
      <p:sp>
        <p:nvSpPr>
          <p:cNvPr id="20" name="TextBox 19">
            <a:extLst>
              <a:ext uri="{FF2B5EF4-FFF2-40B4-BE49-F238E27FC236}">
                <a16:creationId xmlns:a16="http://schemas.microsoft.com/office/drawing/2014/main" id="{FB88903C-9152-EAF1-6800-F813256147A1}"/>
              </a:ext>
            </a:extLst>
          </p:cNvPr>
          <p:cNvSpPr txBox="1"/>
          <p:nvPr/>
        </p:nvSpPr>
        <p:spPr>
          <a:xfrm>
            <a:off x="6141917" y="920493"/>
            <a:ext cx="2425344" cy="215444"/>
          </a:xfrm>
          <a:prstGeom prst="rect">
            <a:avLst/>
          </a:prstGeom>
          <a:noFill/>
        </p:spPr>
        <p:txBody>
          <a:bodyPr wrap="none" lIns="0" tIns="0" rIns="0" bIns="0" rtlCol="0">
            <a:spAutoFit/>
          </a:bodyPr>
          <a:lstStyle/>
          <a:p>
            <a:r>
              <a:t>CASE STUDY IN ACTION</a:t>
            </a:r>
          </a:p>
        </p:txBody>
      </p:sp>
      <p:sp>
        <p:nvSpPr>
          <p:cNvPr id="25" name="Isosceles Triangle 24">
            <a:extLst>
              <a:ext uri="{FF2B5EF4-FFF2-40B4-BE49-F238E27FC236}">
                <a16:creationId xmlns:a16="http://schemas.microsoft.com/office/drawing/2014/main" id="{6D838CB2-49A6-051A-B287-686989842D10}"/>
              </a:ext>
            </a:extLst>
          </p:cNvPr>
          <p:cNvSpPr/>
          <p:nvPr/>
        </p:nvSpPr>
        <p:spPr bwMode="gray">
          <a:xfrm rot="5400000">
            <a:off x="1279614" y="4364783"/>
            <a:ext cx="625308" cy="188626"/>
          </a:xfrm>
          <a:prstGeom prst="triangle">
            <a:avLst/>
          </a:prstGeom>
          <a:gradFill flip="none" rotWithShape="1">
            <a:gsLst>
              <a:gs pos="0">
                <a:schemeClr val="bg2"/>
              </a:gs>
              <a:gs pos="50000">
                <a:schemeClr val="bg1">
                  <a:lumMod val="85000"/>
                </a:schemeClr>
              </a:gs>
              <a:gs pos="100000">
                <a:schemeClr val="bg1"/>
              </a:gs>
            </a:gsLst>
            <a:lin ang="5400000" scaled="1"/>
            <a:tileRect/>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7" name="TextBox 26">
            <a:extLst>
              <a:ext uri="{FF2B5EF4-FFF2-40B4-BE49-F238E27FC236}">
                <a16:creationId xmlns:a16="http://schemas.microsoft.com/office/drawing/2014/main" id="{F3AF4A41-A9C5-3549-CCFE-C74F6421D4E6}"/>
              </a:ext>
            </a:extLst>
          </p:cNvPr>
          <p:cNvSpPr txBox="1"/>
          <p:nvPr/>
        </p:nvSpPr>
        <p:spPr>
          <a:xfrm>
            <a:off x="6264787" y="1220267"/>
            <a:ext cx="1797913" cy="169277"/>
          </a:xfrm>
          <a:prstGeom prst="rect">
            <a:avLst/>
          </a:prstGeom>
          <a:noFill/>
        </p:spPr>
        <p:txBody>
          <a:bodyPr wrap="square" lIns="0" tIns="0" rIns="0" bIns="0" rtlCol="0" anchor="t">
            <a:spAutoFit/>
          </a:bodyPr>
          <a:lstStyle/>
          <a:p>
            <a:pPr algn="ctr">
              <a:spcBef>
                <a:spcPts val="600"/>
              </a:spcBef>
              <a:buSzPct val="100000"/>
              <a:defRPr/>
            </a:pPr>
            <a:r>
              <a:rPr lang="en-US" sz="1100" i="1">
                <a:solidFill>
                  <a:srgbClr val="313131"/>
                </a:solidFill>
                <a:latin typeface="Verdana"/>
                <a:ea typeface="Verdana"/>
              </a:rPr>
              <a:t>OCR &amp; Extraction Module</a:t>
            </a:r>
            <a:endParaRPr lang="en-US" sz="1100" b="0" i="1" u="none" strike="noStrike" kern="1200" cap="none" spc="0" normalizeH="0" baseline="0" noProof="0">
              <a:ln>
                <a:noFill/>
              </a:ln>
              <a:solidFill>
                <a:srgbClr val="313131"/>
              </a:solidFill>
              <a:effectLst/>
              <a:uLnTx/>
              <a:uFillTx/>
              <a:latin typeface="Verdana"/>
              <a:ea typeface="Verdana"/>
            </a:endParaRPr>
          </a:p>
        </p:txBody>
      </p:sp>
      <p:sp>
        <p:nvSpPr>
          <p:cNvPr id="28" name="TextBox 27">
            <a:extLst>
              <a:ext uri="{FF2B5EF4-FFF2-40B4-BE49-F238E27FC236}">
                <a16:creationId xmlns:a16="http://schemas.microsoft.com/office/drawing/2014/main" id="{B699E89C-5492-DB56-A568-830F2ED48804}"/>
              </a:ext>
            </a:extLst>
          </p:cNvPr>
          <p:cNvSpPr txBox="1"/>
          <p:nvPr/>
        </p:nvSpPr>
        <p:spPr>
          <a:xfrm>
            <a:off x="8904450" y="1212683"/>
            <a:ext cx="2013250" cy="169277"/>
          </a:xfrm>
          <a:prstGeom prst="rect">
            <a:avLst/>
          </a:prstGeom>
          <a:noFill/>
        </p:spPr>
        <p:txBody>
          <a:bodyPr wrap="square" lIns="0" tIns="0" rIns="0" bIns="0" rtlCol="0" anchor="t">
            <a:spAutoFit/>
          </a:bodyPr>
          <a:lstStyle/>
          <a:p>
            <a:r>
              <a:t>Agent Processing Module</a:t>
            </a:r>
          </a:p>
        </p:txBody>
      </p:sp>
      <p:sp>
        <p:nvSpPr>
          <p:cNvPr id="29" name="TextBox 28">
            <a:extLst>
              <a:ext uri="{FF2B5EF4-FFF2-40B4-BE49-F238E27FC236}">
                <a16:creationId xmlns:a16="http://schemas.microsoft.com/office/drawing/2014/main" id="{36E88A13-24D1-3428-233D-B5F7A9D0E305}"/>
              </a:ext>
            </a:extLst>
          </p:cNvPr>
          <p:cNvSpPr txBox="1"/>
          <p:nvPr/>
        </p:nvSpPr>
        <p:spPr>
          <a:xfrm>
            <a:off x="6425137" y="2698055"/>
            <a:ext cx="1797913" cy="169277"/>
          </a:xfrm>
          <a:prstGeom prst="rect">
            <a:avLst/>
          </a:prstGeom>
          <a:noFill/>
        </p:spPr>
        <p:txBody>
          <a:bodyPr wrap="square" lIns="0" tIns="0" rIns="0" bIns="0" rtlCol="0" anchor="t">
            <a:spAutoFit/>
          </a:bodyPr>
          <a:lstStyle/>
          <a:p>
            <a:pPr algn="ctr">
              <a:spcBef>
                <a:spcPts val="600"/>
              </a:spcBef>
              <a:buSzPct val="100000"/>
              <a:defRPr/>
            </a:pPr>
            <a:r>
              <a:rPr lang="en-US" sz="1100" i="1">
                <a:solidFill>
                  <a:srgbClr val="313131"/>
                </a:solidFill>
                <a:latin typeface="Verdana"/>
                <a:ea typeface="Verdana"/>
              </a:rPr>
              <a:t>Reconstruction Module</a:t>
            </a:r>
            <a:endParaRPr lang="en-US" sz="1100" b="0" i="1"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endParaRPr>
          </a:p>
        </p:txBody>
      </p:sp>
      <p:sp>
        <p:nvSpPr>
          <p:cNvPr id="30" name="TextBox 29">
            <a:extLst>
              <a:ext uri="{FF2B5EF4-FFF2-40B4-BE49-F238E27FC236}">
                <a16:creationId xmlns:a16="http://schemas.microsoft.com/office/drawing/2014/main" id="{3F6947D5-8AE6-A104-956C-7DFAE8E73ABE}"/>
              </a:ext>
            </a:extLst>
          </p:cNvPr>
          <p:cNvSpPr txBox="1"/>
          <p:nvPr/>
        </p:nvSpPr>
        <p:spPr>
          <a:xfrm>
            <a:off x="9031622" y="2696274"/>
            <a:ext cx="2013250" cy="169277"/>
          </a:xfrm>
          <a:prstGeom prst="rect">
            <a:avLst/>
          </a:prstGeom>
          <a:noFill/>
        </p:spPr>
        <p:txBody>
          <a:bodyPr wrap="square" lIns="0" tIns="0" rIns="0" bIns="0" rtlCol="0" anchor="t">
            <a:spAutoFit/>
          </a:bodyPr>
          <a:lstStyle/>
          <a:p>
            <a:pPr algn="ctr">
              <a:spcBef>
                <a:spcPts val="600"/>
              </a:spcBef>
              <a:buSzPct val="100000"/>
              <a:defRPr/>
            </a:pPr>
            <a:r>
              <a:rPr lang="en-US" sz="1100" i="1">
                <a:solidFill>
                  <a:srgbClr val="313131"/>
                </a:solidFill>
                <a:latin typeface="Verdana" panose="020B0604030504040204" pitchFamily="34" charset="0"/>
                <a:ea typeface="Verdana" panose="020B0604030504040204" pitchFamily="34" charset="0"/>
              </a:rPr>
              <a:t>Visual Audit Pipeline</a:t>
            </a:r>
            <a:endParaRPr lang="en-US" sz="1100" b="0" i="1"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endParaRPr>
          </a:p>
        </p:txBody>
      </p:sp>
      <p:cxnSp>
        <p:nvCxnSpPr>
          <p:cNvPr id="9" name="Straight Connector 8">
            <a:extLst>
              <a:ext uri="{FF2B5EF4-FFF2-40B4-BE49-F238E27FC236}">
                <a16:creationId xmlns:a16="http://schemas.microsoft.com/office/drawing/2014/main" id="{660B0392-CA36-FE58-9369-7077CDAAA7E8}"/>
              </a:ext>
            </a:extLst>
          </p:cNvPr>
          <p:cNvCxnSpPr>
            <a:cxnSpLocks/>
          </p:cNvCxnSpPr>
          <p:nvPr/>
        </p:nvCxnSpPr>
        <p:spPr>
          <a:xfrm flipV="1">
            <a:off x="498431" y="1130859"/>
            <a:ext cx="5080542" cy="27956"/>
          </a:xfrm>
          <a:prstGeom prst="line">
            <a:avLst/>
          </a:prstGeom>
          <a:noFill/>
          <a:ln w="12700" cap="rnd" cmpd="sng" algn="ctr">
            <a:solidFill>
              <a:srgbClr val="86BC25"/>
            </a:solidFill>
            <a:prstDash val="solid"/>
          </a:ln>
          <a:effectLst/>
        </p:spPr>
      </p:cxnSp>
      <p:cxnSp>
        <p:nvCxnSpPr>
          <p:cNvPr id="10" name="Straight Connector 9">
            <a:extLst>
              <a:ext uri="{FF2B5EF4-FFF2-40B4-BE49-F238E27FC236}">
                <a16:creationId xmlns:a16="http://schemas.microsoft.com/office/drawing/2014/main" id="{F24D07D5-F989-B1B5-63D6-091CE8C14000}"/>
              </a:ext>
            </a:extLst>
          </p:cNvPr>
          <p:cNvCxnSpPr>
            <a:cxnSpLocks/>
          </p:cNvCxnSpPr>
          <p:nvPr/>
        </p:nvCxnSpPr>
        <p:spPr>
          <a:xfrm flipV="1">
            <a:off x="6063035" y="1120832"/>
            <a:ext cx="5311147" cy="7904"/>
          </a:xfrm>
          <a:prstGeom prst="line">
            <a:avLst/>
          </a:prstGeom>
          <a:noFill/>
          <a:ln w="12700" cap="rnd" cmpd="sng" algn="ctr">
            <a:solidFill>
              <a:srgbClr val="86BC25"/>
            </a:solidFill>
            <a:prstDash val="solid"/>
          </a:ln>
          <a:effectLst/>
        </p:spPr>
      </p:cxnSp>
      <p:cxnSp>
        <p:nvCxnSpPr>
          <p:cNvPr id="19" name="Straight Connector 18">
            <a:extLst>
              <a:ext uri="{FF2B5EF4-FFF2-40B4-BE49-F238E27FC236}">
                <a16:creationId xmlns:a16="http://schemas.microsoft.com/office/drawing/2014/main" id="{93C8B1A2-EFDB-2B62-787E-B833E657A1B2}"/>
              </a:ext>
            </a:extLst>
          </p:cNvPr>
          <p:cNvCxnSpPr>
            <a:cxnSpLocks/>
          </p:cNvCxnSpPr>
          <p:nvPr/>
        </p:nvCxnSpPr>
        <p:spPr>
          <a:xfrm>
            <a:off x="6053007" y="4527654"/>
            <a:ext cx="5331203" cy="12151"/>
          </a:xfrm>
          <a:prstGeom prst="line">
            <a:avLst/>
          </a:prstGeom>
          <a:noFill/>
          <a:ln w="12700" cap="rnd" cmpd="sng" algn="ctr">
            <a:solidFill>
              <a:srgbClr val="86BC25"/>
            </a:solidFill>
            <a:prstDash val="solid"/>
          </a:ln>
          <a:effectLst/>
        </p:spPr>
      </p:cxnSp>
      <p:sp>
        <p:nvSpPr>
          <p:cNvPr id="21" name="TextBox 20">
            <a:extLst>
              <a:ext uri="{FF2B5EF4-FFF2-40B4-BE49-F238E27FC236}">
                <a16:creationId xmlns:a16="http://schemas.microsoft.com/office/drawing/2014/main" id="{60C337DB-C5A9-E376-7744-2D09EC4C6A42}"/>
              </a:ext>
            </a:extLst>
          </p:cNvPr>
          <p:cNvSpPr txBox="1"/>
          <p:nvPr/>
        </p:nvSpPr>
        <p:spPr>
          <a:xfrm>
            <a:off x="496711" y="3988090"/>
            <a:ext cx="1120846" cy="1200329"/>
          </a:xfrm>
          <a:prstGeom prst="rect">
            <a:avLst/>
          </a:prstGeom>
          <a:noFill/>
        </p:spPr>
        <p:txBody>
          <a:bodyPr wrap="square">
            <a:spAutoFit/>
          </a:bodyPr>
          <a:lstStyle/>
          <a:p>
            <a:r>
              <a:t>Crop application chrome from images</a:t>
            </a:r>
          </a:p>
        </p:txBody>
      </p:sp>
      <p:sp>
        <p:nvSpPr>
          <p:cNvPr id="31" name="Isosceles Triangle 30">
            <a:extLst>
              <a:ext uri="{FF2B5EF4-FFF2-40B4-BE49-F238E27FC236}">
                <a16:creationId xmlns:a16="http://schemas.microsoft.com/office/drawing/2014/main" id="{DC21B776-AB8D-4A31-D257-C8B1CBF2B8AC}"/>
              </a:ext>
            </a:extLst>
          </p:cNvPr>
          <p:cNvSpPr/>
          <p:nvPr/>
        </p:nvSpPr>
        <p:spPr bwMode="gray">
          <a:xfrm rot="5400000">
            <a:off x="2478070" y="4389788"/>
            <a:ext cx="625308" cy="188626"/>
          </a:xfrm>
          <a:prstGeom prst="triangle">
            <a:avLst/>
          </a:prstGeom>
          <a:gradFill flip="none" rotWithShape="1">
            <a:gsLst>
              <a:gs pos="0">
                <a:schemeClr val="bg2"/>
              </a:gs>
              <a:gs pos="50000">
                <a:schemeClr val="bg1">
                  <a:lumMod val="85000"/>
                </a:schemeClr>
              </a:gs>
              <a:gs pos="100000">
                <a:schemeClr val="bg1"/>
              </a:gs>
            </a:gsLst>
            <a:lin ang="5400000" scaled="1"/>
            <a:tileRect/>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2" name="TextBox 31">
            <a:extLst>
              <a:ext uri="{FF2B5EF4-FFF2-40B4-BE49-F238E27FC236}">
                <a16:creationId xmlns:a16="http://schemas.microsoft.com/office/drawing/2014/main" id="{EBA40929-BF8D-FC6C-5EDC-2742CB0D9657}"/>
              </a:ext>
            </a:extLst>
          </p:cNvPr>
          <p:cNvSpPr txBox="1"/>
          <p:nvPr/>
        </p:nvSpPr>
        <p:spPr>
          <a:xfrm>
            <a:off x="1617557" y="4013095"/>
            <a:ext cx="1198456" cy="1200329"/>
          </a:xfrm>
          <a:prstGeom prst="rect">
            <a:avLst/>
          </a:prstGeom>
          <a:noFill/>
        </p:spPr>
        <p:txBody>
          <a:bodyPr wrap="square">
            <a:spAutoFit/>
          </a:bodyPr>
          <a:lstStyle/>
          <a:p>
            <a:r>
              <a:t>Extract raw EasyOCR blocks and fix letter typos</a:t>
            </a:r>
          </a:p>
        </p:txBody>
      </p:sp>
      <p:sp>
        <p:nvSpPr>
          <p:cNvPr id="33" name="Isosceles Triangle 32">
            <a:extLst>
              <a:ext uri="{FF2B5EF4-FFF2-40B4-BE49-F238E27FC236}">
                <a16:creationId xmlns:a16="http://schemas.microsoft.com/office/drawing/2014/main" id="{56C48056-77B9-A0B4-0170-5FA95BF17BFD}"/>
              </a:ext>
            </a:extLst>
          </p:cNvPr>
          <p:cNvSpPr/>
          <p:nvPr/>
        </p:nvSpPr>
        <p:spPr bwMode="gray">
          <a:xfrm rot="5400000">
            <a:off x="3494857" y="4389788"/>
            <a:ext cx="625308" cy="188626"/>
          </a:xfrm>
          <a:prstGeom prst="triangle">
            <a:avLst/>
          </a:prstGeom>
          <a:gradFill flip="none" rotWithShape="1">
            <a:gsLst>
              <a:gs pos="0">
                <a:schemeClr val="bg2"/>
              </a:gs>
              <a:gs pos="50000">
                <a:schemeClr val="bg1">
                  <a:lumMod val="85000"/>
                </a:schemeClr>
              </a:gs>
              <a:gs pos="100000">
                <a:schemeClr val="bg1"/>
              </a:gs>
            </a:gsLst>
            <a:lin ang="5400000" scaled="1"/>
            <a:tileRect/>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4" name="TextBox 33">
            <a:extLst>
              <a:ext uri="{FF2B5EF4-FFF2-40B4-BE49-F238E27FC236}">
                <a16:creationId xmlns:a16="http://schemas.microsoft.com/office/drawing/2014/main" id="{E583502C-A97F-38AC-2262-C7266D85AEE9}"/>
              </a:ext>
            </a:extLst>
          </p:cNvPr>
          <p:cNvSpPr txBox="1"/>
          <p:nvPr/>
        </p:nvSpPr>
        <p:spPr>
          <a:xfrm>
            <a:off x="2711954" y="4013095"/>
            <a:ext cx="1120846" cy="1015663"/>
          </a:xfrm>
          <a:prstGeom prst="rect">
            <a:avLst/>
          </a:prstGeom>
          <a:noFill/>
        </p:spPr>
        <p:txBody>
          <a:bodyPr wrap="square">
            <a:spAutoFit/>
          </a:bodyPr>
          <a:lstStyle/>
          <a:p>
            <a:r>
              <a:t>Classify slide layout grids and archetypes</a:t>
            </a:r>
          </a:p>
        </p:txBody>
      </p:sp>
      <p:sp>
        <p:nvSpPr>
          <p:cNvPr id="35" name="Isosceles Triangle 34">
            <a:extLst>
              <a:ext uri="{FF2B5EF4-FFF2-40B4-BE49-F238E27FC236}">
                <a16:creationId xmlns:a16="http://schemas.microsoft.com/office/drawing/2014/main" id="{751C956B-CB8B-C7CC-1C0E-9B1BA654B57C}"/>
              </a:ext>
            </a:extLst>
          </p:cNvPr>
          <p:cNvSpPr/>
          <p:nvPr/>
        </p:nvSpPr>
        <p:spPr bwMode="gray">
          <a:xfrm rot="5400000">
            <a:off x="4533697" y="4389788"/>
            <a:ext cx="625308" cy="188626"/>
          </a:xfrm>
          <a:prstGeom prst="triangle">
            <a:avLst/>
          </a:prstGeom>
          <a:gradFill flip="none" rotWithShape="1">
            <a:gsLst>
              <a:gs pos="0">
                <a:schemeClr val="bg2"/>
              </a:gs>
              <a:gs pos="50000">
                <a:schemeClr val="bg1">
                  <a:lumMod val="85000"/>
                </a:schemeClr>
              </a:gs>
              <a:gs pos="100000">
                <a:schemeClr val="bg1"/>
              </a:gs>
            </a:gsLst>
            <a:lin ang="5400000" scaled="1"/>
            <a:tileRect/>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6" name="TextBox 35">
            <a:extLst>
              <a:ext uri="{FF2B5EF4-FFF2-40B4-BE49-F238E27FC236}">
                <a16:creationId xmlns:a16="http://schemas.microsoft.com/office/drawing/2014/main" id="{7297CF16-BF11-21B0-BA66-0F7094196E57}"/>
              </a:ext>
            </a:extLst>
          </p:cNvPr>
          <p:cNvSpPr txBox="1"/>
          <p:nvPr/>
        </p:nvSpPr>
        <p:spPr>
          <a:xfrm>
            <a:off x="3715199" y="3971315"/>
            <a:ext cx="1228534" cy="1015663"/>
          </a:xfrm>
          <a:prstGeom prst="rect">
            <a:avLst/>
          </a:prstGeom>
          <a:noFill/>
        </p:spPr>
        <p:txBody>
          <a:bodyPr wrap="square">
            <a:spAutoFit/>
          </a:bodyPr>
          <a:lstStyle/>
          <a:p>
            <a:r>
              <a:t>Map flowchart arrows and topologically sort nodes</a:t>
            </a:r>
          </a:p>
        </p:txBody>
      </p:sp>
      <p:sp>
        <p:nvSpPr>
          <p:cNvPr id="38" name="TextBox 37">
            <a:extLst>
              <a:ext uri="{FF2B5EF4-FFF2-40B4-BE49-F238E27FC236}">
                <a16:creationId xmlns:a16="http://schemas.microsoft.com/office/drawing/2014/main" id="{E1F2CF03-22D7-2231-BDEF-1AB6F3A87AD4}"/>
              </a:ext>
            </a:extLst>
          </p:cNvPr>
          <p:cNvSpPr txBox="1"/>
          <p:nvPr/>
        </p:nvSpPr>
        <p:spPr>
          <a:xfrm>
            <a:off x="4752038" y="3766598"/>
            <a:ext cx="1120846" cy="1384995"/>
          </a:xfrm>
          <a:prstGeom prst="rect">
            <a:avLst/>
          </a:prstGeom>
          <a:noFill/>
        </p:spPr>
        <p:txBody>
          <a:bodyPr wrap="square">
            <a:spAutoFit/>
          </a:bodyPr>
          <a:lstStyle/>
          <a:p>
            <a:r>
              <a:t>FormRenderer draws lines, tables, and controls</a:t>
            </a:r>
          </a:p>
        </p:txBody>
      </p:sp>
      <p:cxnSp>
        <p:nvCxnSpPr>
          <p:cNvPr id="39" name="Straight Connector 38">
            <a:extLst>
              <a:ext uri="{FF2B5EF4-FFF2-40B4-BE49-F238E27FC236}">
                <a16:creationId xmlns:a16="http://schemas.microsoft.com/office/drawing/2014/main" id="{84FE9106-CFEF-30A2-84E8-618140AAA255}"/>
              </a:ext>
            </a:extLst>
          </p:cNvPr>
          <p:cNvCxnSpPr>
            <a:cxnSpLocks/>
          </p:cNvCxnSpPr>
          <p:nvPr/>
        </p:nvCxnSpPr>
        <p:spPr>
          <a:xfrm flipV="1">
            <a:off x="496711" y="5399424"/>
            <a:ext cx="5311147" cy="7904"/>
          </a:xfrm>
          <a:prstGeom prst="line">
            <a:avLst/>
          </a:prstGeom>
          <a:noFill/>
          <a:ln w="12700" cap="rnd" cmpd="sng" algn="ctr">
            <a:solidFill>
              <a:srgbClr val="86BC25"/>
            </a:solidFill>
            <a:prstDash val="solid"/>
          </a:ln>
          <a:effectLst/>
        </p:spPr>
      </p:cxnSp>
      <p:sp>
        <p:nvSpPr>
          <p:cNvPr id="40" name="Rectangle 39">
            <a:extLst>
              <a:ext uri="{FF2B5EF4-FFF2-40B4-BE49-F238E27FC236}">
                <a16:creationId xmlns:a16="http://schemas.microsoft.com/office/drawing/2014/main" id="{7C41D7A0-6643-ABD1-52EF-174D23C9540C}"/>
              </a:ext>
            </a:extLst>
          </p:cNvPr>
          <p:cNvSpPr/>
          <p:nvPr/>
        </p:nvSpPr>
        <p:spPr>
          <a:xfrm>
            <a:off x="10927993" y="0"/>
            <a:ext cx="1271587" cy="385761"/>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latin typeface="Verdana" panose="020B0604030504040204" pitchFamily="34" charset="0"/>
                <a:ea typeface="Verdana" panose="020B0604030504040204" pitchFamily="34" charset="0"/>
              </a:rPr>
              <a:t>AetherMind</a:t>
            </a:r>
          </a:p>
        </p:txBody>
      </p:sp>
      <p:pic>
        <p:nvPicPr>
          <p:cNvPr id="41" name="Picture 40" descr="aethermind_ocr_crop_1782196850799.jpg"/>
          <p:cNvPicPr>
            <a:picLocks noChangeAspect="1"/>
          </p:cNvPicPr>
          <p:nvPr/>
        </p:nvPicPr>
        <p:blipFill>
          <a:blip r:embed="rId6"/>
          <a:stretch>
            <a:fillRect/>
          </a:stretch>
        </p:blipFill>
        <p:spPr>
          <a:xfrm>
            <a:off x="8713839" y="1405240"/>
            <a:ext cx="2654710" cy="1171584"/>
          </a:xfrm>
          <a:prstGeom prst="rect">
            <a:avLst/>
          </a:prstGeom>
        </p:spPr>
      </p:pic>
      <p:pic>
        <p:nvPicPr>
          <p:cNvPr id="42" name="Picture 41" descr="layout_analysis_mockup_1782196997197.jpg"/>
          <p:cNvPicPr>
            <a:picLocks noChangeAspect="1"/>
          </p:cNvPicPr>
          <p:nvPr/>
        </p:nvPicPr>
        <p:blipFill>
          <a:blip r:embed="rId7"/>
          <a:stretch>
            <a:fillRect/>
          </a:stretch>
        </p:blipFill>
        <p:spPr>
          <a:xfrm>
            <a:off x="6059128" y="1411079"/>
            <a:ext cx="2408904" cy="1196776"/>
          </a:xfrm>
          <a:prstGeom prst="rect">
            <a:avLst/>
          </a:prstGeom>
        </p:spPr>
      </p:pic>
      <p:pic>
        <p:nvPicPr>
          <p:cNvPr id="43" name="Picture 42" descr="codebase_tree_mockup_1782197016908.jpg"/>
          <p:cNvPicPr>
            <a:picLocks noChangeAspect="1"/>
          </p:cNvPicPr>
          <p:nvPr/>
        </p:nvPicPr>
        <p:blipFill>
          <a:blip r:embed="rId8"/>
          <a:stretch>
            <a:fillRect/>
          </a:stretch>
        </p:blipFill>
        <p:spPr>
          <a:xfrm>
            <a:off x="8910485" y="2960163"/>
            <a:ext cx="2728452" cy="1195773"/>
          </a:xfrm>
          <a:prstGeom prst="rect">
            <a:avLst/>
          </a:prstGeom>
        </p:spPr>
      </p:pic>
      <p:pic>
        <p:nvPicPr>
          <p:cNvPr id="44" name="Picture 43" descr="validation_audit_mockup_1782197033827.jpg"/>
          <p:cNvPicPr>
            <a:picLocks noChangeAspect="1"/>
          </p:cNvPicPr>
          <p:nvPr/>
        </p:nvPicPr>
        <p:blipFill>
          <a:blip r:embed="rId9"/>
          <a:stretch>
            <a:fillRect/>
          </a:stretch>
        </p:blipFill>
        <p:spPr>
          <a:xfrm>
            <a:off x="6120581" y="2994235"/>
            <a:ext cx="2531807" cy="1152207"/>
          </a:xfrm>
          <a:prstGeom prst="rect">
            <a:avLst/>
          </a:prstGeom>
        </p:spPr>
      </p:pic>
    </p:spTree>
    <p:extLst>
      <p:ext uri="{BB962C8B-B14F-4D97-AF65-F5344CB8AC3E}">
        <p14:creationId xmlns:p14="http://schemas.microsoft.com/office/powerpoint/2010/main" val="1667285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22" name="Straight Connector 421">
            <a:extLst>
              <a:ext uri="{FF2B5EF4-FFF2-40B4-BE49-F238E27FC236}">
                <a16:creationId xmlns:a16="http://schemas.microsoft.com/office/drawing/2014/main" id="{37C1189A-826E-47BB-2938-F9F40B3C966F}"/>
              </a:ext>
            </a:extLst>
          </p:cNvPr>
          <p:cNvCxnSpPr>
            <a:cxnSpLocks/>
          </p:cNvCxnSpPr>
          <p:nvPr/>
        </p:nvCxnSpPr>
        <p:spPr>
          <a:xfrm>
            <a:off x="10054331" y="2655367"/>
            <a:ext cx="18843" cy="2202768"/>
          </a:xfrm>
          <a:prstGeom prst="line">
            <a:avLst/>
          </a:prstGeom>
          <a:noFill/>
          <a:ln w="101600" cap="flat" cmpd="sng" algn="ctr">
            <a:solidFill>
              <a:sysClr val="window" lastClr="FFFFFF">
                <a:lumMod val="85000"/>
              </a:sysClr>
            </a:solidFill>
            <a:prstDash val="solid"/>
          </a:ln>
          <a:effectLst/>
        </p:spPr>
      </p:cxnSp>
      <p:graphicFrame>
        <p:nvGraphicFramePr>
          <p:cNvPr id="6" name="think-cell data - do not delete" hidden="1">
            <a:extLst>
              <a:ext uri="{FF2B5EF4-FFF2-40B4-BE49-F238E27FC236}">
                <a16:creationId xmlns:a16="http://schemas.microsoft.com/office/drawing/2014/main" id="{D6E3588E-B826-F89E-ABD9-523A192DEB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6" name="think-cell data - do not delete" hidden="1">
                        <a:extLst>
                          <a:ext uri="{FF2B5EF4-FFF2-40B4-BE49-F238E27FC236}">
                            <a16:creationId xmlns:a16="http://schemas.microsoft.com/office/drawing/2014/main" id="{D6E3588E-B826-F89E-ABD9-523A192DEB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366" name="Straight Connector 365">
            <a:extLst>
              <a:ext uri="{FF2B5EF4-FFF2-40B4-BE49-F238E27FC236}">
                <a16:creationId xmlns:a16="http://schemas.microsoft.com/office/drawing/2014/main" id="{A4E370E4-332E-97CE-BBC6-F4CEA0858D85}"/>
              </a:ext>
            </a:extLst>
          </p:cNvPr>
          <p:cNvCxnSpPr>
            <a:cxnSpLocks/>
          </p:cNvCxnSpPr>
          <p:nvPr/>
        </p:nvCxnSpPr>
        <p:spPr>
          <a:xfrm>
            <a:off x="5379949" y="2832195"/>
            <a:ext cx="3597" cy="2007273"/>
          </a:xfrm>
          <a:prstGeom prst="line">
            <a:avLst/>
          </a:prstGeom>
          <a:noFill/>
          <a:ln w="101600" cap="flat" cmpd="sng" algn="ctr">
            <a:solidFill>
              <a:sysClr val="window" lastClr="FFFFFF">
                <a:lumMod val="85000"/>
              </a:sysClr>
            </a:solidFill>
            <a:prstDash val="solid"/>
          </a:ln>
          <a:effectLst/>
        </p:spPr>
      </p:cxnSp>
      <p:cxnSp>
        <p:nvCxnSpPr>
          <p:cNvPr id="336" name="Straight Connector 335">
            <a:extLst>
              <a:ext uri="{FF2B5EF4-FFF2-40B4-BE49-F238E27FC236}">
                <a16:creationId xmlns:a16="http://schemas.microsoft.com/office/drawing/2014/main" id="{947BDE76-A0B4-C42E-784F-1F1E7EE9509C}"/>
              </a:ext>
            </a:extLst>
          </p:cNvPr>
          <p:cNvCxnSpPr>
            <a:cxnSpLocks/>
          </p:cNvCxnSpPr>
          <p:nvPr/>
        </p:nvCxnSpPr>
        <p:spPr>
          <a:xfrm>
            <a:off x="3073757" y="2850945"/>
            <a:ext cx="3597" cy="2007273"/>
          </a:xfrm>
          <a:prstGeom prst="line">
            <a:avLst/>
          </a:prstGeom>
          <a:noFill/>
          <a:ln w="101600" cap="flat" cmpd="sng" algn="ctr">
            <a:solidFill>
              <a:sysClr val="window" lastClr="FFFFFF">
                <a:lumMod val="85000"/>
              </a:sysClr>
            </a:solidFill>
            <a:prstDash val="solid"/>
          </a:ln>
          <a:effectLst/>
        </p:spPr>
      </p:cxnSp>
      <p:cxnSp>
        <p:nvCxnSpPr>
          <p:cNvPr id="326" name="Straight Connector 325">
            <a:extLst>
              <a:ext uri="{FF2B5EF4-FFF2-40B4-BE49-F238E27FC236}">
                <a16:creationId xmlns:a16="http://schemas.microsoft.com/office/drawing/2014/main" id="{8BD3374D-4993-385A-D738-5665C5428B69}"/>
              </a:ext>
            </a:extLst>
          </p:cNvPr>
          <p:cNvCxnSpPr>
            <a:cxnSpLocks/>
          </p:cNvCxnSpPr>
          <p:nvPr/>
        </p:nvCxnSpPr>
        <p:spPr>
          <a:xfrm>
            <a:off x="1075011" y="2857884"/>
            <a:ext cx="3597" cy="2007273"/>
          </a:xfrm>
          <a:prstGeom prst="line">
            <a:avLst/>
          </a:prstGeom>
          <a:noFill/>
          <a:ln w="101600" cap="flat" cmpd="sng" algn="ctr">
            <a:solidFill>
              <a:sysClr val="window" lastClr="FFFFFF">
                <a:lumMod val="85000"/>
              </a:sysClr>
            </a:solidFill>
            <a:prstDash val="solid"/>
          </a:ln>
          <a:effectLst/>
        </p:spPr>
      </p:cxnSp>
      <p:cxnSp>
        <p:nvCxnSpPr>
          <p:cNvPr id="270" name="Straight Connector 269">
            <a:extLst>
              <a:ext uri="{FF2B5EF4-FFF2-40B4-BE49-F238E27FC236}">
                <a16:creationId xmlns:a16="http://schemas.microsoft.com/office/drawing/2014/main" id="{455C13BD-D9E3-972B-ED29-4A1C728D359A}"/>
              </a:ext>
            </a:extLst>
          </p:cNvPr>
          <p:cNvCxnSpPr>
            <a:cxnSpLocks/>
          </p:cNvCxnSpPr>
          <p:nvPr/>
        </p:nvCxnSpPr>
        <p:spPr>
          <a:xfrm flipV="1">
            <a:off x="5596656" y="2578138"/>
            <a:ext cx="1827552" cy="0"/>
          </a:xfrm>
          <a:prstGeom prst="line">
            <a:avLst/>
          </a:prstGeom>
          <a:noFill/>
          <a:ln w="101600" cap="flat" cmpd="sng" algn="ctr">
            <a:solidFill>
              <a:sysClr val="window" lastClr="FFFFFF">
                <a:lumMod val="85000"/>
              </a:sysClr>
            </a:solidFill>
            <a:prstDash val="solid"/>
          </a:ln>
          <a:effectLst/>
        </p:spPr>
      </p:cxnSp>
      <p:cxnSp>
        <p:nvCxnSpPr>
          <p:cNvPr id="233" name="Straight Connector 232">
            <a:extLst>
              <a:ext uri="{FF2B5EF4-FFF2-40B4-BE49-F238E27FC236}">
                <a16:creationId xmlns:a16="http://schemas.microsoft.com/office/drawing/2014/main" id="{2D2726B4-EC8C-1FE3-1D5E-4241E8CE17CE}"/>
              </a:ext>
            </a:extLst>
          </p:cNvPr>
          <p:cNvCxnSpPr>
            <a:cxnSpLocks/>
          </p:cNvCxnSpPr>
          <p:nvPr/>
        </p:nvCxnSpPr>
        <p:spPr>
          <a:xfrm flipV="1">
            <a:off x="1110659" y="2582376"/>
            <a:ext cx="2287871" cy="0"/>
          </a:xfrm>
          <a:prstGeom prst="line">
            <a:avLst/>
          </a:prstGeom>
          <a:noFill/>
          <a:ln w="101600" cap="flat" cmpd="sng" algn="ctr">
            <a:solidFill>
              <a:sysClr val="window" lastClr="FFFFFF">
                <a:lumMod val="85000"/>
              </a:sysClr>
            </a:solidFill>
            <a:prstDash val="solid"/>
          </a:ln>
          <a:effectLst/>
        </p:spPr>
      </p:cxnSp>
      <p:cxnSp>
        <p:nvCxnSpPr>
          <p:cNvPr id="247" name="Straight Connector 246">
            <a:extLst>
              <a:ext uri="{FF2B5EF4-FFF2-40B4-BE49-F238E27FC236}">
                <a16:creationId xmlns:a16="http://schemas.microsoft.com/office/drawing/2014/main" id="{A8F00FBA-14F5-17A4-CC15-EB3CAA172330}"/>
              </a:ext>
            </a:extLst>
          </p:cNvPr>
          <p:cNvCxnSpPr>
            <a:cxnSpLocks/>
          </p:cNvCxnSpPr>
          <p:nvPr/>
        </p:nvCxnSpPr>
        <p:spPr>
          <a:xfrm>
            <a:off x="3119076" y="2576911"/>
            <a:ext cx="2346810" cy="19173"/>
          </a:xfrm>
          <a:prstGeom prst="line">
            <a:avLst/>
          </a:prstGeom>
          <a:noFill/>
          <a:ln w="101600" cap="flat" cmpd="sng" algn="ctr">
            <a:solidFill>
              <a:sysClr val="window" lastClr="FFFFFF">
                <a:lumMod val="85000"/>
              </a:sysClr>
            </a:solidFill>
            <a:prstDash val="solid"/>
          </a:ln>
          <a:effectLst/>
        </p:spPr>
      </p:cxnSp>
      <p:cxnSp>
        <p:nvCxnSpPr>
          <p:cNvPr id="292" name="Straight Connector 291">
            <a:extLst>
              <a:ext uri="{FF2B5EF4-FFF2-40B4-BE49-F238E27FC236}">
                <a16:creationId xmlns:a16="http://schemas.microsoft.com/office/drawing/2014/main" id="{97D6780B-0D39-6CF8-98C0-AD05989340B4}"/>
              </a:ext>
            </a:extLst>
          </p:cNvPr>
          <p:cNvCxnSpPr>
            <a:cxnSpLocks/>
          </p:cNvCxnSpPr>
          <p:nvPr/>
        </p:nvCxnSpPr>
        <p:spPr>
          <a:xfrm flipV="1">
            <a:off x="7708181" y="2579929"/>
            <a:ext cx="2692766" cy="40897"/>
          </a:xfrm>
          <a:prstGeom prst="line">
            <a:avLst/>
          </a:prstGeom>
          <a:noFill/>
          <a:ln w="101600" cap="flat" cmpd="sng" algn="ctr">
            <a:solidFill>
              <a:sysClr val="window" lastClr="FFFFFF">
                <a:lumMod val="85000"/>
              </a:sysClr>
            </a:solidFill>
            <a:prstDash val="solid"/>
          </a:ln>
          <a:effectLst/>
        </p:spPr>
      </p:cxnSp>
      <p:grpSp>
        <p:nvGrpSpPr>
          <p:cNvPr id="293" name="Group 292">
            <a:extLst>
              <a:ext uri="{FF2B5EF4-FFF2-40B4-BE49-F238E27FC236}">
                <a16:creationId xmlns:a16="http://schemas.microsoft.com/office/drawing/2014/main" id="{964DBC27-104F-3310-FDE3-08CA68540D43}"/>
              </a:ext>
            </a:extLst>
          </p:cNvPr>
          <p:cNvGrpSpPr/>
          <p:nvPr/>
        </p:nvGrpSpPr>
        <p:grpSpPr>
          <a:xfrm rot="5400000">
            <a:off x="8935591" y="2535409"/>
            <a:ext cx="88021" cy="95622"/>
            <a:chOff x="7331884" y="3522364"/>
            <a:chExt cx="99999" cy="108632"/>
          </a:xfrm>
        </p:grpSpPr>
        <p:sp>
          <p:nvSpPr>
            <p:cNvPr id="294" name="Chevron 479">
              <a:extLst>
                <a:ext uri="{FF2B5EF4-FFF2-40B4-BE49-F238E27FC236}">
                  <a16:creationId xmlns:a16="http://schemas.microsoft.com/office/drawing/2014/main" id="{9226678C-85A3-3178-B8C2-5771C69834A7}"/>
                </a:ext>
              </a:extLst>
            </p:cNvPr>
            <p:cNvSpPr/>
            <p:nvPr/>
          </p:nvSpPr>
          <p:spPr>
            <a:xfrm rot="16200000">
              <a:off x="7357511" y="355664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95" name="Chevron 480">
              <a:extLst>
                <a:ext uri="{FF2B5EF4-FFF2-40B4-BE49-F238E27FC236}">
                  <a16:creationId xmlns:a16="http://schemas.microsoft.com/office/drawing/2014/main" id="{A1DF4603-425C-EE11-E71C-A779AC4BC9C7}"/>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28" name="TextBox 27">
            <a:extLst>
              <a:ext uri="{FF2B5EF4-FFF2-40B4-BE49-F238E27FC236}">
                <a16:creationId xmlns:a16="http://schemas.microsoft.com/office/drawing/2014/main" id="{7BEB9B80-BC16-C922-9662-16E40646869B}"/>
              </a:ext>
            </a:extLst>
          </p:cNvPr>
          <p:cNvSpPr txBox="1"/>
          <p:nvPr/>
        </p:nvSpPr>
        <p:spPr>
          <a:xfrm>
            <a:off x="868380" y="5200076"/>
            <a:ext cx="10852454" cy="400660"/>
          </a:xfrm>
          <a:prstGeom prst="rect">
            <a:avLst/>
          </a:prstGeom>
          <a:solidFill>
            <a:srgbClr val="D0D0CE"/>
          </a:solidFill>
        </p:spPr>
        <p:txBody>
          <a:bodyPr wrap="square" rtlCol="0" anchor="ctr">
            <a:no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endPar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56" name="Rectangle 55">
            <a:extLst>
              <a:ext uri="{FF2B5EF4-FFF2-40B4-BE49-F238E27FC236}">
                <a16:creationId xmlns:a16="http://schemas.microsoft.com/office/drawing/2014/main" id="{18D2E070-B911-823F-FE13-A6ED38A0E9B3}"/>
              </a:ext>
            </a:extLst>
          </p:cNvPr>
          <p:cNvSpPr/>
          <p:nvPr/>
        </p:nvSpPr>
        <p:spPr>
          <a:xfrm>
            <a:off x="7960407" y="5227170"/>
            <a:ext cx="1606986" cy="369332"/>
          </a:xfrm>
          <a:prstGeom prst="rect">
            <a:avLst/>
          </a:prstGeom>
          <a:no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sym typeface="Arial"/>
              </a:rPr>
              <a:t>Maintenance Manager</a:t>
            </a:r>
          </a:p>
        </p:txBody>
      </p:sp>
      <p:sp>
        <p:nvSpPr>
          <p:cNvPr id="57" name="AutoShape 34">
            <a:extLst>
              <a:ext uri="{FF2B5EF4-FFF2-40B4-BE49-F238E27FC236}">
                <a16:creationId xmlns:a16="http://schemas.microsoft.com/office/drawing/2014/main" id="{074E5AF0-024E-A93C-7CBC-F547CCE4817E}"/>
              </a:ext>
            </a:extLst>
          </p:cNvPr>
          <p:cNvSpPr>
            <a:spLocks noChangeArrowheads="1"/>
          </p:cNvSpPr>
          <p:nvPr/>
        </p:nvSpPr>
        <p:spPr bwMode="gray">
          <a:xfrm>
            <a:off x="243118" y="1233071"/>
            <a:ext cx="2395952" cy="515252"/>
          </a:xfrm>
          <a:prstGeom prst="chevron">
            <a:avLst>
              <a:gd name="adj" fmla="val 34968"/>
            </a:avLst>
          </a:prstGeom>
          <a:solidFill>
            <a:srgbClr val="333333"/>
          </a:solidFill>
          <a:ln w="25400" cap="flat" cmpd="sng" algn="ctr">
            <a:no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Open Sans" panose="020B0606030504020204" pitchFamily="34" charset="0"/>
              </a:rPr>
              <a:t>Data Cleaning and Standardization </a:t>
            </a:r>
          </a:p>
        </p:txBody>
      </p:sp>
      <p:sp>
        <p:nvSpPr>
          <p:cNvPr id="58" name="AutoShape 32">
            <a:extLst>
              <a:ext uri="{FF2B5EF4-FFF2-40B4-BE49-F238E27FC236}">
                <a16:creationId xmlns:a16="http://schemas.microsoft.com/office/drawing/2014/main" id="{221DD265-D2BC-D59B-62E0-AC26FDF65C14}"/>
              </a:ext>
            </a:extLst>
          </p:cNvPr>
          <p:cNvSpPr>
            <a:spLocks noChangeArrowheads="1"/>
          </p:cNvSpPr>
          <p:nvPr/>
        </p:nvSpPr>
        <p:spPr bwMode="gray">
          <a:xfrm>
            <a:off x="2511475" y="1233071"/>
            <a:ext cx="2395952" cy="515252"/>
          </a:xfrm>
          <a:prstGeom prst="chevron">
            <a:avLst>
              <a:gd name="adj" fmla="val 34952"/>
            </a:avLst>
          </a:prstGeom>
          <a:solidFill>
            <a:srgbClr val="009A44"/>
          </a:solidFill>
          <a:ln w="25400" cap="flat" cmpd="sng" algn="ctr">
            <a:no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Open Sans" panose="020B0606030504020204" pitchFamily="34" charset="0"/>
              </a:rPr>
              <a:t>Building a Single Source of Truth</a:t>
            </a:r>
          </a:p>
        </p:txBody>
      </p:sp>
      <p:sp>
        <p:nvSpPr>
          <p:cNvPr id="59" name="AutoShape 34">
            <a:extLst>
              <a:ext uri="{FF2B5EF4-FFF2-40B4-BE49-F238E27FC236}">
                <a16:creationId xmlns:a16="http://schemas.microsoft.com/office/drawing/2014/main" id="{7DC66611-0F9F-F301-CAAC-C2249F9CB0D8}"/>
              </a:ext>
            </a:extLst>
          </p:cNvPr>
          <p:cNvSpPr>
            <a:spLocks noChangeArrowheads="1"/>
          </p:cNvSpPr>
          <p:nvPr/>
        </p:nvSpPr>
        <p:spPr bwMode="gray">
          <a:xfrm>
            <a:off x="7044346" y="1233071"/>
            <a:ext cx="2395952" cy="515252"/>
          </a:xfrm>
          <a:prstGeom prst="chevron">
            <a:avLst>
              <a:gd name="adj" fmla="val 34968"/>
            </a:avLst>
          </a:prstGeom>
          <a:solidFill>
            <a:srgbClr val="046A38"/>
          </a:solidFill>
          <a:ln w="25400" cap="flat" cmpd="sng" algn="ctr">
            <a:no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Open Sans" panose="020B0606030504020204" pitchFamily="34" charset="0"/>
              </a:rPr>
              <a:t>Smart Planning </a:t>
            </a:r>
          </a:p>
        </p:txBody>
      </p:sp>
      <p:sp>
        <p:nvSpPr>
          <p:cNvPr id="60" name="AutoShape 32">
            <a:extLst>
              <a:ext uri="{FF2B5EF4-FFF2-40B4-BE49-F238E27FC236}">
                <a16:creationId xmlns:a16="http://schemas.microsoft.com/office/drawing/2014/main" id="{9B25D2F4-3C12-BC67-5EC1-657F4F171C1A}"/>
              </a:ext>
            </a:extLst>
          </p:cNvPr>
          <p:cNvSpPr>
            <a:spLocks noChangeArrowheads="1"/>
          </p:cNvSpPr>
          <p:nvPr/>
        </p:nvSpPr>
        <p:spPr bwMode="gray">
          <a:xfrm>
            <a:off x="4779832" y="1233071"/>
            <a:ext cx="2392109" cy="515252"/>
          </a:xfrm>
          <a:prstGeom prst="chevron">
            <a:avLst>
              <a:gd name="adj" fmla="val 34952"/>
            </a:avLst>
          </a:prstGeom>
          <a:solidFill>
            <a:srgbClr val="00ABAB"/>
          </a:solidFill>
          <a:ln w="25400" cap="flat" cmpd="sng" algn="ctr">
            <a:no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Open Sans" panose="020B0606030504020204" pitchFamily="34" charset="0"/>
              </a:rPr>
              <a:t>Predictive Modelling Integration</a:t>
            </a:r>
          </a:p>
        </p:txBody>
      </p:sp>
      <p:grpSp>
        <p:nvGrpSpPr>
          <p:cNvPr id="66" name="Group 65">
            <a:extLst>
              <a:ext uri="{FF2B5EF4-FFF2-40B4-BE49-F238E27FC236}">
                <a16:creationId xmlns:a16="http://schemas.microsoft.com/office/drawing/2014/main" id="{3D170CCF-E178-E15F-81FE-AF283EC6B3AD}"/>
              </a:ext>
            </a:extLst>
          </p:cNvPr>
          <p:cNvGrpSpPr/>
          <p:nvPr/>
        </p:nvGrpSpPr>
        <p:grpSpPr>
          <a:xfrm>
            <a:off x="11207868" y="5663716"/>
            <a:ext cx="770660" cy="678574"/>
            <a:chOff x="9935198" y="4611562"/>
            <a:chExt cx="770660" cy="678574"/>
          </a:xfrm>
        </p:grpSpPr>
        <p:grpSp>
          <p:nvGrpSpPr>
            <p:cNvPr id="67" name="Group 66">
              <a:extLst>
                <a:ext uri="{FF2B5EF4-FFF2-40B4-BE49-F238E27FC236}">
                  <a16:creationId xmlns:a16="http://schemas.microsoft.com/office/drawing/2014/main" id="{22F8AE59-7781-F288-F27A-95F3E016F240}"/>
                </a:ext>
              </a:extLst>
            </p:cNvPr>
            <p:cNvGrpSpPr/>
            <p:nvPr/>
          </p:nvGrpSpPr>
          <p:grpSpPr>
            <a:xfrm>
              <a:off x="10103800" y="4611562"/>
              <a:ext cx="365760" cy="365760"/>
              <a:chOff x="5486704" y="4791661"/>
              <a:chExt cx="365760" cy="365760"/>
            </a:xfrm>
          </p:grpSpPr>
          <p:sp>
            <p:nvSpPr>
              <p:cNvPr id="69" name="Oval 68">
                <a:extLst>
                  <a:ext uri="{FF2B5EF4-FFF2-40B4-BE49-F238E27FC236}">
                    <a16:creationId xmlns:a16="http://schemas.microsoft.com/office/drawing/2014/main" id="{82E37DAC-B802-DC22-46F9-D9A54161D092}"/>
                  </a:ext>
                </a:extLst>
              </p:cNvPr>
              <p:cNvSpPr/>
              <p:nvPr/>
            </p:nvSpPr>
            <p:spPr>
              <a:xfrm>
                <a:off x="5486704" y="4791661"/>
                <a:ext cx="365760" cy="365760"/>
              </a:xfrm>
              <a:prstGeom prst="ellipse">
                <a:avLst/>
              </a:prstGeom>
              <a:solidFill>
                <a:srgbClr val="86BC25"/>
              </a:solidFill>
              <a:ln w="19050">
                <a:solidFill>
                  <a:srgbClr val="D0D0CE"/>
                </a:solidFill>
              </a:ln>
              <a:effectLst/>
            </p:spPr>
            <p:txBody>
              <a:bodyPr wrap="square" lIns="0" tIns="0" rIns="0" bIns="0" rtlCol="0" anchor="ctr">
                <a:noAutofit/>
              </a:bodyPr>
              <a:lstStyle/>
              <a:p>
                <a:pPr marL="0" marR="0" lvl="0" indent="0" algn="ctr" defTabSz="914400" rtl="0" eaLnBrk="1" fontAlgn="base" latinLnBrk="0" hangingPunct="1">
                  <a:lnSpc>
                    <a:spcPct val="90000"/>
                  </a:lnSpc>
                  <a:spcBef>
                    <a:spcPts val="600"/>
                  </a:spcBef>
                  <a:spcAft>
                    <a:spcPts val="0"/>
                  </a:spcAft>
                  <a:buClrTx/>
                  <a:buSzTx/>
                  <a:buFontTx/>
                  <a:buNone/>
                  <a:tabLst/>
                  <a:defRPr/>
                </a:pPr>
                <a:endParaRPr kumimoji="0" lang="en-US" sz="1000" b="0" i="0" u="none" strike="noStrike" kern="0" cap="none" spc="0" normalizeH="0" baseline="0" noProof="0">
                  <a:ln>
                    <a:noFill/>
                  </a:ln>
                  <a:solidFill>
                    <a:srgbClr val="444444">
                      <a:lumMod val="40000"/>
                      <a:lumOff val="60000"/>
                    </a:srgbClr>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pic>
            <p:nvPicPr>
              <p:cNvPr id="70" name="Graphic 69" descr="Artificial Intelligence with solid fill">
                <a:extLst>
                  <a:ext uri="{FF2B5EF4-FFF2-40B4-BE49-F238E27FC236}">
                    <a16:creationId xmlns:a16="http://schemas.microsoft.com/office/drawing/2014/main" id="{CBA17B72-7EAE-41D0-DBF4-BDB8CBF978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27098" y="4837792"/>
                <a:ext cx="274320" cy="274320"/>
              </a:xfrm>
              <a:prstGeom prst="rect">
                <a:avLst/>
              </a:prstGeom>
            </p:spPr>
          </p:pic>
        </p:grpSp>
        <p:sp>
          <p:nvSpPr>
            <p:cNvPr id="68" name="TextBox 67">
              <a:extLst>
                <a:ext uri="{FF2B5EF4-FFF2-40B4-BE49-F238E27FC236}">
                  <a16:creationId xmlns:a16="http://schemas.microsoft.com/office/drawing/2014/main" id="{D9C11CC9-D959-DA14-F204-7EA1364CB552}"/>
                </a:ext>
              </a:extLst>
            </p:cNvPr>
            <p:cNvSpPr txBox="1"/>
            <p:nvPr/>
          </p:nvSpPr>
          <p:spPr>
            <a:xfrm>
              <a:off x="9935198" y="4951582"/>
              <a:ext cx="77066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333333"/>
                  </a:solidFill>
                  <a:effectLst/>
                  <a:uLnTx/>
                  <a:uFillTx/>
                  <a:latin typeface="Verdana" panose="020B0604030504040204" pitchFamily="34" charset="0"/>
                  <a:ea typeface="Verdana" panose="020B0604030504040204" pitchFamily="34" charset="0"/>
                  <a:cs typeface="Open Sans" panose="020B0606030504020204" pitchFamily="34" charset="0"/>
                </a:rPr>
                <a:t>Gen AI </a:t>
              </a:r>
              <a:r>
                <a:rPr lang="en-US" sz="800" i="1">
                  <a:solidFill>
                    <a:srgbClr val="333333"/>
                  </a:solidFill>
                  <a:latin typeface="Verdana" panose="020B0604030504040204" pitchFamily="34" charset="0"/>
                  <a:ea typeface="Verdana" panose="020B0604030504040204" pitchFamily="34" charset="0"/>
                  <a:cs typeface="Open Sans" panose="020B0606030504020204" pitchFamily="34" charset="0"/>
                </a:rPr>
                <a:t>analysis</a:t>
              </a:r>
              <a:endParaRPr kumimoji="0" lang="en-US" sz="800" b="0" i="1" u="none" strike="noStrike" kern="1200" cap="none" spc="0" normalizeH="0" baseline="0" noProof="0">
                <a:ln>
                  <a:noFill/>
                </a:ln>
                <a:solidFill>
                  <a:srgbClr val="333333"/>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pic>
        <p:nvPicPr>
          <p:cNvPr id="74" name="Picture 73">
            <a:extLst>
              <a:ext uri="{FF2B5EF4-FFF2-40B4-BE49-F238E27FC236}">
                <a16:creationId xmlns:a16="http://schemas.microsoft.com/office/drawing/2014/main" id="{02E02E46-246D-5353-5D85-FC2345AD6941}"/>
              </a:ext>
            </a:extLst>
          </p:cNvPr>
          <p:cNvPicPr>
            <a:picLocks/>
          </p:cNvPicPr>
          <p:nvPr/>
        </p:nvPicPr>
        <p:blipFill>
          <a:blip r:embed="rId7"/>
          <a:stretch>
            <a:fillRect/>
          </a:stretch>
        </p:blipFill>
        <p:spPr>
          <a:xfrm>
            <a:off x="11376470" y="1140766"/>
            <a:ext cx="0" cy="301752"/>
          </a:xfrm>
          <a:prstGeom prst="rect">
            <a:avLst/>
          </a:prstGeom>
        </p:spPr>
      </p:pic>
      <p:sp>
        <p:nvSpPr>
          <p:cNvPr id="85" name="TextBox 84">
            <a:extLst>
              <a:ext uri="{FF2B5EF4-FFF2-40B4-BE49-F238E27FC236}">
                <a16:creationId xmlns:a16="http://schemas.microsoft.com/office/drawing/2014/main" id="{3A62CD55-0E55-6FB7-79BB-AD708A7DFF74}"/>
              </a:ext>
            </a:extLst>
          </p:cNvPr>
          <p:cNvSpPr txBox="1"/>
          <p:nvPr/>
        </p:nvSpPr>
        <p:spPr>
          <a:xfrm>
            <a:off x="2821592" y="5296420"/>
            <a:ext cx="2505575" cy="230832"/>
          </a:xfrm>
          <a:prstGeom prst="rect">
            <a:avLst/>
          </a:prstGeom>
          <a:no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rPr>
              <a:t>Reliability Engineer</a:t>
            </a:r>
          </a:p>
        </p:txBody>
      </p:sp>
      <p:sp>
        <p:nvSpPr>
          <p:cNvPr id="86" name="Rectangle 85">
            <a:extLst>
              <a:ext uri="{FF2B5EF4-FFF2-40B4-BE49-F238E27FC236}">
                <a16:creationId xmlns:a16="http://schemas.microsoft.com/office/drawing/2014/main" id="{F3B2C774-15CC-8930-DD40-436DF8535FEC}"/>
              </a:ext>
            </a:extLst>
          </p:cNvPr>
          <p:cNvSpPr/>
          <p:nvPr/>
        </p:nvSpPr>
        <p:spPr>
          <a:xfrm>
            <a:off x="1123941" y="5234818"/>
            <a:ext cx="1625109" cy="369332"/>
          </a:xfrm>
          <a:prstGeom prst="rect">
            <a:avLst/>
          </a:prstGeom>
          <a:solidFill>
            <a:srgbClr val="D0D0CE"/>
          </a:solid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rPr>
              <a:t>Maintenance Engineer</a:t>
            </a:r>
            <a:endPar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sym typeface="Arial"/>
            </a:endParaRPr>
          </a:p>
        </p:txBody>
      </p:sp>
      <p:pic>
        <p:nvPicPr>
          <p:cNvPr id="87" name="Picture 86">
            <a:extLst>
              <a:ext uri="{FF2B5EF4-FFF2-40B4-BE49-F238E27FC236}">
                <a16:creationId xmlns:a16="http://schemas.microsoft.com/office/drawing/2014/main" id="{B1C63C7A-F5B1-EFE3-3F62-DD880A897D0A}"/>
              </a:ext>
            </a:extLst>
          </p:cNvPr>
          <p:cNvPicPr>
            <a:picLocks noChangeAspect="1"/>
          </p:cNvPicPr>
          <p:nvPr/>
        </p:nvPicPr>
        <p:blipFill>
          <a:blip r:embed="rId8">
            <a:grayscl/>
          </a:blip>
          <a:stretch>
            <a:fillRect/>
          </a:stretch>
        </p:blipFill>
        <p:spPr>
          <a:xfrm>
            <a:off x="2749050" y="5080366"/>
            <a:ext cx="640080" cy="640080"/>
          </a:xfrm>
          <a:prstGeom prst="ellipse">
            <a:avLst/>
          </a:prstGeom>
          <a:ln w="19050">
            <a:solidFill>
              <a:srgbClr val="75787B"/>
            </a:solidFill>
          </a:ln>
          <a:effectLst>
            <a:softEdge rad="63500"/>
          </a:effectLst>
        </p:spPr>
      </p:pic>
      <p:pic>
        <p:nvPicPr>
          <p:cNvPr id="88" name="Picture 87">
            <a:extLst>
              <a:ext uri="{FF2B5EF4-FFF2-40B4-BE49-F238E27FC236}">
                <a16:creationId xmlns:a16="http://schemas.microsoft.com/office/drawing/2014/main" id="{30DF20C4-D6D8-D036-3032-F33F16DEBB43}"/>
              </a:ext>
            </a:extLst>
          </p:cNvPr>
          <p:cNvPicPr>
            <a:picLocks noChangeAspect="1"/>
          </p:cNvPicPr>
          <p:nvPr/>
        </p:nvPicPr>
        <p:blipFill>
          <a:blip r:embed="rId8">
            <a:grayscl/>
          </a:blip>
          <a:stretch>
            <a:fillRect/>
          </a:stretch>
        </p:blipFill>
        <p:spPr>
          <a:xfrm>
            <a:off x="452666" y="5070920"/>
            <a:ext cx="640080" cy="640080"/>
          </a:xfrm>
          <a:prstGeom prst="ellipse">
            <a:avLst/>
          </a:prstGeom>
          <a:ln w="19050">
            <a:solidFill>
              <a:srgbClr val="75787B"/>
            </a:solidFill>
          </a:ln>
          <a:effectLst>
            <a:softEdge rad="63500"/>
          </a:effectLst>
        </p:spPr>
      </p:pic>
      <p:pic>
        <p:nvPicPr>
          <p:cNvPr id="98" name="Picture 97">
            <a:extLst>
              <a:ext uri="{FF2B5EF4-FFF2-40B4-BE49-F238E27FC236}">
                <a16:creationId xmlns:a16="http://schemas.microsoft.com/office/drawing/2014/main" id="{406F9945-6EE4-0075-D85A-1F18ACCB7A46}"/>
              </a:ext>
            </a:extLst>
          </p:cNvPr>
          <p:cNvPicPr>
            <a:picLocks noChangeAspect="1"/>
          </p:cNvPicPr>
          <p:nvPr/>
        </p:nvPicPr>
        <p:blipFill>
          <a:blip r:embed="rId9">
            <a:grayscl/>
          </a:blip>
          <a:stretch>
            <a:fillRect/>
          </a:stretch>
        </p:blipFill>
        <p:spPr>
          <a:xfrm>
            <a:off x="7252798" y="5098291"/>
            <a:ext cx="640080" cy="627090"/>
          </a:xfrm>
          <a:prstGeom prst="ellipse">
            <a:avLst/>
          </a:prstGeom>
          <a:ln>
            <a:solidFill>
              <a:srgbClr val="62B5E5"/>
            </a:solidFill>
          </a:ln>
          <a:effectLst>
            <a:softEdge rad="63500"/>
          </a:effectLst>
        </p:spPr>
      </p:pic>
      <p:sp>
        <p:nvSpPr>
          <p:cNvPr id="108" name="Rectangle 107">
            <a:extLst>
              <a:ext uri="{FF2B5EF4-FFF2-40B4-BE49-F238E27FC236}">
                <a16:creationId xmlns:a16="http://schemas.microsoft.com/office/drawing/2014/main" id="{86811B34-4BE2-66D2-F7AC-315C98A47E8B}"/>
              </a:ext>
            </a:extLst>
          </p:cNvPr>
          <p:cNvSpPr/>
          <p:nvPr/>
        </p:nvSpPr>
        <p:spPr>
          <a:xfrm>
            <a:off x="9836985" y="5284317"/>
            <a:ext cx="2153441" cy="230832"/>
          </a:xfrm>
          <a:prstGeom prst="rect">
            <a:avLst/>
          </a:prstGeom>
          <a:no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rPr>
              <a:t>Planner</a:t>
            </a:r>
            <a:endPar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sym typeface="Arial"/>
            </a:endParaRPr>
          </a:p>
        </p:txBody>
      </p:sp>
      <p:pic>
        <p:nvPicPr>
          <p:cNvPr id="109" name="Picture 108">
            <a:extLst>
              <a:ext uri="{FF2B5EF4-FFF2-40B4-BE49-F238E27FC236}">
                <a16:creationId xmlns:a16="http://schemas.microsoft.com/office/drawing/2014/main" id="{64CA3304-91F3-37DD-1C79-1A92FD30EAC6}"/>
              </a:ext>
            </a:extLst>
          </p:cNvPr>
          <p:cNvPicPr>
            <a:picLocks noChangeAspect="1"/>
          </p:cNvPicPr>
          <p:nvPr/>
        </p:nvPicPr>
        <p:blipFill>
          <a:blip r:embed="rId10" cstate="print">
            <a:grayscl/>
            <a:extLst>
              <a:ext uri="{28A0092B-C50C-407E-A947-70E740481C1C}">
                <a14:useLocalDpi xmlns:a14="http://schemas.microsoft.com/office/drawing/2010/main" val="0"/>
              </a:ext>
            </a:extLst>
          </a:blip>
          <a:stretch>
            <a:fillRect/>
          </a:stretch>
        </p:blipFill>
        <p:spPr>
          <a:xfrm>
            <a:off x="10035126" y="5080708"/>
            <a:ext cx="640080" cy="639738"/>
          </a:xfrm>
          <a:prstGeom prst="ellipse">
            <a:avLst/>
          </a:prstGeom>
          <a:solidFill>
            <a:srgbClr val="00717F"/>
          </a:solidFill>
          <a:ln>
            <a:solidFill>
              <a:srgbClr val="0097A9">
                <a:lumMod val="75000"/>
              </a:srgbClr>
            </a:solidFill>
          </a:ln>
          <a:effectLst>
            <a:softEdge rad="63500"/>
          </a:effectLst>
        </p:spPr>
      </p:pic>
      <p:grpSp>
        <p:nvGrpSpPr>
          <p:cNvPr id="183" name="Group 182">
            <a:extLst>
              <a:ext uri="{FF2B5EF4-FFF2-40B4-BE49-F238E27FC236}">
                <a16:creationId xmlns:a16="http://schemas.microsoft.com/office/drawing/2014/main" id="{E2A367D2-4858-E8BB-EF41-C82C0B056333}"/>
              </a:ext>
            </a:extLst>
          </p:cNvPr>
          <p:cNvGrpSpPr/>
          <p:nvPr/>
        </p:nvGrpSpPr>
        <p:grpSpPr>
          <a:xfrm>
            <a:off x="10445966" y="5652111"/>
            <a:ext cx="911757" cy="720330"/>
            <a:chOff x="10265999" y="1228846"/>
            <a:chExt cx="984912" cy="797222"/>
          </a:xfrm>
        </p:grpSpPr>
        <p:pic>
          <p:nvPicPr>
            <p:cNvPr id="184" name="Graphic 183" descr="Cmd Terminal with solid fill">
              <a:extLst>
                <a:ext uri="{FF2B5EF4-FFF2-40B4-BE49-F238E27FC236}">
                  <a16:creationId xmlns:a16="http://schemas.microsoft.com/office/drawing/2014/main" id="{330438F7-C353-0124-E1D2-3442AB04B5D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548484" y="1228846"/>
              <a:ext cx="432066" cy="432066"/>
            </a:xfrm>
            <a:prstGeom prst="rect">
              <a:avLst/>
            </a:prstGeom>
          </p:spPr>
        </p:pic>
        <p:sp>
          <p:nvSpPr>
            <p:cNvPr id="185" name="TextBox 184">
              <a:extLst>
                <a:ext uri="{FF2B5EF4-FFF2-40B4-BE49-F238E27FC236}">
                  <a16:creationId xmlns:a16="http://schemas.microsoft.com/office/drawing/2014/main" id="{4BCCC563-E8EA-F79E-5E80-AD31CD5644E2}"/>
                </a:ext>
              </a:extLst>
            </p:cNvPr>
            <p:cNvSpPr txBox="1"/>
            <p:nvPr/>
          </p:nvSpPr>
          <p:spPr>
            <a:xfrm>
              <a:off x="10265999" y="1651375"/>
              <a:ext cx="984912" cy="37469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rPr>
                <a:t>Analysis and </a:t>
              </a:r>
              <a:r>
                <a:rPr kumimoji="0" lang="en-US" sz="800" b="0" i="1"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rPr>
                <a:t>optimisation</a:t>
              </a:r>
              <a:endParaRPr kumimoji="0" lang="en-US" sz="8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191" name="AutoShape 34">
            <a:extLst>
              <a:ext uri="{FF2B5EF4-FFF2-40B4-BE49-F238E27FC236}">
                <a16:creationId xmlns:a16="http://schemas.microsoft.com/office/drawing/2014/main" id="{598176B8-F160-3DE2-6755-46877710BEF0}"/>
              </a:ext>
            </a:extLst>
          </p:cNvPr>
          <p:cNvSpPr>
            <a:spLocks noChangeArrowheads="1"/>
          </p:cNvSpPr>
          <p:nvPr/>
        </p:nvSpPr>
        <p:spPr bwMode="gray">
          <a:xfrm>
            <a:off x="9312703" y="1233071"/>
            <a:ext cx="2395952" cy="515252"/>
          </a:xfrm>
          <a:prstGeom prst="chevron">
            <a:avLst>
              <a:gd name="adj" fmla="val 34968"/>
            </a:avLst>
          </a:prstGeom>
          <a:solidFill>
            <a:srgbClr val="C4D600"/>
          </a:solidFill>
          <a:ln w="25400" cap="flat" cmpd="sng" algn="ctr">
            <a:noFill/>
            <a:prstDash val="solid"/>
          </a:ln>
          <a:effectLst/>
        </p:spPr>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rPr>
              <a:t>Scheduling</a:t>
            </a:r>
          </a:p>
        </p:txBody>
      </p:sp>
      <p:sp>
        <p:nvSpPr>
          <p:cNvPr id="192" name="TextBox 191">
            <a:extLst>
              <a:ext uri="{FF2B5EF4-FFF2-40B4-BE49-F238E27FC236}">
                <a16:creationId xmlns:a16="http://schemas.microsoft.com/office/drawing/2014/main" id="{68839BDA-0899-7638-E72B-5E197B732554}"/>
              </a:ext>
            </a:extLst>
          </p:cNvPr>
          <p:cNvSpPr txBox="1"/>
          <p:nvPr/>
        </p:nvSpPr>
        <p:spPr>
          <a:xfrm>
            <a:off x="4963840" y="5284317"/>
            <a:ext cx="2505575" cy="230832"/>
          </a:xfrm>
          <a:prstGeom prst="rect">
            <a:avLst/>
          </a:prstGeom>
          <a:noFill/>
        </p:spPr>
        <p:txBody>
          <a:bodyPr wrap="square" rtlCol="0" anchor="ctr">
            <a:spAutoFit/>
          </a:bodyPr>
          <a:lstStyle/>
          <a:p>
            <a:pPr marL="0" marR="0" lvl="0" indent="0" algn="ctr" defTabSz="914400" rtl="0" eaLnBrk="1" fontAlgn="base" latinLnBrk="0" hangingPunct="1">
              <a:lnSpc>
                <a:spcPct val="90000"/>
              </a:lnSpc>
              <a:spcBef>
                <a:spcPts val="600"/>
              </a:spcBef>
              <a:spcAft>
                <a:spcPts val="0"/>
              </a:spcAft>
              <a:buClr>
                <a:srgbClr val="0085C3"/>
              </a:buClr>
              <a:buSzTx/>
              <a:buFontTx/>
              <a:buNone/>
              <a:tabLst/>
              <a:defRPr/>
            </a:pPr>
            <a:r>
              <a:rPr lang="en-US" sz="1000" b="1" kern="0">
                <a:solidFill>
                  <a:prstClr val="black"/>
                </a:solidFill>
                <a:latin typeface="Verdana" panose="020B0604030504040204" pitchFamily="34" charset="0"/>
                <a:ea typeface="Verdana" panose="020B0604030504040204" pitchFamily="34" charset="0"/>
                <a:cs typeface="Open Sans" panose="020B0606030504020204" pitchFamily="34" charset="0"/>
              </a:rPr>
              <a:t>Data Scientist</a:t>
            </a:r>
            <a:endParaRPr kumimoji="0" lang="en-US" sz="10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pic>
        <p:nvPicPr>
          <p:cNvPr id="193" name="Picture 192">
            <a:extLst>
              <a:ext uri="{FF2B5EF4-FFF2-40B4-BE49-F238E27FC236}">
                <a16:creationId xmlns:a16="http://schemas.microsoft.com/office/drawing/2014/main" id="{AD90FBB3-94DD-D62C-1C6A-37EEB2916DF5}"/>
              </a:ext>
            </a:extLst>
          </p:cNvPr>
          <p:cNvPicPr>
            <a:picLocks noChangeAspect="1"/>
          </p:cNvPicPr>
          <p:nvPr/>
        </p:nvPicPr>
        <p:blipFill>
          <a:blip r:embed="rId8">
            <a:grayscl/>
          </a:blip>
          <a:stretch>
            <a:fillRect/>
          </a:stretch>
        </p:blipFill>
        <p:spPr>
          <a:xfrm>
            <a:off x="5054841" y="5056832"/>
            <a:ext cx="640080" cy="640080"/>
          </a:xfrm>
          <a:prstGeom prst="ellipse">
            <a:avLst/>
          </a:prstGeom>
          <a:ln w="19050">
            <a:solidFill>
              <a:srgbClr val="75787B"/>
            </a:solidFill>
          </a:ln>
          <a:effectLst>
            <a:softEdge rad="63500"/>
          </a:effectLst>
        </p:spPr>
      </p:pic>
      <p:sp>
        <p:nvSpPr>
          <p:cNvPr id="205" name="Oval 204">
            <a:extLst>
              <a:ext uri="{FF2B5EF4-FFF2-40B4-BE49-F238E27FC236}">
                <a16:creationId xmlns:a16="http://schemas.microsoft.com/office/drawing/2014/main" id="{2BBBE0A3-D474-7EB8-C40D-B8D6A697353C}"/>
              </a:ext>
            </a:extLst>
          </p:cNvPr>
          <p:cNvSpPr>
            <a:spLocks noChangeAspect="1"/>
          </p:cNvSpPr>
          <p:nvPr/>
        </p:nvSpPr>
        <p:spPr>
          <a:xfrm>
            <a:off x="847498" y="2430488"/>
            <a:ext cx="433284" cy="423960"/>
          </a:xfrm>
          <a:prstGeom prst="ellipse">
            <a:avLst/>
          </a:prstGeom>
          <a:solidFill>
            <a:sysClr val="window" lastClr="FFFFFF"/>
          </a:solidFill>
          <a:ln w="38100" cap="flat" cmpd="sng" algn="ctr">
            <a:solidFill>
              <a:srgbClr val="333333"/>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207" name="Group 206">
            <a:extLst>
              <a:ext uri="{FF2B5EF4-FFF2-40B4-BE49-F238E27FC236}">
                <a16:creationId xmlns:a16="http://schemas.microsoft.com/office/drawing/2014/main" id="{6EA7A067-FDE7-0875-59BA-7EB05530BE09}"/>
              </a:ext>
            </a:extLst>
          </p:cNvPr>
          <p:cNvGrpSpPr>
            <a:grpSpLocks noChangeAspect="1"/>
          </p:cNvGrpSpPr>
          <p:nvPr/>
        </p:nvGrpSpPr>
        <p:grpSpPr>
          <a:xfrm>
            <a:off x="971062" y="2541880"/>
            <a:ext cx="191101" cy="201215"/>
            <a:chOff x="1311275" y="6561138"/>
            <a:chExt cx="539750" cy="568325"/>
          </a:xfrm>
        </p:grpSpPr>
        <p:sp>
          <p:nvSpPr>
            <p:cNvPr id="208" name="Freeform 58">
              <a:extLst>
                <a:ext uri="{FF2B5EF4-FFF2-40B4-BE49-F238E27FC236}">
                  <a16:creationId xmlns:a16="http://schemas.microsoft.com/office/drawing/2014/main" id="{D79E419A-580C-98B5-BCBC-56326E755E6E}"/>
                </a:ext>
              </a:extLst>
            </p:cNvPr>
            <p:cNvSpPr>
              <a:spLocks/>
            </p:cNvSpPr>
            <p:nvPr/>
          </p:nvSpPr>
          <p:spPr bwMode="auto">
            <a:xfrm>
              <a:off x="1524000" y="7043738"/>
              <a:ext cx="327025" cy="23813"/>
            </a:xfrm>
            <a:custGeom>
              <a:avLst/>
              <a:gdLst>
                <a:gd name="T0" fmla="*/ 128 w 133"/>
                <a:gd name="T1" fmla="*/ 0 h 10"/>
                <a:gd name="T2" fmla="*/ 5 w 133"/>
                <a:gd name="T3" fmla="*/ 0 h 10"/>
                <a:gd name="T4" fmla="*/ 0 w 133"/>
                <a:gd name="T5" fmla="*/ 5 h 10"/>
                <a:gd name="T6" fmla="*/ 5 w 133"/>
                <a:gd name="T7" fmla="*/ 10 h 10"/>
                <a:gd name="T8" fmla="*/ 128 w 133"/>
                <a:gd name="T9" fmla="*/ 10 h 10"/>
                <a:gd name="T10" fmla="*/ 133 w 133"/>
                <a:gd name="T11" fmla="*/ 5 h 10"/>
                <a:gd name="T12" fmla="*/ 128 w 133"/>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33" h="10">
                  <a:moveTo>
                    <a:pt x="128" y="0"/>
                  </a:moveTo>
                  <a:cubicBezTo>
                    <a:pt x="5" y="0"/>
                    <a:pt x="5" y="0"/>
                    <a:pt x="5" y="0"/>
                  </a:cubicBezTo>
                  <a:cubicBezTo>
                    <a:pt x="3" y="0"/>
                    <a:pt x="0" y="2"/>
                    <a:pt x="0" y="5"/>
                  </a:cubicBezTo>
                  <a:cubicBezTo>
                    <a:pt x="0" y="8"/>
                    <a:pt x="3" y="10"/>
                    <a:pt x="5" y="10"/>
                  </a:cubicBezTo>
                  <a:cubicBezTo>
                    <a:pt x="128" y="10"/>
                    <a:pt x="128" y="10"/>
                    <a:pt x="128" y="10"/>
                  </a:cubicBezTo>
                  <a:cubicBezTo>
                    <a:pt x="131" y="10"/>
                    <a:pt x="133" y="8"/>
                    <a:pt x="133" y="5"/>
                  </a:cubicBezTo>
                  <a:cubicBezTo>
                    <a:pt x="133" y="2"/>
                    <a:pt x="131" y="0"/>
                    <a:pt x="128" y="0"/>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09" name="Freeform 59">
              <a:extLst>
                <a:ext uri="{FF2B5EF4-FFF2-40B4-BE49-F238E27FC236}">
                  <a16:creationId xmlns:a16="http://schemas.microsoft.com/office/drawing/2014/main" id="{71E12085-0096-5941-01CD-06AFAFFD9B36}"/>
                </a:ext>
              </a:extLst>
            </p:cNvPr>
            <p:cNvSpPr>
              <a:spLocks/>
            </p:cNvSpPr>
            <p:nvPr/>
          </p:nvSpPr>
          <p:spPr bwMode="auto">
            <a:xfrm>
              <a:off x="1524000" y="6840538"/>
              <a:ext cx="327025" cy="22225"/>
            </a:xfrm>
            <a:custGeom>
              <a:avLst/>
              <a:gdLst>
                <a:gd name="T0" fmla="*/ 128 w 133"/>
                <a:gd name="T1" fmla="*/ 0 h 9"/>
                <a:gd name="T2" fmla="*/ 5 w 133"/>
                <a:gd name="T3" fmla="*/ 0 h 9"/>
                <a:gd name="T4" fmla="*/ 0 w 133"/>
                <a:gd name="T5" fmla="*/ 5 h 9"/>
                <a:gd name="T6" fmla="*/ 5 w 133"/>
                <a:gd name="T7" fmla="*/ 9 h 9"/>
                <a:gd name="T8" fmla="*/ 128 w 133"/>
                <a:gd name="T9" fmla="*/ 9 h 9"/>
                <a:gd name="T10" fmla="*/ 133 w 133"/>
                <a:gd name="T11" fmla="*/ 5 h 9"/>
                <a:gd name="T12" fmla="*/ 128 w 133"/>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33" h="9">
                  <a:moveTo>
                    <a:pt x="128" y="0"/>
                  </a:moveTo>
                  <a:cubicBezTo>
                    <a:pt x="5" y="0"/>
                    <a:pt x="5" y="0"/>
                    <a:pt x="5" y="0"/>
                  </a:cubicBezTo>
                  <a:cubicBezTo>
                    <a:pt x="3" y="0"/>
                    <a:pt x="0" y="2"/>
                    <a:pt x="0" y="5"/>
                  </a:cubicBezTo>
                  <a:cubicBezTo>
                    <a:pt x="0" y="7"/>
                    <a:pt x="3" y="9"/>
                    <a:pt x="5" y="9"/>
                  </a:cubicBezTo>
                  <a:cubicBezTo>
                    <a:pt x="128" y="9"/>
                    <a:pt x="128" y="9"/>
                    <a:pt x="128" y="9"/>
                  </a:cubicBezTo>
                  <a:cubicBezTo>
                    <a:pt x="131" y="9"/>
                    <a:pt x="133" y="7"/>
                    <a:pt x="133" y="5"/>
                  </a:cubicBezTo>
                  <a:cubicBezTo>
                    <a:pt x="133" y="2"/>
                    <a:pt x="131" y="0"/>
                    <a:pt x="128" y="0"/>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10" name="Freeform 60">
              <a:extLst>
                <a:ext uri="{FF2B5EF4-FFF2-40B4-BE49-F238E27FC236}">
                  <a16:creationId xmlns:a16="http://schemas.microsoft.com/office/drawing/2014/main" id="{02A0F6E6-27A3-4BE1-2986-4C3F9D0B2819}"/>
                </a:ext>
              </a:extLst>
            </p:cNvPr>
            <p:cNvSpPr>
              <a:spLocks/>
            </p:cNvSpPr>
            <p:nvPr/>
          </p:nvSpPr>
          <p:spPr bwMode="auto">
            <a:xfrm>
              <a:off x="1524000" y="6638925"/>
              <a:ext cx="327025" cy="22225"/>
            </a:xfrm>
            <a:custGeom>
              <a:avLst/>
              <a:gdLst>
                <a:gd name="T0" fmla="*/ 5 w 133"/>
                <a:gd name="T1" fmla="*/ 9 h 9"/>
                <a:gd name="T2" fmla="*/ 128 w 133"/>
                <a:gd name="T3" fmla="*/ 9 h 9"/>
                <a:gd name="T4" fmla="*/ 133 w 133"/>
                <a:gd name="T5" fmla="*/ 5 h 9"/>
                <a:gd name="T6" fmla="*/ 128 w 133"/>
                <a:gd name="T7" fmla="*/ 0 h 9"/>
                <a:gd name="T8" fmla="*/ 5 w 133"/>
                <a:gd name="T9" fmla="*/ 0 h 9"/>
                <a:gd name="T10" fmla="*/ 0 w 133"/>
                <a:gd name="T11" fmla="*/ 5 h 9"/>
                <a:gd name="T12" fmla="*/ 5 w 133"/>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33" h="9">
                  <a:moveTo>
                    <a:pt x="5" y="9"/>
                  </a:moveTo>
                  <a:cubicBezTo>
                    <a:pt x="128" y="9"/>
                    <a:pt x="128" y="9"/>
                    <a:pt x="128" y="9"/>
                  </a:cubicBezTo>
                  <a:cubicBezTo>
                    <a:pt x="131" y="9"/>
                    <a:pt x="133" y="7"/>
                    <a:pt x="133" y="5"/>
                  </a:cubicBezTo>
                  <a:cubicBezTo>
                    <a:pt x="133" y="2"/>
                    <a:pt x="131" y="0"/>
                    <a:pt x="128" y="0"/>
                  </a:cubicBezTo>
                  <a:cubicBezTo>
                    <a:pt x="5" y="0"/>
                    <a:pt x="5" y="0"/>
                    <a:pt x="5" y="0"/>
                  </a:cubicBezTo>
                  <a:cubicBezTo>
                    <a:pt x="3" y="0"/>
                    <a:pt x="0" y="2"/>
                    <a:pt x="0" y="5"/>
                  </a:cubicBezTo>
                  <a:cubicBezTo>
                    <a:pt x="0" y="7"/>
                    <a:pt x="3" y="9"/>
                    <a:pt x="5" y="9"/>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11" name="Freeform 61">
              <a:extLst>
                <a:ext uri="{FF2B5EF4-FFF2-40B4-BE49-F238E27FC236}">
                  <a16:creationId xmlns:a16="http://schemas.microsoft.com/office/drawing/2014/main" id="{14CFF1BC-355C-00ED-530D-0C94AFDEE6DD}"/>
                </a:ext>
              </a:extLst>
            </p:cNvPr>
            <p:cNvSpPr>
              <a:spLocks noEditPoints="1"/>
            </p:cNvSpPr>
            <p:nvPr/>
          </p:nvSpPr>
          <p:spPr bwMode="auto">
            <a:xfrm>
              <a:off x="1314450" y="6780213"/>
              <a:ext cx="147637" cy="147638"/>
            </a:xfrm>
            <a:custGeom>
              <a:avLst/>
              <a:gdLst>
                <a:gd name="T0" fmla="*/ 55 w 60"/>
                <a:gd name="T1" fmla="*/ 0 h 60"/>
                <a:gd name="T2" fmla="*/ 4 w 60"/>
                <a:gd name="T3" fmla="*/ 0 h 60"/>
                <a:gd name="T4" fmla="*/ 0 w 60"/>
                <a:gd name="T5" fmla="*/ 4 h 60"/>
                <a:gd name="T6" fmla="*/ 0 w 60"/>
                <a:gd name="T7" fmla="*/ 55 h 60"/>
                <a:gd name="T8" fmla="*/ 4 w 60"/>
                <a:gd name="T9" fmla="*/ 60 h 60"/>
                <a:gd name="T10" fmla="*/ 55 w 60"/>
                <a:gd name="T11" fmla="*/ 60 h 60"/>
                <a:gd name="T12" fmla="*/ 60 w 60"/>
                <a:gd name="T13" fmla="*/ 55 h 60"/>
                <a:gd name="T14" fmla="*/ 60 w 60"/>
                <a:gd name="T15" fmla="*/ 4 h 60"/>
                <a:gd name="T16" fmla="*/ 55 w 60"/>
                <a:gd name="T17" fmla="*/ 0 h 60"/>
                <a:gd name="T18" fmla="*/ 50 w 60"/>
                <a:gd name="T19" fmla="*/ 50 h 60"/>
                <a:gd name="T20" fmla="*/ 9 w 60"/>
                <a:gd name="T21" fmla="*/ 50 h 60"/>
                <a:gd name="T22" fmla="*/ 9 w 60"/>
                <a:gd name="T23" fmla="*/ 9 h 60"/>
                <a:gd name="T24" fmla="*/ 50 w 60"/>
                <a:gd name="T25" fmla="*/ 9 h 60"/>
                <a:gd name="T26" fmla="*/ 50 w 60"/>
                <a:gd name="T27" fmla="*/ 5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60">
                  <a:moveTo>
                    <a:pt x="55" y="0"/>
                  </a:moveTo>
                  <a:cubicBezTo>
                    <a:pt x="4" y="0"/>
                    <a:pt x="4" y="0"/>
                    <a:pt x="4" y="0"/>
                  </a:cubicBezTo>
                  <a:cubicBezTo>
                    <a:pt x="2" y="0"/>
                    <a:pt x="0" y="2"/>
                    <a:pt x="0" y="4"/>
                  </a:cubicBezTo>
                  <a:cubicBezTo>
                    <a:pt x="0" y="55"/>
                    <a:pt x="0" y="55"/>
                    <a:pt x="0" y="55"/>
                  </a:cubicBezTo>
                  <a:cubicBezTo>
                    <a:pt x="0" y="58"/>
                    <a:pt x="2" y="60"/>
                    <a:pt x="4" y="60"/>
                  </a:cubicBezTo>
                  <a:cubicBezTo>
                    <a:pt x="55" y="60"/>
                    <a:pt x="55" y="60"/>
                    <a:pt x="55" y="60"/>
                  </a:cubicBezTo>
                  <a:cubicBezTo>
                    <a:pt x="58" y="60"/>
                    <a:pt x="60" y="58"/>
                    <a:pt x="60" y="55"/>
                  </a:cubicBezTo>
                  <a:cubicBezTo>
                    <a:pt x="60" y="4"/>
                    <a:pt x="60" y="4"/>
                    <a:pt x="60" y="4"/>
                  </a:cubicBezTo>
                  <a:cubicBezTo>
                    <a:pt x="60" y="2"/>
                    <a:pt x="58" y="0"/>
                    <a:pt x="55" y="0"/>
                  </a:cubicBezTo>
                  <a:close/>
                  <a:moveTo>
                    <a:pt x="50" y="50"/>
                  </a:moveTo>
                  <a:cubicBezTo>
                    <a:pt x="9" y="50"/>
                    <a:pt x="9" y="50"/>
                    <a:pt x="9" y="50"/>
                  </a:cubicBezTo>
                  <a:cubicBezTo>
                    <a:pt x="9" y="9"/>
                    <a:pt x="9" y="9"/>
                    <a:pt x="9" y="9"/>
                  </a:cubicBezTo>
                  <a:cubicBezTo>
                    <a:pt x="50" y="9"/>
                    <a:pt x="50" y="9"/>
                    <a:pt x="50" y="9"/>
                  </a:cubicBezTo>
                  <a:lnTo>
                    <a:pt x="50" y="50"/>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12" name="Freeform 62">
              <a:extLst>
                <a:ext uri="{FF2B5EF4-FFF2-40B4-BE49-F238E27FC236}">
                  <a16:creationId xmlns:a16="http://schemas.microsoft.com/office/drawing/2014/main" id="{29574A64-1A12-DC4F-16F1-75D68467CAF8}"/>
                </a:ext>
              </a:extLst>
            </p:cNvPr>
            <p:cNvSpPr>
              <a:spLocks noEditPoints="1"/>
            </p:cNvSpPr>
            <p:nvPr/>
          </p:nvSpPr>
          <p:spPr bwMode="auto">
            <a:xfrm>
              <a:off x="1314450" y="6981825"/>
              <a:ext cx="147637" cy="147638"/>
            </a:xfrm>
            <a:custGeom>
              <a:avLst/>
              <a:gdLst>
                <a:gd name="T0" fmla="*/ 55 w 60"/>
                <a:gd name="T1" fmla="*/ 0 h 60"/>
                <a:gd name="T2" fmla="*/ 4 w 60"/>
                <a:gd name="T3" fmla="*/ 0 h 60"/>
                <a:gd name="T4" fmla="*/ 0 w 60"/>
                <a:gd name="T5" fmla="*/ 5 h 60"/>
                <a:gd name="T6" fmla="*/ 0 w 60"/>
                <a:gd name="T7" fmla="*/ 55 h 60"/>
                <a:gd name="T8" fmla="*/ 4 w 60"/>
                <a:gd name="T9" fmla="*/ 60 h 60"/>
                <a:gd name="T10" fmla="*/ 55 w 60"/>
                <a:gd name="T11" fmla="*/ 60 h 60"/>
                <a:gd name="T12" fmla="*/ 60 w 60"/>
                <a:gd name="T13" fmla="*/ 55 h 60"/>
                <a:gd name="T14" fmla="*/ 60 w 60"/>
                <a:gd name="T15" fmla="*/ 5 h 60"/>
                <a:gd name="T16" fmla="*/ 55 w 60"/>
                <a:gd name="T17" fmla="*/ 0 h 60"/>
                <a:gd name="T18" fmla="*/ 50 w 60"/>
                <a:gd name="T19" fmla="*/ 50 h 60"/>
                <a:gd name="T20" fmla="*/ 9 w 60"/>
                <a:gd name="T21" fmla="*/ 50 h 60"/>
                <a:gd name="T22" fmla="*/ 9 w 60"/>
                <a:gd name="T23" fmla="*/ 9 h 60"/>
                <a:gd name="T24" fmla="*/ 50 w 60"/>
                <a:gd name="T25" fmla="*/ 9 h 60"/>
                <a:gd name="T26" fmla="*/ 50 w 60"/>
                <a:gd name="T27" fmla="*/ 5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60">
                  <a:moveTo>
                    <a:pt x="55" y="0"/>
                  </a:moveTo>
                  <a:cubicBezTo>
                    <a:pt x="4" y="0"/>
                    <a:pt x="4" y="0"/>
                    <a:pt x="4" y="0"/>
                  </a:cubicBezTo>
                  <a:cubicBezTo>
                    <a:pt x="2" y="0"/>
                    <a:pt x="0" y="2"/>
                    <a:pt x="0" y="5"/>
                  </a:cubicBezTo>
                  <a:cubicBezTo>
                    <a:pt x="0" y="55"/>
                    <a:pt x="0" y="55"/>
                    <a:pt x="0" y="55"/>
                  </a:cubicBezTo>
                  <a:cubicBezTo>
                    <a:pt x="0" y="58"/>
                    <a:pt x="2" y="60"/>
                    <a:pt x="4" y="60"/>
                  </a:cubicBezTo>
                  <a:cubicBezTo>
                    <a:pt x="55" y="60"/>
                    <a:pt x="55" y="60"/>
                    <a:pt x="55" y="60"/>
                  </a:cubicBezTo>
                  <a:cubicBezTo>
                    <a:pt x="58" y="60"/>
                    <a:pt x="60" y="58"/>
                    <a:pt x="60" y="55"/>
                  </a:cubicBezTo>
                  <a:cubicBezTo>
                    <a:pt x="60" y="5"/>
                    <a:pt x="60" y="5"/>
                    <a:pt x="60" y="5"/>
                  </a:cubicBezTo>
                  <a:cubicBezTo>
                    <a:pt x="60" y="2"/>
                    <a:pt x="58" y="0"/>
                    <a:pt x="55" y="0"/>
                  </a:cubicBezTo>
                  <a:close/>
                  <a:moveTo>
                    <a:pt x="50" y="50"/>
                  </a:moveTo>
                  <a:cubicBezTo>
                    <a:pt x="9" y="50"/>
                    <a:pt x="9" y="50"/>
                    <a:pt x="9" y="50"/>
                  </a:cubicBezTo>
                  <a:cubicBezTo>
                    <a:pt x="9" y="9"/>
                    <a:pt x="9" y="9"/>
                    <a:pt x="9" y="9"/>
                  </a:cubicBezTo>
                  <a:cubicBezTo>
                    <a:pt x="50" y="9"/>
                    <a:pt x="50" y="9"/>
                    <a:pt x="50" y="9"/>
                  </a:cubicBezTo>
                  <a:lnTo>
                    <a:pt x="50" y="50"/>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13" name="Freeform 63">
              <a:extLst>
                <a:ext uri="{FF2B5EF4-FFF2-40B4-BE49-F238E27FC236}">
                  <a16:creationId xmlns:a16="http://schemas.microsoft.com/office/drawing/2014/main" id="{F1AF7A13-D706-3963-B502-D2DBEB7E1B68}"/>
                </a:ext>
              </a:extLst>
            </p:cNvPr>
            <p:cNvSpPr>
              <a:spLocks/>
            </p:cNvSpPr>
            <p:nvPr/>
          </p:nvSpPr>
          <p:spPr bwMode="auto">
            <a:xfrm>
              <a:off x="1311275" y="6561138"/>
              <a:ext cx="182562" cy="158750"/>
            </a:xfrm>
            <a:custGeom>
              <a:avLst/>
              <a:gdLst>
                <a:gd name="T0" fmla="*/ 65 w 74"/>
                <a:gd name="T1" fmla="*/ 2 h 65"/>
                <a:gd name="T2" fmla="*/ 23 w 74"/>
                <a:gd name="T3" fmla="*/ 53 h 65"/>
                <a:gd name="T4" fmla="*/ 9 w 74"/>
                <a:gd name="T5" fmla="*/ 38 h 65"/>
                <a:gd name="T6" fmla="*/ 2 w 74"/>
                <a:gd name="T7" fmla="*/ 37 h 65"/>
                <a:gd name="T8" fmla="*/ 2 w 74"/>
                <a:gd name="T9" fmla="*/ 44 h 65"/>
                <a:gd name="T10" fmla="*/ 19 w 74"/>
                <a:gd name="T11" fmla="*/ 64 h 65"/>
                <a:gd name="T12" fmla="*/ 23 w 74"/>
                <a:gd name="T13" fmla="*/ 65 h 65"/>
                <a:gd name="T14" fmla="*/ 23 w 74"/>
                <a:gd name="T15" fmla="*/ 65 h 65"/>
                <a:gd name="T16" fmla="*/ 27 w 74"/>
                <a:gd name="T17" fmla="*/ 64 h 65"/>
                <a:gd name="T18" fmla="*/ 72 w 74"/>
                <a:gd name="T19" fmla="*/ 8 h 65"/>
                <a:gd name="T20" fmla="*/ 72 w 74"/>
                <a:gd name="T21" fmla="*/ 1 h 65"/>
                <a:gd name="T22" fmla="*/ 65 w 74"/>
                <a:gd name="T23" fmla="*/ 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65">
                  <a:moveTo>
                    <a:pt x="65" y="2"/>
                  </a:moveTo>
                  <a:cubicBezTo>
                    <a:pt x="23" y="53"/>
                    <a:pt x="23" y="53"/>
                    <a:pt x="23" y="53"/>
                  </a:cubicBezTo>
                  <a:cubicBezTo>
                    <a:pt x="9" y="38"/>
                    <a:pt x="9" y="38"/>
                    <a:pt x="9" y="38"/>
                  </a:cubicBezTo>
                  <a:cubicBezTo>
                    <a:pt x="7" y="36"/>
                    <a:pt x="4" y="36"/>
                    <a:pt x="2" y="37"/>
                  </a:cubicBezTo>
                  <a:cubicBezTo>
                    <a:pt x="0" y="39"/>
                    <a:pt x="0" y="42"/>
                    <a:pt x="2" y="44"/>
                  </a:cubicBezTo>
                  <a:cubicBezTo>
                    <a:pt x="19" y="64"/>
                    <a:pt x="19" y="64"/>
                    <a:pt x="19" y="64"/>
                  </a:cubicBezTo>
                  <a:cubicBezTo>
                    <a:pt x="20" y="65"/>
                    <a:pt x="22" y="65"/>
                    <a:pt x="23" y="65"/>
                  </a:cubicBezTo>
                  <a:cubicBezTo>
                    <a:pt x="23" y="65"/>
                    <a:pt x="23" y="65"/>
                    <a:pt x="23" y="65"/>
                  </a:cubicBezTo>
                  <a:cubicBezTo>
                    <a:pt x="25" y="65"/>
                    <a:pt x="26" y="65"/>
                    <a:pt x="27" y="64"/>
                  </a:cubicBezTo>
                  <a:cubicBezTo>
                    <a:pt x="72" y="8"/>
                    <a:pt x="72" y="8"/>
                    <a:pt x="72" y="8"/>
                  </a:cubicBezTo>
                  <a:cubicBezTo>
                    <a:pt x="74" y="6"/>
                    <a:pt x="74" y="3"/>
                    <a:pt x="72" y="1"/>
                  </a:cubicBezTo>
                  <a:cubicBezTo>
                    <a:pt x="70" y="0"/>
                    <a:pt x="67" y="0"/>
                    <a:pt x="65" y="2"/>
                  </a:cubicBez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232" name="TextBox 231">
            <a:extLst>
              <a:ext uri="{FF2B5EF4-FFF2-40B4-BE49-F238E27FC236}">
                <a16:creationId xmlns:a16="http://schemas.microsoft.com/office/drawing/2014/main" id="{01D82329-0C4D-BCDA-A779-0BF44C5DBBF8}"/>
              </a:ext>
            </a:extLst>
          </p:cNvPr>
          <p:cNvSpPr txBox="1"/>
          <p:nvPr/>
        </p:nvSpPr>
        <p:spPr>
          <a:xfrm>
            <a:off x="371625" y="1791331"/>
            <a:ext cx="2139849"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GB"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rPr>
              <a:t>Written work order details and text-based descriptions are used to refine mapping</a:t>
            </a:r>
          </a:p>
        </p:txBody>
      </p:sp>
      <p:grpSp>
        <p:nvGrpSpPr>
          <p:cNvPr id="234" name="Group 233">
            <a:extLst>
              <a:ext uri="{FF2B5EF4-FFF2-40B4-BE49-F238E27FC236}">
                <a16:creationId xmlns:a16="http://schemas.microsoft.com/office/drawing/2014/main" id="{F6CBF767-CF65-1091-A2F8-1FEF0C87231D}"/>
              </a:ext>
            </a:extLst>
          </p:cNvPr>
          <p:cNvGrpSpPr/>
          <p:nvPr/>
        </p:nvGrpSpPr>
        <p:grpSpPr>
          <a:xfrm rot="5400000">
            <a:off x="2457645" y="2530818"/>
            <a:ext cx="87999" cy="95618"/>
            <a:chOff x="7331909" y="3522364"/>
            <a:chExt cx="99974" cy="108628"/>
          </a:xfrm>
        </p:grpSpPr>
        <p:sp>
          <p:nvSpPr>
            <p:cNvPr id="235" name="Chevron 479">
              <a:extLst>
                <a:ext uri="{FF2B5EF4-FFF2-40B4-BE49-F238E27FC236}">
                  <a16:creationId xmlns:a16="http://schemas.microsoft.com/office/drawing/2014/main" id="{21A96ABB-2AAF-7299-3911-7EB6B89383C9}"/>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36" name="Chevron 480">
              <a:extLst>
                <a:ext uri="{FF2B5EF4-FFF2-40B4-BE49-F238E27FC236}">
                  <a16:creationId xmlns:a16="http://schemas.microsoft.com/office/drawing/2014/main" id="{4CE555CD-EA01-BF98-1581-5F07ECB5EC1B}"/>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nvGrpSpPr>
          <p:cNvPr id="237" name="Group 236">
            <a:extLst>
              <a:ext uri="{FF2B5EF4-FFF2-40B4-BE49-F238E27FC236}">
                <a16:creationId xmlns:a16="http://schemas.microsoft.com/office/drawing/2014/main" id="{609D911F-DD0A-6AAB-7EFD-F8B7ED3C8E22}"/>
              </a:ext>
            </a:extLst>
          </p:cNvPr>
          <p:cNvGrpSpPr/>
          <p:nvPr/>
        </p:nvGrpSpPr>
        <p:grpSpPr>
          <a:xfrm>
            <a:off x="2855915" y="2407463"/>
            <a:ext cx="433284" cy="423960"/>
            <a:chOff x="4304439" y="2898965"/>
            <a:chExt cx="433284" cy="423960"/>
          </a:xfrm>
        </p:grpSpPr>
        <p:sp>
          <p:nvSpPr>
            <p:cNvPr id="238" name="Oval 237">
              <a:extLst>
                <a:ext uri="{FF2B5EF4-FFF2-40B4-BE49-F238E27FC236}">
                  <a16:creationId xmlns:a16="http://schemas.microsoft.com/office/drawing/2014/main" id="{25DA14EC-DFFD-4D66-D3E0-E99E105BEE9C}"/>
                </a:ext>
              </a:extLst>
            </p:cNvPr>
            <p:cNvSpPr>
              <a:spLocks noChangeAspect="1"/>
            </p:cNvSpPr>
            <p:nvPr/>
          </p:nvSpPr>
          <p:spPr>
            <a:xfrm>
              <a:off x="4304439" y="2898965"/>
              <a:ext cx="433284" cy="423960"/>
            </a:xfrm>
            <a:prstGeom prst="ellipse">
              <a:avLst/>
            </a:prstGeom>
            <a:solidFill>
              <a:sysClr val="window" lastClr="FFFFFF"/>
            </a:solidFill>
            <a:ln w="38100" cap="flat" cmpd="sng" algn="ctr">
              <a:solidFill>
                <a:srgbClr val="009A44"/>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239" name="Group 238">
              <a:extLst>
                <a:ext uri="{FF2B5EF4-FFF2-40B4-BE49-F238E27FC236}">
                  <a16:creationId xmlns:a16="http://schemas.microsoft.com/office/drawing/2014/main" id="{24DE5BB5-55FA-5D7D-2CF0-D551E7467E3B}"/>
                </a:ext>
              </a:extLst>
            </p:cNvPr>
            <p:cNvGrpSpPr>
              <a:grpSpLocks noChangeAspect="1"/>
            </p:cNvGrpSpPr>
            <p:nvPr/>
          </p:nvGrpSpPr>
          <p:grpSpPr>
            <a:xfrm>
              <a:off x="4385705" y="2996633"/>
              <a:ext cx="270753" cy="228624"/>
              <a:chOff x="3657600" y="4200526"/>
              <a:chExt cx="776288" cy="661988"/>
            </a:xfrm>
          </p:grpSpPr>
          <p:sp>
            <p:nvSpPr>
              <p:cNvPr id="240" name="Freeform 62">
                <a:extLst>
                  <a:ext uri="{FF2B5EF4-FFF2-40B4-BE49-F238E27FC236}">
                    <a16:creationId xmlns:a16="http://schemas.microsoft.com/office/drawing/2014/main" id="{6BB40A8F-D571-7840-A798-13F864764B35}"/>
                  </a:ext>
                </a:extLst>
              </p:cNvPr>
              <p:cNvSpPr>
                <a:spLocks noEditPoints="1"/>
              </p:cNvSpPr>
              <p:nvPr/>
            </p:nvSpPr>
            <p:spPr bwMode="auto">
              <a:xfrm>
                <a:off x="3657600" y="4200526"/>
                <a:ext cx="776288" cy="661988"/>
              </a:xfrm>
              <a:custGeom>
                <a:avLst/>
                <a:gdLst>
                  <a:gd name="T0" fmla="*/ 186 w 187"/>
                  <a:gd name="T1" fmla="*/ 5 h 160"/>
                  <a:gd name="T2" fmla="*/ 183 w 187"/>
                  <a:gd name="T3" fmla="*/ 4 h 160"/>
                  <a:gd name="T4" fmla="*/ 66 w 187"/>
                  <a:gd name="T5" fmla="*/ 1 h 160"/>
                  <a:gd name="T6" fmla="*/ 62 w 187"/>
                  <a:gd name="T7" fmla="*/ 4 h 160"/>
                  <a:gd name="T8" fmla="*/ 42 w 187"/>
                  <a:gd name="T9" fmla="*/ 103 h 160"/>
                  <a:gd name="T10" fmla="*/ 44 w 187"/>
                  <a:gd name="T11" fmla="*/ 108 h 160"/>
                  <a:gd name="T12" fmla="*/ 49 w 187"/>
                  <a:gd name="T13" fmla="*/ 106 h 160"/>
                  <a:gd name="T14" fmla="*/ 69 w 187"/>
                  <a:gd name="T15" fmla="*/ 8 h 160"/>
                  <a:gd name="T16" fmla="*/ 179 w 187"/>
                  <a:gd name="T17" fmla="*/ 11 h 160"/>
                  <a:gd name="T18" fmla="*/ 139 w 187"/>
                  <a:gd name="T19" fmla="*/ 152 h 160"/>
                  <a:gd name="T20" fmla="*/ 110 w 187"/>
                  <a:gd name="T21" fmla="*/ 120 h 160"/>
                  <a:gd name="T22" fmla="*/ 107 w 187"/>
                  <a:gd name="T23" fmla="*/ 118 h 160"/>
                  <a:gd name="T24" fmla="*/ 4 w 187"/>
                  <a:gd name="T25" fmla="*/ 116 h 160"/>
                  <a:gd name="T26" fmla="*/ 1 w 187"/>
                  <a:gd name="T27" fmla="*/ 117 h 160"/>
                  <a:gd name="T28" fmla="*/ 0 w 187"/>
                  <a:gd name="T29" fmla="*/ 121 h 160"/>
                  <a:gd name="T30" fmla="*/ 37 w 187"/>
                  <a:gd name="T31" fmla="*/ 159 h 160"/>
                  <a:gd name="T32" fmla="*/ 137 w 187"/>
                  <a:gd name="T33" fmla="*/ 160 h 160"/>
                  <a:gd name="T34" fmla="*/ 137 w 187"/>
                  <a:gd name="T35" fmla="*/ 160 h 160"/>
                  <a:gd name="T36" fmla="*/ 139 w 187"/>
                  <a:gd name="T37" fmla="*/ 160 h 160"/>
                  <a:gd name="T38" fmla="*/ 140 w 187"/>
                  <a:gd name="T39" fmla="*/ 159 h 160"/>
                  <a:gd name="T40" fmla="*/ 187 w 187"/>
                  <a:gd name="T41" fmla="*/ 8 h 160"/>
                  <a:gd name="T42" fmla="*/ 186 w 187"/>
                  <a:gd name="T43" fmla="*/ 5 h 160"/>
                  <a:gd name="T44" fmla="*/ 37 w 187"/>
                  <a:gd name="T45" fmla="*/ 151 h 160"/>
                  <a:gd name="T46" fmla="*/ 9 w 187"/>
                  <a:gd name="T47" fmla="*/ 124 h 160"/>
                  <a:gd name="T48" fmla="*/ 105 w 187"/>
                  <a:gd name="T49" fmla="*/ 126 h 160"/>
                  <a:gd name="T50" fmla="*/ 122 w 187"/>
                  <a:gd name="T51" fmla="*/ 152 h 160"/>
                  <a:gd name="T52" fmla="*/ 37 w 187"/>
                  <a:gd name="T53" fmla="*/ 15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7" h="160">
                    <a:moveTo>
                      <a:pt x="186" y="5"/>
                    </a:moveTo>
                    <a:cubicBezTo>
                      <a:pt x="185" y="4"/>
                      <a:pt x="184" y="4"/>
                      <a:pt x="183" y="4"/>
                    </a:cubicBezTo>
                    <a:cubicBezTo>
                      <a:pt x="66" y="1"/>
                      <a:pt x="66" y="1"/>
                      <a:pt x="66" y="1"/>
                    </a:cubicBezTo>
                    <a:cubicBezTo>
                      <a:pt x="64" y="0"/>
                      <a:pt x="62" y="2"/>
                      <a:pt x="62" y="4"/>
                    </a:cubicBezTo>
                    <a:cubicBezTo>
                      <a:pt x="62" y="5"/>
                      <a:pt x="58" y="68"/>
                      <a:pt x="42" y="103"/>
                    </a:cubicBezTo>
                    <a:cubicBezTo>
                      <a:pt x="41" y="105"/>
                      <a:pt x="42" y="107"/>
                      <a:pt x="44" y="108"/>
                    </a:cubicBezTo>
                    <a:cubicBezTo>
                      <a:pt x="45" y="109"/>
                      <a:pt x="48" y="108"/>
                      <a:pt x="49" y="106"/>
                    </a:cubicBezTo>
                    <a:cubicBezTo>
                      <a:pt x="63" y="75"/>
                      <a:pt x="68" y="23"/>
                      <a:pt x="69" y="8"/>
                    </a:cubicBezTo>
                    <a:cubicBezTo>
                      <a:pt x="179" y="11"/>
                      <a:pt x="179" y="11"/>
                      <a:pt x="179" y="11"/>
                    </a:cubicBezTo>
                    <a:cubicBezTo>
                      <a:pt x="173" y="77"/>
                      <a:pt x="158" y="149"/>
                      <a:pt x="139" y="152"/>
                    </a:cubicBezTo>
                    <a:cubicBezTo>
                      <a:pt x="131" y="153"/>
                      <a:pt x="121" y="142"/>
                      <a:pt x="110" y="120"/>
                    </a:cubicBezTo>
                    <a:cubicBezTo>
                      <a:pt x="110" y="119"/>
                      <a:pt x="108" y="118"/>
                      <a:pt x="107" y="118"/>
                    </a:cubicBezTo>
                    <a:cubicBezTo>
                      <a:pt x="4" y="116"/>
                      <a:pt x="4" y="116"/>
                      <a:pt x="4" y="116"/>
                    </a:cubicBezTo>
                    <a:cubicBezTo>
                      <a:pt x="3" y="116"/>
                      <a:pt x="1" y="116"/>
                      <a:pt x="1" y="117"/>
                    </a:cubicBezTo>
                    <a:cubicBezTo>
                      <a:pt x="0" y="118"/>
                      <a:pt x="0" y="119"/>
                      <a:pt x="0" y="121"/>
                    </a:cubicBezTo>
                    <a:cubicBezTo>
                      <a:pt x="0" y="122"/>
                      <a:pt x="8" y="158"/>
                      <a:pt x="37" y="159"/>
                    </a:cubicBezTo>
                    <a:cubicBezTo>
                      <a:pt x="71" y="159"/>
                      <a:pt x="136" y="160"/>
                      <a:pt x="137" y="160"/>
                    </a:cubicBezTo>
                    <a:cubicBezTo>
                      <a:pt x="137" y="160"/>
                      <a:pt x="137" y="160"/>
                      <a:pt x="137" y="160"/>
                    </a:cubicBezTo>
                    <a:cubicBezTo>
                      <a:pt x="138" y="160"/>
                      <a:pt x="138" y="160"/>
                      <a:pt x="139" y="160"/>
                    </a:cubicBezTo>
                    <a:cubicBezTo>
                      <a:pt x="139" y="160"/>
                      <a:pt x="139" y="160"/>
                      <a:pt x="140" y="159"/>
                    </a:cubicBezTo>
                    <a:cubicBezTo>
                      <a:pt x="172" y="154"/>
                      <a:pt x="184" y="42"/>
                      <a:pt x="187" y="8"/>
                    </a:cubicBezTo>
                    <a:cubicBezTo>
                      <a:pt x="187" y="7"/>
                      <a:pt x="186" y="6"/>
                      <a:pt x="186" y="5"/>
                    </a:cubicBezTo>
                    <a:close/>
                    <a:moveTo>
                      <a:pt x="37" y="151"/>
                    </a:moveTo>
                    <a:cubicBezTo>
                      <a:pt x="20" y="151"/>
                      <a:pt x="12" y="132"/>
                      <a:pt x="9" y="124"/>
                    </a:cubicBezTo>
                    <a:cubicBezTo>
                      <a:pt x="105" y="126"/>
                      <a:pt x="105" y="126"/>
                      <a:pt x="105" y="126"/>
                    </a:cubicBezTo>
                    <a:cubicBezTo>
                      <a:pt x="110" y="138"/>
                      <a:pt x="116" y="147"/>
                      <a:pt x="122" y="152"/>
                    </a:cubicBezTo>
                    <a:cubicBezTo>
                      <a:pt x="100" y="152"/>
                      <a:pt x="61" y="152"/>
                      <a:pt x="37" y="151"/>
                    </a:cubicBezTo>
                    <a:close/>
                  </a:path>
                </a:pathLst>
              </a:custGeom>
              <a:solidFill>
                <a:srgbClr val="231F20"/>
              </a:solidFill>
              <a:ln>
                <a:solidFill>
                  <a:srgbClr val="009A44"/>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41" name="Freeform 63">
                <a:extLst>
                  <a:ext uri="{FF2B5EF4-FFF2-40B4-BE49-F238E27FC236}">
                    <a16:creationId xmlns:a16="http://schemas.microsoft.com/office/drawing/2014/main" id="{7B0CF3F8-07BD-A26A-9801-DF03C3BF35A1}"/>
                  </a:ext>
                </a:extLst>
              </p:cNvPr>
              <p:cNvSpPr>
                <a:spLocks/>
              </p:cNvSpPr>
              <p:nvPr/>
            </p:nvSpPr>
            <p:spPr bwMode="auto">
              <a:xfrm>
                <a:off x="4014788" y="4344988"/>
                <a:ext cx="277813" cy="41275"/>
              </a:xfrm>
              <a:custGeom>
                <a:avLst/>
                <a:gdLst>
                  <a:gd name="T0" fmla="*/ 63 w 67"/>
                  <a:gd name="T1" fmla="*/ 10 h 10"/>
                  <a:gd name="T2" fmla="*/ 64 w 67"/>
                  <a:gd name="T3" fmla="*/ 10 h 10"/>
                  <a:gd name="T4" fmla="*/ 67 w 67"/>
                  <a:gd name="T5" fmla="*/ 6 h 10"/>
                  <a:gd name="T6" fmla="*/ 64 w 67"/>
                  <a:gd name="T7" fmla="*/ 2 h 10"/>
                  <a:gd name="T8" fmla="*/ 4 w 67"/>
                  <a:gd name="T9" fmla="*/ 0 h 10"/>
                  <a:gd name="T10" fmla="*/ 0 w 67"/>
                  <a:gd name="T11" fmla="*/ 4 h 10"/>
                  <a:gd name="T12" fmla="*/ 4 w 67"/>
                  <a:gd name="T13" fmla="*/ 8 h 10"/>
                  <a:gd name="T14" fmla="*/ 63 w 67"/>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10">
                    <a:moveTo>
                      <a:pt x="63" y="10"/>
                    </a:moveTo>
                    <a:cubicBezTo>
                      <a:pt x="63" y="10"/>
                      <a:pt x="63" y="10"/>
                      <a:pt x="64" y="10"/>
                    </a:cubicBezTo>
                    <a:cubicBezTo>
                      <a:pt x="66" y="10"/>
                      <a:pt x="67" y="8"/>
                      <a:pt x="67" y="6"/>
                    </a:cubicBezTo>
                    <a:cubicBezTo>
                      <a:pt x="67" y="4"/>
                      <a:pt x="66" y="3"/>
                      <a:pt x="64" y="2"/>
                    </a:cubicBezTo>
                    <a:cubicBezTo>
                      <a:pt x="4" y="0"/>
                      <a:pt x="4" y="0"/>
                      <a:pt x="4" y="0"/>
                    </a:cubicBezTo>
                    <a:cubicBezTo>
                      <a:pt x="2" y="0"/>
                      <a:pt x="0" y="2"/>
                      <a:pt x="0" y="4"/>
                    </a:cubicBezTo>
                    <a:cubicBezTo>
                      <a:pt x="0" y="6"/>
                      <a:pt x="2" y="8"/>
                      <a:pt x="4" y="8"/>
                    </a:cubicBezTo>
                    <a:lnTo>
                      <a:pt x="63" y="10"/>
                    </a:lnTo>
                    <a:close/>
                  </a:path>
                </a:pathLst>
              </a:custGeom>
              <a:solidFill>
                <a:srgbClr val="231F20"/>
              </a:solidFill>
              <a:ln>
                <a:solidFill>
                  <a:srgbClr val="009A44"/>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42" name="Freeform 64">
                <a:extLst>
                  <a:ext uri="{FF2B5EF4-FFF2-40B4-BE49-F238E27FC236}">
                    <a16:creationId xmlns:a16="http://schemas.microsoft.com/office/drawing/2014/main" id="{7744F8D6-2816-8D0B-1A4F-7BE9B3309349}"/>
                  </a:ext>
                </a:extLst>
              </p:cNvPr>
              <p:cNvSpPr>
                <a:spLocks/>
              </p:cNvSpPr>
              <p:nvPr/>
            </p:nvSpPr>
            <p:spPr bwMode="auto">
              <a:xfrm>
                <a:off x="3997325" y="4457701"/>
                <a:ext cx="261938" cy="41275"/>
              </a:xfrm>
              <a:custGeom>
                <a:avLst/>
                <a:gdLst>
                  <a:gd name="T0" fmla="*/ 0 w 63"/>
                  <a:gd name="T1" fmla="*/ 4 h 10"/>
                  <a:gd name="T2" fmla="*/ 3 w 63"/>
                  <a:gd name="T3" fmla="*/ 8 h 10"/>
                  <a:gd name="T4" fmla="*/ 59 w 63"/>
                  <a:gd name="T5" fmla="*/ 10 h 10"/>
                  <a:gd name="T6" fmla="*/ 59 w 63"/>
                  <a:gd name="T7" fmla="*/ 10 h 10"/>
                  <a:gd name="T8" fmla="*/ 63 w 63"/>
                  <a:gd name="T9" fmla="*/ 6 h 10"/>
                  <a:gd name="T10" fmla="*/ 59 w 63"/>
                  <a:gd name="T11" fmla="*/ 2 h 10"/>
                  <a:gd name="T12" fmla="*/ 4 w 63"/>
                  <a:gd name="T13" fmla="*/ 0 h 10"/>
                  <a:gd name="T14" fmla="*/ 0 w 63"/>
                  <a:gd name="T15" fmla="*/ 4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10">
                    <a:moveTo>
                      <a:pt x="0" y="4"/>
                    </a:moveTo>
                    <a:cubicBezTo>
                      <a:pt x="0" y="6"/>
                      <a:pt x="1" y="8"/>
                      <a:pt x="3" y="8"/>
                    </a:cubicBezTo>
                    <a:cubicBezTo>
                      <a:pt x="59" y="10"/>
                      <a:pt x="59" y="10"/>
                      <a:pt x="59" y="10"/>
                    </a:cubicBezTo>
                    <a:cubicBezTo>
                      <a:pt x="59" y="10"/>
                      <a:pt x="59" y="10"/>
                      <a:pt x="59" y="10"/>
                    </a:cubicBezTo>
                    <a:cubicBezTo>
                      <a:pt x="61" y="10"/>
                      <a:pt x="63" y="8"/>
                      <a:pt x="63" y="6"/>
                    </a:cubicBezTo>
                    <a:cubicBezTo>
                      <a:pt x="63" y="4"/>
                      <a:pt x="61" y="2"/>
                      <a:pt x="59" y="2"/>
                    </a:cubicBezTo>
                    <a:cubicBezTo>
                      <a:pt x="4" y="0"/>
                      <a:pt x="4" y="0"/>
                      <a:pt x="4" y="0"/>
                    </a:cubicBezTo>
                    <a:cubicBezTo>
                      <a:pt x="1" y="0"/>
                      <a:pt x="0" y="2"/>
                      <a:pt x="0" y="4"/>
                    </a:cubicBezTo>
                    <a:close/>
                  </a:path>
                </a:pathLst>
              </a:custGeom>
              <a:solidFill>
                <a:srgbClr val="231F20"/>
              </a:solidFill>
              <a:ln>
                <a:solidFill>
                  <a:srgbClr val="009A44"/>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43" name="Freeform 65">
                <a:extLst>
                  <a:ext uri="{FF2B5EF4-FFF2-40B4-BE49-F238E27FC236}">
                    <a16:creationId xmlns:a16="http://schemas.microsoft.com/office/drawing/2014/main" id="{780C7D72-23E6-DA42-9EF8-CF86E484E0DA}"/>
                  </a:ext>
                </a:extLst>
              </p:cNvPr>
              <p:cNvSpPr>
                <a:spLocks/>
              </p:cNvSpPr>
              <p:nvPr/>
            </p:nvSpPr>
            <p:spPr bwMode="auto">
              <a:xfrm>
                <a:off x="3968750" y="4568826"/>
                <a:ext cx="161925" cy="36513"/>
              </a:xfrm>
              <a:custGeom>
                <a:avLst/>
                <a:gdLst>
                  <a:gd name="T0" fmla="*/ 0 w 39"/>
                  <a:gd name="T1" fmla="*/ 4 h 9"/>
                  <a:gd name="T2" fmla="*/ 3 w 39"/>
                  <a:gd name="T3" fmla="*/ 8 h 9"/>
                  <a:gd name="T4" fmla="*/ 35 w 39"/>
                  <a:gd name="T5" fmla="*/ 9 h 9"/>
                  <a:gd name="T6" fmla="*/ 35 w 39"/>
                  <a:gd name="T7" fmla="*/ 9 h 9"/>
                  <a:gd name="T8" fmla="*/ 39 w 39"/>
                  <a:gd name="T9" fmla="*/ 5 h 9"/>
                  <a:gd name="T10" fmla="*/ 35 w 39"/>
                  <a:gd name="T11" fmla="*/ 2 h 9"/>
                  <a:gd name="T12" fmla="*/ 4 w 39"/>
                  <a:gd name="T13" fmla="*/ 0 h 9"/>
                  <a:gd name="T14" fmla="*/ 0 w 39"/>
                  <a:gd name="T15" fmla="*/ 4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
                    <a:moveTo>
                      <a:pt x="0" y="4"/>
                    </a:moveTo>
                    <a:cubicBezTo>
                      <a:pt x="0" y="6"/>
                      <a:pt x="1" y="8"/>
                      <a:pt x="3" y="8"/>
                    </a:cubicBezTo>
                    <a:cubicBezTo>
                      <a:pt x="35" y="9"/>
                      <a:pt x="35" y="9"/>
                      <a:pt x="35" y="9"/>
                    </a:cubicBezTo>
                    <a:cubicBezTo>
                      <a:pt x="35" y="9"/>
                      <a:pt x="35" y="9"/>
                      <a:pt x="35" y="9"/>
                    </a:cubicBezTo>
                    <a:cubicBezTo>
                      <a:pt x="37" y="9"/>
                      <a:pt x="39" y="7"/>
                      <a:pt x="39" y="5"/>
                    </a:cubicBezTo>
                    <a:cubicBezTo>
                      <a:pt x="39" y="3"/>
                      <a:pt x="37" y="2"/>
                      <a:pt x="35" y="2"/>
                    </a:cubicBezTo>
                    <a:cubicBezTo>
                      <a:pt x="4" y="0"/>
                      <a:pt x="4" y="0"/>
                      <a:pt x="4" y="0"/>
                    </a:cubicBezTo>
                    <a:cubicBezTo>
                      <a:pt x="1" y="0"/>
                      <a:pt x="0" y="2"/>
                      <a:pt x="0" y="4"/>
                    </a:cubicBezTo>
                    <a:close/>
                  </a:path>
                </a:pathLst>
              </a:custGeom>
              <a:solidFill>
                <a:srgbClr val="231F20"/>
              </a:solidFill>
              <a:ln>
                <a:solidFill>
                  <a:srgbClr val="009A44"/>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sp>
        <p:nvSpPr>
          <p:cNvPr id="246" name="TextBox 245">
            <a:extLst>
              <a:ext uri="{FF2B5EF4-FFF2-40B4-BE49-F238E27FC236}">
                <a16:creationId xmlns:a16="http://schemas.microsoft.com/office/drawing/2014/main" id="{313FB7C8-300E-87E2-10A6-5165C152DE74}"/>
              </a:ext>
            </a:extLst>
          </p:cNvPr>
          <p:cNvSpPr txBox="1"/>
          <p:nvPr/>
        </p:nvSpPr>
        <p:spPr>
          <a:xfrm>
            <a:off x="2511474" y="1774944"/>
            <a:ext cx="2139849" cy="553998"/>
          </a:xfrm>
          <a:prstGeom prst="rect">
            <a:avLst/>
          </a:prstGeom>
          <a:noFill/>
        </p:spPr>
        <p:txBody>
          <a:bodyPr wrap="square">
            <a:spAutoFit/>
          </a:bodyPr>
          <a:lstStyle>
            <a:defPPr>
              <a:defRPr lang="en-US"/>
            </a:defPPr>
            <a:lvl1pPr algn="ctr">
              <a:buSzPct val="100000"/>
              <a:defRPr sz="700" kern="0">
                <a:solidFill>
                  <a:srgbClr val="313131"/>
                </a:solidFill>
                <a:latin typeface="Calibri"/>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altLang="en-US"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rPr>
              <a:t>Use cleaned work order and material details to create a single source of truth</a:t>
            </a:r>
          </a:p>
        </p:txBody>
      </p:sp>
      <p:grpSp>
        <p:nvGrpSpPr>
          <p:cNvPr id="248" name="Group 247">
            <a:extLst>
              <a:ext uri="{FF2B5EF4-FFF2-40B4-BE49-F238E27FC236}">
                <a16:creationId xmlns:a16="http://schemas.microsoft.com/office/drawing/2014/main" id="{EC45E401-043B-B1B2-7409-991E6B959EF0}"/>
              </a:ext>
            </a:extLst>
          </p:cNvPr>
          <p:cNvGrpSpPr/>
          <p:nvPr/>
        </p:nvGrpSpPr>
        <p:grpSpPr>
          <a:xfrm rot="5400000">
            <a:off x="5024683" y="2533140"/>
            <a:ext cx="87999" cy="95618"/>
            <a:chOff x="7331909" y="3522364"/>
            <a:chExt cx="99974" cy="108628"/>
          </a:xfrm>
        </p:grpSpPr>
        <p:sp>
          <p:nvSpPr>
            <p:cNvPr id="249" name="Chevron 479">
              <a:extLst>
                <a:ext uri="{FF2B5EF4-FFF2-40B4-BE49-F238E27FC236}">
                  <a16:creationId xmlns:a16="http://schemas.microsoft.com/office/drawing/2014/main" id="{7F4D10AE-D603-B1AB-2BBE-69D97AF22022}"/>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50" name="Chevron 480">
              <a:extLst>
                <a:ext uri="{FF2B5EF4-FFF2-40B4-BE49-F238E27FC236}">
                  <a16:creationId xmlns:a16="http://schemas.microsoft.com/office/drawing/2014/main" id="{C1D52975-B54F-297C-A1C0-896E7E575819}"/>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nvGrpSpPr>
          <p:cNvPr id="258" name="Group 257">
            <a:extLst>
              <a:ext uri="{FF2B5EF4-FFF2-40B4-BE49-F238E27FC236}">
                <a16:creationId xmlns:a16="http://schemas.microsoft.com/office/drawing/2014/main" id="{F666B68E-D455-F91B-C2A3-F94B3AF95A89}"/>
              </a:ext>
            </a:extLst>
          </p:cNvPr>
          <p:cNvGrpSpPr/>
          <p:nvPr/>
        </p:nvGrpSpPr>
        <p:grpSpPr>
          <a:xfrm>
            <a:off x="5178809" y="2430488"/>
            <a:ext cx="425410" cy="416255"/>
            <a:chOff x="7277990" y="2911033"/>
            <a:chExt cx="425410" cy="416255"/>
          </a:xfrm>
        </p:grpSpPr>
        <p:sp>
          <p:nvSpPr>
            <p:cNvPr id="259" name="Oval 258">
              <a:extLst>
                <a:ext uri="{FF2B5EF4-FFF2-40B4-BE49-F238E27FC236}">
                  <a16:creationId xmlns:a16="http://schemas.microsoft.com/office/drawing/2014/main" id="{7BD159A8-B1BF-1136-6679-CCC269B83587}"/>
                </a:ext>
              </a:extLst>
            </p:cNvPr>
            <p:cNvSpPr>
              <a:spLocks noChangeAspect="1"/>
            </p:cNvSpPr>
            <p:nvPr/>
          </p:nvSpPr>
          <p:spPr>
            <a:xfrm>
              <a:off x="7277990" y="2911033"/>
              <a:ext cx="425410" cy="416255"/>
            </a:xfrm>
            <a:prstGeom prst="ellipse">
              <a:avLst/>
            </a:prstGeom>
            <a:solidFill>
              <a:sysClr val="window" lastClr="FFFFFF"/>
            </a:solidFill>
            <a:ln w="38100" cap="flat" cmpd="sng" algn="ctr">
              <a:solidFill>
                <a:srgbClr val="00ABAB"/>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260" name="Group 259">
              <a:extLst>
                <a:ext uri="{FF2B5EF4-FFF2-40B4-BE49-F238E27FC236}">
                  <a16:creationId xmlns:a16="http://schemas.microsoft.com/office/drawing/2014/main" id="{80B9319A-3661-2B97-3C21-04E3E5058076}"/>
                </a:ext>
              </a:extLst>
            </p:cNvPr>
            <p:cNvGrpSpPr>
              <a:grpSpLocks noChangeAspect="1"/>
            </p:cNvGrpSpPr>
            <p:nvPr/>
          </p:nvGrpSpPr>
          <p:grpSpPr>
            <a:xfrm>
              <a:off x="7372592" y="2957081"/>
              <a:ext cx="221619" cy="280102"/>
              <a:chOff x="8191500" y="149226"/>
              <a:chExt cx="379895" cy="480142"/>
            </a:xfrm>
          </p:grpSpPr>
          <p:sp>
            <p:nvSpPr>
              <p:cNvPr id="261" name="Freeform 361">
                <a:extLst>
                  <a:ext uri="{FF2B5EF4-FFF2-40B4-BE49-F238E27FC236}">
                    <a16:creationId xmlns:a16="http://schemas.microsoft.com/office/drawing/2014/main" id="{67FEB2C9-C7A7-0CB7-3E1A-CB8F288B074D}"/>
                  </a:ext>
                </a:extLst>
              </p:cNvPr>
              <p:cNvSpPr>
                <a:spLocks noEditPoints="1"/>
              </p:cNvSpPr>
              <p:nvPr/>
            </p:nvSpPr>
            <p:spPr bwMode="auto">
              <a:xfrm>
                <a:off x="8274050" y="149226"/>
                <a:ext cx="222250" cy="136525"/>
              </a:xfrm>
              <a:custGeom>
                <a:avLst/>
                <a:gdLst>
                  <a:gd name="T0" fmla="*/ 18 w 97"/>
                  <a:gd name="T1" fmla="*/ 59 h 59"/>
                  <a:gd name="T2" fmla="*/ 79 w 97"/>
                  <a:gd name="T3" fmla="*/ 59 h 59"/>
                  <a:gd name="T4" fmla="*/ 97 w 97"/>
                  <a:gd name="T5" fmla="*/ 40 h 59"/>
                  <a:gd name="T6" fmla="*/ 97 w 97"/>
                  <a:gd name="T7" fmla="*/ 39 h 59"/>
                  <a:gd name="T8" fmla="*/ 79 w 97"/>
                  <a:gd name="T9" fmla="*/ 21 h 59"/>
                  <a:gd name="T10" fmla="*/ 71 w 97"/>
                  <a:gd name="T11" fmla="*/ 21 h 59"/>
                  <a:gd name="T12" fmla="*/ 71 w 97"/>
                  <a:gd name="T13" fmla="*/ 19 h 59"/>
                  <a:gd name="T14" fmla="*/ 52 w 97"/>
                  <a:gd name="T15" fmla="*/ 0 h 59"/>
                  <a:gd name="T16" fmla="*/ 45 w 97"/>
                  <a:gd name="T17" fmla="*/ 0 h 59"/>
                  <a:gd name="T18" fmla="*/ 27 w 97"/>
                  <a:gd name="T19" fmla="*/ 19 h 59"/>
                  <a:gd name="T20" fmla="*/ 27 w 97"/>
                  <a:gd name="T21" fmla="*/ 21 h 59"/>
                  <a:gd name="T22" fmla="*/ 18 w 97"/>
                  <a:gd name="T23" fmla="*/ 21 h 59"/>
                  <a:gd name="T24" fmla="*/ 0 w 97"/>
                  <a:gd name="T25" fmla="*/ 39 h 59"/>
                  <a:gd name="T26" fmla="*/ 0 w 97"/>
                  <a:gd name="T27" fmla="*/ 40 h 59"/>
                  <a:gd name="T28" fmla="*/ 18 w 97"/>
                  <a:gd name="T29" fmla="*/ 59 h 59"/>
                  <a:gd name="T30" fmla="*/ 9 w 97"/>
                  <a:gd name="T31" fmla="*/ 39 h 59"/>
                  <a:gd name="T32" fmla="*/ 18 w 97"/>
                  <a:gd name="T33" fmla="*/ 30 h 59"/>
                  <a:gd name="T34" fmla="*/ 32 w 97"/>
                  <a:gd name="T35" fmla="*/ 30 h 59"/>
                  <a:gd name="T36" fmla="*/ 36 w 97"/>
                  <a:gd name="T37" fmla="*/ 25 h 59"/>
                  <a:gd name="T38" fmla="*/ 36 w 97"/>
                  <a:gd name="T39" fmla="*/ 19 h 59"/>
                  <a:gd name="T40" fmla="*/ 45 w 97"/>
                  <a:gd name="T41" fmla="*/ 10 h 59"/>
                  <a:gd name="T42" fmla="*/ 52 w 97"/>
                  <a:gd name="T43" fmla="*/ 10 h 59"/>
                  <a:gd name="T44" fmla="*/ 61 w 97"/>
                  <a:gd name="T45" fmla="*/ 19 h 59"/>
                  <a:gd name="T46" fmla="*/ 61 w 97"/>
                  <a:gd name="T47" fmla="*/ 25 h 59"/>
                  <a:gd name="T48" fmla="*/ 66 w 97"/>
                  <a:gd name="T49" fmla="*/ 30 h 59"/>
                  <a:gd name="T50" fmla="*/ 79 w 97"/>
                  <a:gd name="T51" fmla="*/ 30 h 59"/>
                  <a:gd name="T52" fmla="*/ 88 w 97"/>
                  <a:gd name="T53" fmla="*/ 39 h 59"/>
                  <a:gd name="T54" fmla="*/ 88 w 97"/>
                  <a:gd name="T55" fmla="*/ 40 h 59"/>
                  <a:gd name="T56" fmla="*/ 79 w 97"/>
                  <a:gd name="T57" fmla="*/ 49 h 59"/>
                  <a:gd name="T58" fmla="*/ 18 w 97"/>
                  <a:gd name="T59" fmla="*/ 49 h 59"/>
                  <a:gd name="T60" fmla="*/ 9 w 97"/>
                  <a:gd name="T61" fmla="*/ 40 h 59"/>
                  <a:gd name="T62" fmla="*/ 9 w 97"/>
                  <a:gd name="T63" fmla="*/ 3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 h="59">
                    <a:moveTo>
                      <a:pt x="18" y="59"/>
                    </a:moveTo>
                    <a:cubicBezTo>
                      <a:pt x="79" y="59"/>
                      <a:pt x="79" y="59"/>
                      <a:pt x="79" y="59"/>
                    </a:cubicBezTo>
                    <a:cubicBezTo>
                      <a:pt x="89" y="59"/>
                      <a:pt x="97" y="50"/>
                      <a:pt x="97" y="40"/>
                    </a:cubicBezTo>
                    <a:cubicBezTo>
                      <a:pt x="97" y="39"/>
                      <a:pt x="97" y="39"/>
                      <a:pt x="97" y="39"/>
                    </a:cubicBezTo>
                    <a:cubicBezTo>
                      <a:pt x="97" y="29"/>
                      <a:pt x="89" y="21"/>
                      <a:pt x="79" y="21"/>
                    </a:cubicBezTo>
                    <a:cubicBezTo>
                      <a:pt x="71" y="21"/>
                      <a:pt x="71" y="21"/>
                      <a:pt x="71" y="21"/>
                    </a:cubicBezTo>
                    <a:cubicBezTo>
                      <a:pt x="71" y="19"/>
                      <a:pt x="71" y="19"/>
                      <a:pt x="71" y="19"/>
                    </a:cubicBezTo>
                    <a:cubicBezTo>
                      <a:pt x="71" y="9"/>
                      <a:pt x="62" y="0"/>
                      <a:pt x="52" y="0"/>
                    </a:cubicBezTo>
                    <a:cubicBezTo>
                      <a:pt x="45" y="0"/>
                      <a:pt x="45" y="0"/>
                      <a:pt x="45" y="0"/>
                    </a:cubicBezTo>
                    <a:cubicBezTo>
                      <a:pt x="35" y="0"/>
                      <a:pt x="27" y="9"/>
                      <a:pt x="27" y="19"/>
                    </a:cubicBezTo>
                    <a:cubicBezTo>
                      <a:pt x="27" y="21"/>
                      <a:pt x="27" y="21"/>
                      <a:pt x="27" y="21"/>
                    </a:cubicBezTo>
                    <a:cubicBezTo>
                      <a:pt x="18" y="21"/>
                      <a:pt x="18" y="21"/>
                      <a:pt x="18" y="21"/>
                    </a:cubicBezTo>
                    <a:cubicBezTo>
                      <a:pt x="8" y="21"/>
                      <a:pt x="0" y="29"/>
                      <a:pt x="0" y="39"/>
                    </a:cubicBezTo>
                    <a:cubicBezTo>
                      <a:pt x="0" y="40"/>
                      <a:pt x="0" y="40"/>
                      <a:pt x="0" y="40"/>
                    </a:cubicBezTo>
                    <a:cubicBezTo>
                      <a:pt x="0" y="50"/>
                      <a:pt x="8" y="59"/>
                      <a:pt x="18" y="59"/>
                    </a:cubicBezTo>
                    <a:close/>
                    <a:moveTo>
                      <a:pt x="9" y="39"/>
                    </a:moveTo>
                    <a:cubicBezTo>
                      <a:pt x="9" y="34"/>
                      <a:pt x="13" y="30"/>
                      <a:pt x="18" y="30"/>
                    </a:cubicBezTo>
                    <a:cubicBezTo>
                      <a:pt x="32" y="30"/>
                      <a:pt x="32" y="30"/>
                      <a:pt x="32" y="30"/>
                    </a:cubicBezTo>
                    <a:cubicBezTo>
                      <a:pt x="34" y="30"/>
                      <a:pt x="36" y="28"/>
                      <a:pt x="36" y="25"/>
                    </a:cubicBezTo>
                    <a:cubicBezTo>
                      <a:pt x="36" y="19"/>
                      <a:pt x="36" y="19"/>
                      <a:pt x="36" y="19"/>
                    </a:cubicBezTo>
                    <a:cubicBezTo>
                      <a:pt x="36" y="14"/>
                      <a:pt x="40" y="10"/>
                      <a:pt x="45" y="10"/>
                    </a:cubicBezTo>
                    <a:cubicBezTo>
                      <a:pt x="52" y="10"/>
                      <a:pt x="52" y="10"/>
                      <a:pt x="52" y="10"/>
                    </a:cubicBezTo>
                    <a:cubicBezTo>
                      <a:pt x="57" y="10"/>
                      <a:pt x="61" y="14"/>
                      <a:pt x="61" y="19"/>
                    </a:cubicBezTo>
                    <a:cubicBezTo>
                      <a:pt x="61" y="25"/>
                      <a:pt x="61" y="25"/>
                      <a:pt x="61" y="25"/>
                    </a:cubicBezTo>
                    <a:cubicBezTo>
                      <a:pt x="61" y="28"/>
                      <a:pt x="63" y="30"/>
                      <a:pt x="66" y="30"/>
                    </a:cubicBezTo>
                    <a:cubicBezTo>
                      <a:pt x="79" y="30"/>
                      <a:pt x="79" y="30"/>
                      <a:pt x="79" y="30"/>
                    </a:cubicBezTo>
                    <a:cubicBezTo>
                      <a:pt x="84" y="30"/>
                      <a:pt x="88" y="34"/>
                      <a:pt x="88" y="39"/>
                    </a:cubicBezTo>
                    <a:cubicBezTo>
                      <a:pt x="88" y="40"/>
                      <a:pt x="88" y="40"/>
                      <a:pt x="88" y="40"/>
                    </a:cubicBezTo>
                    <a:cubicBezTo>
                      <a:pt x="88" y="45"/>
                      <a:pt x="84" y="49"/>
                      <a:pt x="79" y="49"/>
                    </a:cubicBezTo>
                    <a:cubicBezTo>
                      <a:pt x="18" y="49"/>
                      <a:pt x="18" y="49"/>
                      <a:pt x="18" y="49"/>
                    </a:cubicBezTo>
                    <a:cubicBezTo>
                      <a:pt x="13" y="49"/>
                      <a:pt x="9" y="45"/>
                      <a:pt x="9" y="40"/>
                    </a:cubicBezTo>
                    <a:lnTo>
                      <a:pt x="9" y="39"/>
                    </a:lnTo>
                    <a:close/>
                  </a:path>
                </a:pathLst>
              </a:custGeom>
              <a:solidFill>
                <a:srgbClr val="231F20"/>
              </a:solidFill>
              <a:ln>
                <a:solidFill>
                  <a:srgbClr val="00ABAB"/>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62" name="Oval 362">
                <a:extLst>
                  <a:ext uri="{FF2B5EF4-FFF2-40B4-BE49-F238E27FC236}">
                    <a16:creationId xmlns:a16="http://schemas.microsoft.com/office/drawing/2014/main" id="{1833B47B-8996-2B8C-397C-A87485D02D0B}"/>
                  </a:ext>
                </a:extLst>
              </p:cNvPr>
              <p:cNvSpPr>
                <a:spLocks noChangeArrowheads="1"/>
              </p:cNvSpPr>
              <p:nvPr/>
            </p:nvSpPr>
            <p:spPr bwMode="auto">
              <a:xfrm>
                <a:off x="8377238" y="190501"/>
                <a:ext cx="17463" cy="19050"/>
              </a:xfrm>
              <a:prstGeom prst="ellipse">
                <a:avLst/>
              </a:prstGeom>
              <a:solidFill>
                <a:srgbClr val="231F20"/>
              </a:solidFill>
              <a:ln>
                <a:solidFill>
                  <a:srgbClr val="00ABAB"/>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63" name="Freeform 363">
                <a:extLst>
                  <a:ext uri="{FF2B5EF4-FFF2-40B4-BE49-F238E27FC236}">
                    <a16:creationId xmlns:a16="http://schemas.microsoft.com/office/drawing/2014/main" id="{5B979367-5DCE-3449-5AEA-A704CDC3125D}"/>
                  </a:ext>
                </a:extLst>
              </p:cNvPr>
              <p:cNvSpPr>
                <a:spLocks/>
              </p:cNvSpPr>
              <p:nvPr/>
            </p:nvSpPr>
            <p:spPr bwMode="auto">
              <a:xfrm>
                <a:off x="8191500" y="209551"/>
                <a:ext cx="379895" cy="419817"/>
              </a:xfrm>
              <a:custGeom>
                <a:avLst/>
                <a:gdLst>
                  <a:gd name="T0" fmla="*/ 165 w 169"/>
                  <a:gd name="T1" fmla="*/ 0 h 209"/>
                  <a:gd name="T2" fmla="*/ 143 w 169"/>
                  <a:gd name="T3" fmla="*/ 0 h 209"/>
                  <a:gd name="T4" fmla="*/ 138 w 169"/>
                  <a:gd name="T5" fmla="*/ 5 h 209"/>
                  <a:gd name="T6" fmla="*/ 143 w 169"/>
                  <a:gd name="T7" fmla="*/ 9 h 209"/>
                  <a:gd name="T8" fmla="*/ 160 w 169"/>
                  <a:gd name="T9" fmla="*/ 9 h 209"/>
                  <a:gd name="T10" fmla="*/ 160 w 169"/>
                  <a:gd name="T11" fmla="*/ 200 h 209"/>
                  <a:gd name="T12" fmla="*/ 10 w 169"/>
                  <a:gd name="T13" fmla="*/ 200 h 209"/>
                  <a:gd name="T14" fmla="*/ 10 w 169"/>
                  <a:gd name="T15" fmla="*/ 9 h 209"/>
                  <a:gd name="T16" fmla="*/ 27 w 169"/>
                  <a:gd name="T17" fmla="*/ 9 h 209"/>
                  <a:gd name="T18" fmla="*/ 31 w 169"/>
                  <a:gd name="T19" fmla="*/ 5 h 209"/>
                  <a:gd name="T20" fmla="*/ 27 w 169"/>
                  <a:gd name="T21" fmla="*/ 0 h 209"/>
                  <a:gd name="T22" fmla="*/ 5 w 169"/>
                  <a:gd name="T23" fmla="*/ 0 h 209"/>
                  <a:gd name="T24" fmla="*/ 0 w 169"/>
                  <a:gd name="T25" fmla="*/ 5 h 209"/>
                  <a:gd name="T26" fmla="*/ 0 w 169"/>
                  <a:gd name="T27" fmla="*/ 205 h 209"/>
                  <a:gd name="T28" fmla="*/ 5 w 169"/>
                  <a:gd name="T29" fmla="*/ 209 h 209"/>
                  <a:gd name="T30" fmla="*/ 165 w 169"/>
                  <a:gd name="T31" fmla="*/ 209 h 209"/>
                  <a:gd name="T32" fmla="*/ 169 w 169"/>
                  <a:gd name="T33" fmla="*/ 205 h 209"/>
                  <a:gd name="T34" fmla="*/ 169 w 169"/>
                  <a:gd name="T35" fmla="*/ 5 h 209"/>
                  <a:gd name="T36" fmla="*/ 165 w 169"/>
                  <a:gd name="T37" fmla="*/ 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9" h="209">
                    <a:moveTo>
                      <a:pt x="165" y="0"/>
                    </a:moveTo>
                    <a:cubicBezTo>
                      <a:pt x="143" y="0"/>
                      <a:pt x="143" y="0"/>
                      <a:pt x="143" y="0"/>
                    </a:cubicBezTo>
                    <a:cubicBezTo>
                      <a:pt x="140" y="0"/>
                      <a:pt x="138" y="2"/>
                      <a:pt x="138" y="5"/>
                    </a:cubicBezTo>
                    <a:cubicBezTo>
                      <a:pt x="138" y="7"/>
                      <a:pt x="140" y="9"/>
                      <a:pt x="143" y="9"/>
                    </a:cubicBezTo>
                    <a:cubicBezTo>
                      <a:pt x="160" y="9"/>
                      <a:pt x="160" y="9"/>
                      <a:pt x="160" y="9"/>
                    </a:cubicBezTo>
                    <a:cubicBezTo>
                      <a:pt x="160" y="200"/>
                      <a:pt x="160" y="200"/>
                      <a:pt x="160" y="200"/>
                    </a:cubicBezTo>
                    <a:cubicBezTo>
                      <a:pt x="10" y="200"/>
                      <a:pt x="10" y="200"/>
                      <a:pt x="10" y="200"/>
                    </a:cubicBezTo>
                    <a:cubicBezTo>
                      <a:pt x="10" y="9"/>
                      <a:pt x="10" y="9"/>
                      <a:pt x="10" y="9"/>
                    </a:cubicBezTo>
                    <a:cubicBezTo>
                      <a:pt x="27" y="9"/>
                      <a:pt x="27" y="9"/>
                      <a:pt x="27" y="9"/>
                    </a:cubicBezTo>
                    <a:cubicBezTo>
                      <a:pt x="29" y="9"/>
                      <a:pt x="31" y="7"/>
                      <a:pt x="31" y="5"/>
                    </a:cubicBezTo>
                    <a:cubicBezTo>
                      <a:pt x="31" y="2"/>
                      <a:pt x="29" y="0"/>
                      <a:pt x="27" y="0"/>
                    </a:cubicBezTo>
                    <a:cubicBezTo>
                      <a:pt x="5" y="0"/>
                      <a:pt x="5" y="0"/>
                      <a:pt x="5" y="0"/>
                    </a:cubicBezTo>
                    <a:cubicBezTo>
                      <a:pt x="2" y="0"/>
                      <a:pt x="0" y="2"/>
                      <a:pt x="0" y="5"/>
                    </a:cubicBezTo>
                    <a:cubicBezTo>
                      <a:pt x="0" y="205"/>
                      <a:pt x="0" y="205"/>
                      <a:pt x="0" y="205"/>
                    </a:cubicBezTo>
                    <a:cubicBezTo>
                      <a:pt x="0" y="207"/>
                      <a:pt x="2" y="209"/>
                      <a:pt x="5" y="209"/>
                    </a:cubicBezTo>
                    <a:cubicBezTo>
                      <a:pt x="165" y="209"/>
                      <a:pt x="165" y="209"/>
                      <a:pt x="165" y="209"/>
                    </a:cubicBezTo>
                    <a:cubicBezTo>
                      <a:pt x="167" y="209"/>
                      <a:pt x="169" y="207"/>
                      <a:pt x="169" y="205"/>
                    </a:cubicBezTo>
                    <a:cubicBezTo>
                      <a:pt x="169" y="5"/>
                      <a:pt x="169" y="5"/>
                      <a:pt x="169" y="5"/>
                    </a:cubicBezTo>
                    <a:cubicBezTo>
                      <a:pt x="169" y="2"/>
                      <a:pt x="167" y="0"/>
                      <a:pt x="165" y="0"/>
                    </a:cubicBezTo>
                    <a:close/>
                  </a:path>
                </a:pathLst>
              </a:custGeom>
              <a:solidFill>
                <a:srgbClr val="231F20"/>
              </a:solidFill>
              <a:ln>
                <a:solidFill>
                  <a:srgbClr val="00ABAB"/>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64" name="Freeform 364">
                <a:extLst>
                  <a:ext uri="{FF2B5EF4-FFF2-40B4-BE49-F238E27FC236}">
                    <a16:creationId xmlns:a16="http://schemas.microsoft.com/office/drawing/2014/main" id="{45E27C15-A934-264C-ABFF-457A57004833}"/>
                  </a:ext>
                </a:extLst>
              </p:cNvPr>
              <p:cNvSpPr>
                <a:spLocks/>
              </p:cNvSpPr>
              <p:nvPr/>
            </p:nvSpPr>
            <p:spPr bwMode="auto">
              <a:xfrm>
                <a:off x="8278813" y="374651"/>
                <a:ext cx="219075" cy="192088"/>
              </a:xfrm>
              <a:custGeom>
                <a:avLst/>
                <a:gdLst>
                  <a:gd name="T0" fmla="*/ 87 w 96"/>
                  <a:gd name="T1" fmla="*/ 2 h 84"/>
                  <a:gd name="T2" fmla="*/ 29 w 96"/>
                  <a:gd name="T3" fmla="*/ 73 h 84"/>
                  <a:gd name="T4" fmla="*/ 9 w 96"/>
                  <a:gd name="T5" fmla="*/ 50 h 84"/>
                  <a:gd name="T6" fmla="*/ 2 w 96"/>
                  <a:gd name="T7" fmla="*/ 50 h 84"/>
                  <a:gd name="T8" fmla="*/ 2 w 96"/>
                  <a:gd name="T9" fmla="*/ 56 h 84"/>
                  <a:gd name="T10" fmla="*/ 26 w 96"/>
                  <a:gd name="T11" fmla="*/ 83 h 84"/>
                  <a:gd name="T12" fmla="*/ 29 w 96"/>
                  <a:gd name="T13" fmla="*/ 84 h 84"/>
                  <a:gd name="T14" fmla="*/ 29 w 96"/>
                  <a:gd name="T15" fmla="*/ 84 h 84"/>
                  <a:gd name="T16" fmla="*/ 33 w 96"/>
                  <a:gd name="T17" fmla="*/ 83 h 84"/>
                  <a:gd name="T18" fmla="*/ 94 w 96"/>
                  <a:gd name="T19" fmla="*/ 8 h 84"/>
                  <a:gd name="T20" fmla="*/ 94 w 96"/>
                  <a:gd name="T21" fmla="*/ 1 h 84"/>
                  <a:gd name="T22" fmla="*/ 87 w 96"/>
                  <a:gd name="T23" fmla="*/ 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6" h="84">
                    <a:moveTo>
                      <a:pt x="87" y="2"/>
                    </a:moveTo>
                    <a:cubicBezTo>
                      <a:pt x="29" y="73"/>
                      <a:pt x="29" y="73"/>
                      <a:pt x="29" y="73"/>
                    </a:cubicBezTo>
                    <a:cubicBezTo>
                      <a:pt x="9" y="50"/>
                      <a:pt x="9" y="50"/>
                      <a:pt x="9" y="50"/>
                    </a:cubicBezTo>
                    <a:cubicBezTo>
                      <a:pt x="7" y="48"/>
                      <a:pt x="4" y="48"/>
                      <a:pt x="2" y="50"/>
                    </a:cubicBezTo>
                    <a:cubicBezTo>
                      <a:pt x="1" y="52"/>
                      <a:pt x="0" y="55"/>
                      <a:pt x="2" y="56"/>
                    </a:cubicBezTo>
                    <a:cubicBezTo>
                      <a:pt x="26" y="83"/>
                      <a:pt x="26" y="83"/>
                      <a:pt x="26" y="83"/>
                    </a:cubicBezTo>
                    <a:cubicBezTo>
                      <a:pt x="27" y="84"/>
                      <a:pt x="28" y="84"/>
                      <a:pt x="29" y="84"/>
                    </a:cubicBezTo>
                    <a:cubicBezTo>
                      <a:pt x="29" y="84"/>
                      <a:pt x="29" y="84"/>
                      <a:pt x="29" y="84"/>
                    </a:cubicBezTo>
                    <a:cubicBezTo>
                      <a:pt x="31" y="84"/>
                      <a:pt x="32" y="84"/>
                      <a:pt x="33" y="83"/>
                    </a:cubicBezTo>
                    <a:cubicBezTo>
                      <a:pt x="94" y="8"/>
                      <a:pt x="94" y="8"/>
                      <a:pt x="94" y="8"/>
                    </a:cubicBezTo>
                    <a:cubicBezTo>
                      <a:pt x="96" y="6"/>
                      <a:pt x="96" y="3"/>
                      <a:pt x="94" y="1"/>
                    </a:cubicBezTo>
                    <a:cubicBezTo>
                      <a:pt x="92" y="0"/>
                      <a:pt x="89" y="0"/>
                      <a:pt x="87" y="2"/>
                    </a:cubicBezTo>
                    <a:close/>
                  </a:path>
                </a:pathLst>
              </a:custGeom>
              <a:solidFill>
                <a:srgbClr val="231F20"/>
              </a:solidFill>
              <a:ln>
                <a:solidFill>
                  <a:srgbClr val="00ABAB"/>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sp>
        <p:nvSpPr>
          <p:cNvPr id="269" name="TextBox 268">
            <a:extLst>
              <a:ext uri="{FF2B5EF4-FFF2-40B4-BE49-F238E27FC236}">
                <a16:creationId xmlns:a16="http://schemas.microsoft.com/office/drawing/2014/main" id="{A2DD2C44-74C8-D16D-E193-6FF89077E355}"/>
              </a:ext>
            </a:extLst>
          </p:cNvPr>
          <p:cNvSpPr txBox="1"/>
          <p:nvPr/>
        </p:nvSpPr>
        <p:spPr>
          <a:xfrm>
            <a:off x="4758583" y="1781226"/>
            <a:ext cx="2223127" cy="553998"/>
          </a:xfrm>
          <a:prstGeom prst="rect">
            <a:avLst/>
          </a:prstGeom>
          <a:noFill/>
        </p:spPr>
        <p:txBody>
          <a:bodyPr wrap="square">
            <a:spAutoFit/>
          </a:bodyPr>
          <a:lstStyle>
            <a:defPPr>
              <a:defRPr lang="en-US"/>
            </a:defPPr>
            <a:lvl1pPr algn="ctr">
              <a:buSzPct val="100000"/>
              <a:defRPr sz="700" kern="0">
                <a:solidFill>
                  <a:srgbClr val="313131"/>
                </a:solidFill>
                <a:latin typeface="Calibri"/>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lang="en-GB" altLang="en-US" sz="1000">
                <a:latin typeface="Verdana" panose="020B0604030504040204" pitchFamily="34" charset="0"/>
                <a:ea typeface="Verdana" panose="020B0604030504040204" pitchFamily="34" charset="0"/>
              </a:rPr>
              <a:t>I</a:t>
            </a:r>
            <a:r>
              <a:rPr kumimoji="0" lang="en-GB" altLang="en-US" sz="1000" b="0" i="0" u="none" strike="noStrike" kern="0" cap="none" spc="0" normalizeH="0" baseline="0" noProof="0" err="1">
                <a:ln>
                  <a:noFill/>
                </a:ln>
                <a:solidFill>
                  <a:srgbClr val="313131"/>
                </a:solidFill>
                <a:effectLst/>
                <a:uLnTx/>
                <a:uFillTx/>
                <a:latin typeface="Verdana" panose="020B0604030504040204" pitchFamily="34" charset="0"/>
                <a:ea typeface="Verdana" panose="020B0604030504040204" pitchFamily="34" charset="0"/>
              </a:rPr>
              <a:t>ntegrate</a:t>
            </a:r>
            <a:r>
              <a:rPr kumimoji="0" lang="en-GB" altLang="en-US"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rPr>
              <a:t> replacement and failure data with ML models to predict failure timelines</a:t>
            </a:r>
          </a:p>
        </p:txBody>
      </p:sp>
      <p:grpSp>
        <p:nvGrpSpPr>
          <p:cNvPr id="271" name="Group 270">
            <a:extLst>
              <a:ext uri="{FF2B5EF4-FFF2-40B4-BE49-F238E27FC236}">
                <a16:creationId xmlns:a16="http://schemas.microsoft.com/office/drawing/2014/main" id="{164F7663-A869-A706-1438-5408E3DBAFC7}"/>
              </a:ext>
            </a:extLst>
          </p:cNvPr>
          <p:cNvGrpSpPr/>
          <p:nvPr/>
        </p:nvGrpSpPr>
        <p:grpSpPr>
          <a:xfrm rot="5400000">
            <a:off x="7037079" y="2530453"/>
            <a:ext cx="87999" cy="95618"/>
            <a:chOff x="7331909" y="3522364"/>
            <a:chExt cx="99974" cy="108628"/>
          </a:xfrm>
        </p:grpSpPr>
        <p:sp>
          <p:nvSpPr>
            <p:cNvPr id="272" name="Chevron 479">
              <a:extLst>
                <a:ext uri="{FF2B5EF4-FFF2-40B4-BE49-F238E27FC236}">
                  <a16:creationId xmlns:a16="http://schemas.microsoft.com/office/drawing/2014/main" id="{68B7B3A3-175B-D0CB-4DF9-154C7E69673E}"/>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73" name="Chevron 480">
              <a:extLst>
                <a:ext uri="{FF2B5EF4-FFF2-40B4-BE49-F238E27FC236}">
                  <a16:creationId xmlns:a16="http://schemas.microsoft.com/office/drawing/2014/main" id="{315EF98C-060E-50E2-E0D2-FC0F3B2D8778}"/>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nvGrpSpPr>
          <p:cNvPr id="275" name="Group 274">
            <a:extLst>
              <a:ext uri="{FF2B5EF4-FFF2-40B4-BE49-F238E27FC236}">
                <a16:creationId xmlns:a16="http://schemas.microsoft.com/office/drawing/2014/main" id="{F5EEB768-F61B-889E-EBDC-BB81F04F41F6}"/>
              </a:ext>
            </a:extLst>
          </p:cNvPr>
          <p:cNvGrpSpPr/>
          <p:nvPr/>
        </p:nvGrpSpPr>
        <p:grpSpPr>
          <a:xfrm>
            <a:off x="7272070" y="2407463"/>
            <a:ext cx="436111" cy="426726"/>
            <a:chOff x="6502083" y="4554947"/>
            <a:chExt cx="436111" cy="426726"/>
          </a:xfrm>
        </p:grpSpPr>
        <p:sp>
          <p:nvSpPr>
            <p:cNvPr id="276" name="Oval 275">
              <a:extLst>
                <a:ext uri="{FF2B5EF4-FFF2-40B4-BE49-F238E27FC236}">
                  <a16:creationId xmlns:a16="http://schemas.microsoft.com/office/drawing/2014/main" id="{1EB134C0-4E15-04BA-C62F-12915EB0F8A4}"/>
                </a:ext>
              </a:extLst>
            </p:cNvPr>
            <p:cNvSpPr>
              <a:spLocks noChangeAspect="1"/>
            </p:cNvSpPr>
            <p:nvPr/>
          </p:nvSpPr>
          <p:spPr>
            <a:xfrm>
              <a:off x="6502083" y="4554947"/>
              <a:ext cx="436111" cy="426726"/>
            </a:xfrm>
            <a:prstGeom prst="ellipse">
              <a:avLst/>
            </a:prstGeom>
            <a:solidFill>
              <a:sysClr val="window" lastClr="FFFFFF"/>
            </a:solidFill>
            <a:ln w="38100" cap="flat" cmpd="sng" algn="ctr">
              <a:solidFill>
                <a:srgbClr val="046A38"/>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277" name="Group 276">
              <a:extLst>
                <a:ext uri="{FF2B5EF4-FFF2-40B4-BE49-F238E27FC236}">
                  <a16:creationId xmlns:a16="http://schemas.microsoft.com/office/drawing/2014/main" id="{8D71B0F0-8DF7-EE6A-DBED-4227925CE9FE}"/>
                </a:ext>
              </a:extLst>
            </p:cNvPr>
            <p:cNvGrpSpPr/>
            <p:nvPr/>
          </p:nvGrpSpPr>
          <p:grpSpPr>
            <a:xfrm>
              <a:off x="6559652" y="4657013"/>
              <a:ext cx="307774" cy="222594"/>
              <a:chOff x="4672727" y="2820836"/>
              <a:chExt cx="399315" cy="273330"/>
            </a:xfrm>
          </p:grpSpPr>
          <p:grpSp>
            <p:nvGrpSpPr>
              <p:cNvPr id="278" name="Group 277">
                <a:extLst>
                  <a:ext uri="{FF2B5EF4-FFF2-40B4-BE49-F238E27FC236}">
                    <a16:creationId xmlns:a16="http://schemas.microsoft.com/office/drawing/2014/main" id="{B0F906CE-54F0-400A-124A-54A52739CD86}"/>
                  </a:ext>
                </a:extLst>
              </p:cNvPr>
              <p:cNvGrpSpPr>
                <a:grpSpLocks noChangeAspect="1"/>
              </p:cNvGrpSpPr>
              <p:nvPr/>
            </p:nvGrpSpPr>
            <p:grpSpPr>
              <a:xfrm>
                <a:off x="4672727" y="2820836"/>
                <a:ext cx="289547" cy="244494"/>
                <a:chOff x="3657600" y="4200526"/>
                <a:chExt cx="776288" cy="661988"/>
              </a:xfrm>
            </p:grpSpPr>
            <p:sp>
              <p:nvSpPr>
                <p:cNvPr id="280" name="Freeform 62">
                  <a:extLst>
                    <a:ext uri="{FF2B5EF4-FFF2-40B4-BE49-F238E27FC236}">
                      <a16:creationId xmlns:a16="http://schemas.microsoft.com/office/drawing/2014/main" id="{15CD6245-9B38-D422-DBE7-F48BB2FF1686}"/>
                    </a:ext>
                  </a:extLst>
                </p:cNvPr>
                <p:cNvSpPr>
                  <a:spLocks noEditPoints="1"/>
                </p:cNvSpPr>
                <p:nvPr/>
              </p:nvSpPr>
              <p:spPr bwMode="auto">
                <a:xfrm>
                  <a:off x="3657600" y="4200526"/>
                  <a:ext cx="776288" cy="661988"/>
                </a:xfrm>
                <a:custGeom>
                  <a:avLst/>
                  <a:gdLst>
                    <a:gd name="T0" fmla="*/ 186 w 187"/>
                    <a:gd name="T1" fmla="*/ 5 h 160"/>
                    <a:gd name="T2" fmla="*/ 183 w 187"/>
                    <a:gd name="T3" fmla="*/ 4 h 160"/>
                    <a:gd name="T4" fmla="*/ 66 w 187"/>
                    <a:gd name="T5" fmla="*/ 1 h 160"/>
                    <a:gd name="T6" fmla="*/ 62 w 187"/>
                    <a:gd name="T7" fmla="*/ 4 h 160"/>
                    <a:gd name="T8" fmla="*/ 42 w 187"/>
                    <a:gd name="T9" fmla="*/ 103 h 160"/>
                    <a:gd name="T10" fmla="*/ 44 w 187"/>
                    <a:gd name="T11" fmla="*/ 108 h 160"/>
                    <a:gd name="T12" fmla="*/ 49 w 187"/>
                    <a:gd name="T13" fmla="*/ 106 h 160"/>
                    <a:gd name="T14" fmla="*/ 69 w 187"/>
                    <a:gd name="T15" fmla="*/ 8 h 160"/>
                    <a:gd name="T16" fmla="*/ 179 w 187"/>
                    <a:gd name="T17" fmla="*/ 11 h 160"/>
                    <a:gd name="T18" fmla="*/ 139 w 187"/>
                    <a:gd name="T19" fmla="*/ 152 h 160"/>
                    <a:gd name="T20" fmla="*/ 110 w 187"/>
                    <a:gd name="T21" fmla="*/ 120 h 160"/>
                    <a:gd name="T22" fmla="*/ 107 w 187"/>
                    <a:gd name="T23" fmla="*/ 118 h 160"/>
                    <a:gd name="T24" fmla="*/ 4 w 187"/>
                    <a:gd name="T25" fmla="*/ 116 h 160"/>
                    <a:gd name="T26" fmla="*/ 1 w 187"/>
                    <a:gd name="T27" fmla="*/ 117 h 160"/>
                    <a:gd name="T28" fmla="*/ 0 w 187"/>
                    <a:gd name="T29" fmla="*/ 121 h 160"/>
                    <a:gd name="T30" fmla="*/ 37 w 187"/>
                    <a:gd name="T31" fmla="*/ 159 h 160"/>
                    <a:gd name="T32" fmla="*/ 137 w 187"/>
                    <a:gd name="T33" fmla="*/ 160 h 160"/>
                    <a:gd name="T34" fmla="*/ 137 w 187"/>
                    <a:gd name="T35" fmla="*/ 160 h 160"/>
                    <a:gd name="T36" fmla="*/ 139 w 187"/>
                    <a:gd name="T37" fmla="*/ 160 h 160"/>
                    <a:gd name="T38" fmla="*/ 140 w 187"/>
                    <a:gd name="T39" fmla="*/ 159 h 160"/>
                    <a:gd name="T40" fmla="*/ 187 w 187"/>
                    <a:gd name="T41" fmla="*/ 8 h 160"/>
                    <a:gd name="T42" fmla="*/ 186 w 187"/>
                    <a:gd name="T43" fmla="*/ 5 h 160"/>
                    <a:gd name="T44" fmla="*/ 37 w 187"/>
                    <a:gd name="T45" fmla="*/ 151 h 160"/>
                    <a:gd name="T46" fmla="*/ 9 w 187"/>
                    <a:gd name="T47" fmla="*/ 124 h 160"/>
                    <a:gd name="T48" fmla="*/ 105 w 187"/>
                    <a:gd name="T49" fmla="*/ 126 h 160"/>
                    <a:gd name="T50" fmla="*/ 122 w 187"/>
                    <a:gd name="T51" fmla="*/ 152 h 160"/>
                    <a:gd name="T52" fmla="*/ 37 w 187"/>
                    <a:gd name="T53" fmla="*/ 15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7" h="160">
                      <a:moveTo>
                        <a:pt x="186" y="5"/>
                      </a:moveTo>
                      <a:cubicBezTo>
                        <a:pt x="185" y="4"/>
                        <a:pt x="184" y="4"/>
                        <a:pt x="183" y="4"/>
                      </a:cubicBezTo>
                      <a:cubicBezTo>
                        <a:pt x="66" y="1"/>
                        <a:pt x="66" y="1"/>
                        <a:pt x="66" y="1"/>
                      </a:cubicBezTo>
                      <a:cubicBezTo>
                        <a:pt x="64" y="0"/>
                        <a:pt x="62" y="2"/>
                        <a:pt x="62" y="4"/>
                      </a:cubicBezTo>
                      <a:cubicBezTo>
                        <a:pt x="62" y="5"/>
                        <a:pt x="58" y="68"/>
                        <a:pt x="42" y="103"/>
                      </a:cubicBezTo>
                      <a:cubicBezTo>
                        <a:pt x="41" y="105"/>
                        <a:pt x="42" y="107"/>
                        <a:pt x="44" y="108"/>
                      </a:cubicBezTo>
                      <a:cubicBezTo>
                        <a:pt x="45" y="109"/>
                        <a:pt x="48" y="108"/>
                        <a:pt x="49" y="106"/>
                      </a:cubicBezTo>
                      <a:cubicBezTo>
                        <a:pt x="63" y="75"/>
                        <a:pt x="68" y="23"/>
                        <a:pt x="69" y="8"/>
                      </a:cubicBezTo>
                      <a:cubicBezTo>
                        <a:pt x="179" y="11"/>
                        <a:pt x="179" y="11"/>
                        <a:pt x="179" y="11"/>
                      </a:cubicBezTo>
                      <a:cubicBezTo>
                        <a:pt x="173" y="77"/>
                        <a:pt x="158" y="149"/>
                        <a:pt x="139" y="152"/>
                      </a:cubicBezTo>
                      <a:cubicBezTo>
                        <a:pt x="131" y="153"/>
                        <a:pt x="121" y="142"/>
                        <a:pt x="110" y="120"/>
                      </a:cubicBezTo>
                      <a:cubicBezTo>
                        <a:pt x="110" y="119"/>
                        <a:pt x="108" y="118"/>
                        <a:pt x="107" y="118"/>
                      </a:cubicBezTo>
                      <a:cubicBezTo>
                        <a:pt x="4" y="116"/>
                        <a:pt x="4" y="116"/>
                        <a:pt x="4" y="116"/>
                      </a:cubicBezTo>
                      <a:cubicBezTo>
                        <a:pt x="3" y="116"/>
                        <a:pt x="1" y="116"/>
                        <a:pt x="1" y="117"/>
                      </a:cubicBezTo>
                      <a:cubicBezTo>
                        <a:pt x="0" y="118"/>
                        <a:pt x="0" y="119"/>
                        <a:pt x="0" y="121"/>
                      </a:cubicBezTo>
                      <a:cubicBezTo>
                        <a:pt x="0" y="122"/>
                        <a:pt x="8" y="158"/>
                        <a:pt x="37" y="159"/>
                      </a:cubicBezTo>
                      <a:cubicBezTo>
                        <a:pt x="71" y="159"/>
                        <a:pt x="136" y="160"/>
                        <a:pt x="137" y="160"/>
                      </a:cubicBezTo>
                      <a:cubicBezTo>
                        <a:pt x="137" y="160"/>
                        <a:pt x="137" y="160"/>
                        <a:pt x="137" y="160"/>
                      </a:cubicBezTo>
                      <a:cubicBezTo>
                        <a:pt x="138" y="160"/>
                        <a:pt x="138" y="160"/>
                        <a:pt x="139" y="160"/>
                      </a:cubicBezTo>
                      <a:cubicBezTo>
                        <a:pt x="139" y="160"/>
                        <a:pt x="139" y="160"/>
                        <a:pt x="140" y="159"/>
                      </a:cubicBezTo>
                      <a:cubicBezTo>
                        <a:pt x="172" y="154"/>
                        <a:pt x="184" y="42"/>
                        <a:pt x="187" y="8"/>
                      </a:cubicBezTo>
                      <a:cubicBezTo>
                        <a:pt x="187" y="7"/>
                        <a:pt x="186" y="6"/>
                        <a:pt x="186" y="5"/>
                      </a:cubicBezTo>
                      <a:close/>
                      <a:moveTo>
                        <a:pt x="37" y="151"/>
                      </a:moveTo>
                      <a:cubicBezTo>
                        <a:pt x="20" y="151"/>
                        <a:pt x="12" y="132"/>
                        <a:pt x="9" y="124"/>
                      </a:cubicBezTo>
                      <a:cubicBezTo>
                        <a:pt x="105" y="126"/>
                        <a:pt x="105" y="126"/>
                        <a:pt x="105" y="126"/>
                      </a:cubicBezTo>
                      <a:cubicBezTo>
                        <a:pt x="110" y="138"/>
                        <a:pt x="116" y="147"/>
                        <a:pt x="122" y="152"/>
                      </a:cubicBezTo>
                      <a:cubicBezTo>
                        <a:pt x="100" y="152"/>
                        <a:pt x="61" y="152"/>
                        <a:pt x="37" y="151"/>
                      </a:cubicBezTo>
                      <a:close/>
                    </a:path>
                  </a:pathLst>
                </a:custGeom>
                <a:solidFill>
                  <a:srgbClr val="231F20"/>
                </a:solidFill>
                <a:ln>
                  <a:solidFill>
                    <a:srgbClr val="046A38"/>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81" name="Freeform 63">
                  <a:extLst>
                    <a:ext uri="{FF2B5EF4-FFF2-40B4-BE49-F238E27FC236}">
                      <a16:creationId xmlns:a16="http://schemas.microsoft.com/office/drawing/2014/main" id="{98641F79-FE8B-C358-93BD-5F83FCFF5E5F}"/>
                    </a:ext>
                  </a:extLst>
                </p:cNvPr>
                <p:cNvSpPr>
                  <a:spLocks/>
                </p:cNvSpPr>
                <p:nvPr/>
              </p:nvSpPr>
              <p:spPr bwMode="auto">
                <a:xfrm>
                  <a:off x="4014788" y="4344988"/>
                  <a:ext cx="277813" cy="41275"/>
                </a:xfrm>
                <a:custGeom>
                  <a:avLst/>
                  <a:gdLst>
                    <a:gd name="T0" fmla="*/ 63 w 67"/>
                    <a:gd name="T1" fmla="*/ 10 h 10"/>
                    <a:gd name="T2" fmla="*/ 64 w 67"/>
                    <a:gd name="T3" fmla="*/ 10 h 10"/>
                    <a:gd name="T4" fmla="*/ 67 w 67"/>
                    <a:gd name="T5" fmla="*/ 6 h 10"/>
                    <a:gd name="T6" fmla="*/ 64 w 67"/>
                    <a:gd name="T7" fmla="*/ 2 h 10"/>
                    <a:gd name="T8" fmla="*/ 4 w 67"/>
                    <a:gd name="T9" fmla="*/ 0 h 10"/>
                    <a:gd name="T10" fmla="*/ 0 w 67"/>
                    <a:gd name="T11" fmla="*/ 4 h 10"/>
                    <a:gd name="T12" fmla="*/ 4 w 67"/>
                    <a:gd name="T13" fmla="*/ 8 h 10"/>
                    <a:gd name="T14" fmla="*/ 63 w 67"/>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10">
                      <a:moveTo>
                        <a:pt x="63" y="10"/>
                      </a:moveTo>
                      <a:cubicBezTo>
                        <a:pt x="63" y="10"/>
                        <a:pt x="63" y="10"/>
                        <a:pt x="64" y="10"/>
                      </a:cubicBezTo>
                      <a:cubicBezTo>
                        <a:pt x="66" y="10"/>
                        <a:pt x="67" y="8"/>
                        <a:pt x="67" y="6"/>
                      </a:cubicBezTo>
                      <a:cubicBezTo>
                        <a:pt x="67" y="4"/>
                        <a:pt x="66" y="3"/>
                        <a:pt x="64" y="2"/>
                      </a:cubicBezTo>
                      <a:cubicBezTo>
                        <a:pt x="4" y="0"/>
                        <a:pt x="4" y="0"/>
                        <a:pt x="4" y="0"/>
                      </a:cubicBezTo>
                      <a:cubicBezTo>
                        <a:pt x="2" y="0"/>
                        <a:pt x="0" y="2"/>
                        <a:pt x="0" y="4"/>
                      </a:cubicBezTo>
                      <a:cubicBezTo>
                        <a:pt x="0" y="6"/>
                        <a:pt x="2" y="8"/>
                        <a:pt x="4" y="8"/>
                      </a:cubicBezTo>
                      <a:lnTo>
                        <a:pt x="63" y="10"/>
                      </a:lnTo>
                      <a:close/>
                    </a:path>
                  </a:pathLst>
                </a:custGeom>
                <a:solidFill>
                  <a:srgbClr val="231F20"/>
                </a:solidFill>
                <a:ln>
                  <a:solidFill>
                    <a:srgbClr val="046A38"/>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82" name="Freeform 64">
                  <a:extLst>
                    <a:ext uri="{FF2B5EF4-FFF2-40B4-BE49-F238E27FC236}">
                      <a16:creationId xmlns:a16="http://schemas.microsoft.com/office/drawing/2014/main" id="{A7299868-AF6D-9F9E-319C-CB15C649F5FA}"/>
                    </a:ext>
                  </a:extLst>
                </p:cNvPr>
                <p:cNvSpPr>
                  <a:spLocks/>
                </p:cNvSpPr>
                <p:nvPr/>
              </p:nvSpPr>
              <p:spPr bwMode="auto">
                <a:xfrm>
                  <a:off x="3997325" y="4457701"/>
                  <a:ext cx="261938" cy="41275"/>
                </a:xfrm>
                <a:custGeom>
                  <a:avLst/>
                  <a:gdLst>
                    <a:gd name="T0" fmla="*/ 0 w 63"/>
                    <a:gd name="T1" fmla="*/ 4 h 10"/>
                    <a:gd name="T2" fmla="*/ 3 w 63"/>
                    <a:gd name="T3" fmla="*/ 8 h 10"/>
                    <a:gd name="T4" fmla="*/ 59 w 63"/>
                    <a:gd name="T5" fmla="*/ 10 h 10"/>
                    <a:gd name="T6" fmla="*/ 59 w 63"/>
                    <a:gd name="T7" fmla="*/ 10 h 10"/>
                    <a:gd name="T8" fmla="*/ 63 w 63"/>
                    <a:gd name="T9" fmla="*/ 6 h 10"/>
                    <a:gd name="T10" fmla="*/ 59 w 63"/>
                    <a:gd name="T11" fmla="*/ 2 h 10"/>
                    <a:gd name="T12" fmla="*/ 4 w 63"/>
                    <a:gd name="T13" fmla="*/ 0 h 10"/>
                    <a:gd name="T14" fmla="*/ 0 w 63"/>
                    <a:gd name="T15" fmla="*/ 4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10">
                      <a:moveTo>
                        <a:pt x="0" y="4"/>
                      </a:moveTo>
                      <a:cubicBezTo>
                        <a:pt x="0" y="6"/>
                        <a:pt x="1" y="8"/>
                        <a:pt x="3" y="8"/>
                      </a:cubicBezTo>
                      <a:cubicBezTo>
                        <a:pt x="59" y="10"/>
                        <a:pt x="59" y="10"/>
                        <a:pt x="59" y="10"/>
                      </a:cubicBezTo>
                      <a:cubicBezTo>
                        <a:pt x="59" y="10"/>
                        <a:pt x="59" y="10"/>
                        <a:pt x="59" y="10"/>
                      </a:cubicBezTo>
                      <a:cubicBezTo>
                        <a:pt x="61" y="10"/>
                        <a:pt x="63" y="8"/>
                        <a:pt x="63" y="6"/>
                      </a:cubicBezTo>
                      <a:cubicBezTo>
                        <a:pt x="63" y="4"/>
                        <a:pt x="61" y="2"/>
                        <a:pt x="59" y="2"/>
                      </a:cubicBezTo>
                      <a:cubicBezTo>
                        <a:pt x="4" y="0"/>
                        <a:pt x="4" y="0"/>
                        <a:pt x="4" y="0"/>
                      </a:cubicBezTo>
                      <a:cubicBezTo>
                        <a:pt x="1" y="0"/>
                        <a:pt x="0" y="2"/>
                        <a:pt x="0" y="4"/>
                      </a:cubicBezTo>
                      <a:close/>
                    </a:path>
                  </a:pathLst>
                </a:custGeom>
                <a:solidFill>
                  <a:srgbClr val="231F20"/>
                </a:solidFill>
                <a:ln>
                  <a:solidFill>
                    <a:srgbClr val="046A38"/>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283" name="Freeform 65">
                  <a:extLst>
                    <a:ext uri="{FF2B5EF4-FFF2-40B4-BE49-F238E27FC236}">
                      <a16:creationId xmlns:a16="http://schemas.microsoft.com/office/drawing/2014/main" id="{45948A1A-504C-7606-A23D-F1771D9492F0}"/>
                    </a:ext>
                  </a:extLst>
                </p:cNvPr>
                <p:cNvSpPr>
                  <a:spLocks/>
                </p:cNvSpPr>
                <p:nvPr/>
              </p:nvSpPr>
              <p:spPr bwMode="auto">
                <a:xfrm>
                  <a:off x="3968750" y="4568826"/>
                  <a:ext cx="161925" cy="36513"/>
                </a:xfrm>
                <a:custGeom>
                  <a:avLst/>
                  <a:gdLst>
                    <a:gd name="T0" fmla="*/ 0 w 39"/>
                    <a:gd name="T1" fmla="*/ 4 h 9"/>
                    <a:gd name="T2" fmla="*/ 3 w 39"/>
                    <a:gd name="T3" fmla="*/ 8 h 9"/>
                    <a:gd name="T4" fmla="*/ 35 w 39"/>
                    <a:gd name="T5" fmla="*/ 9 h 9"/>
                    <a:gd name="T6" fmla="*/ 35 w 39"/>
                    <a:gd name="T7" fmla="*/ 9 h 9"/>
                    <a:gd name="T8" fmla="*/ 39 w 39"/>
                    <a:gd name="T9" fmla="*/ 5 h 9"/>
                    <a:gd name="T10" fmla="*/ 35 w 39"/>
                    <a:gd name="T11" fmla="*/ 2 h 9"/>
                    <a:gd name="T12" fmla="*/ 4 w 39"/>
                    <a:gd name="T13" fmla="*/ 0 h 9"/>
                    <a:gd name="T14" fmla="*/ 0 w 39"/>
                    <a:gd name="T15" fmla="*/ 4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
                      <a:moveTo>
                        <a:pt x="0" y="4"/>
                      </a:moveTo>
                      <a:cubicBezTo>
                        <a:pt x="0" y="6"/>
                        <a:pt x="1" y="8"/>
                        <a:pt x="3" y="8"/>
                      </a:cubicBezTo>
                      <a:cubicBezTo>
                        <a:pt x="35" y="9"/>
                        <a:pt x="35" y="9"/>
                        <a:pt x="35" y="9"/>
                      </a:cubicBezTo>
                      <a:cubicBezTo>
                        <a:pt x="35" y="9"/>
                        <a:pt x="35" y="9"/>
                        <a:pt x="35" y="9"/>
                      </a:cubicBezTo>
                      <a:cubicBezTo>
                        <a:pt x="37" y="9"/>
                        <a:pt x="39" y="7"/>
                        <a:pt x="39" y="5"/>
                      </a:cubicBezTo>
                      <a:cubicBezTo>
                        <a:pt x="39" y="3"/>
                        <a:pt x="37" y="2"/>
                        <a:pt x="35" y="2"/>
                      </a:cubicBezTo>
                      <a:cubicBezTo>
                        <a:pt x="4" y="0"/>
                        <a:pt x="4" y="0"/>
                        <a:pt x="4" y="0"/>
                      </a:cubicBezTo>
                      <a:cubicBezTo>
                        <a:pt x="1" y="0"/>
                        <a:pt x="0" y="2"/>
                        <a:pt x="0" y="4"/>
                      </a:cubicBezTo>
                      <a:close/>
                    </a:path>
                  </a:pathLst>
                </a:custGeom>
                <a:solidFill>
                  <a:srgbClr val="231F20"/>
                </a:solidFill>
                <a:ln>
                  <a:solidFill>
                    <a:srgbClr val="046A38"/>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279" name="Freeform 23">
                <a:extLst>
                  <a:ext uri="{FF2B5EF4-FFF2-40B4-BE49-F238E27FC236}">
                    <a16:creationId xmlns:a16="http://schemas.microsoft.com/office/drawing/2014/main" id="{E04E08C2-7F6A-19AA-83A6-384F2EC3A61B}"/>
                  </a:ext>
                </a:extLst>
              </p:cNvPr>
              <p:cNvSpPr>
                <a:spLocks noChangeAspect="1"/>
              </p:cNvSpPr>
              <p:nvPr/>
            </p:nvSpPr>
            <p:spPr bwMode="auto">
              <a:xfrm>
                <a:off x="4862842" y="2904727"/>
                <a:ext cx="209200" cy="189439"/>
              </a:xfrm>
              <a:custGeom>
                <a:avLst/>
                <a:gdLst>
                  <a:gd name="T0" fmla="*/ 110 w 351"/>
                  <a:gd name="T1" fmla="*/ 192 h 339"/>
                  <a:gd name="T2" fmla="*/ 0 w 351"/>
                  <a:gd name="T3" fmla="*/ 192 h 339"/>
                  <a:gd name="T4" fmla="*/ 0 w 351"/>
                  <a:gd name="T5" fmla="*/ 339 h 339"/>
                  <a:gd name="T6" fmla="*/ 299 w 351"/>
                  <a:gd name="T7" fmla="*/ 339 h 339"/>
                  <a:gd name="T8" fmla="*/ 319 w 351"/>
                  <a:gd name="T9" fmla="*/ 296 h 339"/>
                  <a:gd name="T10" fmla="*/ 339 w 351"/>
                  <a:gd name="T11" fmla="*/ 254 h 339"/>
                  <a:gd name="T12" fmla="*/ 331 w 351"/>
                  <a:gd name="T13" fmla="*/ 242 h 339"/>
                  <a:gd name="T14" fmla="*/ 340 w 351"/>
                  <a:gd name="T15" fmla="*/ 198 h 339"/>
                  <a:gd name="T16" fmla="*/ 329 w 351"/>
                  <a:gd name="T17" fmla="*/ 188 h 339"/>
                  <a:gd name="T18" fmla="*/ 337 w 351"/>
                  <a:gd name="T19" fmla="*/ 178 h 339"/>
                  <a:gd name="T20" fmla="*/ 314 w 351"/>
                  <a:gd name="T21" fmla="*/ 138 h 339"/>
                  <a:gd name="T22" fmla="*/ 224 w 351"/>
                  <a:gd name="T23" fmla="*/ 138 h 339"/>
                  <a:gd name="T24" fmla="*/ 219 w 351"/>
                  <a:gd name="T25" fmla="*/ 112 h 339"/>
                  <a:gd name="T26" fmla="*/ 229 w 351"/>
                  <a:gd name="T27" fmla="*/ 47 h 339"/>
                  <a:gd name="T28" fmla="*/ 205 w 351"/>
                  <a:gd name="T29" fmla="*/ 6 h 339"/>
                  <a:gd name="T30" fmla="*/ 187 w 351"/>
                  <a:gd name="T31" fmla="*/ 3 h 339"/>
                  <a:gd name="T32" fmla="*/ 186 w 351"/>
                  <a:gd name="T33" fmla="*/ 29 h 339"/>
                  <a:gd name="T34" fmla="*/ 176 w 351"/>
                  <a:gd name="T35" fmla="*/ 62 h 339"/>
                  <a:gd name="T36" fmla="*/ 110 w 351"/>
                  <a:gd name="T37" fmla="*/ 19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1" h="339">
                    <a:moveTo>
                      <a:pt x="110" y="192"/>
                    </a:moveTo>
                    <a:cubicBezTo>
                      <a:pt x="0" y="192"/>
                      <a:pt x="0" y="192"/>
                      <a:pt x="0" y="192"/>
                    </a:cubicBezTo>
                    <a:cubicBezTo>
                      <a:pt x="0" y="339"/>
                      <a:pt x="0" y="339"/>
                      <a:pt x="0" y="339"/>
                    </a:cubicBezTo>
                    <a:cubicBezTo>
                      <a:pt x="299" y="339"/>
                      <a:pt x="299" y="339"/>
                      <a:pt x="299" y="339"/>
                    </a:cubicBezTo>
                    <a:cubicBezTo>
                      <a:pt x="309" y="334"/>
                      <a:pt x="333" y="325"/>
                      <a:pt x="319" y="296"/>
                    </a:cubicBezTo>
                    <a:cubicBezTo>
                      <a:pt x="334" y="290"/>
                      <a:pt x="347" y="274"/>
                      <a:pt x="339" y="254"/>
                    </a:cubicBezTo>
                    <a:cubicBezTo>
                      <a:pt x="337" y="250"/>
                      <a:pt x="333" y="247"/>
                      <a:pt x="331" y="242"/>
                    </a:cubicBezTo>
                    <a:cubicBezTo>
                      <a:pt x="344" y="235"/>
                      <a:pt x="351" y="213"/>
                      <a:pt x="340" y="198"/>
                    </a:cubicBezTo>
                    <a:cubicBezTo>
                      <a:pt x="337" y="193"/>
                      <a:pt x="332" y="192"/>
                      <a:pt x="329" y="188"/>
                    </a:cubicBezTo>
                    <a:cubicBezTo>
                      <a:pt x="333" y="184"/>
                      <a:pt x="335" y="182"/>
                      <a:pt x="337" y="178"/>
                    </a:cubicBezTo>
                    <a:cubicBezTo>
                      <a:pt x="347" y="157"/>
                      <a:pt x="333" y="140"/>
                      <a:pt x="314" y="138"/>
                    </a:cubicBezTo>
                    <a:cubicBezTo>
                      <a:pt x="224" y="138"/>
                      <a:pt x="224" y="138"/>
                      <a:pt x="224" y="138"/>
                    </a:cubicBezTo>
                    <a:cubicBezTo>
                      <a:pt x="222" y="135"/>
                      <a:pt x="220" y="120"/>
                      <a:pt x="219" y="112"/>
                    </a:cubicBezTo>
                    <a:cubicBezTo>
                      <a:pt x="217" y="81"/>
                      <a:pt x="230" y="82"/>
                      <a:pt x="229" y="47"/>
                    </a:cubicBezTo>
                    <a:cubicBezTo>
                      <a:pt x="228" y="25"/>
                      <a:pt x="218" y="12"/>
                      <a:pt x="205" y="6"/>
                    </a:cubicBezTo>
                    <a:cubicBezTo>
                      <a:pt x="202" y="4"/>
                      <a:pt x="194" y="0"/>
                      <a:pt x="187" y="3"/>
                    </a:cubicBezTo>
                    <a:cubicBezTo>
                      <a:pt x="176" y="8"/>
                      <a:pt x="184" y="20"/>
                      <a:pt x="186" y="29"/>
                    </a:cubicBezTo>
                    <a:cubicBezTo>
                      <a:pt x="189" y="41"/>
                      <a:pt x="180" y="52"/>
                      <a:pt x="176" y="62"/>
                    </a:cubicBezTo>
                    <a:lnTo>
                      <a:pt x="110" y="192"/>
                    </a:lnTo>
                    <a:close/>
                  </a:path>
                </a:pathLst>
              </a:custGeom>
              <a:solidFill>
                <a:sysClr val="window" lastClr="FFFFFF"/>
              </a:solidFill>
              <a:ln w="12700">
                <a:solidFill>
                  <a:srgbClr val="046A38"/>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grpSp>
      <p:sp>
        <p:nvSpPr>
          <p:cNvPr id="285" name="TextBox 284">
            <a:extLst>
              <a:ext uri="{FF2B5EF4-FFF2-40B4-BE49-F238E27FC236}">
                <a16:creationId xmlns:a16="http://schemas.microsoft.com/office/drawing/2014/main" id="{3CF5CC5E-3B65-DDCB-B69E-F86352F958C5}"/>
              </a:ext>
            </a:extLst>
          </p:cNvPr>
          <p:cNvSpPr txBox="1"/>
          <p:nvPr/>
        </p:nvSpPr>
        <p:spPr>
          <a:xfrm>
            <a:off x="7082675" y="1772641"/>
            <a:ext cx="2240765" cy="400110"/>
          </a:xfrm>
          <a:prstGeom prst="rect">
            <a:avLst/>
          </a:prstGeom>
          <a:noFill/>
        </p:spPr>
        <p:txBody>
          <a:bodyPr wrap="square">
            <a:spAutoFit/>
          </a:bodyPr>
          <a:lstStyle>
            <a:defPPr>
              <a:defRPr lang="en-US"/>
            </a:defPPr>
            <a:lvl1pPr algn="ctr">
              <a:buSzPct val="100000"/>
              <a:defRPr sz="700" kern="0">
                <a:solidFill>
                  <a:srgbClr val="313131"/>
                </a:solidFill>
                <a:latin typeface="Calibri"/>
              </a:defRPr>
            </a:lvl1pPr>
          </a:lstStyle>
          <a:p>
            <a:pPr>
              <a:defRPr/>
            </a:pPr>
            <a:r>
              <a:rPr lang="en-US" sz="1000">
                <a:latin typeface="Verdana" panose="020B0604030504040204" pitchFamily="34" charset="0"/>
                <a:ea typeface="Verdana" panose="020B0604030504040204" pitchFamily="34" charset="0"/>
              </a:rPr>
              <a:t>Identify the tasks required within each future work order</a:t>
            </a:r>
            <a:endParaRPr kumimoji="0" lang="en-IN"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endParaRPr>
          </a:p>
        </p:txBody>
      </p:sp>
      <p:sp>
        <p:nvSpPr>
          <p:cNvPr id="287" name="Oval 286">
            <a:extLst>
              <a:ext uri="{FF2B5EF4-FFF2-40B4-BE49-F238E27FC236}">
                <a16:creationId xmlns:a16="http://schemas.microsoft.com/office/drawing/2014/main" id="{3312E23D-D888-B55D-9027-9821952CA5B8}"/>
              </a:ext>
            </a:extLst>
          </p:cNvPr>
          <p:cNvSpPr>
            <a:spLocks noChangeAspect="1"/>
          </p:cNvSpPr>
          <p:nvPr/>
        </p:nvSpPr>
        <p:spPr>
          <a:xfrm>
            <a:off x="9864485" y="2411077"/>
            <a:ext cx="432065" cy="422767"/>
          </a:xfrm>
          <a:prstGeom prst="ellipse">
            <a:avLst/>
          </a:prstGeom>
          <a:solidFill>
            <a:sysClr val="window" lastClr="FFFFFF"/>
          </a:solidFill>
          <a:ln w="38100" cap="flat" cmpd="sng" algn="ctr">
            <a:solidFill>
              <a:srgbClr val="C4D600"/>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288" name="Graphic 4">
            <a:extLst>
              <a:ext uri="{FF2B5EF4-FFF2-40B4-BE49-F238E27FC236}">
                <a16:creationId xmlns:a16="http://schemas.microsoft.com/office/drawing/2014/main" id="{D66213E5-681D-D98C-25D9-6D04AFBE92B7}"/>
              </a:ext>
            </a:extLst>
          </p:cNvPr>
          <p:cNvGrpSpPr/>
          <p:nvPr/>
        </p:nvGrpSpPr>
        <p:grpSpPr>
          <a:xfrm>
            <a:off x="9980491" y="2523759"/>
            <a:ext cx="214063" cy="159599"/>
            <a:chOff x="8915239" y="4894761"/>
            <a:chExt cx="214063" cy="159599"/>
          </a:xfrm>
          <a:solidFill>
            <a:schemeClr val="tx1"/>
          </a:solidFill>
        </p:grpSpPr>
        <p:sp>
          <p:nvSpPr>
            <p:cNvPr id="289" name="Graphic 4">
              <a:extLst>
                <a:ext uri="{FF2B5EF4-FFF2-40B4-BE49-F238E27FC236}">
                  <a16:creationId xmlns:a16="http://schemas.microsoft.com/office/drawing/2014/main" id="{E23ED18D-65F5-7885-3482-5EDD9DC3374A}"/>
                </a:ext>
              </a:extLst>
            </p:cNvPr>
            <p:cNvSpPr/>
            <p:nvPr/>
          </p:nvSpPr>
          <p:spPr>
            <a:xfrm>
              <a:off x="9009172" y="4894761"/>
              <a:ext cx="120130" cy="158323"/>
            </a:xfrm>
            <a:custGeom>
              <a:avLst/>
              <a:gdLst>
                <a:gd name="connsiteX0" fmla="*/ 113740 w 120130"/>
                <a:gd name="connsiteY0" fmla="*/ 0 h 158323"/>
                <a:gd name="connsiteX1" fmla="*/ 6390 w 120130"/>
                <a:gd name="connsiteY1" fmla="*/ 0 h 158323"/>
                <a:gd name="connsiteX2" fmla="*/ 0 w 120130"/>
                <a:gd name="connsiteY2" fmla="*/ 6384 h 158323"/>
                <a:gd name="connsiteX3" fmla="*/ 0 w 120130"/>
                <a:gd name="connsiteY3" fmla="*/ 64478 h 158323"/>
                <a:gd name="connsiteX4" fmla="*/ 6390 w 120130"/>
                <a:gd name="connsiteY4" fmla="*/ 70862 h 158323"/>
                <a:gd name="connsiteX5" fmla="*/ 12780 w 120130"/>
                <a:gd name="connsiteY5" fmla="*/ 64478 h 158323"/>
                <a:gd name="connsiteX6" fmla="*/ 12780 w 120130"/>
                <a:gd name="connsiteY6" fmla="*/ 12768 h 158323"/>
                <a:gd name="connsiteX7" fmla="*/ 107350 w 120130"/>
                <a:gd name="connsiteY7" fmla="*/ 12768 h 158323"/>
                <a:gd name="connsiteX8" fmla="*/ 107350 w 120130"/>
                <a:gd name="connsiteY8" fmla="*/ 145555 h 158323"/>
                <a:gd name="connsiteX9" fmla="*/ 12780 w 120130"/>
                <a:gd name="connsiteY9" fmla="*/ 145555 h 158323"/>
                <a:gd name="connsiteX10" fmla="*/ 12780 w 120130"/>
                <a:gd name="connsiteY10" fmla="*/ 137256 h 158323"/>
                <a:gd name="connsiteX11" fmla="*/ 6390 w 120130"/>
                <a:gd name="connsiteY11" fmla="*/ 130872 h 158323"/>
                <a:gd name="connsiteX12" fmla="*/ 0 w 120130"/>
                <a:gd name="connsiteY12" fmla="*/ 137256 h 158323"/>
                <a:gd name="connsiteX13" fmla="*/ 0 w 120130"/>
                <a:gd name="connsiteY13" fmla="*/ 151939 h 158323"/>
                <a:gd name="connsiteX14" fmla="*/ 6390 w 120130"/>
                <a:gd name="connsiteY14" fmla="*/ 158323 h 158323"/>
                <a:gd name="connsiteX15" fmla="*/ 113740 w 120130"/>
                <a:gd name="connsiteY15" fmla="*/ 158323 h 158323"/>
                <a:gd name="connsiteX16" fmla="*/ 120130 w 120130"/>
                <a:gd name="connsiteY16" fmla="*/ 151939 h 158323"/>
                <a:gd name="connsiteX17" fmla="*/ 120130 w 120130"/>
                <a:gd name="connsiteY17" fmla="*/ 6384 h 158323"/>
                <a:gd name="connsiteX18" fmla="*/ 113740 w 120130"/>
                <a:gd name="connsiteY18" fmla="*/ 0 h 158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0130" h="158323">
                  <a:moveTo>
                    <a:pt x="113740" y="0"/>
                  </a:moveTo>
                  <a:lnTo>
                    <a:pt x="6390" y="0"/>
                  </a:lnTo>
                  <a:cubicBezTo>
                    <a:pt x="2556" y="0"/>
                    <a:pt x="0" y="2554"/>
                    <a:pt x="0" y="6384"/>
                  </a:cubicBezTo>
                  <a:lnTo>
                    <a:pt x="0" y="64478"/>
                  </a:lnTo>
                  <a:cubicBezTo>
                    <a:pt x="0" y="68309"/>
                    <a:pt x="2556" y="70862"/>
                    <a:pt x="6390" y="70862"/>
                  </a:cubicBezTo>
                  <a:cubicBezTo>
                    <a:pt x="10224" y="70862"/>
                    <a:pt x="12780" y="68309"/>
                    <a:pt x="12780" y="64478"/>
                  </a:cubicBezTo>
                  <a:lnTo>
                    <a:pt x="12780" y="12768"/>
                  </a:lnTo>
                  <a:lnTo>
                    <a:pt x="107350" y="12768"/>
                  </a:lnTo>
                  <a:lnTo>
                    <a:pt x="107350" y="145555"/>
                  </a:lnTo>
                  <a:lnTo>
                    <a:pt x="12780" y="145555"/>
                  </a:lnTo>
                  <a:lnTo>
                    <a:pt x="12780" y="137256"/>
                  </a:lnTo>
                  <a:cubicBezTo>
                    <a:pt x="12780" y="133425"/>
                    <a:pt x="10224" y="130872"/>
                    <a:pt x="6390" y="130872"/>
                  </a:cubicBezTo>
                  <a:cubicBezTo>
                    <a:pt x="2556" y="130872"/>
                    <a:pt x="0" y="133425"/>
                    <a:pt x="0" y="137256"/>
                  </a:cubicBezTo>
                  <a:lnTo>
                    <a:pt x="0" y="151939"/>
                  </a:lnTo>
                  <a:cubicBezTo>
                    <a:pt x="0" y="155769"/>
                    <a:pt x="2556" y="158323"/>
                    <a:pt x="6390" y="158323"/>
                  </a:cubicBezTo>
                  <a:lnTo>
                    <a:pt x="113740" y="158323"/>
                  </a:lnTo>
                  <a:cubicBezTo>
                    <a:pt x="117575" y="158323"/>
                    <a:pt x="120130" y="155769"/>
                    <a:pt x="120130" y="151939"/>
                  </a:cubicBezTo>
                  <a:lnTo>
                    <a:pt x="120130" y="6384"/>
                  </a:lnTo>
                  <a:cubicBezTo>
                    <a:pt x="120130" y="3192"/>
                    <a:pt x="116935" y="0"/>
                    <a:pt x="113740" y="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90" name="Graphic 4">
              <a:extLst>
                <a:ext uri="{FF2B5EF4-FFF2-40B4-BE49-F238E27FC236}">
                  <a16:creationId xmlns:a16="http://schemas.microsoft.com/office/drawing/2014/main" id="{F0C2ACD3-28F8-3A64-F784-8A277527DF4A}"/>
                </a:ext>
              </a:extLst>
            </p:cNvPr>
            <p:cNvSpPr/>
            <p:nvPr/>
          </p:nvSpPr>
          <p:spPr>
            <a:xfrm>
              <a:off x="8927380" y="4901145"/>
              <a:ext cx="51119" cy="51071"/>
            </a:xfrm>
            <a:custGeom>
              <a:avLst/>
              <a:gdLst>
                <a:gd name="connsiteX0" fmla="*/ 25560 w 51119"/>
                <a:gd name="connsiteY0" fmla="*/ 51072 h 51071"/>
                <a:gd name="connsiteX1" fmla="*/ 51119 w 51119"/>
                <a:gd name="connsiteY1" fmla="*/ 25536 h 51071"/>
                <a:gd name="connsiteX2" fmla="*/ 25560 w 51119"/>
                <a:gd name="connsiteY2" fmla="*/ 0 h 51071"/>
                <a:gd name="connsiteX3" fmla="*/ 0 w 51119"/>
                <a:gd name="connsiteY3" fmla="*/ 25536 h 51071"/>
                <a:gd name="connsiteX4" fmla="*/ 25560 w 51119"/>
                <a:gd name="connsiteY4" fmla="*/ 51072 h 51071"/>
                <a:gd name="connsiteX5" fmla="*/ 25560 w 51119"/>
                <a:gd name="connsiteY5" fmla="*/ 12768 h 51071"/>
                <a:gd name="connsiteX6" fmla="*/ 38340 w 51119"/>
                <a:gd name="connsiteY6" fmla="*/ 25536 h 51071"/>
                <a:gd name="connsiteX7" fmla="*/ 25560 w 51119"/>
                <a:gd name="connsiteY7" fmla="*/ 38304 h 51071"/>
                <a:gd name="connsiteX8" fmla="*/ 12780 w 51119"/>
                <a:gd name="connsiteY8" fmla="*/ 25536 h 51071"/>
                <a:gd name="connsiteX9" fmla="*/ 25560 w 51119"/>
                <a:gd name="connsiteY9" fmla="*/ 12768 h 51071"/>
                <a:gd name="connsiteX10" fmla="*/ 25560 w 51119"/>
                <a:gd name="connsiteY10" fmla="*/ 12768 h 51071"/>
                <a:gd name="connsiteX11" fmla="*/ 25560 w 51119"/>
                <a:gd name="connsiteY11" fmla="*/ 12768 h 51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119" h="51071">
                  <a:moveTo>
                    <a:pt x="25560" y="51072"/>
                  </a:moveTo>
                  <a:cubicBezTo>
                    <a:pt x="39618" y="51072"/>
                    <a:pt x="51119" y="39581"/>
                    <a:pt x="51119" y="25536"/>
                  </a:cubicBezTo>
                  <a:cubicBezTo>
                    <a:pt x="51119" y="11491"/>
                    <a:pt x="39618" y="0"/>
                    <a:pt x="25560" y="0"/>
                  </a:cubicBezTo>
                  <a:cubicBezTo>
                    <a:pt x="11502" y="0"/>
                    <a:pt x="0" y="11491"/>
                    <a:pt x="0" y="25536"/>
                  </a:cubicBezTo>
                  <a:cubicBezTo>
                    <a:pt x="0" y="39581"/>
                    <a:pt x="11502" y="51072"/>
                    <a:pt x="25560" y="51072"/>
                  </a:cubicBezTo>
                  <a:close/>
                  <a:moveTo>
                    <a:pt x="25560" y="12768"/>
                  </a:moveTo>
                  <a:cubicBezTo>
                    <a:pt x="32589" y="12768"/>
                    <a:pt x="38340" y="18514"/>
                    <a:pt x="38340" y="25536"/>
                  </a:cubicBezTo>
                  <a:cubicBezTo>
                    <a:pt x="38340" y="32559"/>
                    <a:pt x="32589" y="38304"/>
                    <a:pt x="25560" y="38304"/>
                  </a:cubicBezTo>
                  <a:cubicBezTo>
                    <a:pt x="18531" y="38304"/>
                    <a:pt x="12780" y="32559"/>
                    <a:pt x="12780" y="25536"/>
                  </a:cubicBezTo>
                  <a:cubicBezTo>
                    <a:pt x="12780" y="18514"/>
                    <a:pt x="18531" y="12768"/>
                    <a:pt x="25560" y="12768"/>
                  </a:cubicBezTo>
                  <a:cubicBezTo>
                    <a:pt x="25560" y="12768"/>
                    <a:pt x="25560" y="12768"/>
                    <a:pt x="25560" y="12768"/>
                  </a:cubicBezTo>
                  <a:lnTo>
                    <a:pt x="25560" y="1276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sp>
          <p:nvSpPr>
            <p:cNvPr id="291" name="Graphic 4">
              <a:extLst>
                <a:ext uri="{FF2B5EF4-FFF2-40B4-BE49-F238E27FC236}">
                  <a16:creationId xmlns:a16="http://schemas.microsoft.com/office/drawing/2014/main" id="{D1916F61-5956-D588-B04A-C0851652B6C9}"/>
                </a:ext>
              </a:extLst>
            </p:cNvPr>
            <p:cNvSpPr/>
            <p:nvPr/>
          </p:nvSpPr>
          <p:spPr>
            <a:xfrm>
              <a:off x="8915239" y="4966953"/>
              <a:ext cx="141218" cy="87407"/>
            </a:xfrm>
            <a:custGeom>
              <a:avLst/>
              <a:gdLst>
                <a:gd name="connsiteX0" fmla="*/ 106712 w 141218"/>
                <a:gd name="connsiteY0" fmla="*/ 49104 h 87407"/>
                <a:gd name="connsiteX1" fmla="*/ 111185 w 141218"/>
                <a:gd name="connsiteY1" fmla="*/ 47189 h 87407"/>
                <a:gd name="connsiteX2" fmla="*/ 139301 w 141218"/>
                <a:gd name="connsiteY2" fmla="*/ 17823 h 87407"/>
                <a:gd name="connsiteX3" fmla="*/ 139301 w 141218"/>
                <a:gd name="connsiteY3" fmla="*/ 8885 h 87407"/>
                <a:gd name="connsiteX4" fmla="*/ 130355 w 141218"/>
                <a:gd name="connsiteY4" fmla="*/ 8885 h 87407"/>
                <a:gd name="connsiteX5" fmla="*/ 106074 w 141218"/>
                <a:gd name="connsiteY5" fmla="*/ 34421 h 87407"/>
                <a:gd name="connsiteX6" fmla="*/ 74763 w 141218"/>
                <a:gd name="connsiteY6" fmla="*/ 10800 h 87407"/>
                <a:gd name="connsiteX7" fmla="*/ 74763 w 141218"/>
                <a:gd name="connsiteY7" fmla="*/ 10800 h 87407"/>
                <a:gd name="connsiteX8" fmla="*/ 74763 w 141218"/>
                <a:gd name="connsiteY8" fmla="*/ 10800 h 87407"/>
                <a:gd name="connsiteX9" fmla="*/ 3195 w 141218"/>
                <a:gd name="connsiteY9" fmla="*/ 8247 h 87407"/>
                <a:gd name="connsiteX10" fmla="*/ 0 w 141218"/>
                <a:gd name="connsiteY10" fmla="*/ 13992 h 87407"/>
                <a:gd name="connsiteX11" fmla="*/ 0 w 141218"/>
                <a:gd name="connsiteY11" fmla="*/ 80385 h 87407"/>
                <a:gd name="connsiteX12" fmla="*/ 6390 w 141218"/>
                <a:gd name="connsiteY12" fmla="*/ 86769 h 87407"/>
                <a:gd name="connsiteX13" fmla="*/ 12780 w 141218"/>
                <a:gd name="connsiteY13" fmla="*/ 80385 h 87407"/>
                <a:gd name="connsiteX14" fmla="*/ 12780 w 141218"/>
                <a:gd name="connsiteY14" fmla="*/ 18461 h 87407"/>
                <a:gd name="connsiteX15" fmla="*/ 65178 w 141218"/>
                <a:gd name="connsiteY15" fmla="*/ 20376 h 87407"/>
                <a:gd name="connsiteX16" fmla="*/ 65178 w 141218"/>
                <a:gd name="connsiteY16" fmla="*/ 81024 h 87407"/>
                <a:gd name="connsiteX17" fmla="*/ 71568 w 141218"/>
                <a:gd name="connsiteY17" fmla="*/ 87408 h 87407"/>
                <a:gd name="connsiteX18" fmla="*/ 77958 w 141218"/>
                <a:gd name="connsiteY18" fmla="*/ 81024 h 87407"/>
                <a:gd name="connsiteX19" fmla="*/ 77958 w 141218"/>
                <a:gd name="connsiteY19" fmla="*/ 29952 h 87407"/>
                <a:gd name="connsiteX20" fmla="*/ 103517 w 141218"/>
                <a:gd name="connsiteY20" fmla="*/ 49104 h 87407"/>
                <a:gd name="connsiteX21" fmla="*/ 106712 w 141218"/>
                <a:gd name="connsiteY21" fmla="*/ 49104 h 8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1218" h="87407">
                  <a:moveTo>
                    <a:pt x="106712" y="49104"/>
                  </a:moveTo>
                  <a:cubicBezTo>
                    <a:pt x="108629" y="49104"/>
                    <a:pt x="109907" y="48466"/>
                    <a:pt x="111185" y="47189"/>
                  </a:cubicBezTo>
                  <a:lnTo>
                    <a:pt x="139301" y="17823"/>
                  </a:lnTo>
                  <a:cubicBezTo>
                    <a:pt x="141857" y="15269"/>
                    <a:pt x="141857" y="11439"/>
                    <a:pt x="139301" y="8885"/>
                  </a:cubicBezTo>
                  <a:cubicBezTo>
                    <a:pt x="136745" y="6331"/>
                    <a:pt x="132911" y="6331"/>
                    <a:pt x="130355" y="8885"/>
                  </a:cubicBezTo>
                  <a:lnTo>
                    <a:pt x="106074" y="34421"/>
                  </a:lnTo>
                  <a:lnTo>
                    <a:pt x="74763" y="10800"/>
                  </a:lnTo>
                  <a:lnTo>
                    <a:pt x="74763" y="10800"/>
                  </a:lnTo>
                  <a:lnTo>
                    <a:pt x="74763" y="10800"/>
                  </a:lnTo>
                  <a:cubicBezTo>
                    <a:pt x="41535" y="-11544"/>
                    <a:pt x="5112" y="7608"/>
                    <a:pt x="3195" y="8247"/>
                  </a:cubicBezTo>
                  <a:cubicBezTo>
                    <a:pt x="1278" y="9523"/>
                    <a:pt x="0" y="11439"/>
                    <a:pt x="0" y="13992"/>
                  </a:cubicBezTo>
                  <a:lnTo>
                    <a:pt x="0" y="80385"/>
                  </a:lnTo>
                  <a:cubicBezTo>
                    <a:pt x="0" y="84216"/>
                    <a:pt x="2556" y="86769"/>
                    <a:pt x="6390" y="86769"/>
                  </a:cubicBezTo>
                  <a:cubicBezTo>
                    <a:pt x="10225" y="86769"/>
                    <a:pt x="12780" y="84216"/>
                    <a:pt x="12780" y="80385"/>
                  </a:cubicBezTo>
                  <a:lnTo>
                    <a:pt x="12780" y="18461"/>
                  </a:lnTo>
                  <a:cubicBezTo>
                    <a:pt x="21087" y="15269"/>
                    <a:pt x="44091" y="7608"/>
                    <a:pt x="65178" y="20376"/>
                  </a:cubicBezTo>
                  <a:lnTo>
                    <a:pt x="65178" y="81024"/>
                  </a:lnTo>
                  <a:cubicBezTo>
                    <a:pt x="65178" y="84854"/>
                    <a:pt x="67734" y="87408"/>
                    <a:pt x="71568" y="87408"/>
                  </a:cubicBezTo>
                  <a:cubicBezTo>
                    <a:pt x="75402" y="87408"/>
                    <a:pt x="77958" y="84854"/>
                    <a:pt x="77958" y="81024"/>
                  </a:cubicBezTo>
                  <a:lnTo>
                    <a:pt x="77958" y="29952"/>
                  </a:lnTo>
                  <a:lnTo>
                    <a:pt x="103517" y="49104"/>
                  </a:lnTo>
                  <a:cubicBezTo>
                    <a:pt x="104156" y="48466"/>
                    <a:pt x="105434" y="49104"/>
                    <a:pt x="106712" y="4910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endParaRPr>
            </a:p>
          </p:txBody>
        </p:sp>
      </p:grpSp>
      <p:cxnSp>
        <p:nvCxnSpPr>
          <p:cNvPr id="302" name="Straight Connector 301">
            <a:extLst>
              <a:ext uri="{FF2B5EF4-FFF2-40B4-BE49-F238E27FC236}">
                <a16:creationId xmlns:a16="http://schemas.microsoft.com/office/drawing/2014/main" id="{5846A790-7ECD-BCE7-CD87-8673987300FD}"/>
              </a:ext>
            </a:extLst>
          </p:cNvPr>
          <p:cNvCxnSpPr>
            <a:cxnSpLocks/>
          </p:cNvCxnSpPr>
          <p:nvPr/>
        </p:nvCxnSpPr>
        <p:spPr>
          <a:xfrm>
            <a:off x="1196181" y="4934211"/>
            <a:ext cx="1008109" cy="1765"/>
          </a:xfrm>
          <a:prstGeom prst="line">
            <a:avLst/>
          </a:prstGeom>
          <a:noFill/>
          <a:ln w="101600" cap="flat" cmpd="sng" algn="ctr">
            <a:solidFill>
              <a:sysClr val="window" lastClr="FFFFFF">
                <a:lumMod val="85000"/>
              </a:sysClr>
            </a:solidFill>
            <a:prstDash val="solid"/>
          </a:ln>
          <a:effectLst/>
        </p:spPr>
      </p:cxnSp>
      <p:sp>
        <p:nvSpPr>
          <p:cNvPr id="303" name="Arc 302">
            <a:extLst>
              <a:ext uri="{FF2B5EF4-FFF2-40B4-BE49-F238E27FC236}">
                <a16:creationId xmlns:a16="http://schemas.microsoft.com/office/drawing/2014/main" id="{7E79273C-15AC-E065-AA69-8DB7470AA54F}"/>
              </a:ext>
            </a:extLst>
          </p:cNvPr>
          <p:cNvSpPr/>
          <p:nvPr/>
        </p:nvSpPr>
        <p:spPr>
          <a:xfrm rot="5400000">
            <a:off x="2018378" y="4556888"/>
            <a:ext cx="371824" cy="380002"/>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304" name="Straight Connector 303">
            <a:extLst>
              <a:ext uri="{FF2B5EF4-FFF2-40B4-BE49-F238E27FC236}">
                <a16:creationId xmlns:a16="http://schemas.microsoft.com/office/drawing/2014/main" id="{233B2E3E-6331-CB75-5542-D92010040449}"/>
              </a:ext>
            </a:extLst>
          </p:cNvPr>
          <p:cNvCxnSpPr>
            <a:cxnSpLocks/>
          </p:cNvCxnSpPr>
          <p:nvPr/>
        </p:nvCxnSpPr>
        <p:spPr>
          <a:xfrm>
            <a:off x="2381617" y="2770836"/>
            <a:ext cx="11677" cy="2007273"/>
          </a:xfrm>
          <a:prstGeom prst="line">
            <a:avLst/>
          </a:prstGeom>
          <a:noFill/>
          <a:ln w="101600" cap="flat" cmpd="sng" algn="ctr">
            <a:solidFill>
              <a:sysClr val="window" lastClr="FFFFFF">
                <a:lumMod val="85000"/>
              </a:sysClr>
            </a:solidFill>
            <a:prstDash val="solid"/>
          </a:ln>
          <a:effectLst/>
        </p:spPr>
      </p:cxnSp>
      <p:sp>
        <p:nvSpPr>
          <p:cNvPr id="305" name="Arc 304">
            <a:extLst>
              <a:ext uri="{FF2B5EF4-FFF2-40B4-BE49-F238E27FC236}">
                <a16:creationId xmlns:a16="http://schemas.microsoft.com/office/drawing/2014/main" id="{7CFB3F05-9A92-FEA3-C978-57023A5B3B3B}"/>
              </a:ext>
            </a:extLst>
          </p:cNvPr>
          <p:cNvSpPr/>
          <p:nvPr/>
        </p:nvSpPr>
        <p:spPr>
          <a:xfrm rot="10800000">
            <a:off x="1060762" y="4567048"/>
            <a:ext cx="380002"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306" name="Group 305">
            <a:extLst>
              <a:ext uri="{FF2B5EF4-FFF2-40B4-BE49-F238E27FC236}">
                <a16:creationId xmlns:a16="http://schemas.microsoft.com/office/drawing/2014/main" id="{B3E0A553-6935-D567-3C4E-9AE8FDE0F628}"/>
              </a:ext>
            </a:extLst>
          </p:cNvPr>
          <p:cNvGrpSpPr/>
          <p:nvPr/>
        </p:nvGrpSpPr>
        <p:grpSpPr>
          <a:xfrm>
            <a:off x="2344669" y="4167580"/>
            <a:ext cx="87999" cy="95618"/>
            <a:chOff x="7331909" y="3522364"/>
            <a:chExt cx="99974" cy="108628"/>
          </a:xfrm>
        </p:grpSpPr>
        <p:sp>
          <p:nvSpPr>
            <p:cNvPr id="307" name="Chevron 479">
              <a:extLst>
                <a:ext uri="{FF2B5EF4-FFF2-40B4-BE49-F238E27FC236}">
                  <a16:creationId xmlns:a16="http://schemas.microsoft.com/office/drawing/2014/main" id="{46124F5A-4838-3D68-D220-6284BB3D1430}"/>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08" name="Chevron 480">
              <a:extLst>
                <a:ext uri="{FF2B5EF4-FFF2-40B4-BE49-F238E27FC236}">
                  <a16:creationId xmlns:a16="http://schemas.microsoft.com/office/drawing/2014/main" id="{DC16FCC2-25AE-0330-55FD-F509F0ED82AB}"/>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310" name="Oval 309">
            <a:extLst>
              <a:ext uri="{FF2B5EF4-FFF2-40B4-BE49-F238E27FC236}">
                <a16:creationId xmlns:a16="http://schemas.microsoft.com/office/drawing/2014/main" id="{A9AEE9ED-CD51-2010-4D4D-DBB742583AE5}"/>
              </a:ext>
            </a:extLst>
          </p:cNvPr>
          <p:cNvSpPr>
            <a:spLocks noChangeAspect="1"/>
          </p:cNvSpPr>
          <p:nvPr/>
        </p:nvSpPr>
        <p:spPr>
          <a:xfrm>
            <a:off x="835817" y="2933255"/>
            <a:ext cx="436111" cy="426726"/>
          </a:xfrm>
          <a:prstGeom prst="ellipse">
            <a:avLst/>
          </a:prstGeom>
          <a:solidFill>
            <a:sysClr val="window" lastClr="FFFFFF"/>
          </a:solidFill>
          <a:ln w="38100" cap="flat" cmpd="sng" algn="ctr">
            <a:solidFill>
              <a:srgbClr val="62B5E5"/>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19" name="TextBox 318">
            <a:extLst>
              <a:ext uri="{FF2B5EF4-FFF2-40B4-BE49-F238E27FC236}">
                <a16:creationId xmlns:a16="http://schemas.microsoft.com/office/drawing/2014/main" id="{4C05EA62-711A-A70F-7617-C4D9275CDB79}"/>
              </a:ext>
            </a:extLst>
          </p:cNvPr>
          <p:cNvSpPr txBox="1"/>
          <p:nvPr/>
        </p:nvSpPr>
        <p:spPr>
          <a:xfrm>
            <a:off x="1312592" y="3119250"/>
            <a:ext cx="1037358" cy="69249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rPr>
              <a:t>Correct the Functional Location on which the job was performed</a:t>
            </a:r>
          </a:p>
        </p:txBody>
      </p:sp>
      <p:grpSp>
        <p:nvGrpSpPr>
          <p:cNvPr id="320" name="Group 319">
            <a:extLst>
              <a:ext uri="{FF2B5EF4-FFF2-40B4-BE49-F238E27FC236}">
                <a16:creationId xmlns:a16="http://schemas.microsoft.com/office/drawing/2014/main" id="{06BAC741-7F99-2B75-D5B7-39907F60AF24}"/>
              </a:ext>
            </a:extLst>
          </p:cNvPr>
          <p:cNvGrpSpPr/>
          <p:nvPr/>
        </p:nvGrpSpPr>
        <p:grpSpPr>
          <a:xfrm>
            <a:off x="900243" y="3004565"/>
            <a:ext cx="300577" cy="284105"/>
            <a:chOff x="7560858" y="5425931"/>
            <a:chExt cx="365760" cy="365760"/>
          </a:xfrm>
        </p:grpSpPr>
        <p:sp>
          <p:nvSpPr>
            <p:cNvPr id="323" name="Oval 322">
              <a:extLst>
                <a:ext uri="{FF2B5EF4-FFF2-40B4-BE49-F238E27FC236}">
                  <a16:creationId xmlns:a16="http://schemas.microsoft.com/office/drawing/2014/main" id="{537F369A-2D2F-E4D0-92F1-01EB8147983D}"/>
                </a:ext>
              </a:extLst>
            </p:cNvPr>
            <p:cNvSpPr/>
            <p:nvPr/>
          </p:nvSpPr>
          <p:spPr>
            <a:xfrm>
              <a:off x="7560858" y="5425931"/>
              <a:ext cx="365760" cy="365760"/>
            </a:xfrm>
            <a:prstGeom prst="ellipse">
              <a:avLst/>
            </a:prstGeom>
            <a:solidFill>
              <a:srgbClr val="86BC25"/>
            </a:solidFill>
            <a:ln w="19050">
              <a:solidFill>
                <a:srgbClr val="D0D0CE"/>
              </a:solidFill>
            </a:ln>
            <a:effectLst/>
          </p:spPr>
          <p:txBody>
            <a:bodyPr wrap="square" lIns="0" tIns="0" rIns="0" bIns="0" rtlCol="0" anchor="ctr">
              <a:noAutofit/>
            </a:bodyPr>
            <a:lstStyle/>
            <a:p>
              <a:pPr marL="0" marR="0" lvl="0" indent="0" algn="ctr" defTabSz="914400" rtl="0" eaLnBrk="1" fontAlgn="base" latinLnBrk="0" hangingPunct="1">
                <a:lnSpc>
                  <a:spcPct val="90000"/>
                </a:lnSpc>
                <a:spcBef>
                  <a:spcPts val="600"/>
                </a:spcBef>
                <a:spcAft>
                  <a:spcPts val="0"/>
                </a:spcAft>
                <a:buClrTx/>
                <a:buSzTx/>
                <a:buFontTx/>
                <a:buNone/>
                <a:tabLst/>
                <a:defRPr/>
              </a:pPr>
              <a:endParaRPr kumimoji="0" lang="en-US" sz="900" b="0" i="0" u="none" strike="noStrike" kern="0" cap="none" spc="0" normalizeH="0" baseline="0" noProof="0">
                <a:ln>
                  <a:noFill/>
                </a:ln>
                <a:solidFill>
                  <a:srgbClr val="444444">
                    <a:lumMod val="40000"/>
                    <a:lumOff val="60000"/>
                  </a:srgbClr>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pic>
          <p:nvPicPr>
            <p:cNvPr id="324" name="Graphic 323" descr="Artificial Intelligence with solid fill">
              <a:extLst>
                <a:ext uri="{FF2B5EF4-FFF2-40B4-BE49-F238E27FC236}">
                  <a16:creationId xmlns:a16="http://schemas.microsoft.com/office/drawing/2014/main" id="{A885F957-1D95-6B1C-A41F-7C920CB23C8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08996" y="5469068"/>
              <a:ext cx="274320" cy="274319"/>
            </a:xfrm>
            <a:prstGeom prst="rect">
              <a:avLst/>
            </a:prstGeom>
          </p:spPr>
        </p:pic>
      </p:grpSp>
      <p:sp>
        <p:nvSpPr>
          <p:cNvPr id="325" name="Rectangle 324">
            <a:extLst>
              <a:ext uri="{FF2B5EF4-FFF2-40B4-BE49-F238E27FC236}">
                <a16:creationId xmlns:a16="http://schemas.microsoft.com/office/drawing/2014/main" id="{88C784A9-7BDE-53AF-FE45-4B65B33AFF71}"/>
              </a:ext>
            </a:extLst>
          </p:cNvPr>
          <p:cNvSpPr/>
          <p:nvPr/>
        </p:nvSpPr>
        <p:spPr>
          <a:xfrm>
            <a:off x="1326983" y="2824873"/>
            <a:ext cx="1076206"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lang="en-US" sz="900" b="1" kern="0">
                <a:solidFill>
                  <a:srgbClr val="7030A0"/>
                </a:solidFill>
                <a:latin typeface="Verdana" panose="020B0604030504040204" pitchFamily="34" charset="0"/>
                <a:ea typeface="Verdana" panose="020B0604030504040204" pitchFamily="34" charset="0"/>
              </a:rPr>
              <a:t>FLOC analysis</a:t>
            </a:r>
            <a:endPar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endParaRPr>
          </a:p>
        </p:txBody>
      </p:sp>
      <p:grpSp>
        <p:nvGrpSpPr>
          <p:cNvPr id="327" name="Group 326">
            <a:extLst>
              <a:ext uri="{FF2B5EF4-FFF2-40B4-BE49-F238E27FC236}">
                <a16:creationId xmlns:a16="http://schemas.microsoft.com/office/drawing/2014/main" id="{CC62D43E-60DE-829B-6F12-0B93D18CD3E0}"/>
              </a:ext>
            </a:extLst>
          </p:cNvPr>
          <p:cNvGrpSpPr/>
          <p:nvPr/>
        </p:nvGrpSpPr>
        <p:grpSpPr>
          <a:xfrm>
            <a:off x="1028607" y="3648298"/>
            <a:ext cx="87999" cy="95618"/>
            <a:chOff x="9181659" y="3419406"/>
            <a:chExt cx="99974" cy="108628"/>
          </a:xfrm>
        </p:grpSpPr>
        <p:sp>
          <p:nvSpPr>
            <p:cNvPr id="328" name="Chevron 476">
              <a:extLst>
                <a:ext uri="{FF2B5EF4-FFF2-40B4-BE49-F238E27FC236}">
                  <a16:creationId xmlns:a16="http://schemas.microsoft.com/office/drawing/2014/main" id="{29EE69D2-5024-FB0C-358B-E304DAAC95B7}"/>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29" name="Chevron 477">
              <a:extLst>
                <a:ext uri="{FF2B5EF4-FFF2-40B4-BE49-F238E27FC236}">
                  <a16:creationId xmlns:a16="http://schemas.microsoft.com/office/drawing/2014/main" id="{6D1F74AE-D2C3-3643-27B4-DB3B11850A41}"/>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330" name="Arc 329">
            <a:extLst>
              <a:ext uri="{FF2B5EF4-FFF2-40B4-BE49-F238E27FC236}">
                <a16:creationId xmlns:a16="http://schemas.microsoft.com/office/drawing/2014/main" id="{8CEE5301-9537-05B9-1A02-D2E6EC132BE9}"/>
              </a:ext>
            </a:extLst>
          </p:cNvPr>
          <p:cNvSpPr/>
          <p:nvPr/>
        </p:nvSpPr>
        <p:spPr>
          <a:xfrm rot="16200000">
            <a:off x="2386085" y="2593511"/>
            <a:ext cx="371824" cy="380002"/>
          </a:xfrm>
          <a:prstGeom prst="arc">
            <a:avLst>
              <a:gd name="adj1" fmla="val 16200000"/>
              <a:gd name="adj2" fmla="val 19669931"/>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337" name="Straight Connector 336">
            <a:extLst>
              <a:ext uri="{FF2B5EF4-FFF2-40B4-BE49-F238E27FC236}">
                <a16:creationId xmlns:a16="http://schemas.microsoft.com/office/drawing/2014/main" id="{FFECE7D1-85E7-59F5-7C3E-53ECA2E03136}"/>
              </a:ext>
            </a:extLst>
          </p:cNvPr>
          <p:cNvCxnSpPr>
            <a:cxnSpLocks/>
            <a:stCxn id="340" idx="0"/>
            <a:endCxn id="338" idx="2"/>
          </p:cNvCxnSpPr>
          <p:nvPr/>
        </p:nvCxnSpPr>
        <p:spPr>
          <a:xfrm flipV="1">
            <a:off x="3265061" y="4927366"/>
            <a:ext cx="1275345" cy="5548"/>
          </a:xfrm>
          <a:prstGeom prst="line">
            <a:avLst/>
          </a:prstGeom>
          <a:noFill/>
          <a:ln w="101600" cap="flat" cmpd="sng" algn="ctr">
            <a:solidFill>
              <a:sysClr val="window" lastClr="FFFFFF">
                <a:lumMod val="85000"/>
              </a:sysClr>
            </a:solidFill>
            <a:prstDash val="solid"/>
          </a:ln>
          <a:effectLst/>
        </p:spPr>
      </p:cxnSp>
      <p:sp>
        <p:nvSpPr>
          <p:cNvPr id="338" name="Arc 337">
            <a:extLst>
              <a:ext uri="{FF2B5EF4-FFF2-40B4-BE49-F238E27FC236}">
                <a16:creationId xmlns:a16="http://schemas.microsoft.com/office/drawing/2014/main" id="{1A101841-7A3D-F005-64A9-8FD81861A5D6}"/>
              </a:ext>
            </a:extLst>
          </p:cNvPr>
          <p:cNvSpPr/>
          <p:nvPr/>
        </p:nvSpPr>
        <p:spPr>
          <a:xfrm rot="5400000">
            <a:off x="4354494" y="4551453"/>
            <a:ext cx="371824" cy="380002"/>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339" name="Straight Connector 338">
            <a:extLst>
              <a:ext uri="{FF2B5EF4-FFF2-40B4-BE49-F238E27FC236}">
                <a16:creationId xmlns:a16="http://schemas.microsoft.com/office/drawing/2014/main" id="{775EE59C-D305-6F58-5987-1552A6E5AA57}"/>
              </a:ext>
            </a:extLst>
          </p:cNvPr>
          <p:cNvCxnSpPr>
            <a:cxnSpLocks/>
          </p:cNvCxnSpPr>
          <p:nvPr/>
        </p:nvCxnSpPr>
        <p:spPr>
          <a:xfrm>
            <a:off x="4717738" y="2765401"/>
            <a:ext cx="11677" cy="2007273"/>
          </a:xfrm>
          <a:prstGeom prst="line">
            <a:avLst/>
          </a:prstGeom>
          <a:noFill/>
          <a:ln w="101600" cap="flat" cmpd="sng" algn="ctr">
            <a:solidFill>
              <a:sysClr val="window" lastClr="FFFFFF">
                <a:lumMod val="85000"/>
              </a:sysClr>
            </a:solidFill>
            <a:prstDash val="solid"/>
          </a:ln>
          <a:effectLst/>
        </p:spPr>
      </p:cxnSp>
      <p:sp>
        <p:nvSpPr>
          <p:cNvPr id="340" name="Arc 339">
            <a:extLst>
              <a:ext uri="{FF2B5EF4-FFF2-40B4-BE49-F238E27FC236}">
                <a16:creationId xmlns:a16="http://schemas.microsoft.com/office/drawing/2014/main" id="{B7E9FEA5-7663-1381-2EC1-EC75D2B557B1}"/>
              </a:ext>
            </a:extLst>
          </p:cNvPr>
          <p:cNvSpPr/>
          <p:nvPr/>
        </p:nvSpPr>
        <p:spPr>
          <a:xfrm rot="10800000">
            <a:off x="3060819" y="4561613"/>
            <a:ext cx="380002"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341" name="Group 340">
            <a:extLst>
              <a:ext uri="{FF2B5EF4-FFF2-40B4-BE49-F238E27FC236}">
                <a16:creationId xmlns:a16="http://schemas.microsoft.com/office/drawing/2014/main" id="{5181B988-9049-2BA8-DAA0-C97AE9C21595}"/>
              </a:ext>
            </a:extLst>
          </p:cNvPr>
          <p:cNvGrpSpPr/>
          <p:nvPr/>
        </p:nvGrpSpPr>
        <p:grpSpPr>
          <a:xfrm>
            <a:off x="4685415" y="4436143"/>
            <a:ext cx="87999" cy="95618"/>
            <a:chOff x="7331909" y="3522364"/>
            <a:chExt cx="99974" cy="108628"/>
          </a:xfrm>
        </p:grpSpPr>
        <p:sp>
          <p:nvSpPr>
            <p:cNvPr id="342" name="Chevron 479">
              <a:extLst>
                <a:ext uri="{FF2B5EF4-FFF2-40B4-BE49-F238E27FC236}">
                  <a16:creationId xmlns:a16="http://schemas.microsoft.com/office/drawing/2014/main" id="{9BDE5A0B-2CE5-9C10-F101-91EC94499E06}"/>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43" name="Chevron 480">
              <a:extLst>
                <a:ext uri="{FF2B5EF4-FFF2-40B4-BE49-F238E27FC236}">
                  <a16:creationId xmlns:a16="http://schemas.microsoft.com/office/drawing/2014/main" id="{D7F0EC74-8780-A2E4-17FA-A80FF61BF7A6}"/>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344" name="Oval 343">
            <a:extLst>
              <a:ext uri="{FF2B5EF4-FFF2-40B4-BE49-F238E27FC236}">
                <a16:creationId xmlns:a16="http://schemas.microsoft.com/office/drawing/2014/main" id="{CBD2492B-3165-2F47-1727-26C0CDC3985B}"/>
              </a:ext>
            </a:extLst>
          </p:cNvPr>
          <p:cNvSpPr>
            <a:spLocks noChangeAspect="1"/>
          </p:cNvSpPr>
          <p:nvPr/>
        </p:nvSpPr>
        <p:spPr>
          <a:xfrm>
            <a:off x="825469" y="3875429"/>
            <a:ext cx="436111" cy="426726"/>
          </a:xfrm>
          <a:prstGeom prst="ellipse">
            <a:avLst/>
          </a:prstGeom>
          <a:solidFill>
            <a:sysClr val="window" lastClr="FFFFFF"/>
          </a:solidFill>
          <a:ln w="38100" cap="flat" cmpd="sng" algn="ctr">
            <a:solidFill>
              <a:srgbClr val="62B5E5"/>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45" name="TextBox 344">
            <a:extLst>
              <a:ext uri="{FF2B5EF4-FFF2-40B4-BE49-F238E27FC236}">
                <a16:creationId xmlns:a16="http://schemas.microsoft.com/office/drawing/2014/main" id="{D88B1219-4A4C-EFDC-3320-E9350C7CF9C3}"/>
              </a:ext>
            </a:extLst>
          </p:cNvPr>
          <p:cNvSpPr txBox="1"/>
          <p:nvPr/>
        </p:nvSpPr>
        <p:spPr>
          <a:xfrm>
            <a:off x="3257181" y="3163233"/>
            <a:ext cx="1403348" cy="415498"/>
          </a:xfrm>
          <a:prstGeom prst="rect">
            <a:avLst/>
          </a:prstGeom>
          <a:noFill/>
        </p:spPr>
        <p:txBody>
          <a:bodyPr wrap="square" lIns="0" tIns="0" rIns="0" bIns="0" rtlCol="0" anchor="ctr">
            <a:spAutoFit/>
          </a:bodyPr>
          <a:lstStyle/>
          <a:p>
            <a:pPr lvl="0"/>
            <a:r>
              <a:rPr lang="en-US" sz="900">
                <a:latin typeface="Verdana" panose="020B0604030504040204" pitchFamily="34" charset="0"/>
                <a:ea typeface="Verdana" panose="020B0604030504040204" pitchFamily="34" charset="0"/>
                <a:cs typeface="Segoe UI"/>
              </a:rPr>
              <a:t>Identify the nature of work such as replacement or repairs.</a:t>
            </a:r>
          </a:p>
        </p:txBody>
      </p:sp>
      <p:grpSp>
        <p:nvGrpSpPr>
          <p:cNvPr id="346" name="Group 345">
            <a:extLst>
              <a:ext uri="{FF2B5EF4-FFF2-40B4-BE49-F238E27FC236}">
                <a16:creationId xmlns:a16="http://schemas.microsoft.com/office/drawing/2014/main" id="{0A16E845-B56D-0DAC-B173-50ED4DD6139A}"/>
              </a:ext>
            </a:extLst>
          </p:cNvPr>
          <p:cNvGrpSpPr/>
          <p:nvPr/>
        </p:nvGrpSpPr>
        <p:grpSpPr>
          <a:xfrm>
            <a:off x="889895" y="3946739"/>
            <a:ext cx="300577" cy="284105"/>
            <a:chOff x="7560858" y="5425931"/>
            <a:chExt cx="365760" cy="365760"/>
          </a:xfrm>
        </p:grpSpPr>
        <p:sp>
          <p:nvSpPr>
            <p:cNvPr id="347" name="Oval 346">
              <a:extLst>
                <a:ext uri="{FF2B5EF4-FFF2-40B4-BE49-F238E27FC236}">
                  <a16:creationId xmlns:a16="http://schemas.microsoft.com/office/drawing/2014/main" id="{EA2345CF-52BE-559F-DA23-508A30CEBDB7}"/>
                </a:ext>
              </a:extLst>
            </p:cNvPr>
            <p:cNvSpPr/>
            <p:nvPr/>
          </p:nvSpPr>
          <p:spPr>
            <a:xfrm>
              <a:off x="7560858" y="5425931"/>
              <a:ext cx="365760" cy="365760"/>
            </a:xfrm>
            <a:prstGeom prst="ellipse">
              <a:avLst/>
            </a:prstGeom>
            <a:solidFill>
              <a:srgbClr val="86BC25"/>
            </a:solidFill>
            <a:ln w="19050">
              <a:solidFill>
                <a:srgbClr val="D0D0CE"/>
              </a:solidFill>
            </a:ln>
            <a:effectLst/>
          </p:spPr>
          <p:txBody>
            <a:bodyPr wrap="square" lIns="0" tIns="0" rIns="0" bIns="0" rtlCol="0" anchor="ctr">
              <a:noAutofit/>
            </a:bodyPr>
            <a:lstStyle/>
            <a:p>
              <a:pPr marL="0" marR="0" lvl="0" indent="0" algn="ctr" defTabSz="914400" rtl="0" eaLnBrk="1" fontAlgn="base" latinLnBrk="0" hangingPunct="1">
                <a:lnSpc>
                  <a:spcPct val="90000"/>
                </a:lnSpc>
                <a:spcBef>
                  <a:spcPts val="600"/>
                </a:spcBef>
                <a:spcAft>
                  <a:spcPts val="0"/>
                </a:spcAft>
                <a:buClrTx/>
                <a:buSzTx/>
                <a:buFontTx/>
                <a:buNone/>
                <a:tabLst/>
                <a:defRPr/>
              </a:pPr>
              <a:endParaRPr kumimoji="0" lang="en-US" sz="900" b="0" i="0" u="none" strike="noStrike" kern="0" cap="none" spc="0" normalizeH="0" baseline="0" noProof="0">
                <a:ln>
                  <a:noFill/>
                </a:ln>
                <a:solidFill>
                  <a:srgbClr val="444444">
                    <a:lumMod val="40000"/>
                    <a:lumOff val="60000"/>
                  </a:srgbClr>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pic>
          <p:nvPicPr>
            <p:cNvPr id="348" name="Graphic 347" descr="Artificial Intelligence with solid fill">
              <a:extLst>
                <a:ext uri="{FF2B5EF4-FFF2-40B4-BE49-F238E27FC236}">
                  <a16:creationId xmlns:a16="http://schemas.microsoft.com/office/drawing/2014/main" id="{EED00085-E09D-2F1A-D881-B237DDCEDB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08996" y="5469068"/>
              <a:ext cx="274320" cy="274319"/>
            </a:xfrm>
            <a:prstGeom prst="rect">
              <a:avLst/>
            </a:prstGeom>
          </p:spPr>
        </p:pic>
      </p:grpSp>
      <p:sp>
        <p:nvSpPr>
          <p:cNvPr id="349" name="Rectangle 348">
            <a:extLst>
              <a:ext uri="{FF2B5EF4-FFF2-40B4-BE49-F238E27FC236}">
                <a16:creationId xmlns:a16="http://schemas.microsoft.com/office/drawing/2014/main" id="{E49142CF-7D9C-9410-79A5-CF1F229BA6F0}"/>
              </a:ext>
            </a:extLst>
          </p:cNvPr>
          <p:cNvSpPr/>
          <p:nvPr/>
        </p:nvSpPr>
        <p:spPr>
          <a:xfrm>
            <a:off x="3247097" y="2779913"/>
            <a:ext cx="1265619" cy="339268"/>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rPr>
              <a:t>Component replacement review</a:t>
            </a:r>
          </a:p>
        </p:txBody>
      </p:sp>
      <p:grpSp>
        <p:nvGrpSpPr>
          <p:cNvPr id="350" name="Group 349">
            <a:extLst>
              <a:ext uri="{FF2B5EF4-FFF2-40B4-BE49-F238E27FC236}">
                <a16:creationId xmlns:a16="http://schemas.microsoft.com/office/drawing/2014/main" id="{8A4CFFFE-E066-BC3E-E268-1872709BC7EB}"/>
              </a:ext>
            </a:extLst>
          </p:cNvPr>
          <p:cNvGrpSpPr/>
          <p:nvPr/>
        </p:nvGrpSpPr>
        <p:grpSpPr>
          <a:xfrm>
            <a:off x="3028671" y="3159288"/>
            <a:ext cx="87999" cy="95618"/>
            <a:chOff x="9181659" y="3419406"/>
            <a:chExt cx="99974" cy="108628"/>
          </a:xfrm>
        </p:grpSpPr>
        <p:sp>
          <p:nvSpPr>
            <p:cNvPr id="351" name="Chevron 476">
              <a:extLst>
                <a:ext uri="{FF2B5EF4-FFF2-40B4-BE49-F238E27FC236}">
                  <a16:creationId xmlns:a16="http://schemas.microsoft.com/office/drawing/2014/main" id="{A45B5808-CF5D-D684-DFD4-ECD172ED14E6}"/>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52" name="Chevron 477">
              <a:extLst>
                <a:ext uri="{FF2B5EF4-FFF2-40B4-BE49-F238E27FC236}">
                  <a16:creationId xmlns:a16="http://schemas.microsoft.com/office/drawing/2014/main" id="{7043B938-E74D-70FD-1205-90AB2198F219}"/>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353" name="Arc 352">
            <a:extLst>
              <a:ext uri="{FF2B5EF4-FFF2-40B4-BE49-F238E27FC236}">
                <a16:creationId xmlns:a16="http://schemas.microsoft.com/office/drawing/2014/main" id="{911D0F0C-D50A-B06F-9D98-53F924C0D8F9}"/>
              </a:ext>
            </a:extLst>
          </p:cNvPr>
          <p:cNvSpPr/>
          <p:nvPr/>
        </p:nvSpPr>
        <p:spPr>
          <a:xfrm rot="16200000">
            <a:off x="4722202" y="2588076"/>
            <a:ext cx="371824" cy="380002"/>
          </a:xfrm>
          <a:prstGeom prst="arc">
            <a:avLst>
              <a:gd name="adj1" fmla="val 16200000"/>
              <a:gd name="adj2" fmla="val 19669931"/>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57" name="TextBox 356">
            <a:extLst>
              <a:ext uri="{FF2B5EF4-FFF2-40B4-BE49-F238E27FC236}">
                <a16:creationId xmlns:a16="http://schemas.microsoft.com/office/drawing/2014/main" id="{5572EB26-FCC7-3B6B-B015-4D91B06161E5}"/>
              </a:ext>
            </a:extLst>
          </p:cNvPr>
          <p:cNvSpPr txBox="1"/>
          <p:nvPr/>
        </p:nvSpPr>
        <p:spPr>
          <a:xfrm>
            <a:off x="9440299" y="1764417"/>
            <a:ext cx="2153441" cy="553998"/>
          </a:xfrm>
          <a:prstGeom prst="rect">
            <a:avLst/>
          </a:prstGeom>
          <a:noFill/>
        </p:spPr>
        <p:txBody>
          <a:bodyPr wrap="square">
            <a:spAutoFit/>
          </a:bodyPr>
          <a:lstStyle>
            <a:defPPr>
              <a:defRPr lang="en-US"/>
            </a:defPPr>
            <a:lvl1pPr algn="ctr">
              <a:buSzPct val="100000"/>
              <a:defRPr sz="700" kern="0">
                <a:solidFill>
                  <a:srgbClr val="313131"/>
                </a:solidFill>
                <a:latin typeface="Calibri"/>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rPr>
              <a:t>Schedule the preventive maintenance tasks before failure</a:t>
            </a:r>
            <a:endParaRPr kumimoji="0" lang="en-IN" sz="10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endParaRPr>
          </a:p>
        </p:txBody>
      </p:sp>
      <p:sp>
        <p:nvSpPr>
          <p:cNvPr id="359" name="Oval 358">
            <a:extLst>
              <a:ext uri="{FF2B5EF4-FFF2-40B4-BE49-F238E27FC236}">
                <a16:creationId xmlns:a16="http://schemas.microsoft.com/office/drawing/2014/main" id="{A31C388A-42C7-8764-433A-969D31433FBD}"/>
              </a:ext>
            </a:extLst>
          </p:cNvPr>
          <p:cNvSpPr>
            <a:spLocks noChangeAspect="1"/>
          </p:cNvSpPr>
          <p:nvPr/>
        </p:nvSpPr>
        <p:spPr>
          <a:xfrm>
            <a:off x="4519002" y="2751163"/>
            <a:ext cx="436111" cy="426726"/>
          </a:xfrm>
          <a:prstGeom prst="ellipse">
            <a:avLst/>
          </a:prstGeom>
          <a:solidFill>
            <a:sysClr val="window" lastClr="FFFFFF"/>
          </a:solidFill>
          <a:ln w="38100" cap="flat" cmpd="sng" algn="ctr">
            <a:solidFill>
              <a:srgbClr val="62B5E5"/>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361" name="Group 360">
            <a:extLst>
              <a:ext uri="{FF2B5EF4-FFF2-40B4-BE49-F238E27FC236}">
                <a16:creationId xmlns:a16="http://schemas.microsoft.com/office/drawing/2014/main" id="{C444B956-0B3E-7A1E-9759-AB02AA6C71CB}"/>
              </a:ext>
            </a:extLst>
          </p:cNvPr>
          <p:cNvGrpSpPr/>
          <p:nvPr/>
        </p:nvGrpSpPr>
        <p:grpSpPr>
          <a:xfrm>
            <a:off x="4583428" y="2822473"/>
            <a:ext cx="300577" cy="284105"/>
            <a:chOff x="7560858" y="5425931"/>
            <a:chExt cx="365760" cy="365760"/>
          </a:xfrm>
        </p:grpSpPr>
        <p:sp>
          <p:nvSpPr>
            <p:cNvPr id="362" name="Oval 361">
              <a:extLst>
                <a:ext uri="{FF2B5EF4-FFF2-40B4-BE49-F238E27FC236}">
                  <a16:creationId xmlns:a16="http://schemas.microsoft.com/office/drawing/2014/main" id="{C1677077-E0F7-704B-7151-A693645CF715}"/>
                </a:ext>
              </a:extLst>
            </p:cNvPr>
            <p:cNvSpPr/>
            <p:nvPr/>
          </p:nvSpPr>
          <p:spPr>
            <a:xfrm>
              <a:off x="7560858" y="5425931"/>
              <a:ext cx="365760" cy="365760"/>
            </a:xfrm>
            <a:prstGeom prst="ellipse">
              <a:avLst/>
            </a:prstGeom>
            <a:solidFill>
              <a:srgbClr val="86BC25"/>
            </a:solidFill>
            <a:ln w="19050">
              <a:solidFill>
                <a:srgbClr val="D0D0CE"/>
              </a:solidFill>
            </a:ln>
            <a:effectLst/>
          </p:spPr>
          <p:txBody>
            <a:bodyPr wrap="square" lIns="0" tIns="0" rIns="0" bIns="0" rtlCol="0" anchor="ctr">
              <a:noAutofit/>
            </a:bodyPr>
            <a:lstStyle/>
            <a:p>
              <a:pPr marL="0" marR="0" lvl="0" indent="0" algn="ctr" defTabSz="914400" rtl="0" eaLnBrk="1" fontAlgn="base" latinLnBrk="0" hangingPunct="1">
                <a:lnSpc>
                  <a:spcPct val="90000"/>
                </a:lnSpc>
                <a:spcBef>
                  <a:spcPts val="600"/>
                </a:spcBef>
                <a:spcAft>
                  <a:spcPts val="0"/>
                </a:spcAft>
                <a:buClrTx/>
                <a:buSzTx/>
                <a:buFontTx/>
                <a:buNone/>
                <a:tabLst/>
                <a:defRPr/>
              </a:pPr>
              <a:endParaRPr kumimoji="0" lang="en-US" sz="900" b="0" i="0" u="none" strike="noStrike" kern="0" cap="none" spc="0" normalizeH="0" baseline="0" noProof="0">
                <a:ln>
                  <a:noFill/>
                </a:ln>
                <a:solidFill>
                  <a:srgbClr val="444444">
                    <a:lumMod val="40000"/>
                    <a:lumOff val="60000"/>
                  </a:srgbClr>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pic>
          <p:nvPicPr>
            <p:cNvPr id="363" name="Graphic 362" descr="Artificial Intelligence with solid fill">
              <a:extLst>
                <a:ext uri="{FF2B5EF4-FFF2-40B4-BE49-F238E27FC236}">
                  <a16:creationId xmlns:a16="http://schemas.microsoft.com/office/drawing/2014/main" id="{87E3E747-3BA5-C7BB-9705-0F48EAD3727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08996" y="5469068"/>
              <a:ext cx="274320" cy="274319"/>
            </a:xfrm>
            <a:prstGeom prst="rect">
              <a:avLst/>
            </a:prstGeom>
          </p:spPr>
        </p:pic>
      </p:grpSp>
      <p:cxnSp>
        <p:nvCxnSpPr>
          <p:cNvPr id="367" name="Straight Connector 366">
            <a:extLst>
              <a:ext uri="{FF2B5EF4-FFF2-40B4-BE49-F238E27FC236}">
                <a16:creationId xmlns:a16="http://schemas.microsoft.com/office/drawing/2014/main" id="{4EA79FF4-9317-58FA-F3A2-AE222237024E}"/>
              </a:ext>
            </a:extLst>
          </p:cNvPr>
          <p:cNvCxnSpPr>
            <a:cxnSpLocks/>
          </p:cNvCxnSpPr>
          <p:nvPr/>
        </p:nvCxnSpPr>
        <p:spPr>
          <a:xfrm>
            <a:off x="5501119" y="4908522"/>
            <a:ext cx="1008109" cy="1765"/>
          </a:xfrm>
          <a:prstGeom prst="line">
            <a:avLst/>
          </a:prstGeom>
          <a:noFill/>
          <a:ln w="101600" cap="flat" cmpd="sng" algn="ctr">
            <a:solidFill>
              <a:sysClr val="window" lastClr="FFFFFF">
                <a:lumMod val="85000"/>
              </a:sysClr>
            </a:solidFill>
            <a:prstDash val="solid"/>
          </a:ln>
          <a:effectLst/>
        </p:spPr>
      </p:cxnSp>
      <p:sp>
        <p:nvSpPr>
          <p:cNvPr id="368" name="Arc 367">
            <a:extLst>
              <a:ext uri="{FF2B5EF4-FFF2-40B4-BE49-F238E27FC236}">
                <a16:creationId xmlns:a16="http://schemas.microsoft.com/office/drawing/2014/main" id="{38132660-9B25-AB8D-7B6B-0CAA5EFE0C9B}"/>
              </a:ext>
            </a:extLst>
          </p:cNvPr>
          <p:cNvSpPr/>
          <p:nvPr/>
        </p:nvSpPr>
        <p:spPr>
          <a:xfrm rot="5400000">
            <a:off x="6323316" y="4531199"/>
            <a:ext cx="371824" cy="380002"/>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369" name="Straight Connector 368">
            <a:extLst>
              <a:ext uri="{FF2B5EF4-FFF2-40B4-BE49-F238E27FC236}">
                <a16:creationId xmlns:a16="http://schemas.microsoft.com/office/drawing/2014/main" id="{B40108A2-A16E-D148-AD19-D56049FEE286}"/>
              </a:ext>
            </a:extLst>
          </p:cNvPr>
          <p:cNvCxnSpPr>
            <a:cxnSpLocks/>
          </p:cNvCxnSpPr>
          <p:nvPr/>
        </p:nvCxnSpPr>
        <p:spPr>
          <a:xfrm>
            <a:off x="6686555" y="2745147"/>
            <a:ext cx="11677" cy="2007273"/>
          </a:xfrm>
          <a:prstGeom prst="line">
            <a:avLst/>
          </a:prstGeom>
          <a:noFill/>
          <a:ln w="101600" cap="flat" cmpd="sng" algn="ctr">
            <a:solidFill>
              <a:sysClr val="window" lastClr="FFFFFF">
                <a:lumMod val="85000"/>
              </a:sysClr>
            </a:solidFill>
            <a:prstDash val="solid"/>
          </a:ln>
          <a:effectLst/>
        </p:spPr>
      </p:cxnSp>
      <p:sp>
        <p:nvSpPr>
          <p:cNvPr id="370" name="Arc 369">
            <a:extLst>
              <a:ext uri="{FF2B5EF4-FFF2-40B4-BE49-F238E27FC236}">
                <a16:creationId xmlns:a16="http://schemas.microsoft.com/office/drawing/2014/main" id="{714BE8F0-8D92-BCF6-8EBF-FF2A32241098}"/>
              </a:ext>
            </a:extLst>
          </p:cNvPr>
          <p:cNvSpPr/>
          <p:nvPr/>
        </p:nvSpPr>
        <p:spPr>
          <a:xfrm rot="10800000">
            <a:off x="5365700" y="4541359"/>
            <a:ext cx="380002"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371" name="Group 370">
            <a:extLst>
              <a:ext uri="{FF2B5EF4-FFF2-40B4-BE49-F238E27FC236}">
                <a16:creationId xmlns:a16="http://schemas.microsoft.com/office/drawing/2014/main" id="{26D3D041-77B5-D314-36C1-D594B0B8155B}"/>
              </a:ext>
            </a:extLst>
          </p:cNvPr>
          <p:cNvGrpSpPr/>
          <p:nvPr/>
        </p:nvGrpSpPr>
        <p:grpSpPr>
          <a:xfrm>
            <a:off x="6649607" y="4141891"/>
            <a:ext cx="87999" cy="95618"/>
            <a:chOff x="7331909" y="3522364"/>
            <a:chExt cx="99974" cy="108628"/>
          </a:xfrm>
        </p:grpSpPr>
        <p:sp>
          <p:nvSpPr>
            <p:cNvPr id="372" name="Chevron 479">
              <a:extLst>
                <a:ext uri="{FF2B5EF4-FFF2-40B4-BE49-F238E27FC236}">
                  <a16:creationId xmlns:a16="http://schemas.microsoft.com/office/drawing/2014/main" id="{8D5904EC-E1AF-94CC-F8BA-E41EFE32D8A4}"/>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73" name="Chevron 480">
              <a:extLst>
                <a:ext uri="{FF2B5EF4-FFF2-40B4-BE49-F238E27FC236}">
                  <a16:creationId xmlns:a16="http://schemas.microsoft.com/office/drawing/2014/main" id="{E57CD098-773E-2FA6-4BFF-DF8261FA110B}"/>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375" name="TextBox 374">
            <a:extLst>
              <a:ext uri="{FF2B5EF4-FFF2-40B4-BE49-F238E27FC236}">
                <a16:creationId xmlns:a16="http://schemas.microsoft.com/office/drawing/2014/main" id="{BE929E00-B1BE-1A40-B7E2-3CDA47282203}"/>
              </a:ext>
            </a:extLst>
          </p:cNvPr>
          <p:cNvSpPr txBox="1"/>
          <p:nvPr/>
        </p:nvSpPr>
        <p:spPr>
          <a:xfrm>
            <a:off x="5575224" y="3157845"/>
            <a:ext cx="1011233" cy="69249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rPr>
              <a:t>Model and predict component lifecycle using Weibull analysis</a:t>
            </a:r>
            <a:endParaRPr kumimoji="0" lang="en-US" sz="900" b="0" i="0" u="none" strike="noStrike" kern="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endParaRPr>
          </a:p>
        </p:txBody>
      </p:sp>
      <p:sp>
        <p:nvSpPr>
          <p:cNvPr id="379" name="Rectangle 378">
            <a:extLst>
              <a:ext uri="{FF2B5EF4-FFF2-40B4-BE49-F238E27FC236}">
                <a16:creationId xmlns:a16="http://schemas.microsoft.com/office/drawing/2014/main" id="{D3CBF061-3122-8178-F110-0AF2F3306737}"/>
              </a:ext>
            </a:extLst>
          </p:cNvPr>
          <p:cNvSpPr/>
          <p:nvPr/>
        </p:nvSpPr>
        <p:spPr>
          <a:xfrm>
            <a:off x="5546091" y="2854614"/>
            <a:ext cx="1076206"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rPr>
              <a:t>Component life modelling</a:t>
            </a:r>
          </a:p>
        </p:txBody>
      </p:sp>
      <p:grpSp>
        <p:nvGrpSpPr>
          <p:cNvPr id="380" name="Group 379">
            <a:extLst>
              <a:ext uri="{FF2B5EF4-FFF2-40B4-BE49-F238E27FC236}">
                <a16:creationId xmlns:a16="http://schemas.microsoft.com/office/drawing/2014/main" id="{7B7E8249-8638-E6A1-1265-9062E8633B2C}"/>
              </a:ext>
            </a:extLst>
          </p:cNvPr>
          <p:cNvGrpSpPr/>
          <p:nvPr/>
        </p:nvGrpSpPr>
        <p:grpSpPr>
          <a:xfrm>
            <a:off x="5333545" y="3622609"/>
            <a:ext cx="87999" cy="95618"/>
            <a:chOff x="9181659" y="3419406"/>
            <a:chExt cx="99974" cy="108628"/>
          </a:xfrm>
        </p:grpSpPr>
        <p:sp>
          <p:nvSpPr>
            <p:cNvPr id="381" name="Chevron 476">
              <a:extLst>
                <a:ext uri="{FF2B5EF4-FFF2-40B4-BE49-F238E27FC236}">
                  <a16:creationId xmlns:a16="http://schemas.microsoft.com/office/drawing/2014/main" id="{61CA6FDA-ECC3-E5B1-72E4-9CDAE226680F}"/>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82" name="Chevron 477">
              <a:extLst>
                <a:ext uri="{FF2B5EF4-FFF2-40B4-BE49-F238E27FC236}">
                  <a16:creationId xmlns:a16="http://schemas.microsoft.com/office/drawing/2014/main" id="{87090E32-1FA6-450E-77FA-2D87B76EA201}"/>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383" name="Arc 382">
            <a:extLst>
              <a:ext uri="{FF2B5EF4-FFF2-40B4-BE49-F238E27FC236}">
                <a16:creationId xmlns:a16="http://schemas.microsoft.com/office/drawing/2014/main" id="{3A23AAA0-3C1B-0BA7-164B-72E4D79BFB0D}"/>
              </a:ext>
            </a:extLst>
          </p:cNvPr>
          <p:cNvSpPr/>
          <p:nvPr/>
        </p:nvSpPr>
        <p:spPr>
          <a:xfrm rot="16200000">
            <a:off x="6691023" y="2567822"/>
            <a:ext cx="371824" cy="380002"/>
          </a:xfrm>
          <a:prstGeom prst="arc">
            <a:avLst>
              <a:gd name="adj1" fmla="val 16200000"/>
              <a:gd name="adj2" fmla="val 19669931"/>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385" name="Group 384">
            <a:extLst>
              <a:ext uri="{FF2B5EF4-FFF2-40B4-BE49-F238E27FC236}">
                <a16:creationId xmlns:a16="http://schemas.microsoft.com/office/drawing/2014/main" id="{197EF158-DB75-2128-7D3E-2E3268233131}"/>
              </a:ext>
            </a:extLst>
          </p:cNvPr>
          <p:cNvGrpSpPr/>
          <p:nvPr/>
        </p:nvGrpSpPr>
        <p:grpSpPr>
          <a:xfrm>
            <a:off x="3025090" y="4385098"/>
            <a:ext cx="87999" cy="95618"/>
            <a:chOff x="9181659" y="3419406"/>
            <a:chExt cx="99974" cy="108628"/>
          </a:xfrm>
        </p:grpSpPr>
        <p:sp>
          <p:nvSpPr>
            <p:cNvPr id="386" name="Chevron 476">
              <a:extLst>
                <a:ext uri="{FF2B5EF4-FFF2-40B4-BE49-F238E27FC236}">
                  <a16:creationId xmlns:a16="http://schemas.microsoft.com/office/drawing/2014/main" id="{F4B60B22-9FDE-7B4E-3364-A57A70808D40}"/>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87" name="Chevron 477">
              <a:extLst>
                <a:ext uri="{FF2B5EF4-FFF2-40B4-BE49-F238E27FC236}">
                  <a16:creationId xmlns:a16="http://schemas.microsoft.com/office/drawing/2014/main" id="{220593BE-1C3C-697E-E004-54B0EDE0DDA9}"/>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391" name="Oval 390">
            <a:extLst>
              <a:ext uri="{FF2B5EF4-FFF2-40B4-BE49-F238E27FC236}">
                <a16:creationId xmlns:a16="http://schemas.microsoft.com/office/drawing/2014/main" id="{B4D9C7B5-2C94-C28A-72DD-5A96E8E64AAF}"/>
              </a:ext>
            </a:extLst>
          </p:cNvPr>
          <p:cNvSpPr>
            <a:spLocks noChangeAspect="1"/>
          </p:cNvSpPr>
          <p:nvPr/>
        </p:nvSpPr>
        <p:spPr>
          <a:xfrm>
            <a:off x="2839219" y="3761733"/>
            <a:ext cx="436111" cy="426726"/>
          </a:xfrm>
          <a:prstGeom prst="ellipse">
            <a:avLst/>
          </a:prstGeom>
          <a:solidFill>
            <a:sysClr val="window" lastClr="FFFFFF"/>
          </a:solidFill>
          <a:ln w="38100" cap="flat" cmpd="sng" algn="ctr">
            <a:solidFill>
              <a:srgbClr val="62B5E5"/>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392" name="Group 391">
            <a:extLst>
              <a:ext uri="{FF2B5EF4-FFF2-40B4-BE49-F238E27FC236}">
                <a16:creationId xmlns:a16="http://schemas.microsoft.com/office/drawing/2014/main" id="{12772A83-3B04-ACE1-5480-42A4BD1163D0}"/>
              </a:ext>
            </a:extLst>
          </p:cNvPr>
          <p:cNvGrpSpPr/>
          <p:nvPr/>
        </p:nvGrpSpPr>
        <p:grpSpPr>
          <a:xfrm>
            <a:off x="2903646" y="3833045"/>
            <a:ext cx="300577" cy="284105"/>
            <a:chOff x="7560860" y="5425933"/>
            <a:chExt cx="365760" cy="365760"/>
          </a:xfrm>
        </p:grpSpPr>
        <p:sp>
          <p:nvSpPr>
            <p:cNvPr id="393" name="Oval 392">
              <a:extLst>
                <a:ext uri="{FF2B5EF4-FFF2-40B4-BE49-F238E27FC236}">
                  <a16:creationId xmlns:a16="http://schemas.microsoft.com/office/drawing/2014/main" id="{19571E28-062E-A175-052D-2CBA8B5C2B47}"/>
                </a:ext>
              </a:extLst>
            </p:cNvPr>
            <p:cNvSpPr/>
            <p:nvPr/>
          </p:nvSpPr>
          <p:spPr>
            <a:xfrm>
              <a:off x="7560860" y="5425933"/>
              <a:ext cx="365760" cy="365760"/>
            </a:xfrm>
            <a:prstGeom prst="ellipse">
              <a:avLst/>
            </a:prstGeom>
            <a:solidFill>
              <a:srgbClr val="86BC25"/>
            </a:solidFill>
            <a:ln w="19050">
              <a:solidFill>
                <a:srgbClr val="D0D0CE"/>
              </a:solidFill>
            </a:ln>
            <a:effectLst/>
          </p:spPr>
          <p:txBody>
            <a:bodyPr wrap="square" lIns="0" tIns="0" rIns="0" bIns="0" rtlCol="0" anchor="ctr">
              <a:noAutofit/>
            </a:bodyPr>
            <a:lstStyle/>
            <a:p>
              <a:pPr marL="0" marR="0" lvl="0" indent="0" algn="ctr" defTabSz="914400" rtl="0" eaLnBrk="1" fontAlgn="base" latinLnBrk="0" hangingPunct="1">
                <a:lnSpc>
                  <a:spcPct val="90000"/>
                </a:lnSpc>
                <a:spcBef>
                  <a:spcPts val="600"/>
                </a:spcBef>
                <a:spcAft>
                  <a:spcPts val="0"/>
                </a:spcAft>
                <a:buClrTx/>
                <a:buSzTx/>
                <a:buFontTx/>
                <a:buNone/>
                <a:tabLst/>
                <a:defRPr/>
              </a:pPr>
              <a:endParaRPr kumimoji="0" lang="en-US" sz="900" b="0" i="0" u="none" strike="noStrike" kern="0" cap="none" spc="0" normalizeH="0" baseline="0" noProof="0">
                <a:ln>
                  <a:noFill/>
                </a:ln>
                <a:solidFill>
                  <a:srgbClr val="444444">
                    <a:lumMod val="40000"/>
                    <a:lumOff val="60000"/>
                  </a:srgbClr>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pic>
          <p:nvPicPr>
            <p:cNvPr id="394" name="Graphic 393" descr="Artificial Intelligence with solid fill">
              <a:extLst>
                <a:ext uri="{FF2B5EF4-FFF2-40B4-BE49-F238E27FC236}">
                  <a16:creationId xmlns:a16="http://schemas.microsoft.com/office/drawing/2014/main" id="{4DDCC851-531C-FAB9-F4AF-70CF4A26F1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08996" y="5469068"/>
              <a:ext cx="274320" cy="274319"/>
            </a:xfrm>
            <a:prstGeom prst="rect">
              <a:avLst/>
            </a:prstGeom>
          </p:spPr>
        </p:pic>
      </p:grpSp>
      <p:sp>
        <p:nvSpPr>
          <p:cNvPr id="395" name="TextBox 394">
            <a:extLst>
              <a:ext uri="{FF2B5EF4-FFF2-40B4-BE49-F238E27FC236}">
                <a16:creationId xmlns:a16="http://schemas.microsoft.com/office/drawing/2014/main" id="{40A786A9-C7CE-BA8E-994A-8949A046A03C}"/>
              </a:ext>
            </a:extLst>
          </p:cNvPr>
          <p:cNvSpPr txBox="1"/>
          <p:nvPr/>
        </p:nvSpPr>
        <p:spPr>
          <a:xfrm>
            <a:off x="3433856" y="4032546"/>
            <a:ext cx="1196846" cy="553998"/>
          </a:xfrm>
          <a:prstGeom prst="rect">
            <a:avLst/>
          </a:prstGeom>
          <a:noFill/>
        </p:spPr>
        <p:txBody>
          <a:bodyPr wrap="square" lIns="0" tIns="0" rIns="0" bIns="0" rtlCol="0" anchor="ctr">
            <a:spAutoFit/>
          </a:bodyPr>
          <a:lstStyle/>
          <a:p>
            <a:pPr lvl="0"/>
            <a:r>
              <a:rPr lang="en-US" sz="900">
                <a:latin typeface="Verdana" panose="020B0604030504040204" pitchFamily="34" charset="0"/>
                <a:ea typeface="Verdana" panose="020B0604030504040204" pitchFamily="34" charset="0"/>
                <a:cs typeface="Segoe UI"/>
              </a:rPr>
              <a:t>Estimates the cost, </a:t>
            </a:r>
            <a:r>
              <a:rPr lang="en-US" sz="900" err="1">
                <a:latin typeface="Verdana" panose="020B0604030504040204" pitchFamily="34" charset="0"/>
                <a:ea typeface="Verdana" panose="020B0604030504040204" pitchFamily="34" charset="0"/>
                <a:cs typeface="Segoe UI"/>
              </a:rPr>
              <a:t>labour</a:t>
            </a:r>
            <a:r>
              <a:rPr lang="en-US" sz="900">
                <a:latin typeface="Verdana" panose="020B0604030504040204" pitchFamily="34" charset="0"/>
                <a:ea typeface="Verdana" panose="020B0604030504040204" pitchFamily="34" charset="0"/>
                <a:cs typeface="Segoe UI"/>
              </a:rPr>
              <a:t> and time required for each job.</a:t>
            </a:r>
          </a:p>
        </p:txBody>
      </p:sp>
      <p:sp>
        <p:nvSpPr>
          <p:cNvPr id="396" name="Rectangle 395">
            <a:extLst>
              <a:ext uri="{FF2B5EF4-FFF2-40B4-BE49-F238E27FC236}">
                <a16:creationId xmlns:a16="http://schemas.microsoft.com/office/drawing/2014/main" id="{5EF5EF1E-FD96-2B9A-1B33-069D50498778}"/>
              </a:ext>
            </a:extLst>
          </p:cNvPr>
          <p:cNvSpPr/>
          <p:nvPr/>
        </p:nvSpPr>
        <p:spPr>
          <a:xfrm>
            <a:off x="3433856" y="3732675"/>
            <a:ext cx="1382595" cy="259256"/>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rPr>
              <a:t>Replacement Projections</a:t>
            </a:r>
          </a:p>
        </p:txBody>
      </p:sp>
      <p:grpSp>
        <p:nvGrpSpPr>
          <p:cNvPr id="397" name="Group 396">
            <a:extLst>
              <a:ext uri="{FF2B5EF4-FFF2-40B4-BE49-F238E27FC236}">
                <a16:creationId xmlns:a16="http://schemas.microsoft.com/office/drawing/2014/main" id="{AD26DFB4-0F07-CDB1-DEFE-CE4CC908E5A8}"/>
              </a:ext>
            </a:extLst>
          </p:cNvPr>
          <p:cNvGrpSpPr/>
          <p:nvPr/>
        </p:nvGrpSpPr>
        <p:grpSpPr>
          <a:xfrm>
            <a:off x="4682331" y="3262696"/>
            <a:ext cx="87999" cy="95618"/>
            <a:chOff x="7331909" y="3522364"/>
            <a:chExt cx="99974" cy="108628"/>
          </a:xfrm>
        </p:grpSpPr>
        <p:sp>
          <p:nvSpPr>
            <p:cNvPr id="398" name="Chevron 479">
              <a:extLst>
                <a:ext uri="{FF2B5EF4-FFF2-40B4-BE49-F238E27FC236}">
                  <a16:creationId xmlns:a16="http://schemas.microsoft.com/office/drawing/2014/main" id="{7A78C142-4F0F-4CFB-0336-69F75AB57FA0}"/>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399" name="Chevron 480">
              <a:extLst>
                <a:ext uri="{FF2B5EF4-FFF2-40B4-BE49-F238E27FC236}">
                  <a16:creationId xmlns:a16="http://schemas.microsoft.com/office/drawing/2014/main" id="{E521C319-8D5F-7768-51E8-139873B35844}"/>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cxnSp>
        <p:nvCxnSpPr>
          <p:cNvPr id="401" name="Straight Connector 400">
            <a:extLst>
              <a:ext uri="{FF2B5EF4-FFF2-40B4-BE49-F238E27FC236}">
                <a16:creationId xmlns:a16="http://schemas.microsoft.com/office/drawing/2014/main" id="{8D4C7B91-85BF-B12A-E09B-CB8969422D80}"/>
              </a:ext>
            </a:extLst>
          </p:cNvPr>
          <p:cNvCxnSpPr>
            <a:cxnSpLocks/>
          </p:cNvCxnSpPr>
          <p:nvPr/>
        </p:nvCxnSpPr>
        <p:spPr>
          <a:xfrm>
            <a:off x="7486639" y="2858665"/>
            <a:ext cx="3597" cy="2007273"/>
          </a:xfrm>
          <a:prstGeom prst="line">
            <a:avLst/>
          </a:prstGeom>
          <a:noFill/>
          <a:ln w="101600" cap="flat" cmpd="sng" algn="ctr">
            <a:solidFill>
              <a:sysClr val="window" lastClr="FFFFFF">
                <a:lumMod val="85000"/>
              </a:sysClr>
            </a:solidFill>
            <a:prstDash val="solid"/>
          </a:ln>
          <a:effectLst/>
        </p:spPr>
      </p:cxnSp>
      <p:cxnSp>
        <p:nvCxnSpPr>
          <p:cNvPr id="402" name="Straight Connector 401">
            <a:extLst>
              <a:ext uri="{FF2B5EF4-FFF2-40B4-BE49-F238E27FC236}">
                <a16:creationId xmlns:a16="http://schemas.microsoft.com/office/drawing/2014/main" id="{7A5CD583-DA79-C1FD-23F8-B162E19B942D}"/>
              </a:ext>
            </a:extLst>
          </p:cNvPr>
          <p:cNvCxnSpPr>
            <a:cxnSpLocks/>
          </p:cNvCxnSpPr>
          <p:nvPr/>
        </p:nvCxnSpPr>
        <p:spPr>
          <a:xfrm>
            <a:off x="7607809" y="4934992"/>
            <a:ext cx="1008109" cy="1765"/>
          </a:xfrm>
          <a:prstGeom prst="line">
            <a:avLst/>
          </a:prstGeom>
          <a:noFill/>
          <a:ln w="101600" cap="flat" cmpd="sng" algn="ctr">
            <a:solidFill>
              <a:sysClr val="window" lastClr="FFFFFF">
                <a:lumMod val="85000"/>
              </a:sysClr>
            </a:solidFill>
            <a:prstDash val="solid"/>
          </a:ln>
          <a:effectLst/>
        </p:spPr>
      </p:cxnSp>
      <p:sp>
        <p:nvSpPr>
          <p:cNvPr id="403" name="Arc 402">
            <a:extLst>
              <a:ext uri="{FF2B5EF4-FFF2-40B4-BE49-F238E27FC236}">
                <a16:creationId xmlns:a16="http://schemas.microsoft.com/office/drawing/2014/main" id="{F8208C6E-9A67-C40C-7A02-09AA445F9D99}"/>
              </a:ext>
            </a:extLst>
          </p:cNvPr>
          <p:cNvSpPr/>
          <p:nvPr/>
        </p:nvSpPr>
        <p:spPr>
          <a:xfrm rot="5400000">
            <a:off x="8430006" y="4557669"/>
            <a:ext cx="371824" cy="380002"/>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404" name="Straight Connector 403">
            <a:extLst>
              <a:ext uri="{FF2B5EF4-FFF2-40B4-BE49-F238E27FC236}">
                <a16:creationId xmlns:a16="http://schemas.microsoft.com/office/drawing/2014/main" id="{45BC237C-7590-C623-8E1F-44B4C7673798}"/>
              </a:ext>
            </a:extLst>
          </p:cNvPr>
          <p:cNvCxnSpPr>
            <a:cxnSpLocks/>
          </p:cNvCxnSpPr>
          <p:nvPr/>
        </p:nvCxnSpPr>
        <p:spPr>
          <a:xfrm>
            <a:off x="8793245" y="2771617"/>
            <a:ext cx="11677" cy="2007273"/>
          </a:xfrm>
          <a:prstGeom prst="line">
            <a:avLst/>
          </a:prstGeom>
          <a:noFill/>
          <a:ln w="101600" cap="flat" cmpd="sng" algn="ctr">
            <a:solidFill>
              <a:sysClr val="window" lastClr="FFFFFF">
                <a:lumMod val="85000"/>
              </a:sysClr>
            </a:solidFill>
            <a:prstDash val="solid"/>
          </a:ln>
          <a:effectLst/>
        </p:spPr>
      </p:cxnSp>
      <p:sp>
        <p:nvSpPr>
          <p:cNvPr id="405" name="Arc 404">
            <a:extLst>
              <a:ext uri="{FF2B5EF4-FFF2-40B4-BE49-F238E27FC236}">
                <a16:creationId xmlns:a16="http://schemas.microsoft.com/office/drawing/2014/main" id="{1DA872B3-8EB3-94F0-2052-59C94924AA9E}"/>
              </a:ext>
            </a:extLst>
          </p:cNvPr>
          <p:cNvSpPr/>
          <p:nvPr/>
        </p:nvSpPr>
        <p:spPr>
          <a:xfrm rot="10800000">
            <a:off x="7472390" y="4567829"/>
            <a:ext cx="380002"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406" name="Group 405">
            <a:extLst>
              <a:ext uri="{FF2B5EF4-FFF2-40B4-BE49-F238E27FC236}">
                <a16:creationId xmlns:a16="http://schemas.microsoft.com/office/drawing/2014/main" id="{A8B9C39B-8C4F-45D3-107A-0AED7C55B1E0}"/>
              </a:ext>
            </a:extLst>
          </p:cNvPr>
          <p:cNvGrpSpPr/>
          <p:nvPr/>
        </p:nvGrpSpPr>
        <p:grpSpPr>
          <a:xfrm>
            <a:off x="8756297" y="4168361"/>
            <a:ext cx="87999" cy="95618"/>
            <a:chOff x="7331909" y="3522364"/>
            <a:chExt cx="99974" cy="108628"/>
          </a:xfrm>
        </p:grpSpPr>
        <p:sp>
          <p:nvSpPr>
            <p:cNvPr id="407" name="Chevron 479">
              <a:extLst>
                <a:ext uri="{FF2B5EF4-FFF2-40B4-BE49-F238E27FC236}">
                  <a16:creationId xmlns:a16="http://schemas.microsoft.com/office/drawing/2014/main" id="{4C5A49BA-C0BA-8488-B8D8-130234A4A00A}"/>
                </a:ext>
              </a:extLst>
            </p:cNvPr>
            <p:cNvSpPr/>
            <p:nvPr/>
          </p:nvSpPr>
          <p:spPr>
            <a:xfrm rot="16200000">
              <a:off x="7357536" y="3556645"/>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08" name="Chevron 480">
              <a:extLst>
                <a:ext uri="{FF2B5EF4-FFF2-40B4-BE49-F238E27FC236}">
                  <a16:creationId xmlns:a16="http://schemas.microsoft.com/office/drawing/2014/main" id="{5CB9D55F-07D0-7CA1-A3E5-51BDBC90C41A}"/>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409" name="Oval 408">
            <a:extLst>
              <a:ext uri="{FF2B5EF4-FFF2-40B4-BE49-F238E27FC236}">
                <a16:creationId xmlns:a16="http://schemas.microsoft.com/office/drawing/2014/main" id="{8B3569CC-1801-4C2C-EFFE-2B121044A17B}"/>
              </a:ext>
            </a:extLst>
          </p:cNvPr>
          <p:cNvSpPr>
            <a:spLocks noChangeAspect="1"/>
          </p:cNvSpPr>
          <p:nvPr/>
        </p:nvSpPr>
        <p:spPr>
          <a:xfrm>
            <a:off x="7942158" y="4699682"/>
            <a:ext cx="436111" cy="426726"/>
          </a:xfrm>
          <a:prstGeom prst="ellipse">
            <a:avLst/>
          </a:prstGeom>
          <a:solidFill>
            <a:sysClr val="window" lastClr="FFFFFF"/>
          </a:solidFill>
          <a:ln w="38100" cap="flat" cmpd="sng" algn="ctr">
            <a:solidFill>
              <a:srgbClr val="62B5E5"/>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10" name="TextBox 409">
            <a:extLst>
              <a:ext uri="{FF2B5EF4-FFF2-40B4-BE49-F238E27FC236}">
                <a16:creationId xmlns:a16="http://schemas.microsoft.com/office/drawing/2014/main" id="{CBE5F4EB-6C3D-1AF3-6A6A-C532649F8F84}"/>
              </a:ext>
            </a:extLst>
          </p:cNvPr>
          <p:cNvSpPr txBox="1"/>
          <p:nvPr/>
        </p:nvSpPr>
        <p:spPr>
          <a:xfrm>
            <a:off x="7596635" y="3101374"/>
            <a:ext cx="1119302" cy="1661993"/>
          </a:xfrm>
          <a:prstGeom prst="rect">
            <a:avLst/>
          </a:prstGeom>
          <a:noFill/>
        </p:spPr>
        <p:txBody>
          <a:bodyPr wrap="square" lIns="0" tIns="0" rIns="0" bIns="0" rtlCol="0" anchor="ctr">
            <a:spAutoFit/>
          </a:bodyPr>
          <a:lstStyle/>
          <a:p>
            <a:pPr>
              <a:buSzPct val="100000"/>
              <a:defRPr/>
            </a:pPr>
            <a:r>
              <a:rPr lang="en-US" sz="900">
                <a:latin typeface="Verdana" panose="020B0604030504040204" pitchFamily="34" charset="0"/>
                <a:ea typeface="Verdana" panose="020B0604030504040204" pitchFamily="34" charset="0"/>
              </a:rPr>
              <a:t>Breakdown future work orders into independent tasks and identify the </a:t>
            </a:r>
            <a:r>
              <a:rPr lang="en-US" sz="900" err="1">
                <a:latin typeface="Verdana" panose="020B0604030504040204" pitchFamily="34" charset="0"/>
                <a:ea typeface="Verdana" panose="020B0604030504040204" pitchFamily="34" charset="0"/>
              </a:rPr>
              <a:t>labour</a:t>
            </a:r>
            <a:r>
              <a:rPr lang="en-US" sz="900">
                <a:latin typeface="Verdana" panose="020B0604030504040204" pitchFamily="34" charset="0"/>
                <a:ea typeface="Verdana" panose="020B0604030504040204" pitchFamily="34" charset="0"/>
              </a:rPr>
              <a:t>, materials, time, cost and constraints to do the job by looking at the past work orders and descriptions</a:t>
            </a:r>
          </a:p>
          <a:p>
            <a:pPr>
              <a:buSzPct val="100000"/>
              <a:defRPr/>
            </a:pPr>
            <a:endParaRPr lang="en-IN" sz="900" kern="0">
              <a:solidFill>
                <a:srgbClr val="313131"/>
              </a:solidFill>
              <a:latin typeface="Verdana" panose="020B0604030504040204" pitchFamily="34" charset="0"/>
              <a:ea typeface="Verdana" panose="020B0604030504040204" pitchFamily="34" charset="0"/>
            </a:endParaRPr>
          </a:p>
        </p:txBody>
      </p:sp>
      <p:sp>
        <p:nvSpPr>
          <p:cNvPr id="414" name="Rectangle 413">
            <a:extLst>
              <a:ext uri="{FF2B5EF4-FFF2-40B4-BE49-F238E27FC236}">
                <a16:creationId xmlns:a16="http://schemas.microsoft.com/office/drawing/2014/main" id="{C747ED33-3052-E387-E141-3E840B0B7AE7}"/>
              </a:ext>
            </a:extLst>
          </p:cNvPr>
          <p:cNvSpPr/>
          <p:nvPr/>
        </p:nvSpPr>
        <p:spPr>
          <a:xfrm>
            <a:off x="7612914" y="2853536"/>
            <a:ext cx="1076206"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rPr>
              <a:t>Task List Optimization</a:t>
            </a:r>
          </a:p>
        </p:txBody>
      </p:sp>
      <p:grpSp>
        <p:nvGrpSpPr>
          <p:cNvPr id="415" name="Group 414">
            <a:extLst>
              <a:ext uri="{FF2B5EF4-FFF2-40B4-BE49-F238E27FC236}">
                <a16:creationId xmlns:a16="http://schemas.microsoft.com/office/drawing/2014/main" id="{F75D05C1-D1A4-98B2-0B7C-5E9FB011284B}"/>
              </a:ext>
            </a:extLst>
          </p:cNvPr>
          <p:cNvGrpSpPr/>
          <p:nvPr/>
        </p:nvGrpSpPr>
        <p:grpSpPr>
          <a:xfrm>
            <a:off x="7438142" y="3264333"/>
            <a:ext cx="87999" cy="95618"/>
            <a:chOff x="9181659" y="3419406"/>
            <a:chExt cx="99974" cy="108628"/>
          </a:xfrm>
        </p:grpSpPr>
        <p:sp>
          <p:nvSpPr>
            <p:cNvPr id="416" name="Chevron 476">
              <a:extLst>
                <a:ext uri="{FF2B5EF4-FFF2-40B4-BE49-F238E27FC236}">
                  <a16:creationId xmlns:a16="http://schemas.microsoft.com/office/drawing/2014/main" id="{C7E4710E-368F-B2FF-A895-4739E1D646BB}"/>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17" name="Chevron 477">
              <a:extLst>
                <a:ext uri="{FF2B5EF4-FFF2-40B4-BE49-F238E27FC236}">
                  <a16:creationId xmlns:a16="http://schemas.microsoft.com/office/drawing/2014/main" id="{81F8C55C-06E5-18FC-4C87-4501B13C6B1E}"/>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418" name="Arc 417">
            <a:extLst>
              <a:ext uri="{FF2B5EF4-FFF2-40B4-BE49-F238E27FC236}">
                <a16:creationId xmlns:a16="http://schemas.microsoft.com/office/drawing/2014/main" id="{CFFD8588-3CF5-4AD9-B8BF-85FFC8E259D2}"/>
              </a:ext>
            </a:extLst>
          </p:cNvPr>
          <p:cNvSpPr/>
          <p:nvPr/>
        </p:nvSpPr>
        <p:spPr>
          <a:xfrm rot="16200000">
            <a:off x="8797713" y="2594292"/>
            <a:ext cx="371824" cy="380002"/>
          </a:xfrm>
          <a:prstGeom prst="arc">
            <a:avLst>
              <a:gd name="adj1" fmla="val 16200000"/>
              <a:gd name="adj2" fmla="val 19669931"/>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423" name="Straight Connector 422">
            <a:extLst>
              <a:ext uri="{FF2B5EF4-FFF2-40B4-BE49-F238E27FC236}">
                <a16:creationId xmlns:a16="http://schemas.microsoft.com/office/drawing/2014/main" id="{19DDE76D-86A9-D86F-638C-EABDD3D4E923}"/>
              </a:ext>
            </a:extLst>
          </p:cNvPr>
          <p:cNvCxnSpPr>
            <a:cxnSpLocks/>
          </p:cNvCxnSpPr>
          <p:nvPr/>
        </p:nvCxnSpPr>
        <p:spPr>
          <a:xfrm>
            <a:off x="10199759" y="4938398"/>
            <a:ext cx="1008109" cy="1765"/>
          </a:xfrm>
          <a:prstGeom prst="line">
            <a:avLst/>
          </a:prstGeom>
          <a:noFill/>
          <a:ln w="101600" cap="flat" cmpd="sng" algn="ctr">
            <a:solidFill>
              <a:sysClr val="window" lastClr="FFFFFF">
                <a:lumMod val="85000"/>
              </a:sysClr>
            </a:solidFill>
            <a:prstDash val="solid"/>
          </a:ln>
          <a:effectLst/>
        </p:spPr>
      </p:cxnSp>
      <p:sp>
        <p:nvSpPr>
          <p:cNvPr id="424" name="Arc 423">
            <a:extLst>
              <a:ext uri="{FF2B5EF4-FFF2-40B4-BE49-F238E27FC236}">
                <a16:creationId xmlns:a16="http://schemas.microsoft.com/office/drawing/2014/main" id="{C2D92D1A-2049-56EE-4C93-BDC8CB566E10}"/>
              </a:ext>
            </a:extLst>
          </p:cNvPr>
          <p:cNvSpPr/>
          <p:nvPr/>
        </p:nvSpPr>
        <p:spPr>
          <a:xfrm rot="10800000">
            <a:off x="10055328" y="4560026"/>
            <a:ext cx="380002" cy="371824"/>
          </a:xfrm>
          <a:prstGeom prst="arc">
            <a:avLst>
              <a:gd name="adj1" fmla="val 15936433"/>
              <a:gd name="adj2" fmla="val 20480822"/>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25" name="Oval 424">
            <a:extLst>
              <a:ext uri="{FF2B5EF4-FFF2-40B4-BE49-F238E27FC236}">
                <a16:creationId xmlns:a16="http://schemas.microsoft.com/office/drawing/2014/main" id="{53D9E478-7F1D-2F87-8683-5F72F05FBA18}"/>
              </a:ext>
            </a:extLst>
          </p:cNvPr>
          <p:cNvSpPr>
            <a:spLocks noChangeAspect="1"/>
          </p:cNvSpPr>
          <p:nvPr/>
        </p:nvSpPr>
        <p:spPr>
          <a:xfrm>
            <a:off x="9846080" y="3395409"/>
            <a:ext cx="436111" cy="426726"/>
          </a:xfrm>
          <a:prstGeom prst="ellipse">
            <a:avLst/>
          </a:prstGeom>
          <a:solidFill>
            <a:sysClr val="window" lastClr="FFFFFF"/>
          </a:solidFill>
          <a:ln w="38100" cap="flat" cmpd="sng" algn="ctr">
            <a:solidFill>
              <a:srgbClr val="62B5E5"/>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26" name="TextBox 425">
            <a:extLst>
              <a:ext uri="{FF2B5EF4-FFF2-40B4-BE49-F238E27FC236}">
                <a16:creationId xmlns:a16="http://schemas.microsoft.com/office/drawing/2014/main" id="{46535942-2D76-1683-2360-C125C0204395}"/>
              </a:ext>
            </a:extLst>
          </p:cNvPr>
          <p:cNvSpPr txBox="1"/>
          <p:nvPr/>
        </p:nvSpPr>
        <p:spPr>
          <a:xfrm>
            <a:off x="10307025" y="3116453"/>
            <a:ext cx="938063" cy="969496"/>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rPr>
              <a:t>Allocate tasks to upcoming shutdowns to labour based on per-hour basis and</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rPr>
              <a:t>skill</a:t>
            </a:r>
            <a:endParaRPr kumimoji="0" lang="en-US"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endParaRPr>
          </a:p>
        </p:txBody>
      </p:sp>
      <p:grpSp>
        <p:nvGrpSpPr>
          <p:cNvPr id="427" name="Group 426">
            <a:extLst>
              <a:ext uri="{FF2B5EF4-FFF2-40B4-BE49-F238E27FC236}">
                <a16:creationId xmlns:a16="http://schemas.microsoft.com/office/drawing/2014/main" id="{72A52767-73F0-42E2-4D55-1DFF6F661D77}"/>
              </a:ext>
            </a:extLst>
          </p:cNvPr>
          <p:cNvGrpSpPr/>
          <p:nvPr/>
        </p:nvGrpSpPr>
        <p:grpSpPr>
          <a:xfrm>
            <a:off x="10019752" y="3104595"/>
            <a:ext cx="87999" cy="95618"/>
            <a:chOff x="9181659" y="3419406"/>
            <a:chExt cx="99974" cy="108628"/>
          </a:xfrm>
        </p:grpSpPr>
        <p:sp>
          <p:nvSpPr>
            <p:cNvPr id="428" name="Chevron 476">
              <a:extLst>
                <a:ext uri="{FF2B5EF4-FFF2-40B4-BE49-F238E27FC236}">
                  <a16:creationId xmlns:a16="http://schemas.microsoft.com/office/drawing/2014/main" id="{963AD70D-B524-12C7-C53E-D532F2623D54}"/>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29" name="Chevron 477">
              <a:extLst>
                <a:ext uri="{FF2B5EF4-FFF2-40B4-BE49-F238E27FC236}">
                  <a16:creationId xmlns:a16="http://schemas.microsoft.com/office/drawing/2014/main" id="{67D5EFE4-626D-89DC-2A3F-C43AC55B97D2}"/>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pic>
        <p:nvPicPr>
          <p:cNvPr id="431" name="Graphic 430" descr="Cmd Terminal with solid fill">
            <a:extLst>
              <a:ext uri="{FF2B5EF4-FFF2-40B4-BE49-F238E27FC236}">
                <a16:creationId xmlns:a16="http://schemas.microsoft.com/office/drawing/2014/main" id="{AC97E145-9C42-4A8F-3193-365680CBCA1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919945" y="3463973"/>
            <a:ext cx="309159" cy="301753"/>
          </a:xfrm>
          <a:prstGeom prst="rect">
            <a:avLst/>
          </a:prstGeom>
        </p:spPr>
      </p:pic>
      <p:sp>
        <p:nvSpPr>
          <p:cNvPr id="433" name="Arc 432">
            <a:extLst>
              <a:ext uri="{FF2B5EF4-FFF2-40B4-BE49-F238E27FC236}">
                <a16:creationId xmlns:a16="http://schemas.microsoft.com/office/drawing/2014/main" id="{AC2AECB1-E100-5FE4-C152-D5F2389FD6EC}"/>
              </a:ext>
            </a:extLst>
          </p:cNvPr>
          <p:cNvSpPr/>
          <p:nvPr/>
        </p:nvSpPr>
        <p:spPr>
          <a:xfrm rot="5400000">
            <a:off x="10985325" y="4558042"/>
            <a:ext cx="371824" cy="380002"/>
          </a:xfrm>
          <a:prstGeom prst="arc">
            <a:avLst>
              <a:gd name="adj1" fmla="val 16142256"/>
              <a:gd name="adj2" fmla="val 0"/>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cxnSp>
        <p:nvCxnSpPr>
          <p:cNvPr id="434" name="Straight Connector 433">
            <a:extLst>
              <a:ext uri="{FF2B5EF4-FFF2-40B4-BE49-F238E27FC236}">
                <a16:creationId xmlns:a16="http://schemas.microsoft.com/office/drawing/2014/main" id="{F547700B-45D2-902A-21D4-F1AA97155B9E}"/>
              </a:ext>
            </a:extLst>
          </p:cNvPr>
          <p:cNvCxnSpPr>
            <a:cxnSpLocks/>
          </p:cNvCxnSpPr>
          <p:nvPr/>
        </p:nvCxnSpPr>
        <p:spPr>
          <a:xfrm>
            <a:off x="11348564" y="2771990"/>
            <a:ext cx="11677" cy="2007273"/>
          </a:xfrm>
          <a:prstGeom prst="line">
            <a:avLst/>
          </a:prstGeom>
          <a:noFill/>
          <a:ln w="101600" cap="flat" cmpd="sng" algn="ctr">
            <a:solidFill>
              <a:sysClr val="window" lastClr="FFFFFF">
                <a:lumMod val="85000"/>
              </a:sysClr>
            </a:solidFill>
            <a:prstDash val="solid"/>
          </a:ln>
          <a:effectLst/>
        </p:spPr>
      </p:cxnSp>
      <p:cxnSp>
        <p:nvCxnSpPr>
          <p:cNvPr id="435" name="Straight Connector 434">
            <a:extLst>
              <a:ext uri="{FF2B5EF4-FFF2-40B4-BE49-F238E27FC236}">
                <a16:creationId xmlns:a16="http://schemas.microsoft.com/office/drawing/2014/main" id="{F0FF9BB0-C5E5-40C4-A833-D755B28D2F1D}"/>
              </a:ext>
            </a:extLst>
          </p:cNvPr>
          <p:cNvCxnSpPr>
            <a:cxnSpLocks/>
          </p:cNvCxnSpPr>
          <p:nvPr/>
        </p:nvCxnSpPr>
        <p:spPr>
          <a:xfrm flipV="1">
            <a:off x="10400947" y="2576911"/>
            <a:ext cx="1200859" cy="9586"/>
          </a:xfrm>
          <a:prstGeom prst="line">
            <a:avLst/>
          </a:prstGeom>
          <a:noFill/>
          <a:ln w="101600" cap="flat" cmpd="sng" algn="ctr">
            <a:solidFill>
              <a:sysClr val="window" lastClr="FFFFFF">
                <a:lumMod val="85000"/>
              </a:sysClr>
            </a:solidFill>
            <a:prstDash val="solid"/>
          </a:ln>
          <a:effectLst/>
        </p:spPr>
      </p:cxnSp>
      <p:sp>
        <p:nvSpPr>
          <p:cNvPr id="437" name="Arc 436">
            <a:extLst>
              <a:ext uri="{FF2B5EF4-FFF2-40B4-BE49-F238E27FC236}">
                <a16:creationId xmlns:a16="http://schemas.microsoft.com/office/drawing/2014/main" id="{01F9884F-E023-8BEC-E93C-D8E26FFE140D}"/>
              </a:ext>
            </a:extLst>
          </p:cNvPr>
          <p:cNvSpPr/>
          <p:nvPr/>
        </p:nvSpPr>
        <p:spPr>
          <a:xfrm rot="16200000">
            <a:off x="11356562" y="2606531"/>
            <a:ext cx="371824" cy="380002"/>
          </a:xfrm>
          <a:prstGeom prst="arc">
            <a:avLst>
              <a:gd name="adj1" fmla="val 16200000"/>
              <a:gd name="adj2" fmla="val 19669931"/>
            </a:avLst>
          </a:prstGeom>
          <a:noFill/>
          <a:ln w="101600" cap="flat" cmpd="sng" algn="ctr">
            <a:solidFill>
              <a:sysClr val="window" lastClr="FFFFFF">
                <a:lumMod val="85000"/>
              </a:sysClr>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438" name="Group 437">
            <a:extLst>
              <a:ext uri="{FF2B5EF4-FFF2-40B4-BE49-F238E27FC236}">
                <a16:creationId xmlns:a16="http://schemas.microsoft.com/office/drawing/2014/main" id="{BE8D5EB6-10F0-629E-956B-B521EC630502}"/>
              </a:ext>
            </a:extLst>
          </p:cNvPr>
          <p:cNvGrpSpPr/>
          <p:nvPr/>
        </p:nvGrpSpPr>
        <p:grpSpPr>
          <a:xfrm rot="5400000">
            <a:off x="11414113" y="2524144"/>
            <a:ext cx="88021" cy="95622"/>
            <a:chOff x="7331884" y="3522364"/>
            <a:chExt cx="99999" cy="108632"/>
          </a:xfrm>
        </p:grpSpPr>
        <p:sp>
          <p:nvSpPr>
            <p:cNvPr id="439" name="Chevron 479">
              <a:extLst>
                <a:ext uri="{FF2B5EF4-FFF2-40B4-BE49-F238E27FC236}">
                  <a16:creationId xmlns:a16="http://schemas.microsoft.com/office/drawing/2014/main" id="{12BA602D-794F-7B24-0BBD-30CBDBFABB61}"/>
                </a:ext>
              </a:extLst>
            </p:cNvPr>
            <p:cNvSpPr/>
            <p:nvPr/>
          </p:nvSpPr>
          <p:spPr>
            <a:xfrm rot="16200000">
              <a:off x="7357511" y="355664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40" name="Chevron 480">
              <a:extLst>
                <a:ext uri="{FF2B5EF4-FFF2-40B4-BE49-F238E27FC236}">
                  <a16:creationId xmlns:a16="http://schemas.microsoft.com/office/drawing/2014/main" id="{C271B62D-02E6-4EE8-6E00-32F59BFBF97C}"/>
                </a:ext>
              </a:extLst>
            </p:cNvPr>
            <p:cNvSpPr/>
            <p:nvPr/>
          </p:nvSpPr>
          <p:spPr>
            <a:xfrm rot="16200000">
              <a:off x="7357536" y="349673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441" name="Rectangle 440">
            <a:extLst>
              <a:ext uri="{FF2B5EF4-FFF2-40B4-BE49-F238E27FC236}">
                <a16:creationId xmlns:a16="http://schemas.microsoft.com/office/drawing/2014/main" id="{D480F772-7ACD-C0EE-F7B4-1870F79DD120}"/>
              </a:ext>
            </a:extLst>
          </p:cNvPr>
          <p:cNvSpPr/>
          <p:nvPr/>
        </p:nvSpPr>
        <p:spPr>
          <a:xfrm>
            <a:off x="10328614" y="2893283"/>
            <a:ext cx="1076206"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rPr>
              <a:t>Scheduling</a:t>
            </a:r>
          </a:p>
        </p:txBody>
      </p:sp>
      <p:grpSp>
        <p:nvGrpSpPr>
          <p:cNvPr id="444" name="Group 443">
            <a:extLst>
              <a:ext uri="{FF2B5EF4-FFF2-40B4-BE49-F238E27FC236}">
                <a16:creationId xmlns:a16="http://schemas.microsoft.com/office/drawing/2014/main" id="{2D3471E4-83E8-2693-30DF-66AAC9AF5A75}"/>
              </a:ext>
            </a:extLst>
          </p:cNvPr>
          <p:cNvGrpSpPr/>
          <p:nvPr/>
        </p:nvGrpSpPr>
        <p:grpSpPr>
          <a:xfrm>
            <a:off x="10019752" y="4191946"/>
            <a:ext cx="87999" cy="95618"/>
            <a:chOff x="9181659" y="3419406"/>
            <a:chExt cx="99974" cy="108628"/>
          </a:xfrm>
        </p:grpSpPr>
        <p:sp>
          <p:nvSpPr>
            <p:cNvPr id="445" name="Chevron 476">
              <a:extLst>
                <a:ext uri="{FF2B5EF4-FFF2-40B4-BE49-F238E27FC236}">
                  <a16:creationId xmlns:a16="http://schemas.microsoft.com/office/drawing/2014/main" id="{67A2CE21-8F38-158C-2D03-F1F2A206E267}"/>
                </a:ext>
              </a:extLst>
            </p:cNvPr>
            <p:cNvSpPr/>
            <p:nvPr/>
          </p:nvSpPr>
          <p:spPr>
            <a:xfrm rot="5400000">
              <a:off x="9207286" y="3393779"/>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sp>
          <p:nvSpPr>
            <p:cNvPr id="446" name="Chevron 477">
              <a:extLst>
                <a:ext uri="{FF2B5EF4-FFF2-40B4-BE49-F238E27FC236}">
                  <a16:creationId xmlns:a16="http://schemas.microsoft.com/office/drawing/2014/main" id="{27AB6B04-030D-709A-517C-93EB18D4905C}"/>
                </a:ext>
              </a:extLst>
            </p:cNvPr>
            <p:cNvSpPr/>
            <p:nvPr/>
          </p:nvSpPr>
          <p:spPr>
            <a:xfrm rot="5400000">
              <a:off x="9207286" y="3453687"/>
              <a:ext cx="48720" cy="99974"/>
            </a:xfrm>
            <a:prstGeom prst="chevron">
              <a:avLst>
                <a:gd name="adj" fmla="val 72670"/>
              </a:avLst>
            </a:prstGeom>
            <a:solidFill>
              <a:sysClr val="window" lastClr="FFFFFF"/>
            </a:solidFill>
            <a:ln w="19050" cap="flat" cmpd="sng" algn="ctr">
              <a:solidFill>
                <a:sysClr val="window" lastClr="FFFFFF"/>
              </a:solidFill>
              <a:prstDash val="solid"/>
            </a:ln>
            <a:effectLst>
              <a:outerShdw blurRad="40000" dist="23000" dir="5400000" rotWithShape="0">
                <a:srgbClr val="000000">
                  <a:alpha val="35000"/>
                </a:srgbClr>
              </a:outerShdw>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sp>
        <p:nvSpPr>
          <p:cNvPr id="450" name="Text Placeholder 2">
            <a:extLst>
              <a:ext uri="{FF2B5EF4-FFF2-40B4-BE49-F238E27FC236}">
                <a16:creationId xmlns:a16="http://schemas.microsoft.com/office/drawing/2014/main" id="{7E974960-6920-2122-7903-809759079A00}"/>
              </a:ext>
            </a:extLst>
          </p:cNvPr>
          <p:cNvSpPr txBox="1">
            <a:spLocks/>
          </p:cNvSpPr>
          <p:nvPr/>
        </p:nvSpPr>
        <p:spPr>
          <a:xfrm>
            <a:off x="141838" y="650925"/>
            <a:ext cx="11848588" cy="553998"/>
          </a:xfrm>
          <a:prstGeom prst="rect">
            <a:avLst/>
          </a:prstGeom>
        </p:spPr>
        <p:txBody>
          <a:bodyPr vert="horz" wrap="squar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a:solidFill>
                  <a:srgbClr val="313131"/>
                </a:solidFill>
                <a:latin typeface="Verdana" panose="020B0604030504040204" pitchFamily="34" charset="0"/>
                <a:ea typeface="Verdana" panose="020B0604030504040204" pitchFamily="34" charset="0"/>
                <a:cs typeface="Open Sans" panose="020B0606030504020204" pitchFamily="34" charset="0"/>
              </a:rPr>
              <a:t>Real‑world manufacturing and mining plants </a:t>
            </a:r>
            <a:r>
              <a:rPr lang="en-US" sz="1000" b="1">
                <a:solidFill>
                  <a:srgbClr val="34A853"/>
                </a:solidFill>
                <a:latin typeface="Verdana" panose="020B0604030504040204" pitchFamily="34" charset="0"/>
                <a:ea typeface="Verdana" panose="020B0604030504040204" pitchFamily="34" charset="0"/>
                <a:cs typeface="Open Sans" panose="020B0606030504020204" pitchFamily="34" charset="0"/>
              </a:rPr>
              <a:t>struggle to use predictive models for material failure </a:t>
            </a:r>
            <a:r>
              <a:rPr lang="en-US" sz="1000">
                <a:solidFill>
                  <a:srgbClr val="313131"/>
                </a:solidFill>
                <a:latin typeface="Verdana" panose="020B0604030504040204" pitchFamily="34" charset="0"/>
                <a:ea typeface="Verdana" panose="020B0604030504040204" pitchFamily="34" charset="0"/>
                <a:cs typeface="Open Sans" panose="020B0606030504020204" pitchFamily="34" charset="0"/>
              </a:rPr>
              <a:t>because the actual failure data is often hidden within maintenance logs and is hard to extract. The goal of the solution is to </a:t>
            </a:r>
            <a:r>
              <a:rPr lang="en-US" sz="1000" b="1">
                <a:solidFill>
                  <a:srgbClr val="34A853"/>
                </a:solidFill>
                <a:latin typeface="Verdana" panose="020B0604030504040204" pitchFamily="34" charset="0"/>
                <a:ea typeface="Verdana" panose="020B0604030504040204" pitchFamily="34" charset="0"/>
                <a:cs typeface="Open Sans" panose="020B0606030504020204" pitchFamily="34" charset="0"/>
              </a:rPr>
              <a:t>clean this data in SAP using Gen AI</a:t>
            </a:r>
            <a:r>
              <a:rPr lang="en-US" sz="1000">
                <a:solidFill>
                  <a:srgbClr val="313131"/>
                </a:solidFill>
                <a:latin typeface="Verdana" panose="020B0604030504040204" pitchFamily="34" charset="0"/>
                <a:ea typeface="Verdana" panose="020B0604030504040204" pitchFamily="34" charset="0"/>
                <a:cs typeface="Open Sans" panose="020B0606030504020204" pitchFamily="34" charset="0"/>
              </a:rPr>
              <a:t>, create a single source of truth for failure of components and then use it to improve maintenance planning, cost estimation and failure prediction.</a:t>
            </a:r>
            <a:endParaRPr lang="en-US" sz="1000">
              <a:latin typeface="Verdana" panose="020B0604030504040204" pitchFamily="34" charset="0"/>
              <a:ea typeface="Verdana" panose="020B060403050404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CCD3B7B4-0EF2-5997-8F16-304E506E1A00}"/>
              </a:ext>
            </a:extLst>
          </p:cNvPr>
          <p:cNvSpPr txBox="1"/>
          <p:nvPr/>
        </p:nvSpPr>
        <p:spPr>
          <a:xfrm>
            <a:off x="1304042" y="4109527"/>
            <a:ext cx="1091480" cy="69249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rPr>
              <a:t>Correct the mapping between material group and equipment codes</a:t>
            </a:r>
          </a:p>
        </p:txBody>
      </p:sp>
      <p:sp>
        <p:nvSpPr>
          <p:cNvPr id="7" name="Rectangle 6">
            <a:extLst>
              <a:ext uri="{FF2B5EF4-FFF2-40B4-BE49-F238E27FC236}">
                <a16:creationId xmlns:a16="http://schemas.microsoft.com/office/drawing/2014/main" id="{6281FA31-4CAF-2482-DC76-A146CDF3CA89}"/>
              </a:ext>
            </a:extLst>
          </p:cNvPr>
          <p:cNvSpPr/>
          <p:nvPr/>
        </p:nvSpPr>
        <p:spPr>
          <a:xfrm>
            <a:off x="1296661" y="3815150"/>
            <a:ext cx="1076206"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rPr>
              <a:t>Material Review</a:t>
            </a:r>
          </a:p>
        </p:txBody>
      </p:sp>
      <p:sp>
        <p:nvSpPr>
          <p:cNvPr id="8" name="TextBox 7">
            <a:extLst>
              <a:ext uri="{FF2B5EF4-FFF2-40B4-BE49-F238E27FC236}">
                <a16:creationId xmlns:a16="http://schemas.microsoft.com/office/drawing/2014/main" id="{2BC010B5-5634-DDA1-E906-02B52183342C}"/>
              </a:ext>
            </a:extLst>
          </p:cNvPr>
          <p:cNvSpPr txBox="1"/>
          <p:nvPr/>
        </p:nvSpPr>
        <p:spPr>
          <a:xfrm>
            <a:off x="5476511" y="4091938"/>
            <a:ext cx="1011233" cy="415498"/>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rPr>
              <a:t>Identify the industry life expectancy</a:t>
            </a:r>
            <a:endParaRPr kumimoji="0" lang="en-US" sz="900" b="0" i="0" u="none" strike="noStrike" kern="0" cap="none" spc="0" normalizeH="0" baseline="0" noProof="0">
              <a:ln>
                <a:noFill/>
              </a:ln>
              <a:solidFill>
                <a:srgbClr val="313131"/>
              </a:solidFill>
              <a:effectLst/>
              <a:uLnTx/>
              <a:uFillTx/>
              <a:latin typeface="Verdana" panose="020B0604030504040204" pitchFamily="34" charset="0"/>
              <a:ea typeface="Verdana" panose="020B0604030504040204" pitchFamily="34" charset="0"/>
            </a:endParaRPr>
          </a:p>
        </p:txBody>
      </p:sp>
      <p:sp>
        <p:nvSpPr>
          <p:cNvPr id="9" name="Rectangle 8">
            <a:extLst>
              <a:ext uri="{FF2B5EF4-FFF2-40B4-BE49-F238E27FC236}">
                <a16:creationId xmlns:a16="http://schemas.microsoft.com/office/drawing/2014/main" id="{5D0389C2-9070-4515-570A-63ED1C270A97}"/>
              </a:ext>
            </a:extLst>
          </p:cNvPr>
          <p:cNvSpPr/>
          <p:nvPr/>
        </p:nvSpPr>
        <p:spPr>
          <a:xfrm>
            <a:off x="5478833" y="3856679"/>
            <a:ext cx="1076206" cy="3226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7030A0"/>
                </a:solidFill>
                <a:effectLst/>
                <a:uLnTx/>
                <a:uFillTx/>
                <a:latin typeface="Verdana" panose="020B0604030504040204" pitchFamily="34" charset="0"/>
                <a:ea typeface="Verdana" panose="020B0604030504040204" pitchFamily="34" charset="0"/>
              </a:rPr>
              <a:t>Age Analysis</a:t>
            </a:r>
          </a:p>
        </p:txBody>
      </p:sp>
      <p:sp>
        <p:nvSpPr>
          <p:cNvPr id="11" name="TextBox 10">
            <a:extLst>
              <a:ext uri="{FF2B5EF4-FFF2-40B4-BE49-F238E27FC236}">
                <a16:creationId xmlns:a16="http://schemas.microsoft.com/office/drawing/2014/main" id="{BD5E0DCB-ACBD-A679-9CB0-F5D1B5DCCB20}"/>
              </a:ext>
            </a:extLst>
          </p:cNvPr>
          <p:cNvSpPr txBox="1"/>
          <p:nvPr/>
        </p:nvSpPr>
        <p:spPr>
          <a:xfrm>
            <a:off x="9022210" y="3271863"/>
            <a:ext cx="671530" cy="83099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rPr>
              <a:t>Stock check and</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GB" sz="900" b="0" i="0" u="none" strike="noStrike" kern="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rPr>
              <a:t>interact with procurement teams</a:t>
            </a:r>
            <a:endParaRPr kumimoji="0" lang="en-US" sz="900" b="0" i="0" u="none" strike="noStrike" kern="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endParaRPr>
          </a:p>
        </p:txBody>
      </p:sp>
      <p:sp>
        <p:nvSpPr>
          <p:cNvPr id="12" name="Rectangle 11">
            <a:extLst>
              <a:ext uri="{FF2B5EF4-FFF2-40B4-BE49-F238E27FC236}">
                <a16:creationId xmlns:a16="http://schemas.microsoft.com/office/drawing/2014/main" id="{D7BFD71E-E2D5-BB29-2107-89654C2AAF48}"/>
              </a:ext>
            </a:extLst>
          </p:cNvPr>
          <p:cNvSpPr/>
          <p:nvPr/>
        </p:nvSpPr>
        <p:spPr>
          <a:xfrm>
            <a:off x="9118137" y="2898943"/>
            <a:ext cx="792564" cy="371821"/>
          </a:xfrm>
          <a:prstGeom prst="rect">
            <a:avLst/>
          </a:prstGeom>
          <a:noFill/>
          <a:ln w="12700" cap="flat" cmpd="sng" algn="ctr">
            <a:noFill/>
            <a:prstDash val="solid"/>
          </a:ln>
          <a:effectLst/>
        </p:spPr>
        <p:txBody>
          <a:bodyPr lIns="0" tIns="0" rIns="0" bIns="0" rtlCol="0" anchor="ctr" anchorCtr="0"/>
          <a:lstStyle/>
          <a:p>
            <a:pPr marL="0" marR="0" lvl="0" indent="0" algn="l" defTabSz="837901" rtl="0" eaLnBrk="1" fontAlgn="auto" latinLnBrk="0" hangingPunct="1">
              <a:lnSpc>
                <a:spcPct val="100000"/>
              </a:lnSpc>
              <a:spcBef>
                <a:spcPts val="0"/>
              </a:spcBef>
              <a:spcAft>
                <a:spcPts val="0"/>
              </a:spcAft>
              <a:buClrTx/>
              <a:buSzTx/>
              <a:buFontTx/>
              <a:buNone/>
              <a:tabLst/>
              <a:defRPr/>
            </a:pPr>
            <a:r>
              <a:rPr lang="en-US" sz="900" b="1" kern="0" dirty="0">
                <a:solidFill>
                  <a:srgbClr val="7030A0"/>
                </a:solidFill>
                <a:latin typeface="Verdana" panose="020B0604030504040204" pitchFamily="34" charset="0"/>
                <a:ea typeface="Verdana" panose="020B0604030504040204" pitchFamily="34" charset="0"/>
              </a:rPr>
              <a:t>Material Expeditor agent</a:t>
            </a:r>
            <a:endParaRPr kumimoji="0" lang="en-US" sz="900" b="1" i="0" u="none" strike="noStrike" kern="0" cap="none" spc="0" normalizeH="0" baseline="0" noProof="0" dirty="0">
              <a:ln>
                <a:noFill/>
              </a:ln>
              <a:solidFill>
                <a:srgbClr val="7030A0"/>
              </a:solidFill>
              <a:effectLst/>
              <a:uLnTx/>
              <a:uFillTx/>
              <a:latin typeface="Verdana" panose="020B0604030504040204" pitchFamily="34" charset="0"/>
              <a:ea typeface="Verdana" panose="020B0604030504040204" pitchFamily="34" charset="0"/>
            </a:endParaRPr>
          </a:p>
        </p:txBody>
      </p:sp>
      <p:sp>
        <p:nvSpPr>
          <p:cNvPr id="13" name="Oval 12">
            <a:extLst>
              <a:ext uri="{FF2B5EF4-FFF2-40B4-BE49-F238E27FC236}">
                <a16:creationId xmlns:a16="http://schemas.microsoft.com/office/drawing/2014/main" id="{DEAEC8F4-64A3-1A8B-47E0-6C10981E2381}"/>
              </a:ext>
            </a:extLst>
          </p:cNvPr>
          <p:cNvSpPr>
            <a:spLocks noChangeAspect="1"/>
          </p:cNvSpPr>
          <p:nvPr/>
        </p:nvSpPr>
        <p:spPr>
          <a:xfrm>
            <a:off x="8661491" y="2879999"/>
            <a:ext cx="436111" cy="426726"/>
          </a:xfrm>
          <a:prstGeom prst="ellipse">
            <a:avLst/>
          </a:prstGeom>
          <a:solidFill>
            <a:sysClr val="window" lastClr="FFFFFF"/>
          </a:solidFill>
          <a:ln w="38100" cap="flat" cmpd="sng" algn="ctr">
            <a:solidFill>
              <a:srgbClr val="62B5E5"/>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grpSp>
        <p:nvGrpSpPr>
          <p:cNvPr id="14" name="Group 13">
            <a:extLst>
              <a:ext uri="{FF2B5EF4-FFF2-40B4-BE49-F238E27FC236}">
                <a16:creationId xmlns:a16="http://schemas.microsoft.com/office/drawing/2014/main" id="{6CEDAD1A-045A-2322-C844-F5503C63DEED}"/>
              </a:ext>
            </a:extLst>
          </p:cNvPr>
          <p:cNvGrpSpPr/>
          <p:nvPr/>
        </p:nvGrpSpPr>
        <p:grpSpPr>
          <a:xfrm>
            <a:off x="8725918" y="2951311"/>
            <a:ext cx="300576" cy="284105"/>
            <a:chOff x="7560846" y="5425933"/>
            <a:chExt cx="365758" cy="365760"/>
          </a:xfrm>
        </p:grpSpPr>
        <p:sp>
          <p:nvSpPr>
            <p:cNvPr id="15" name="Oval 14">
              <a:extLst>
                <a:ext uri="{FF2B5EF4-FFF2-40B4-BE49-F238E27FC236}">
                  <a16:creationId xmlns:a16="http://schemas.microsoft.com/office/drawing/2014/main" id="{11D61F13-BB0A-A386-411A-8F26DA5F1F36}"/>
                </a:ext>
              </a:extLst>
            </p:cNvPr>
            <p:cNvSpPr/>
            <p:nvPr/>
          </p:nvSpPr>
          <p:spPr>
            <a:xfrm>
              <a:off x="7560846" y="5425933"/>
              <a:ext cx="365758" cy="365760"/>
            </a:xfrm>
            <a:prstGeom prst="ellipse">
              <a:avLst/>
            </a:prstGeom>
            <a:solidFill>
              <a:srgbClr val="86BC25"/>
            </a:solidFill>
            <a:ln w="19050">
              <a:solidFill>
                <a:srgbClr val="D0D0CE"/>
              </a:solidFill>
            </a:ln>
            <a:effectLst/>
          </p:spPr>
          <p:txBody>
            <a:bodyPr wrap="square" lIns="0" tIns="0" rIns="0" bIns="0" rtlCol="0" anchor="ctr">
              <a:noAutofit/>
            </a:bodyPr>
            <a:lstStyle/>
            <a:p>
              <a:pPr marL="0" marR="0" lvl="0" indent="0" algn="ctr" defTabSz="914400" rtl="0" eaLnBrk="1" fontAlgn="base" latinLnBrk="0" hangingPunct="1">
                <a:lnSpc>
                  <a:spcPct val="90000"/>
                </a:lnSpc>
                <a:spcBef>
                  <a:spcPts val="600"/>
                </a:spcBef>
                <a:spcAft>
                  <a:spcPts val="0"/>
                </a:spcAft>
                <a:buClrTx/>
                <a:buSzTx/>
                <a:buFontTx/>
                <a:buNone/>
                <a:tabLst/>
                <a:defRPr/>
              </a:pPr>
              <a:endParaRPr kumimoji="0" lang="en-US" sz="900" b="0" i="0" u="none" strike="noStrike" kern="0" cap="none" spc="0" normalizeH="0" baseline="0" noProof="0">
                <a:ln>
                  <a:noFill/>
                </a:ln>
                <a:solidFill>
                  <a:srgbClr val="444444">
                    <a:lumMod val="40000"/>
                    <a:lumOff val="60000"/>
                  </a:srgbClr>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pic>
          <p:nvPicPr>
            <p:cNvPr id="16" name="Graphic 15" descr="Artificial Intelligence with solid fill">
              <a:extLst>
                <a:ext uri="{FF2B5EF4-FFF2-40B4-BE49-F238E27FC236}">
                  <a16:creationId xmlns:a16="http://schemas.microsoft.com/office/drawing/2014/main" id="{3D608228-E3F0-4B59-082E-0B5A4957A02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08996" y="5469068"/>
              <a:ext cx="274320" cy="274319"/>
            </a:xfrm>
            <a:prstGeom prst="rect">
              <a:avLst/>
            </a:prstGeom>
          </p:spPr>
        </p:pic>
      </p:grpSp>
      <p:grpSp>
        <p:nvGrpSpPr>
          <p:cNvPr id="22" name="Group 21">
            <a:extLst>
              <a:ext uri="{FF2B5EF4-FFF2-40B4-BE49-F238E27FC236}">
                <a16:creationId xmlns:a16="http://schemas.microsoft.com/office/drawing/2014/main" id="{0D8660E0-E5E5-FF2F-4CED-BA00D9DE4940}"/>
              </a:ext>
            </a:extLst>
          </p:cNvPr>
          <p:cNvGrpSpPr/>
          <p:nvPr/>
        </p:nvGrpSpPr>
        <p:grpSpPr>
          <a:xfrm>
            <a:off x="8011902" y="4778165"/>
            <a:ext cx="300577" cy="284105"/>
            <a:chOff x="7560860" y="5425933"/>
            <a:chExt cx="365760" cy="365760"/>
          </a:xfrm>
        </p:grpSpPr>
        <p:sp>
          <p:nvSpPr>
            <p:cNvPr id="23" name="Oval 22">
              <a:extLst>
                <a:ext uri="{FF2B5EF4-FFF2-40B4-BE49-F238E27FC236}">
                  <a16:creationId xmlns:a16="http://schemas.microsoft.com/office/drawing/2014/main" id="{59D818FA-7557-4B0D-6A26-E58849F2A1A3}"/>
                </a:ext>
              </a:extLst>
            </p:cNvPr>
            <p:cNvSpPr/>
            <p:nvPr/>
          </p:nvSpPr>
          <p:spPr>
            <a:xfrm>
              <a:off x="7560860" y="5425933"/>
              <a:ext cx="365760" cy="365760"/>
            </a:xfrm>
            <a:prstGeom prst="ellipse">
              <a:avLst/>
            </a:prstGeom>
            <a:solidFill>
              <a:srgbClr val="86BC25"/>
            </a:solidFill>
            <a:ln w="19050">
              <a:solidFill>
                <a:srgbClr val="D0D0CE"/>
              </a:solidFill>
            </a:ln>
            <a:effectLst/>
          </p:spPr>
          <p:txBody>
            <a:bodyPr wrap="square" lIns="0" tIns="0" rIns="0" bIns="0" rtlCol="0" anchor="ctr">
              <a:noAutofit/>
            </a:bodyPr>
            <a:lstStyle/>
            <a:p>
              <a:pPr marL="0" marR="0" lvl="0" indent="0" algn="ctr" defTabSz="914400" rtl="0" eaLnBrk="1" fontAlgn="base" latinLnBrk="0" hangingPunct="1">
                <a:lnSpc>
                  <a:spcPct val="90000"/>
                </a:lnSpc>
                <a:spcBef>
                  <a:spcPts val="600"/>
                </a:spcBef>
                <a:spcAft>
                  <a:spcPts val="0"/>
                </a:spcAft>
                <a:buClrTx/>
                <a:buSzTx/>
                <a:buFontTx/>
                <a:buNone/>
                <a:tabLst/>
                <a:defRPr/>
              </a:pPr>
              <a:endParaRPr kumimoji="0" lang="en-US" sz="900" b="0" i="0" u="none" strike="noStrike" kern="0" cap="none" spc="0" normalizeH="0" baseline="0" noProof="0">
                <a:ln>
                  <a:noFill/>
                </a:ln>
                <a:solidFill>
                  <a:srgbClr val="444444">
                    <a:lumMod val="40000"/>
                    <a:lumOff val="60000"/>
                  </a:srgbClr>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pic>
          <p:nvPicPr>
            <p:cNvPr id="24" name="Graphic 23" descr="Artificial Intelligence with solid fill">
              <a:extLst>
                <a:ext uri="{FF2B5EF4-FFF2-40B4-BE49-F238E27FC236}">
                  <a16:creationId xmlns:a16="http://schemas.microsoft.com/office/drawing/2014/main" id="{6E60E703-BFDF-7F0C-0CDE-57D667571C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09006" y="5469068"/>
              <a:ext cx="274319" cy="274319"/>
            </a:xfrm>
            <a:prstGeom prst="rect">
              <a:avLst/>
            </a:prstGeom>
          </p:spPr>
        </p:pic>
      </p:grpSp>
      <p:sp>
        <p:nvSpPr>
          <p:cNvPr id="25" name="Oval 24">
            <a:extLst>
              <a:ext uri="{FF2B5EF4-FFF2-40B4-BE49-F238E27FC236}">
                <a16:creationId xmlns:a16="http://schemas.microsoft.com/office/drawing/2014/main" id="{C21A716B-A341-CE07-FBC4-44F824106DA3}"/>
              </a:ext>
            </a:extLst>
          </p:cNvPr>
          <p:cNvSpPr>
            <a:spLocks noChangeAspect="1"/>
          </p:cNvSpPr>
          <p:nvPr/>
        </p:nvSpPr>
        <p:spPr>
          <a:xfrm>
            <a:off x="5728912" y="4658287"/>
            <a:ext cx="436111" cy="426726"/>
          </a:xfrm>
          <a:prstGeom prst="ellipse">
            <a:avLst/>
          </a:prstGeom>
          <a:solidFill>
            <a:sysClr val="window" lastClr="FFFFFF"/>
          </a:solidFill>
          <a:ln w="38100" cap="flat" cmpd="sng" algn="ctr">
            <a:solidFill>
              <a:srgbClr val="62B5E5"/>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pic>
        <p:nvPicPr>
          <p:cNvPr id="26" name="Graphic 25" descr="Cmd Terminal with solid fill">
            <a:extLst>
              <a:ext uri="{FF2B5EF4-FFF2-40B4-BE49-F238E27FC236}">
                <a16:creationId xmlns:a16="http://schemas.microsoft.com/office/drawing/2014/main" id="{DAF6103C-99A8-F322-248F-461E10802D9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802777" y="4726851"/>
            <a:ext cx="309159" cy="301753"/>
          </a:xfrm>
          <a:prstGeom prst="rect">
            <a:avLst/>
          </a:prstGeom>
        </p:spPr>
      </p:pic>
      <p:sp>
        <p:nvSpPr>
          <p:cNvPr id="27" name="Oval 26">
            <a:extLst>
              <a:ext uri="{FF2B5EF4-FFF2-40B4-BE49-F238E27FC236}">
                <a16:creationId xmlns:a16="http://schemas.microsoft.com/office/drawing/2014/main" id="{977E7E39-A0D2-3765-5559-E471A3EE24EF}"/>
              </a:ext>
            </a:extLst>
          </p:cNvPr>
          <p:cNvSpPr>
            <a:spLocks noChangeAspect="1"/>
          </p:cNvSpPr>
          <p:nvPr/>
        </p:nvSpPr>
        <p:spPr>
          <a:xfrm>
            <a:off x="5101840" y="3130641"/>
            <a:ext cx="436111" cy="426726"/>
          </a:xfrm>
          <a:prstGeom prst="ellipse">
            <a:avLst/>
          </a:prstGeom>
          <a:solidFill>
            <a:sysClr val="window" lastClr="FFFFFF"/>
          </a:solidFill>
          <a:ln w="38100" cap="flat" cmpd="sng" algn="ctr">
            <a:solidFill>
              <a:srgbClr val="62B5E5"/>
            </a:solidFill>
            <a:prstDash val="solid"/>
          </a:ln>
          <a:effectLst/>
        </p:spPr>
        <p:txBody>
          <a:bodyPr rtlCol="0" anchor="ctr"/>
          <a:lstStyle/>
          <a:p>
            <a:pPr marL="0" marR="0" lvl="0" indent="0" algn="ctr" defTabSz="837901"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Open Sans" panose="020B0606030504020204" pitchFamily="34" charset="0"/>
            </a:endParaRPr>
          </a:p>
        </p:txBody>
      </p:sp>
      <p:pic>
        <p:nvPicPr>
          <p:cNvPr id="29" name="Graphic 28" descr="Cmd Terminal with solid fill">
            <a:extLst>
              <a:ext uri="{FF2B5EF4-FFF2-40B4-BE49-F238E27FC236}">
                <a16:creationId xmlns:a16="http://schemas.microsoft.com/office/drawing/2014/main" id="{6E1B9B86-6204-7C8B-5A0D-950456F0186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75705" y="3199205"/>
            <a:ext cx="309159" cy="301753"/>
          </a:xfrm>
          <a:prstGeom prst="rect">
            <a:avLst/>
          </a:prstGeom>
        </p:spPr>
      </p:pic>
      <p:sp>
        <p:nvSpPr>
          <p:cNvPr id="55" name="Rectangle: Rounded Corners 54">
            <a:extLst>
              <a:ext uri="{FF2B5EF4-FFF2-40B4-BE49-F238E27FC236}">
                <a16:creationId xmlns:a16="http://schemas.microsoft.com/office/drawing/2014/main" id="{99A9E188-2A51-16CE-5A37-9688D2CA7775}"/>
              </a:ext>
            </a:extLst>
          </p:cNvPr>
          <p:cNvSpPr/>
          <p:nvPr/>
        </p:nvSpPr>
        <p:spPr bwMode="gray">
          <a:xfrm>
            <a:off x="541748" y="5693330"/>
            <a:ext cx="9893582" cy="611977"/>
          </a:xfrm>
          <a:prstGeom prst="roundRect">
            <a:avLst/>
          </a:prstGeom>
          <a:noFill/>
          <a:ln w="28575" algn="ctr">
            <a:solidFill>
              <a:srgbClr val="86BC25">
                <a:lumMod val="40000"/>
                <a:lumOff val="60000"/>
              </a:srgbClr>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endParaRPr>
          </a:p>
        </p:txBody>
      </p:sp>
      <p:grpSp>
        <p:nvGrpSpPr>
          <p:cNvPr id="61" name="Group 60">
            <a:extLst>
              <a:ext uri="{FF2B5EF4-FFF2-40B4-BE49-F238E27FC236}">
                <a16:creationId xmlns:a16="http://schemas.microsoft.com/office/drawing/2014/main" id="{9E318DD3-BD12-2A7D-FF28-49A9E1E5504C}"/>
              </a:ext>
            </a:extLst>
          </p:cNvPr>
          <p:cNvGrpSpPr/>
          <p:nvPr/>
        </p:nvGrpSpPr>
        <p:grpSpPr>
          <a:xfrm>
            <a:off x="5662143" y="5771571"/>
            <a:ext cx="1739515" cy="464920"/>
            <a:chOff x="9476967" y="5732788"/>
            <a:chExt cx="2090037" cy="466081"/>
          </a:xfrm>
        </p:grpSpPr>
        <p:pic>
          <p:nvPicPr>
            <p:cNvPr id="62" name="Graphic 61" descr="Stopwatch 25% with solid fill">
              <a:extLst>
                <a:ext uri="{FF2B5EF4-FFF2-40B4-BE49-F238E27FC236}">
                  <a16:creationId xmlns:a16="http://schemas.microsoft.com/office/drawing/2014/main" id="{5E5839D2-F26C-7407-C3E9-D42616B3E520}"/>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rot="10800000" flipV="1">
              <a:off x="9476967" y="5732788"/>
              <a:ext cx="558604" cy="466081"/>
            </a:xfrm>
            <a:prstGeom prst="rect">
              <a:avLst/>
            </a:prstGeom>
          </p:spPr>
        </p:pic>
        <p:sp>
          <p:nvSpPr>
            <p:cNvPr id="63" name="Rectangle 62">
              <a:extLst>
                <a:ext uri="{FF2B5EF4-FFF2-40B4-BE49-F238E27FC236}">
                  <a16:creationId xmlns:a16="http://schemas.microsoft.com/office/drawing/2014/main" id="{8245AD0D-EAE4-DD53-8352-51F74EDDA8A5}"/>
                </a:ext>
              </a:extLst>
            </p:cNvPr>
            <p:cNvSpPr/>
            <p:nvPr/>
          </p:nvSpPr>
          <p:spPr>
            <a:xfrm>
              <a:off x="9868342" y="5841225"/>
              <a:ext cx="1698662" cy="312611"/>
            </a:xfrm>
            <a:prstGeom prst="rect">
              <a:avLst/>
            </a:prstGeom>
            <a:noFill/>
            <a:ln w="12700" cap="flat" cmpd="sng" algn="ctr">
              <a:noFill/>
              <a:prstDash val="solid"/>
              <a:miter lim="800000"/>
            </a:ln>
            <a:effectLst/>
          </p:spPr>
          <p:txBody>
            <a:bodyPr lIns="91440" tIns="45720" rIns="91440" bIns="45720" rtlCol="0" anchor="ctr"/>
            <a:lstStyle/>
            <a:p>
              <a:pPr lvl="0" algn="ctr">
                <a:buSzPct val="100000"/>
                <a:defRPr/>
              </a:pPr>
              <a:r>
                <a:rPr lang="en-US" altLang="en-US" sz="900" b="1" kern="0">
                  <a:solidFill>
                    <a:srgbClr val="313131"/>
                  </a:solidFill>
                  <a:latin typeface="Verdana" panose="020B0604030504040204" pitchFamily="34" charset="0"/>
                  <a:ea typeface="Verdana" panose="020B0604030504040204" pitchFamily="34" charset="0"/>
                </a:rPr>
                <a:t>Reduce Repair </a:t>
              </a:r>
              <a:r>
                <a:rPr lang="en-US" altLang="en-US" sz="900" b="1" kern="0" err="1">
                  <a:solidFill>
                    <a:srgbClr val="313131"/>
                  </a:solidFill>
                  <a:latin typeface="Verdana" panose="020B0604030504040204" pitchFamily="34" charset="0"/>
                  <a:ea typeface="Verdana" panose="020B0604030504040204" pitchFamily="34" charset="0"/>
                </a:rPr>
                <a:t>Time</a:t>
              </a:r>
              <a:r>
                <a:rPr lang="en-US" altLang="en-US" sz="900" kern="0">
                  <a:solidFill>
                    <a:srgbClr val="313131"/>
                  </a:solidFill>
                  <a:latin typeface="Verdana" panose="020B0604030504040204" pitchFamily="34" charset="0"/>
                  <a:ea typeface="Verdana" panose="020B0604030504040204" pitchFamily="34" charset="0"/>
                </a:rPr>
                <a:t>: Reduction in repair time for key assets</a:t>
              </a:r>
            </a:p>
          </p:txBody>
        </p:sp>
      </p:grpSp>
      <p:grpSp>
        <p:nvGrpSpPr>
          <p:cNvPr id="451" name="Group 450">
            <a:extLst>
              <a:ext uri="{FF2B5EF4-FFF2-40B4-BE49-F238E27FC236}">
                <a16:creationId xmlns:a16="http://schemas.microsoft.com/office/drawing/2014/main" id="{A81E863C-CA4F-7F44-CE1C-97D39B474CEE}"/>
              </a:ext>
            </a:extLst>
          </p:cNvPr>
          <p:cNvGrpSpPr/>
          <p:nvPr/>
        </p:nvGrpSpPr>
        <p:grpSpPr>
          <a:xfrm>
            <a:off x="3069910" y="5699706"/>
            <a:ext cx="2257257" cy="636703"/>
            <a:chOff x="4866261" y="5768989"/>
            <a:chExt cx="2049003" cy="479917"/>
          </a:xfrm>
        </p:grpSpPr>
        <p:pic>
          <p:nvPicPr>
            <p:cNvPr id="452" name="Graphic 451" descr="Dollar with solid fill">
              <a:extLst>
                <a:ext uri="{FF2B5EF4-FFF2-40B4-BE49-F238E27FC236}">
                  <a16:creationId xmlns:a16="http://schemas.microsoft.com/office/drawing/2014/main" id="{7A9DDD61-3026-7B38-DD21-6D3163BF8CFF}"/>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4866261" y="5768989"/>
              <a:ext cx="575186" cy="479917"/>
            </a:xfrm>
            <a:prstGeom prst="rect">
              <a:avLst/>
            </a:prstGeom>
          </p:spPr>
        </p:pic>
        <p:sp>
          <p:nvSpPr>
            <p:cNvPr id="453" name="Rectangle 452">
              <a:extLst>
                <a:ext uri="{FF2B5EF4-FFF2-40B4-BE49-F238E27FC236}">
                  <a16:creationId xmlns:a16="http://schemas.microsoft.com/office/drawing/2014/main" id="{4096104F-D41D-76AE-98EC-0D1F402814E0}"/>
                </a:ext>
              </a:extLst>
            </p:cNvPr>
            <p:cNvSpPr/>
            <p:nvPr/>
          </p:nvSpPr>
          <p:spPr>
            <a:xfrm>
              <a:off x="5216602" y="5830704"/>
              <a:ext cx="1698662" cy="312611"/>
            </a:xfrm>
            <a:prstGeom prst="rect">
              <a:avLst/>
            </a:prstGeom>
            <a:noFill/>
            <a:ln w="12700" cap="flat" cmpd="sng" algn="ctr">
              <a:noFill/>
              <a:prstDash val="solid"/>
              <a:miter lim="800000"/>
            </a:ln>
            <a:effectLst/>
          </p:spPr>
          <p:txBody>
            <a:bodyPr lIns="91440" tIns="45720" rIns="91440" bIns="45720" rtlCol="0" anchor="ctr"/>
            <a:lstStyle/>
            <a:p>
              <a:pPr lvl="0" algn="ctr">
                <a:buSzPct val="100000"/>
                <a:defRPr/>
              </a:pPr>
              <a:r>
                <a:rPr lang="en-US" altLang="en-US" sz="900" b="1" kern="0" dirty="0">
                  <a:solidFill>
                    <a:srgbClr val="313131"/>
                  </a:solidFill>
                  <a:latin typeface="Verdana" panose="020B0604030504040204" pitchFamily="34" charset="0"/>
                  <a:ea typeface="Verdana" panose="020B0604030504040204" pitchFamily="34" charset="0"/>
                </a:rPr>
                <a:t>Reduces Live Failure</a:t>
              </a:r>
              <a:r>
                <a:rPr lang="en-US" altLang="en-US" sz="900" kern="0" dirty="0">
                  <a:solidFill>
                    <a:srgbClr val="313131"/>
                  </a:solidFill>
                  <a:latin typeface="Verdana" panose="020B0604030504040204" pitchFamily="34" charset="0"/>
                  <a:ea typeface="Verdana" panose="020B0604030504040204" pitchFamily="34" charset="0"/>
                </a:rPr>
                <a:t>: Scheduling reduces future part failures while plant Is working  </a:t>
              </a:r>
            </a:p>
          </p:txBody>
        </p:sp>
      </p:grpSp>
      <p:grpSp>
        <p:nvGrpSpPr>
          <p:cNvPr id="454" name="Group 453">
            <a:extLst>
              <a:ext uri="{FF2B5EF4-FFF2-40B4-BE49-F238E27FC236}">
                <a16:creationId xmlns:a16="http://schemas.microsoft.com/office/drawing/2014/main" id="{6FDB49D1-5594-5DA0-E922-254A18026FDE}"/>
              </a:ext>
            </a:extLst>
          </p:cNvPr>
          <p:cNvGrpSpPr/>
          <p:nvPr/>
        </p:nvGrpSpPr>
        <p:grpSpPr>
          <a:xfrm>
            <a:off x="711605" y="5731375"/>
            <a:ext cx="2037445" cy="510614"/>
            <a:chOff x="730579" y="5729115"/>
            <a:chExt cx="2487873" cy="511890"/>
          </a:xfrm>
        </p:grpSpPr>
        <p:pic>
          <p:nvPicPr>
            <p:cNvPr id="455" name="Graphic 454" descr="Gears with solid fill">
              <a:extLst>
                <a:ext uri="{FF2B5EF4-FFF2-40B4-BE49-F238E27FC236}">
                  <a16:creationId xmlns:a16="http://schemas.microsoft.com/office/drawing/2014/main" id="{20D46749-A38A-3C6A-955C-EBB2C936307B}"/>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730579" y="5729115"/>
              <a:ext cx="613506" cy="511890"/>
            </a:xfrm>
            <a:prstGeom prst="rect">
              <a:avLst/>
            </a:prstGeom>
          </p:spPr>
        </p:pic>
        <p:sp>
          <p:nvSpPr>
            <p:cNvPr id="456" name="Rectangle 455">
              <a:extLst>
                <a:ext uri="{FF2B5EF4-FFF2-40B4-BE49-F238E27FC236}">
                  <a16:creationId xmlns:a16="http://schemas.microsoft.com/office/drawing/2014/main" id="{58546A81-9267-DC68-AABB-AE8F8E9D54E1}"/>
                </a:ext>
              </a:extLst>
            </p:cNvPr>
            <p:cNvSpPr/>
            <p:nvPr/>
          </p:nvSpPr>
          <p:spPr>
            <a:xfrm>
              <a:off x="1210952" y="5854558"/>
              <a:ext cx="2007500" cy="287714"/>
            </a:xfrm>
            <a:prstGeom prst="rect">
              <a:avLst/>
            </a:prstGeom>
            <a:noFill/>
            <a:ln w="12700" cap="flat" cmpd="sng" algn="ctr">
              <a:noFill/>
              <a:prstDash val="solid"/>
              <a:miter lim="800000"/>
            </a:ln>
            <a:effectLst/>
          </p:spPr>
          <p:txBody>
            <a:bodyPr lIns="91440" tIns="45720" rIns="91440" bIns="45720" rtlCol="0" anchor="ctr"/>
            <a:lstStyle/>
            <a:p>
              <a:pPr lvl="0" algn="ctr">
                <a:buSzPct val="100000"/>
                <a:defRPr/>
              </a:pPr>
              <a:r>
                <a:rPr lang="en-US" altLang="en-US" sz="900" b="1" kern="0" dirty="0">
                  <a:solidFill>
                    <a:srgbClr val="313131"/>
                  </a:solidFill>
                  <a:latin typeface="Verdana" panose="020B0604030504040204" pitchFamily="34" charset="0"/>
                  <a:ea typeface="Verdana" panose="020B0604030504040204" pitchFamily="34" charset="0"/>
                </a:rPr>
                <a:t>Drive Efficiency</a:t>
              </a:r>
              <a:r>
                <a:rPr lang="en-US" altLang="en-US" sz="900" kern="0" dirty="0">
                  <a:solidFill>
                    <a:srgbClr val="313131"/>
                  </a:solidFill>
                  <a:latin typeface="Verdana" panose="020B0604030504040204" pitchFamily="34" charset="0"/>
                  <a:ea typeface="Verdana" panose="020B0604030504040204" pitchFamily="34" charset="0"/>
                </a:rPr>
                <a:t>: 90% of time reduction in root cause analysis</a:t>
              </a:r>
            </a:p>
          </p:txBody>
        </p:sp>
      </p:grpSp>
      <p:sp>
        <p:nvSpPr>
          <p:cNvPr id="10" name="Rectangle 9">
            <a:extLst>
              <a:ext uri="{FF2B5EF4-FFF2-40B4-BE49-F238E27FC236}">
                <a16:creationId xmlns:a16="http://schemas.microsoft.com/office/drawing/2014/main" id="{6BC7DF10-75FD-BD0B-BADD-4000E8420FB1}"/>
              </a:ext>
            </a:extLst>
          </p:cNvPr>
          <p:cNvSpPr/>
          <p:nvPr/>
        </p:nvSpPr>
        <p:spPr>
          <a:xfrm>
            <a:off x="10927993" y="-15642"/>
            <a:ext cx="1271587" cy="385761"/>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latin typeface="Verdana" panose="020B0604030504040204" pitchFamily="34" charset="0"/>
                <a:ea typeface="Verdana" panose="020B0604030504040204" pitchFamily="34" charset="0"/>
              </a:rPr>
              <a:t>Rio Tinto</a:t>
            </a:r>
          </a:p>
        </p:txBody>
      </p:sp>
      <p:sp>
        <p:nvSpPr>
          <p:cNvPr id="2" name="Title 2">
            <a:extLst>
              <a:ext uri="{FF2B5EF4-FFF2-40B4-BE49-F238E27FC236}">
                <a16:creationId xmlns:a16="http://schemas.microsoft.com/office/drawing/2014/main" id="{43290413-C3AA-6DEC-9A46-6A5BC4AFC350}"/>
              </a:ext>
            </a:extLst>
          </p:cNvPr>
          <p:cNvSpPr txBox="1">
            <a:spLocks/>
          </p:cNvSpPr>
          <p:nvPr/>
        </p:nvSpPr>
        <p:spPr bwMode="gray">
          <a:xfrm>
            <a:off x="-783985" y="1095340"/>
            <a:ext cx="11723069"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b="1" kern="1200">
                <a:solidFill>
                  <a:schemeClr val="tx1"/>
                </a:solidFill>
                <a:latin typeface="+mj-lt"/>
                <a:ea typeface="+mj-ea"/>
                <a:cs typeface="+mj-cs"/>
              </a:defRPr>
            </a:lvl1pPr>
          </a:lstStyle>
          <a:p>
            <a:pPr indent="72000">
              <a:defRPr/>
            </a:pPr>
            <a:endParaRPr lang="en-US">
              <a:solidFill>
                <a:sysClr val="windowText" lastClr="000000"/>
              </a:solidFill>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245B0CAF-B780-9760-F27B-D517E4C82CB0}"/>
              </a:ext>
            </a:extLst>
          </p:cNvPr>
          <p:cNvSpPr txBox="1"/>
          <p:nvPr/>
        </p:nvSpPr>
        <p:spPr>
          <a:xfrm>
            <a:off x="11253728" y="6431735"/>
            <a:ext cx="1473396" cy="400110"/>
          </a:xfrm>
          <a:prstGeom prst="rect">
            <a:avLst/>
          </a:prstGeom>
          <a:noFill/>
        </p:spPr>
        <p:txBody>
          <a:bodyPr wrap="square">
            <a:spAutoFit/>
          </a:bodyPr>
          <a:lstStyle/>
          <a:p>
            <a:r>
              <a:rPr lang="en-IN" sz="1000" dirty="0">
                <a:latin typeface="Verdana" panose="020B0604030504040204" pitchFamily="34" charset="0"/>
                <a:ea typeface="Verdana" panose="020B0604030504040204" pitchFamily="34" charset="0"/>
                <a:hlinkClick r:id="rId15"/>
              </a:rPr>
              <a:t>Link to the application</a:t>
            </a:r>
            <a:endParaRPr lang="en-IN" sz="1000" dirty="0">
              <a:latin typeface="Verdana" panose="020B0604030504040204" pitchFamily="34" charset="0"/>
              <a:ea typeface="Verdana" panose="020B0604030504040204" pitchFamily="34" charset="0"/>
            </a:endParaRPr>
          </a:p>
        </p:txBody>
      </p:sp>
      <p:sp>
        <p:nvSpPr>
          <p:cNvPr id="18" name="TextBox 17">
            <a:extLst>
              <a:ext uri="{FF2B5EF4-FFF2-40B4-BE49-F238E27FC236}">
                <a16:creationId xmlns:a16="http://schemas.microsoft.com/office/drawing/2014/main" id="{520E8D1C-3DE1-78E0-DA4F-EBD8BD8D3F7A}"/>
              </a:ext>
            </a:extLst>
          </p:cNvPr>
          <p:cNvSpPr txBox="1"/>
          <p:nvPr/>
        </p:nvSpPr>
        <p:spPr>
          <a:xfrm>
            <a:off x="10589192" y="6431735"/>
            <a:ext cx="787278" cy="400110"/>
          </a:xfrm>
          <a:prstGeom prst="rect">
            <a:avLst/>
          </a:prstGeom>
          <a:noFill/>
        </p:spPr>
        <p:txBody>
          <a:bodyPr wrap="square">
            <a:spAutoFit/>
          </a:bodyPr>
          <a:lstStyle/>
          <a:p>
            <a:r>
              <a:rPr lang="en-IN" sz="1000">
                <a:latin typeface="Verdana" panose="020B0604030504040204" pitchFamily="34" charset="0"/>
                <a:ea typeface="Verdana" panose="020B0604030504040204" pitchFamily="34" charset="0"/>
                <a:hlinkClick r:id="rId16"/>
              </a:rPr>
              <a:t>Read more</a:t>
            </a:r>
            <a:endParaRPr lang="en-IN" sz="1000">
              <a:latin typeface="Verdana" panose="020B0604030504040204" pitchFamily="34" charset="0"/>
              <a:ea typeface="Verdana" panose="020B0604030504040204" pitchFamily="34" charset="0"/>
            </a:endParaRPr>
          </a:p>
        </p:txBody>
      </p:sp>
      <p:grpSp>
        <p:nvGrpSpPr>
          <p:cNvPr id="19" name="Group 18">
            <a:extLst>
              <a:ext uri="{FF2B5EF4-FFF2-40B4-BE49-F238E27FC236}">
                <a16:creationId xmlns:a16="http://schemas.microsoft.com/office/drawing/2014/main" id="{5712D2E1-7B03-F9FB-AFD0-C5CEE6FC86C7}"/>
              </a:ext>
            </a:extLst>
          </p:cNvPr>
          <p:cNvGrpSpPr/>
          <p:nvPr/>
        </p:nvGrpSpPr>
        <p:grpSpPr>
          <a:xfrm>
            <a:off x="7769817" y="5684381"/>
            <a:ext cx="2303357" cy="515287"/>
            <a:chOff x="9507073" y="5732788"/>
            <a:chExt cx="1897002" cy="466081"/>
          </a:xfrm>
        </p:grpSpPr>
        <p:pic>
          <p:nvPicPr>
            <p:cNvPr id="20" name="Graphic 19">
              <a:extLst>
                <a:ext uri="{FF2B5EF4-FFF2-40B4-BE49-F238E27FC236}">
                  <a16:creationId xmlns:a16="http://schemas.microsoft.com/office/drawing/2014/main" id="{89B860C4-5A5A-5F14-6AF5-871CC2A18F0C}"/>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rot="10800000" flipV="1">
              <a:off x="9507073" y="5732788"/>
              <a:ext cx="498390" cy="466081"/>
            </a:xfrm>
            <a:prstGeom prst="rect">
              <a:avLst/>
            </a:prstGeom>
          </p:spPr>
        </p:pic>
        <p:sp>
          <p:nvSpPr>
            <p:cNvPr id="21" name="Rectangle 20">
              <a:extLst>
                <a:ext uri="{FF2B5EF4-FFF2-40B4-BE49-F238E27FC236}">
                  <a16:creationId xmlns:a16="http://schemas.microsoft.com/office/drawing/2014/main" id="{75FAFAA9-3EB3-135D-148D-765450160ECD}"/>
                </a:ext>
              </a:extLst>
            </p:cNvPr>
            <p:cNvSpPr/>
            <p:nvPr/>
          </p:nvSpPr>
          <p:spPr>
            <a:xfrm>
              <a:off x="9868343" y="5844356"/>
              <a:ext cx="1535732" cy="340400"/>
            </a:xfrm>
            <a:prstGeom prst="rect">
              <a:avLst/>
            </a:prstGeom>
            <a:noFill/>
            <a:ln w="12700" cap="flat" cmpd="sng" algn="ctr">
              <a:noFill/>
              <a:prstDash val="solid"/>
              <a:miter lim="800000"/>
            </a:ln>
            <a:effectLst/>
          </p:spPr>
          <p:txBody>
            <a:bodyPr lIns="91440" tIns="45720" rIns="91440" bIns="45720" rtlCol="0" anchor="ctr"/>
            <a:lstStyle/>
            <a:p>
              <a:pPr lvl="0" algn="ctr">
                <a:buSzPct val="100000"/>
                <a:defRPr/>
              </a:pPr>
              <a:r>
                <a:rPr lang="en-GB" sz="900" b="1" dirty="0">
                  <a:latin typeface="Verdana" panose="020B0604030504040204" pitchFamily="34" charset="0"/>
                  <a:ea typeface="Verdana" panose="020B0604030504040204" pitchFamily="34" charset="0"/>
                  <a:cs typeface="Open Sans" panose="020B0606030504020204" pitchFamily="34" charset="0"/>
                </a:rPr>
                <a:t>Reduces misclassification</a:t>
              </a:r>
              <a:r>
                <a:rPr lang="en-GB" sz="900" dirty="0">
                  <a:latin typeface="Verdana" panose="020B0604030504040204" pitchFamily="34" charset="0"/>
                  <a:ea typeface="Verdana" panose="020B0604030504040204" pitchFamily="34" charset="0"/>
                  <a:cs typeface="Open Sans" panose="020B0606030504020204" pitchFamily="34" charset="0"/>
                </a:rPr>
                <a:t> of maintenance activities, leading to better reporting and planning</a:t>
              </a:r>
              <a:endParaRPr lang="en-US" altLang="en-US" sz="900" kern="0" dirty="0">
                <a:solidFill>
                  <a:srgbClr val="313131"/>
                </a:solidFill>
                <a:latin typeface="Verdana" panose="020B0604030504040204" pitchFamily="34" charset="0"/>
                <a:ea typeface="Verdana" panose="020B0604030504040204" pitchFamily="34" charset="0"/>
                <a:cs typeface="Open Sans" panose="020B0606030504020204" pitchFamily="34" charset="0"/>
              </a:endParaRPr>
            </a:p>
          </p:txBody>
        </p:sp>
      </p:grpSp>
      <p:sp>
        <p:nvSpPr>
          <p:cNvPr id="30" name="Rectangle 29">
            <a:extLst>
              <a:ext uri="{FF2B5EF4-FFF2-40B4-BE49-F238E27FC236}">
                <a16:creationId xmlns:a16="http://schemas.microsoft.com/office/drawing/2014/main" id="{B3B34CDE-2FAE-24D1-1BC4-0B7958200B16}"/>
              </a:ext>
            </a:extLst>
          </p:cNvPr>
          <p:cNvSpPr/>
          <p:nvPr/>
        </p:nvSpPr>
        <p:spPr bwMode="gray">
          <a:xfrm>
            <a:off x="238090" y="167625"/>
            <a:ext cx="11247120" cy="289134"/>
          </a:xfrm>
          <a:prstGeom prst="rect">
            <a:avLst/>
          </a:prstGeom>
          <a:noFill/>
          <a:ln w="19050" algn="ctr">
            <a:noFill/>
            <a:miter lim="800000"/>
            <a:headEnd/>
            <a:tailEnd/>
          </a:ln>
        </p:spPr>
        <p:txBody>
          <a:bodyPr wrap="square" lIns="0" tIns="88900" rIns="88900" bIns="88900" rtlCol="0" anchor="ct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r>
              <a:rPr kumimoji="0" lang="fr-FR" sz="2000" b="1" i="0" u="none" strike="noStrike" kern="1200" cap="none" spc="0" normalizeH="0" baseline="0" noProof="0" dirty="0">
                <a:ln>
                  <a:noFill/>
                </a:ln>
                <a:effectLst/>
                <a:uLnTx/>
                <a:uFillTx/>
                <a:latin typeface="Verdana" panose="020B0604030504040204" pitchFamily="34" charset="0"/>
                <a:ea typeface="Verdana" panose="020B0604030504040204" pitchFamily="34" charset="0"/>
              </a:rPr>
              <a:t>Intelligent Automation for </a:t>
            </a:r>
            <a:r>
              <a:rPr lang="fr-FR" sz="2000" b="1" dirty="0">
                <a:latin typeface="Verdana" panose="020B0604030504040204" pitchFamily="34" charset="0"/>
                <a:ea typeface="Verdana" panose="020B0604030504040204" pitchFamily="34" charset="0"/>
              </a:rPr>
              <a:t>P</a:t>
            </a:r>
            <a:r>
              <a:rPr kumimoji="0" lang="fr-FR" sz="2000" b="1" i="0" u="none" strike="noStrike" kern="1200" cap="none" spc="0" normalizeH="0" baseline="0" noProof="0" dirty="0" err="1">
                <a:ln>
                  <a:noFill/>
                </a:ln>
                <a:effectLst/>
                <a:uLnTx/>
                <a:uFillTx/>
                <a:latin typeface="Verdana" panose="020B0604030504040204" pitchFamily="34" charset="0"/>
                <a:ea typeface="Verdana" panose="020B0604030504040204" pitchFamily="34" charset="0"/>
              </a:rPr>
              <a:t>reventive</a:t>
            </a:r>
            <a:r>
              <a:rPr kumimoji="0" lang="fr-FR" sz="2000" b="1" i="0" u="none" strike="noStrike" kern="1200" cap="none" spc="0" normalizeH="0" baseline="0" noProof="0" dirty="0">
                <a:ln>
                  <a:noFill/>
                </a:ln>
                <a:effectLst/>
                <a:uLnTx/>
                <a:uFillTx/>
                <a:latin typeface="Verdana" panose="020B0604030504040204" pitchFamily="34" charset="0"/>
                <a:ea typeface="Verdana" panose="020B0604030504040204" pitchFamily="34" charset="0"/>
              </a:rPr>
              <a:t> Maintenance</a:t>
            </a:r>
          </a:p>
        </p:txBody>
      </p:sp>
      <p:cxnSp>
        <p:nvCxnSpPr>
          <p:cNvPr id="31" name="Straight Connector 30">
            <a:extLst>
              <a:ext uri="{FF2B5EF4-FFF2-40B4-BE49-F238E27FC236}">
                <a16:creationId xmlns:a16="http://schemas.microsoft.com/office/drawing/2014/main" id="{5D4C567F-EFC7-F05F-CB89-C9B24513BCF0}"/>
              </a:ext>
            </a:extLst>
          </p:cNvPr>
          <p:cNvCxnSpPr>
            <a:cxnSpLocks/>
          </p:cNvCxnSpPr>
          <p:nvPr/>
        </p:nvCxnSpPr>
        <p:spPr>
          <a:xfrm>
            <a:off x="222183" y="605844"/>
            <a:ext cx="11249742" cy="0"/>
          </a:xfrm>
          <a:prstGeom prst="line">
            <a:avLst/>
          </a:prstGeom>
          <a:ln>
            <a:solidFill>
              <a:srgbClr val="86BC2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70649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1</TotalTime>
  <Words>2582</Words>
  <Application>Microsoft Office PowerPoint</Application>
  <PresentationFormat>Widescreen</PresentationFormat>
  <Paragraphs>295</Paragraphs>
  <Slides>12</Slides>
  <Notes>4</Notes>
  <HiddenSlides>1</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6" baseType="lpstr">
      <vt:lpstr>Aptos</vt:lpstr>
      <vt:lpstr>Aptos Black</vt:lpstr>
      <vt:lpstr>Aptos Display</vt:lpstr>
      <vt:lpstr>Arial</vt:lpstr>
      <vt:lpstr>Arial,Sans-Serif</vt:lpstr>
      <vt:lpstr>Calibri</vt:lpstr>
      <vt:lpstr>Calibri Light</vt:lpstr>
      <vt:lpstr>Open Sans</vt:lpstr>
      <vt:lpstr>Open Sans Light</vt:lpstr>
      <vt:lpstr>Segoe WPC</vt:lpstr>
      <vt:lpstr>Verdana</vt:lpstr>
      <vt:lpstr>Wingdings 2</vt:lpstr>
      <vt:lpstr>Office Theme</vt:lpstr>
      <vt:lpstr>think-cell Slide</vt:lpstr>
      <vt:lpstr>PowerPoint Presentation</vt:lpstr>
      <vt:lpstr>PowerPoint Presentation</vt:lpstr>
      <vt:lpstr>Maintenance Strategy Optimisation – Executive Summary </vt:lpstr>
      <vt:lpstr>Maintenance Strategy Optimisation – Process Overview</vt:lpstr>
      <vt:lpstr>Maintenance Strategy Optimisation – Data Inputs and outputs</vt:lpstr>
      <vt:lpstr>Feature Overview – AI Augmented Data Review</vt:lpstr>
      <vt:lpstr>Feature Overview – Analysis &amp; Insights</vt:lpstr>
      <vt:lpstr>Feature Overview - Administration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Harsha, Achyuthuni</dc:creator>
  <cp:lastModifiedBy>Harsha, Achyuthuni</cp:lastModifiedBy>
  <cp:revision>1</cp:revision>
  <dcterms:created xsi:type="dcterms:W3CDTF">2026-06-23T04:07:30Z</dcterms:created>
  <dcterms:modified xsi:type="dcterms:W3CDTF">2026-06-23T04:09:07Z</dcterms:modified>
</cp:coreProperties>
</file>